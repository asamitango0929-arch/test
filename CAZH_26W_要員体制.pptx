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8549640" y="0"/>
            <a:ext cx="3639312" cy="50749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" name="Shape 3"/>
          <p:cNvSpPr/>
          <p:nvPr/>
        </p:nvSpPr>
        <p:spPr>
          <a:xfrm>
            <a:off x="8549640" y="0"/>
            <a:ext cx="3639312" cy="50749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8549640" y="1051560"/>
            <a:ext cx="3639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8549640" y="2148840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CA資格者（名）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651760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≠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549640" y="33832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専任 60名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0515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rgbClr val="5DA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26W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" y="1600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要員体制の考え方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85800" y="2880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FE2F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CA資格者60名を、どう保有・配置するか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13232" y="3794760"/>
            <a:ext cx="82296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977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FB8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26Wに向けた要員保有方針の論点整理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5440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FB8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作成：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65615" y="5440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B8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 論点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97480" y="18288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本日の主な論点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26W 要員体制の考え方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265615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　／　</a:t>
            </a:r>
            <a:pPr algn="r"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26Wに向けて、CA資格者60名をどのような形で保有するかを決定する。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2331720"/>
            <a:ext cx="10789920" cy="1234440"/>
          </a:xfrm>
          <a:prstGeom prst="roundRect">
            <a:avLst>
              <a:gd name="adj" fmla="val 4444"/>
            </a:avLst>
          </a:prstGeom>
          <a:solidFill>
            <a:srgbClr val="EA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624328"/>
            <a:ext cx="1371600" cy="640080"/>
          </a:xfrm>
          <a:prstGeom prst="roundRect">
            <a:avLst>
              <a:gd name="adj" fmla="val 7143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2468880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FMGとしてCA資格者60名体制を維持する方針は前提とする。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85800" y="3794760"/>
            <a:ext cx="10789920" cy="1234440"/>
          </a:xfrm>
          <a:prstGeom prst="roundRect">
            <a:avLst>
              <a:gd name="adj" fmla="val 4444"/>
            </a:avLst>
          </a:prstGeom>
          <a:solidFill>
            <a:srgbClr val="EA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087368"/>
            <a:ext cx="1371600" cy="640080"/>
          </a:xfrm>
          <a:prstGeom prst="roundRect">
            <a:avLst>
              <a:gd name="adj" fmla="val 7143"/>
            </a:avLst>
          </a:prstGeom>
          <a:solidFill>
            <a:srgbClr val="D689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0320" y="3931920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「CA資格者60名を維持すること」と「CA/ZH専任者を60名配置すること」は分けて考える。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32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「資格の保有」と「専任の配置」を切り分けることが、本日の出発点。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 前提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97480" y="18288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前提：CA資格者60名は維持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26W 要員体制の考え方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265615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　／　</a:t>
            </a:r>
            <a:pPr algn="r"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4023360" cy="4023360"/>
          </a:xfrm>
          <a:prstGeom prst="roundRect">
            <a:avLst>
              <a:gd name="adj" fmla="val 1364"/>
            </a:avLst>
          </a:prstGeom>
          <a:solidFill>
            <a:srgbClr val="13243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DA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必要CA資格者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3774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</a:t>
            </a:r>
            <a:endParaRPr lang="en-US" sz="12000" dirty="0"/>
          </a:p>
        </p:txBody>
      </p:sp>
      <p:sp>
        <p:nvSpPr>
          <p:cNvPr id="10" name="Text 8"/>
          <p:cNvSpPr/>
          <p:nvPr/>
        </p:nvSpPr>
        <p:spPr>
          <a:xfrm>
            <a:off x="86868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4617720"/>
            <a:ext cx="3657600" cy="4572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FE2F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58名ではなく 60名 に設定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029200" y="1600200"/>
            <a:ext cx="6446520" cy="1874520"/>
          </a:xfrm>
          <a:prstGeom prst="roundRect">
            <a:avLst>
              <a:gd name="adj" fmla="val 2927"/>
            </a:avLst>
          </a:prstGeom>
          <a:solidFill>
            <a:srgbClr val="EA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1892808"/>
            <a:ext cx="457200" cy="45720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97880" y="185623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復便時の担当便を減らさない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897880" y="24231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CA復便時にFMG担当便を減少させないため、必要資格者数は58名ではなく60名に設定する。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3749040"/>
            <a:ext cx="6446520" cy="1874520"/>
          </a:xfrm>
          <a:prstGeom prst="roundRect">
            <a:avLst>
              <a:gd name="adj" fmla="val 2927"/>
            </a:avLst>
          </a:prstGeom>
          <a:solidFill>
            <a:srgbClr val="EA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4041648"/>
            <a:ext cx="457200" cy="45720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97880" y="400507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専任固定ではなく柔軟に保有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897880" y="45720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60名全員を常時CA/ZHだけに配置するのではなく、CA資格を維持しながら他業務も担当できる体制を検討する。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 現状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97480" y="18288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現在の資格者数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26W 要員体制の考え方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265615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　／　</a:t>
            </a:r>
            <a:pPr algn="r"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必要60名に対して、7月末時点で4名不足。補完は採用ではなく兼務を優先する。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3502152" cy="2468880"/>
          </a:xfrm>
          <a:prstGeom prst="roundRect">
            <a:avLst>
              <a:gd name="adj" fmla="val 2222"/>
            </a:avLst>
          </a:prstGeom>
          <a:solidFill>
            <a:srgbClr val="13243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8600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DA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必要CA資格者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3227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069080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DA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26Wの基準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2057400"/>
            <a:ext cx="3502152" cy="2468880"/>
          </a:xfrm>
          <a:prstGeom prst="roundRect">
            <a:avLst>
              <a:gd name="adj" fmla="val 2222"/>
            </a:avLst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228600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7月末資格者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2697480"/>
            <a:ext cx="3227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56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4709160" y="370332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4069080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458200" y="2057400"/>
            <a:ext cx="3502152" cy="2468880"/>
          </a:xfrm>
          <a:prstGeom prst="roundRect">
            <a:avLst>
              <a:gd name="adj" fmla="val 2222"/>
            </a:avLst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0" y="228600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DB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不足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0" y="2697480"/>
            <a:ext cx="3227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▲4</a:t>
            </a:r>
            <a:endParaRPr lang="en-US" sz="6600" dirty="0"/>
          </a:p>
        </p:txBody>
      </p:sp>
      <p:sp>
        <p:nvSpPr>
          <p:cNvPr id="21" name="Text 19"/>
          <p:cNvSpPr/>
          <p:nvPr/>
        </p:nvSpPr>
        <p:spPr>
          <a:xfrm>
            <a:off x="8595360" y="370332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41080" y="4069080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ADB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採用ではなくAM・VN等からの兼務を優先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4892040"/>
            <a:ext cx="10789920" cy="868680"/>
          </a:xfrm>
          <a:prstGeom prst="roundRect">
            <a:avLst>
              <a:gd name="adj" fmla="val 6316"/>
            </a:avLst>
          </a:prstGeom>
          <a:solidFill>
            <a:srgbClr val="EA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8920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考え方：　</a:t>
            </a:r>
            <a:pPr algn="l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不足4名は新規採用ではなく、AM・VN等の既存在籍者からの資格取得・兼務化で補完する。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 差分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97480" y="18288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CA/ZH「51名運用」が成立する場合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26W 要員体制の考え方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265615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　／　</a:t>
            </a:r>
            <a:pPr algn="r"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松石部長より、新たなCA/ZH実運用人数として51名という案が提示されている。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51名で現在のオペレーションが成立する場合、資格者60名との差は9名となる。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788920"/>
            <a:ext cx="2926080" cy="2331720"/>
          </a:xfrm>
          <a:prstGeom prst="roundRect">
            <a:avLst>
              <a:gd name="adj" fmla="val 3137"/>
            </a:avLst>
          </a:prstGeom>
          <a:solidFill>
            <a:srgbClr val="13243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0632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685800" y="4297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4690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維持する資格者数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11880" y="2788920"/>
            <a:ext cx="9601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4572000" y="2788920"/>
            <a:ext cx="2926080" cy="2331720"/>
          </a:xfrm>
          <a:prstGeom prst="roundRect">
            <a:avLst>
              <a:gd name="adj" fmla="val 3137"/>
            </a:avLst>
          </a:prstGeom>
          <a:solidFill>
            <a:srgbClr val="2E86C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30632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51</a:t>
            </a:r>
            <a:endParaRPr lang="en-US" sz="8000" dirty="0"/>
          </a:p>
        </p:txBody>
      </p:sp>
      <p:sp>
        <p:nvSpPr>
          <p:cNvPr id="16" name="Text 14"/>
          <p:cNvSpPr/>
          <p:nvPr/>
        </p:nvSpPr>
        <p:spPr>
          <a:xfrm>
            <a:off x="4572000" y="4297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CA/ZH実運用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4690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オペレーション成立数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0" y="2788920"/>
            <a:ext cx="9601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</a:t>
            </a:r>
            <a:endParaRPr lang="en-US" sz="5400" dirty="0"/>
          </a:p>
        </p:txBody>
      </p:sp>
      <p:sp>
        <p:nvSpPr>
          <p:cNvPr id="19" name="Shape 17"/>
          <p:cNvSpPr/>
          <p:nvPr/>
        </p:nvSpPr>
        <p:spPr>
          <a:xfrm>
            <a:off x="8549640" y="2788920"/>
            <a:ext cx="2926080" cy="2331720"/>
          </a:xfrm>
          <a:prstGeom prst="roundRect">
            <a:avLst>
              <a:gd name="adj" fmla="val 3137"/>
            </a:avLst>
          </a:prstGeom>
          <a:solidFill>
            <a:srgbClr val="D68910"/>
          </a:solidFill>
          <a:ln/>
        </p:spPr>
      </p:sp>
      <p:sp>
        <p:nvSpPr>
          <p:cNvPr id="20" name="Text 18"/>
          <p:cNvSpPr/>
          <p:nvPr/>
        </p:nvSpPr>
        <p:spPr>
          <a:xfrm>
            <a:off x="8549640" y="30632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8000" dirty="0"/>
          </a:p>
        </p:txBody>
      </p:sp>
      <p:sp>
        <p:nvSpPr>
          <p:cNvPr id="21" name="Text 19"/>
          <p:cNvSpPr/>
          <p:nvPr/>
        </p:nvSpPr>
        <p:spPr>
          <a:xfrm>
            <a:off x="8549640" y="4297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 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41080" y="4690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この9名の持ち方が論点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394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32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この「9名」をどう持つかが、次ページ以降の中心テーマ。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 ポイント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97480" y="18288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今回のポイント：「9名」をどう持つか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26W 要員体制の考え方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265615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　／　</a:t>
            </a:r>
            <a:pPr algn="r"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10789920" cy="1371600"/>
          </a:xfrm>
          <a:prstGeom prst="roundRect">
            <a:avLst>
              <a:gd name="adj" fmla="val 4000"/>
            </a:avLst>
          </a:prstGeom>
          <a:solidFill>
            <a:srgbClr val="13243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002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9名を「余剰人員」とは考えない。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CFE2F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CA資格者60名の一員として保有し、資格維持に必要な頻度でCA/ZHへアサイン。それ以外は成田内の不足チームとの兼務を基本とする。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イメージ：CA資格者60名の内訳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566160"/>
            <a:ext cx="4663440" cy="1874520"/>
          </a:xfrm>
          <a:prstGeom prst="roundRect">
            <a:avLst>
              <a:gd name="adj" fmla="val 2927"/>
            </a:avLst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749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51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822960" y="4617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CA/ZHを中心に運用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01091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実運用の中核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40680" y="3566160"/>
            <a:ext cx="777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</a:t>
            </a:r>
            <a:endParaRPr lang="en-US" sz="4400" dirty="0"/>
          </a:p>
        </p:txBody>
      </p:sp>
      <p:sp>
        <p:nvSpPr>
          <p:cNvPr id="16" name="Shape 14"/>
          <p:cNvSpPr/>
          <p:nvPr/>
        </p:nvSpPr>
        <p:spPr>
          <a:xfrm>
            <a:off x="6263640" y="3566160"/>
            <a:ext cx="3108960" cy="1874520"/>
          </a:xfrm>
          <a:prstGeom prst="roundRect">
            <a:avLst>
              <a:gd name="adj" fmla="val 2927"/>
            </a:avLst>
          </a:prstGeom>
          <a:solidFill>
            <a:srgbClr val="D68910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749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5800" dirty="0"/>
          </a:p>
        </p:txBody>
      </p:sp>
      <p:sp>
        <p:nvSpPr>
          <p:cNvPr id="18" name="Text 16"/>
          <p:cNvSpPr/>
          <p:nvPr/>
        </p:nvSpPr>
        <p:spPr>
          <a:xfrm>
            <a:off x="6400800" y="4617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他チームと兼務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50109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DEB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資格維持＋兼務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418320" y="3566160"/>
            <a:ext cx="685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</a:t>
            </a:r>
            <a:endParaRPr lang="en-US" sz="4400" dirty="0"/>
          </a:p>
        </p:txBody>
      </p:sp>
      <p:sp>
        <p:nvSpPr>
          <p:cNvPr id="21" name="Shape 19"/>
          <p:cNvSpPr/>
          <p:nvPr/>
        </p:nvSpPr>
        <p:spPr>
          <a:xfrm>
            <a:off x="10149840" y="3566160"/>
            <a:ext cx="1325880" cy="1874520"/>
          </a:xfrm>
          <a:prstGeom prst="roundRect">
            <a:avLst>
              <a:gd name="adj" fmla="val 4138"/>
            </a:avLst>
          </a:prstGeom>
          <a:solidFill>
            <a:srgbClr val="13243B"/>
          </a:solidFill>
          <a:ln/>
        </p:spPr>
      </p:sp>
      <p:sp>
        <p:nvSpPr>
          <p:cNvPr id="22" name="Text 20"/>
          <p:cNvSpPr/>
          <p:nvPr/>
        </p:nvSpPr>
        <p:spPr>
          <a:xfrm>
            <a:off x="10149840" y="374904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</a:t>
            </a:r>
            <a:endParaRPr lang="en-US" sz="5800" dirty="0"/>
          </a:p>
        </p:txBody>
      </p:sp>
      <p:sp>
        <p:nvSpPr>
          <p:cNvPr id="23" name="Text 21"/>
          <p:cNvSpPr/>
          <p:nvPr/>
        </p:nvSpPr>
        <p:spPr>
          <a:xfrm>
            <a:off x="10287000" y="46177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資格者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287000" y="501091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5623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資格維持に必要な頻度でCA/ZHへアサインし、それ以外を不足チームとの兼務に充てる。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  具体例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97480" y="18288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具体例：TR（トレーニング）との兼務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26W 要員体制の考え方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265615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　／　</a:t>
            </a:r>
            <a:pPr algn="r"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CA資格者9名のうち7名をTRとの兼務に充てれば、TRを新たに7名採用せずに現ターゲットを補完できる。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57400"/>
          <a:ext cx="6675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46304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人数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備考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7月末在籍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24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32名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8月中退職後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24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31名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派遣1名退職予定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現ターゲット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24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38名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26Wに向け再検証が必要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現時点の不足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▲7名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38 − 31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26680" y="2057400"/>
            <a:ext cx="3749040" cy="2743200"/>
          </a:xfrm>
          <a:prstGeom prst="roundRect">
            <a:avLst>
              <a:gd name="adj" fmla="val 2000"/>
            </a:avLst>
          </a:prstGeom>
          <a:solidFill>
            <a:srgbClr val="13243B"/>
          </a:solidFill>
          <a:ln/>
        </p:spPr>
      </p:sp>
      <p:sp>
        <p:nvSpPr>
          <p:cNvPr id="10" name="Text 7"/>
          <p:cNvSpPr/>
          <p:nvPr/>
        </p:nvSpPr>
        <p:spPr>
          <a:xfrm>
            <a:off x="7726680" y="2286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DA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兼務で補完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26680" y="26060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9600" dirty="0"/>
          </a:p>
        </p:txBody>
      </p:sp>
      <p:sp>
        <p:nvSpPr>
          <p:cNvPr id="12" name="Text 9"/>
          <p:cNvSpPr/>
          <p:nvPr/>
        </p:nvSpPr>
        <p:spPr>
          <a:xfrm>
            <a:off x="7909560" y="3931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名を新規採用せず補完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909560" y="4370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2F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CA資格者9名のうち7名をTR兼務へ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" y="5029200"/>
            <a:ext cx="10789920" cy="777240"/>
          </a:xfrm>
          <a:prstGeom prst="roundRect">
            <a:avLst>
              <a:gd name="adj" fmla="val 7059"/>
            </a:avLst>
          </a:prstGeom>
          <a:solidFill>
            <a:srgbClr val="FEF5E7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50292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D68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留意：　</a:t>
            </a:r>
            <a:pPr algn="l" indent="0" marL="0">
              <a:buNone/>
            </a:pPr>
            <a:r>
              <a:rPr lang="en-US" sz="145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TRの必要人数38名そのものについても、26Wベースで再検証する。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  考え方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97480" y="18288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重要なのは「異動」ではなく「兼務」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26W 要員体制の考え方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265615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　／　</a:t>
            </a:r>
            <a:pPr algn="r"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5257800" cy="2286000"/>
          </a:xfrm>
          <a:prstGeom prst="roundRect">
            <a:avLst>
              <a:gd name="adj" fmla="val 2400"/>
            </a:avLst>
          </a:prstGeom>
          <a:solidFill>
            <a:srgbClr val="F4F6F7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28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✕　異動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CA資格を手放し、他チームへ移してしまう考え方。資格者60名の維持と両立しない。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257800" cy="2286000"/>
          </a:xfrm>
          <a:prstGeom prst="roundRect">
            <a:avLst>
              <a:gd name="adj" fmla="val 2400"/>
            </a:avLst>
          </a:prstGeom>
          <a:solidFill>
            <a:srgbClr val="13243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28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DA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　兼務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242316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CA資格は継続維持。資格維持に必要な回数はCA/ZHへアサインし、それ以外をTR等へ配置する。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420624" cy="420624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4114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TRへ配置する7名もCA資格者60名に含め、CA資格は継続して維持する。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31520" y="4818888"/>
            <a:ext cx="420624" cy="420624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818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77316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CA資格維持に必要な回数はCA/ZHへアサインし、それ以外をTR等へ配置する。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85800" y="5532120"/>
            <a:ext cx="10789920" cy="777240"/>
          </a:xfrm>
          <a:prstGeom prst="roundRect">
            <a:avLst>
              <a:gd name="adj" fmla="val 7059"/>
            </a:avLst>
          </a:prstGeom>
          <a:solidFill>
            <a:srgbClr val="FEF5E7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8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確認事項：　</a:t>
            </a:r>
            <a:pPr algn="l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CA資格維持のために必要な最低アサイン回数・条件は何か。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  全体像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97480" y="18288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CA資格者60名の持ち方（案）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26W 要員体制の考え方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265615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　／　</a:t>
            </a:r>
            <a:pPr algn="r"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2615184" cy="3017520"/>
          </a:xfrm>
          <a:prstGeom prst="roundRect">
            <a:avLst>
              <a:gd name="adj" fmla="val 2098"/>
            </a:avLst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21488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737360" y="2148840"/>
            <a:ext cx="512064" cy="512064"/>
          </a:xfrm>
          <a:prstGeom prst="ellipse">
            <a:avLst/>
          </a:prstGeom>
          <a:solidFill>
            <a:srgbClr val="EAF2FA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5528" y="288036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 56名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E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AM・VN等から4名を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6EE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資格取得・兼務化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82696" y="1920240"/>
            <a:ext cx="29260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57016" y="1920240"/>
            <a:ext cx="2615184" cy="3017520"/>
          </a:xfrm>
          <a:prstGeom prst="roundRect">
            <a:avLst>
              <a:gd name="adj" fmla="val 2098"/>
            </a:avLst>
          </a:prstGeom>
          <a:solidFill>
            <a:srgbClr val="13243B"/>
          </a:solidFill>
          <a:ln/>
        </p:spPr>
      </p:sp>
      <p:sp>
        <p:nvSpPr>
          <p:cNvPr id="16" name="Shape 14"/>
          <p:cNvSpPr/>
          <p:nvPr/>
        </p:nvSpPr>
        <p:spPr>
          <a:xfrm>
            <a:off x="4608576" y="21488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608576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08576" y="2148840"/>
            <a:ext cx="512064" cy="512064"/>
          </a:xfrm>
          <a:prstGeom prst="ellipse">
            <a:avLst/>
          </a:prstGeom>
          <a:solidFill>
            <a:srgbClr val="EAF2FA"/>
          </a:solidFill>
          <a:ln/>
        </p:spPr>
      </p:sp>
      <p:sp>
        <p:nvSpPr>
          <p:cNvPr id="19" name="Text 17"/>
          <p:cNvSpPr/>
          <p:nvPr/>
        </p:nvSpPr>
        <p:spPr>
          <a:xfrm>
            <a:off x="4608576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66744" y="288036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CA資格者 60名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694176" y="384048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E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必要資格者数を確保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53912" y="1920240"/>
            <a:ext cx="29260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28232" y="1920240"/>
            <a:ext cx="2615184" cy="3017520"/>
          </a:xfrm>
          <a:prstGeom prst="roundRect">
            <a:avLst>
              <a:gd name="adj" fmla="val 2098"/>
            </a:avLst>
          </a:prstGeom>
          <a:solidFill>
            <a:srgbClr val="2E86C1"/>
          </a:solidFill>
          <a:ln/>
        </p:spPr>
      </p:sp>
      <p:sp>
        <p:nvSpPr>
          <p:cNvPr id="24" name="Shape 22"/>
          <p:cNvSpPr/>
          <p:nvPr/>
        </p:nvSpPr>
        <p:spPr>
          <a:xfrm>
            <a:off x="7479792" y="21488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479792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479792" y="2148840"/>
            <a:ext cx="512064" cy="512064"/>
          </a:xfrm>
          <a:prstGeom prst="ellipse">
            <a:avLst/>
          </a:prstGeom>
          <a:solidFill>
            <a:srgbClr val="EAF2FA"/>
          </a:solidFill>
          <a:ln/>
        </p:spPr>
      </p:sp>
      <p:sp>
        <p:nvSpPr>
          <p:cNvPr id="27" name="Text 25"/>
          <p:cNvSpPr/>
          <p:nvPr/>
        </p:nvSpPr>
        <p:spPr>
          <a:xfrm>
            <a:off x="7479792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37960" y="288036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実運用51名 ＋ 兼務9名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565392" y="384048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E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CA/ZH中心51名／他チーム兼務9名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025128" y="1920240"/>
            <a:ext cx="29260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299448" y="1920240"/>
            <a:ext cx="2615184" cy="3017520"/>
          </a:xfrm>
          <a:prstGeom prst="roundRect">
            <a:avLst>
              <a:gd name="adj" fmla="val 2098"/>
            </a:avLst>
          </a:prstGeom>
          <a:solidFill>
            <a:srgbClr val="D68910"/>
          </a:solidFill>
          <a:ln/>
        </p:spPr>
      </p:sp>
      <p:sp>
        <p:nvSpPr>
          <p:cNvPr id="32" name="Shape 30"/>
          <p:cNvSpPr/>
          <p:nvPr/>
        </p:nvSpPr>
        <p:spPr>
          <a:xfrm>
            <a:off x="10351008" y="2148840"/>
            <a:ext cx="512064" cy="512064"/>
          </a:xfrm>
          <a:prstGeom prst="ellipse">
            <a:avLst/>
          </a:prstGeom>
          <a:solidFill>
            <a:srgbClr val="13243B"/>
          </a:solidFill>
          <a:ln/>
        </p:spPr>
      </p:sp>
      <p:sp>
        <p:nvSpPr>
          <p:cNvPr id="33" name="Text 31"/>
          <p:cNvSpPr/>
          <p:nvPr/>
        </p:nvSpPr>
        <p:spPr>
          <a:xfrm>
            <a:off x="10351008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0351008" y="21488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0351008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8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409176" y="288036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兼務9名の配分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9436608" y="384048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E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TRへ7名 ／ その他への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6EE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活用余地 2名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85800" y="5257800"/>
            <a:ext cx="10789920" cy="685800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52578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要点：　</a:t>
            </a:r>
            <a:pPr algn="l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56名 → 60名を確保し、実運用51名を超える9名は兼務で活用する。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  確認事項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97480" y="18288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本日確認・決定したい事項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26W 要員体制の考え方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265615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　／　</a:t>
            </a:r>
            <a:pPr algn="r"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EA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847088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00200" y="1664208"/>
            <a:ext cx="41605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CA資格者は60名維持でよいか。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EA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847088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0" y="1664208"/>
            <a:ext cx="41605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CA/ZH実運用51名は妥当か。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3136392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EA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42900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3246120"/>
            <a:ext cx="41605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60名全員をCA/ZH専任とする必要があるか。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3136392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EA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42900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0" y="3246120"/>
            <a:ext cx="41605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CA資格維持に必要な最低アサイン回数・条件は何か。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4718304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EA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5010912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010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00200" y="4828032"/>
            <a:ext cx="41605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9名を他チームとの兼務者として保有できるか。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0" y="4718304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EA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6520" y="5010912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5010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132320" y="4828032"/>
            <a:ext cx="41605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まずTRの不足7名をCA資格者との兼務で補完できるか。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85800" y="63093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68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</a:t>
            </a:r>
            <a:pPr algn="l"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CA資格者の不足4名は、AM・VN等の既存在籍者から補完できるかも併せて確認する。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97480" y="18288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成田旅客部 必要保有人数シミュレーション（現行運用）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26W 要員体制の考え方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265615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　／　</a:t>
            </a:r>
            <a:pPr algn="r"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ライン必要261名 ＋ 管理職22名 ＝ 283名。　</a:t>
            </a:r>
            <a:pPr algn="l"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CA/ZHはライン必要人数 ×1.6 で58名（→60名維持の基準）。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173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32688"/>
                <a:gridCol w="932688"/>
                <a:gridCol w="932688"/>
                <a:gridCol w="932688"/>
                <a:gridCol w="932688"/>
                <a:gridCol w="932688"/>
                <a:gridCol w="932688"/>
                <a:gridCol w="1051560"/>
                <a:gridCol w="1005840"/>
                <a:gridCol w="859536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チーム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Mon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Tue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Wed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Thu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Fri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Sat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Sun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週合計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日平均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×1.6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TR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162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23.1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324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38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C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AM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98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14.0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324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C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VN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30.9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324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C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C4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CA/ZH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4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4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31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4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4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31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4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4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31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4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4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237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4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33.9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58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C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VJ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98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14.0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324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C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5J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192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27.4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324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C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RF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324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C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UL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324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C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138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168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148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168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1108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158.3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324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261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9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85800" y="5230368"/>
            <a:ext cx="3200400" cy="804672"/>
          </a:xfrm>
          <a:prstGeom prst="roundRect">
            <a:avLst>
              <a:gd name="adj" fmla="val 5682"/>
            </a:avLst>
          </a:prstGeom>
          <a:solidFill>
            <a:srgbClr val="2E86C1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5230368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ライン必要人数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423160" y="5230368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261</a:t>
            </a:r>
            <a:pPr algn="r"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名</a:t>
            </a:r>
            <a:endParaRPr lang="en-US" sz="2900" dirty="0"/>
          </a:p>
        </p:txBody>
      </p:sp>
      <p:sp>
        <p:nvSpPr>
          <p:cNvPr id="12" name="Shape 9"/>
          <p:cNvSpPr/>
          <p:nvPr/>
        </p:nvSpPr>
        <p:spPr>
          <a:xfrm>
            <a:off x="4261104" y="5230368"/>
            <a:ext cx="3200400" cy="804672"/>
          </a:xfrm>
          <a:prstGeom prst="roundRect">
            <a:avLst>
              <a:gd name="adj" fmla="val 5682"/>
            </a:avLst>
          </a:prstGeom>
          <a:solidFill>
            <a:srgbClr val="D68910"/>
          </a:solidFill>
          <a:ln/>
        </p:spPr>
      </p:sp>
      <p:sp>
        <p:nvSpPr>
          <p:cNvPr id="13" name="Text 10"/>
          <p:cNvSpPr/>
          <p:nvPr/>
        </p:nvSpPr>
        <p:spPr>
          <a:xfrm>
            <a:off x="4443984" y="5230368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管理職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98464" y="5230368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</a:t>
            </a:r>
            <a:pPr algn="r"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名</a:t>
            </a:r>
            <a:endParaRPr lang="en-US" sz="2900" dirty="0"/>
          </a:p>
        </p:txBody>
      </p:sp>
      <p:sp>
        <p:nvSpPr>
          <p:cNvPr id="15" name="Shape 12"/>
          <p:cNvSpPr/>
          <p:nvPr/>
        </p:nvSpPr>
        <p:spPr>
          <a:xfrm>
            <a:off x="7836408" y="5230368"/>
            <a:ext cx="3200400" cy="804672"/>
          </a:xfrm>
          <a:prstGeom prst="roundRect">
            <a:avLst>
              <a:gd name="adj" fmla="val 5682"/>
            </a:avLst>
          </a:prstGeom>
          <a:solidFill>
            <a:srgbClr val="13243B"/>
          </a:solidFill>
          <a:ln/>
        </p:spPr>
      </p:sp>
      <p:sp>
        <p:nvSpPr>
          <p:cNvPr id="16" name="Text 13"/>
          <p:cNvSpPr/>
          <p:nvPr/>
        </p:nvSpPr>
        <p:spPr>
          <a:xfrm>
            <a:off x="8019288" y="5230368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573768" y="5230368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283</a:t>
            </a:r>
            <a:pPr algn="r"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名</a:t>
            </a:r>
            <a:endParaRPr lang="en-US" sz="2900" dirty="0"/>
          </a:p>
        </p:txBody>
      </p:sp>
      <p:sp>
        <p:nvSpPr>
          <p:cNvPr id="18" name="Text 15"/>
          <p:cNvSpPr/>
          <p:nvPr/>
        </p:nvSpPr>
        <p:spPr>
          <a:xfrm>
            <a:off x="685800" y="610819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管理職はライン必要人数とは別枠（管理業務）で算出。CA930・ZH652はCA/ZHチームが担当する前提。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次のステップ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97480" y="18288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次のステップ ─ 60名維持と原価抑制の両立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26W 要員体制の考え方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265615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　／　</a:t>
            </a:r>
            <a:pPr algn="r"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10789920" cy="960120"/>
          </a:xfrm>
          <a:prstGeom prst="roundRect">
            <a:avLst>
              <a:gd name="adj" fmla="val 5714"/>
            </a:avLst>
          </a:prstGeom>
          <a:solidFill>
            <a:srgbClr val="13243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48132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D68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目的：　</a:t>
            </a:r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「60名維持」を原価増にしない。実運用で受ける人数を他チームの必要人数に組み込み、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190195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5DA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成田全体の必要人数（283名）を減らせて、はじめて意味がある。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85800" y="2651760"/>
            <a:ext cx="3502152" cy="2788920"/>
          </a:xfrm>
          <a:prstGeom prst="roundRect">
            <a:avLst>
              <a:gd name="adj" fmla="val 1967"/>
            </a:avLst>
          </a:prstGeom>
          <a:solidFill>
            <a:srgbClr val="13243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34640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DA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82112" y="2852928"/>
            <a:ext cx="822960" cy="384048"/>
          </a:xfrm>
          <a:prstGeom prst="roundRect">
            <a:avLst>
              <a:gd name="adj" fmla="val 9524"/>
            </a:avLst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291840"/>
            <a:ext cx="3044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60名の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持ち方を決定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297680"/>
            <a:ext cx="3044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本日の合意事項。まずここを固める。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69664" y="2651760"/>
            <a:ext cx="384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0" y="2651760"/>
            <a:ext cx="3502152" cy="2788920"/>
          </a:xfrm>
          <a:prstGeom prst="roundRect">
            <a:avLst>
              <a:gd name="adj" fmla="val 1967"/>
            </a:avLst>
          </a:prstGeom>
          <a:solidFill>
            <a:srgbClr val="2E86C1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834640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DA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68312" y="2852928"/>
            <a:ext cx="822960" cy="384048"/>
          </a:xfrm>
          <a:prstGeom prst="roundRect">
            <a:avLst>
              <a:gd name="adj" fmla="val 9524"/>
            </a:avLst>
          </a:prstGeom>
          <a:solidFill>
            <a:srgbClr val="D6891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291840"/>
            <a:ext cx="3044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受ける人数を他チームの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必要人数へ組み込む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00600" y="4297680"/>
            <a:ext cx="3044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実運用51名を超える兼務分を、TR等の必要人数にどう充当するか設計する。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55864" y="2651760"/>
            <a:ext cx="384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458200" y="2651760"/>
            <a:ext cx="3502152" cy="2788920"/>
          </a:xfrm>
          <a:prstGeom prst="roundRect">
            <a:avLst>
              <a:gd name="adj" fmla="val 1967"/>
            </a:avLst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0" y="2834640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DA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54512" y="2852928"/>
            <a:ext cx="822960" cy="384048"/>
          </a:xfrm>
          <a:prstGeom prst="roundRect">
            <a:avLst>
              <a:gd name="adj" fmla="val 9524"/>
            </a:avLst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0" y="3291840"/>
            <a:ext cx="3044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成田全体の必要人数を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再算定・削減を確認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686800" y="4297680"/>
            <a:ext cx="3044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283名からどれだけ減らせるかを検証。各チームの必要／専任必須／兼務可能人数を整理。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5623560"/>
            <a:ext cx="10789920" cy="731520"/>
          </a:xfrm>
          <a:prstGeom prst="roundRect">
            <a:avLst>
              <a:gd name="adj" fmla="val 7500"/>
            </a:avLst>
          </a:prstGeom>
          <a:solidFill>
            <a:srgbClr val="FEF5E7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6235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D68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本日の主眼：　</a:t>
            </a:r>
            <a:pPr algn="l" indent="0" marL="0">
              <a:buNone/>
            </a:pPr>
            <a:r>
              <a:rPr lang="en-US" sz="145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まずは『CA資格者60名をどう持つか』の合意形成に絞る。組み込み設計はその上で進める。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0" y="3703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EAF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06240" y="914400"/>
            <a:ext cx="7498080" cy="1234440"/>
          </a:xfrm>
          <a:prstGeom prst="roundRect">
            <a:avLst>
              <a:gd name="adj" fmla="val 4444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0" y="914400"/>
            <a:ext cx="7132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CA資格者60名維持　</a:t>
            </a:r>
            <a:pPr algn="ctr" indent="0" marL="0">
              <a:buNone/>
            </a:pPr>
            <a:r>
              <a:rPr lang="en-US" sz="2400" b="1" dirty="0">
                <a:solidFill>
                  <a:srgbClr val="D68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≠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CA/ZH専任60名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206240" y="2523744"/>
            <a:ext cx="237744" cy="237744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340864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AF2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CA資格者60名を維持しつつ、CA/ZH実運用の必要数を超える人員は他チームとの兼務で活用する。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06240" y="3419856"/>
            <a:ext cx="237744" cy="237744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3236976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AF2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兼務分を他チームの必要人数へ組み込み、成田全体の必要人数（283名）を削減することが目的（＝原価抑制）。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06240" y="4315968"/>
            <a:ext cx="237744" cy="237744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4133088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AF2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この持ち方を決定したうえで、26W 成田全体の必要人数を再算定し、削減効果を確定する。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06240" y="5532120"/>
            <a:ext cx="7498080" cy="18288"/>
          </a:xfrm>
          <a:prstGeom prst="rect">
            <a:avLst/>
          </a:prstGeom>
          <a:solidFill>
            <a:srgbClr val="3E5670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5669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FB8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作成：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2026-08-12T05:18:34Z</dcterms:created>
  <dcterms:modified xsi:type="dcterms:W3CDTF">2026-08-12T05:18:34Z</dcterms:modified>
</cp:coreProperties>
</file>