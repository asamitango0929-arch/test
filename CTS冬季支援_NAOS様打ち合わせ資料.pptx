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表紙" id="{52c1c00b-405f-4b18-b380-82959a0571c5}">
          <p14:sldIdLst>
            <p14:sldId id="256"/>
          </p14:sldIdLst>
        </p14:section>
        <p14:section name="アジェンダ" id="{847b990d-a5e4-286b-2e22-25067ae7b302}">
          <p14:sldIdLst>
            <p14:sldId id="257"/>
          </p14:sldIdLst>
        </p14:section>
        <p14:section name="支援のお願い" id="{3bfd4911-679d-c0a0-5ab5-58cac411cea0}">
          <p14:sldIdLst>
            <p14:sldId id="258"/>
          </p14:sldIdLst>
        </p14:section>
        <p14:section name="支援可能人数・資格" id="{36669d36-ce78-e998-b791-45f302fb077b}">
          <p14:sldIdLst>
            <p14:sldId id="259"/>
          </p14:sldIdLst>
        </p14:section>
        <p14:section name="勤務時間" id="{76e94029-f565-b56f-63db-d9a38e71931f}">
          <p14:sldIdLst>
            <p14:sldId id="260"/>
          </p14:sldIdLst>
        </p14:section>
        <p14:section name="事前教育・訓練" id="{586336e7-b1f5-42cc-cb4d-8e1606a6b556}">
          <p14:sldIdLst>
            <p14:sldId id="261"/>
          </p14:sldIdLst>
        </p14:section>
        <p14:section name="確認事項" id="{222a6486-3acf-0328-8a3e-853051a9823c}">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本日は5J便ハンドリング業務のご支援について、条件案をご説明し、支援可能な範囲を確認させていただきます。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CTS冬季期間中の人員体制を補完するため、5J5128/5J5129便のチェックイン・到着・ゲート業務のご支援をお願いしたく、以下の条件でご相談させていただきます。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1日6名の配置を希望していますが、休日やシフトを考慮し、10名程度への事前教育を想定しています。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当初14:30〜18:30を想定していましたが、14:30からの勤務が難しいと伺っています。カウンターオープン時刻の14:50開始の調整案です。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導入TrainingおよびOJTを予定。当初の1日8時間から、NAOS様の通常業務への影響を考慮し1日4時間とし、研修日数を増やして調整しています。研修時間はいずれも15:00〜19:00。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本日の打ち合わせで回答欄を埋めていく想定です。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03320"/>
            <a:ext cx="10515600" cy="548640"/>
          </a:xfrm>
          <a:prstGeom prst="rect">
            <a:avLst/>
          </a:prstGeom>
          <a:noFill/>
          <a:ln/>
        </p:spPr>
        <p:txBody>
          <a:bodyPr wrap="square" rtlCol="0"/>
          <a:lstStyle>
            <a:lvl1pPr algn="l" indent="0" marL="0">
              <a:buNone/>
              <a:defRPr lang="en-US" sz="1800" dirty="0">
                <a:solidFill>
                  <a:schemeClr val="accent3"/>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algn="l" indent="0" marL="0">
              <a:buNone/>
              <a:defRPr lang="en-US" sz="1200" b="1"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548640" y="685800"/>
            <a:ext cx="11064240" cy="640080"/>
          </a:xfrm>
          <a:prstGeom prst="rect">
            <a:avLst/>
          </a:prstGeom>
          <a:noFill/>
          <a:ln/>
        </p:spPr>
        <p:txBody>
          <a:bodyPr wrap="square" rtlCol="0"/>
          <a:lstStyle>
            <a:lvl1pPr algn="l" indent="0" marL="0">
              <a:buNone/>
              <a:defRPr lang="en-US" sz="2800" b="1" dirty="0">
                <a:solidFill>
                  <a:schemeClr val="accent1"/>
                </a:solidFill>
              </a:defRPr>
            </a:lvl1pPr>
          </a:lstStyle>
          <a:p>
            <a:pPr algn="l" indent="0" marL="0">
              <a:buNone/>
            </a:pPr>
            <a:endParaRPr lang="en-US" sz="2800" dirty="0"/>
          </a:p>
        </p:txBody>
      </p:sp>
      <p:sp>
        <p:nvSpPr>
          <p:cNvPr id="4" name="Text 0"/>
          <p:cNvSpPr/>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chemeClr val="accent6"/>
                </a:solidFill>
              </a:rPr>
              <a:t>CTS冬季支援に関するご相談・確認事項　｜　株式会社FMG</a:t>
            </a:r>
            <a:endParaRPr lang="en-US" sz="900" dirty="0"/>
          </a:p>
        </p:txBody>
      </p:sp>
      <p:sp>
        <p:nvSpPr>
          <p:cNvPr id="25" name="Slide Number Placeholder 0"/>
          <p:cNvSpPr>
            <a:spLocks noGrp="1"/>
          </p:cNvSpPr>
          <p:nvPr>
            <p:ph type="sldNum" sz="quarter" idx="4294967295"/>
          </p:nvPr>
        </p:nvSpPr>
        <p:spPr>
          <a:xfrm>
            <a:off x="11183112" y="64008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slideLayout" Target="../slideLayouts/slideLayout3.xml"/><Relationship Id="rId1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515600" cy="1463040"/>
          </a:xfrm>
          <a:prstGeom prst="rect">
            <a:avLst/>
          </a:prstGeom>
          <a:noFill/>
          <a:ln/>
        </p:spPr>
        <p:txBody>
          <a:bodyPr wrap="square" lIns="0" tIns="0" rIns="0" bIns="0" rtlCol="0" anchor="t"/>
          <a:lstStyle/>
          <a:p>
            <a:pPr algn="l" indent="0" marL="0">
              <a:buNone/>
            </a:pPr>
            <a:r>
              <a:rPr lang="en-US" sz="4000" b="1" dirty="0">
                <a:solidFill>
                  <a:schemeClr val="bg1"/>
                </a:solidFill>
              </a:rPr>
              <a:t>CTS冬季支援に関する</a:t>
            </a:r>
            <a:endParaRPr lang="en-US" sz="4000" dirty="0"/>
          </a:p>
          <a:p>
            <a:pPr algn="l" indent="0" marL="0">
              <a:buNone/>
            </a:pPr>
            <a:r>
              <a:rPr lang="en-US" sz="4000" b="1" dirty="0">
                <a:solidFill>
                  <a:schemeClr val="bg1"/>
                </a:solidFill>
              </a:rPr>
              <a:t>ご相談・確認事項</a:t>
            </a:r>
            <a:endParaRPr lang="en-US" sz="4000" dirty="0"/>
          </a:p>
        </p:txBody>
      </p:sp>
      <p:sp>
        <p:nvSpPr>
          <p:cNvPr id="3" name="Text 0"/>
          <p:cNvSpPr/>
          <p:nvPr>
            <p:ph idx="101" type="body" hasCustomPrompt="1"/>
          </p:nvPr>
        </p:nvSpPr>
        <p:spPr>
          <a:xfrm>
            <a:off x="731520" y="3703320"/>
            <a:ext cx="10515600" cy="548640"/>
          </a:xfrm>
          <a:prstGeom prst="rect">
            <a:avLst/>
          </a:prstGeom>
          <a:noFill/>
          <a:ln/>
        </p:spPr>
        <p:txBody>
          <a:bodyPr wrap="square" lIns="0" tIns="0" rIns="0" bIns="0" rtlCol="0"/>
          <a:lstStyle/>
          <a:p>
            <a:pPr algn="l" indent="0" marL="0">
              <a:buNone/>
            </a:pPr>
            <a:r>
              <a:rPr lang="en-US" sz="1800" dirty="0">
                <a:solidFill>
                  <a:schemeClr val="accent3"/>
                </a:solidFill>
              </a:rPr>
              <a:t>株式会社FMG ／ NAOS様　打ち合わせ資料</a:t>
            </a:r>
            <a:endParaRPr lang="en-US" sz="1800" dirty="0"/>
          </a:p>
        </p:txBody>
      </p:sp>
      <p:sp>
        <p:nvSpPr>
          <p:cNvPr id="4" name="Text 2"/>
          <p:cNvSpPr txBox="1"/>
          <p:nvPr/>
        </p:nvSpPr>
        <p:spPr>
          <a:xfrm>
            <a:off x="731520" y="5120640"/>
            <a:ext cx="5486400" cy="365760"/>
          </a:xfrm>
          <a:prstGeom prst="rect">
            <a:avLst/>
          </a:prstGeom>
          <a:noFill/>
          <a:ln/>
        </p:spPr>
        <p:txBody>
          <a:bodyPr wrap="square" lIns="0" tIns="0" rIns="0" bIns="0" rtlCol="0" anchor="t"/>
          <a:lstStyle/>
          <a:p>
            <a:pPr indent="0" marL="0">
              <a:buNone/>
            </a:pPr>
            <a:r>
              <a:rPr lang="en-US" sz="1600" b="1" dirty="0">
                <a:solidFill>
                  <a:schemeClr val="bg1"/>
                </a:solidFill>
              </a:rPr>
              <a:t>NAOS　石橋様</a:t>
            </a:r>
            <a:endParaRPr lang="en-US" sz="1600" dirty="0"/>
          </a:p>
        </p:txBody>
      </p:sp>
      <p:sp>
        <p:nvSpPr>
          <p:cNvPr id="5" name="Text 3"/>
          <p:cNvSpPr txBox="1"/>
          <p:nvPr/>
        </p:nvSpPr>
        <p:spPr>
          <a:xfrm>
            <a:off x="731520" y="5532120"/>
            <a:ext cx="5486400" cy="320040"/>
          </a:xfrm>
          <a:prstGeom prst="rect">
            <a:avLst/>
          </a:prstGeom>
          <a:noFill/>
          <a:ln/>
        </p:spPr>
        <p:txBody>
          <a:bodyPr wrap="square" lIns="0" tIns="0" rIns="0" bIns="0" rtlCol="0" anchor="t"/>
          <a:lstStyle/>
          <a:p>
            <a:pPr indent="0" marL="0">
              <a:buNone/>
            </a:pPr>
            <a:r>
              <a:rPr lang="en-US" sz="1200" dirty="0">
                <a:solidFill>
                  <a:srgbClr val="B8C4D6"/>
                </a:solidFill>
              </a:rPr>
              <a:t>2026年10月　株式会社FMG</a:t>
            </a:r>
            <a:endParaRPr lang="en-US" sz="1200" dirty="0"/>
          </a:p>
        </p:txBody>
      </p:sp>
      <p:pic>
        <p:nvPicPr>
          <p:cNvPr id="6" name="Plane icon" descr="preencoded.png">    </p:cNvPr>
          <p:cNvPicPr>
            <a:picLocks noChangeAspect="1"/>
          </p:cNvPicPr>
          <p:nvPr/>
        </p:nvPicPr>
        <p:blipFill>
          <a:blip r:embed="rId1"/>
          <a:stretch>
            <a:fillRect/>
          </a:stretch>
        </p:blipFill>
        <p:spPr>
          <a:xfrm>
            <a:off x="10332720" y="507492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algn="l" indent="0" marL="0">
              <a:buNone/>
            </a:pPr>
            <a:r>
              <a:rPr lang="en-US" sz="1200" b="1" dirty="0">
                <a:solidFill>
                  <a:schemeClr val="accent2"/>
                </a:solidFill>
              </a:rPr>
              <a:t>AGENDA</a:t>
            </a:r>
            <a:endParaRPr lang="en-US" sz="1200" dirty="0"/>
          </a:p>
        </p:txBody>
      </p:sp>
      <p:sp>
        <p:nvSpPr>
          <p:cNvPr id="3" name="Text 0"/>
          <p:cNvSpPr/>
          <p:nvPr>
            <p:ph idx="101" type="title" hasCustomPrompt="1"/>
          </p:nvPr>
        </p:nvSpPr>
        <p:spPr>
          <a:xfrm>
            <a:off x="548640" y="685800"/>
            <a:ext cx="11064240" cy="640080"/>
          </a:xfrm>
          <a:prstGeom prst="rect">
            <a:avLst/>
          </a:prstGeom>
          <a:noFill/>
          <a:ln/>
        </p:spPr>
        <p:txBody>
          <a:bodyPr wrap="square" lIns="0" tIns="0" rIns="0" bIns="0" rtlCol="0" anchor="t"/>
          <a:lstStyle/>
          <a:p>
            <a:pPr algn="l" indent="0" marL="0">
              <a:buNone/>
            </a:pPr>
            <a:r>
              <a:rPr lang="en-US" sz="2800" b="1" dirty="0">
                <a:solidFill>
                  <a:schemeClr val="accent1"/>
                </a:solidFill>
              </a:rPr>
              <a:t>本日ご相談させていただく内容</a:t>
            </a:r>
            <a:endParaRPr lang="en-US" sz="2800" dirty="0"/>
          </a:p>
        </p:txBody>
      </p:sp>
      <p:sp>
        <p:nvSpPr>
          <p:cNvPr id="5" name="Agenda 1"/>
          <p:cNvSpPr/>
          <p:nvPr/>
        </p:nvSpPr>
        <p:spPr>
          <a:xfrm>
            <a:off x="548640" y="1691640"/>
            <a:ext cx="11064240" cy="731520"/>
          </a:xfrm>
          <a:prstGeom prst="roundRect">
            <a:avLst>
              <a:gd name="adj" fmla="val 10000"/>
            </a:avLst>
          </a:prstGeom>
          <a:solidFill>
            <a:schemeClr val="bg1"/>
          </a:solidFill>
          <a:ln w="9525">
            <a:solidFill>
              <a:schemeClr val="accent5"/>
            </a:solidFill>
            <a:prstDash val="solid"/>
          </a:ln>
        </p:spPr>
      </p:sp>
      <p:sp>
        <p:nvSpPr>
          <p:cNvPr id="6" name="Text 3"/>
          <p:cNvSpPr txBox="1"/>
          <p:nvPr/>
        </p:nvSpPr>
        <p:spPr>
          <a:xfrm>
            <a:off x="868680" y="1691640"/>
            <a:ext cx="822960" cy="731520"/>
          </a:xfrm>
          <a:prstGeom prst="rect">
            <a:avLst/>
          </a:prstGeom>
          <a:noFill/>
          <a:ln/>
        </p:spPr>
        <p:txBody>
          <a:bodyPr wrap="square" lIns="0" tIns="0" rIns="0" bIns="0" rtlCol="0" anchor="ctr"/>
          <a:lstStyle/>
          <a:p>
            <a:pPr indent="0" marL="0">
              <a:buNone/>
            </a:pPr>
            <a:r>
              <a:rPr lang="en-US" sz="2600" b="1" dirty="0">
                <a:solidFill>
                  <a:schemeClr val="accent2"/>
                </a:solidFill>
              </a:rPr>
              <a:t>01</a:t>
            </a:r>
            <a:endParaRPr lang="en-US" sz="2600" dirty="0"/>
          </a:p>
        </p:txBody>
      </p:sp>
      <p:sp>
        <p:nvSpPr>
          <p:cNvPr id="7" name="Text 4"/>
          <p:cNvSpPr txBox="1"/>
          <p:nvPr/>
        </p:nvSpPr>
        <p:spPr>
          <a:xfrm>
            <a:off x="1828800" y="1691640"/>
            <a:ext cx="4754880" cy="731520"/>
          </a:xfrm>
          <a:prstGeom prst="rect">
            <a:avLst/>
          </a:prstGeom>
          <a:noFill/>
          <a:ln/>
        </p:spPr>
        <p:txBody>
          <a:bodyPr wrap="square" lIns="0" tIns="0" rIns="0" bIns="0" rtlCol="0" anchor="ctr"/>
          <a:lstStyle/>
          <a:p>
            <a:pPr indent="0" marL="0">
              <a:buNone/>
            </a:pPr>
            <a:r>
              <a:rPr lang="en-US" sz="1800" b="1" dirty="0">
                <a:solidFill>
                  <a:schemeClr val="accent1"/>
                </a:solidFill>
              </a:rPr>
              <a:t>支援のお願い</a:t>
            </a:r>
            <a:endParaRPr lang="en-US" sz="1800" dirty="0"/>
          </a:p>
        </p:txBody>
      </p:sp>
      <p:sp>
        <p:nvSpPr>
          <p:cNvPr id="8" name="Text 5"/>
          <p:cNvSpPr txBox="1"/>
          <p:nvPr/>
        </p:nvSpPr>
        <p:spPr>
          <a:xfrm>
            <a:off x="6675120" y="1691640"/>
            <a:ext cx="4754880" cy="731520"/>
          </a:xfrm>
          <a:prstGeom prst="rect">
            <a:avLst/>
          </a:prstGeom>
          <a:noFill/>
          <a:ln/>
        </p:spPr>
        <p:txBody>
          <a:bodyPr wrap="square" lIns="0" tIns="0" rIns="0" bIns="0" rtlCol="0" anchor="ctr"/>
          <a:lstStyle/>
          <a:p>
            <a:pPr indent="0" marL="0">
              <a:buNone/>
            </a:pPr>
            <a:r>
              <a:rPr lang="en-US" sz="1400" dirty="0">
                <a:solidFill>
                  <a:schemeClr val="accent6"/>
                </a:solidFill>
              </a:rPr>
              <a:t>対象便・業務・期間・単価などの条件</a:t>
            </a:r>
            <a:endParaRPr lang="en-US" sz="1400" dirty="0"/>
          </a:p>
        </p:txBody>
      </p:sp>
      <p:sp>
        <p:nvSpPr>
          <p:cNvPr id="9" name="Agenda 2"/>
          <p:cNvSpPr/>
          <p:nvPr/>
        </p:nvSpPr>
        <p:spPr>
          <a:xfrm>
            <a:off x="548640" y="2560320"/>
            <a:ext cx="11064240" cy="731520"/>
          </a:xfrm>
          <a:prstGeom prst="roundRect">
            <a:avLst>
              <a:gd name="adj" fmla="val 10000"/>
            </a:avLst>
          </a:prstGeom>
          <a:solidFill>
            <a:schemeClr val="bg1"/>
          </a:solidFill>
          <a:ln w="9525">
            <a:solidFill>
              <a:schemeClr val="accent5"/>
            </a:solidFill>
            <a:prstDash val="solid"/>
          </a:ln>
        </p:spPr>
      </p:sp>
      <p:sp>
        <p:nvSpPr>
          <p:cNvPr id="10" name="Text 7"/>
          <p:cNvSpPr txBox="1"/>
          <p:nvPr/>
        </p:nvSpPr>
        <p:spPr>
          <a:xfrm>
            <a:off x="868680" y="2560320"/>
            <a:ext cx="822960" cy="731520"/>
          </a:xfrm>
          <a:prstGeom prst="rect">
            <a:avLst/>
          </a:prstGeom>
          <a:noFill/>
          <a:ln/>
        </p:spPr>
        <p:txBody>
          <a:bodyPr wrap="square" lIns="0" tIns="0" rIns="0" bIns="0" rtlCol="0" anchor="ctr"/>
          <a:lstStyle/>
          <a:p>
            <a:pPr indent="0" marL="0">
              <a:buNone/>
            </a:pPr>
            <a:r>
              <a:rPr lang="en-US" sz="2600" b="1" dirty="0">
                <a:solidFill>
                  <a:schemeClr val="accent2"/>
                </a:solidFill>
              </a:rPr>
              <a:t>02</a:t>
            </a:r>
            <a:endParaRPr lang="en-US" sz="2600" dirty="0"/>
          </a:p>
        </p:txBody>
      </p:sp>
      <p:sp>
        <p:nvSpPr>
          <p:cNvPr id="11" name="Text 8"/>
          <p:cNvSpPr txBox="1"/>
          <p:nvPr/>
        </p:nvSpPr>
        <p:spPr>
          <a:xfrm>
            <a:off x="1828800" y="2560320"/>
            <a:ext cx="4754880" cy="731520"/>
          </a:xfrm>
          <a:prstGeom prst="rect">
            <a:avLst/>
          </a:prstGeom>
          <a:noFill/>
          <a:ln/>
        </p:spPr>
        <p:txBody>
          <a:bodyPr wrap="square" lIns="0" tIns="0" rIns="0" bIns="0" rtlCol="0" anchor="ctr"/>
          <a:lstStyle/>
          <a:p>
            <a:pPr indent="0" marL="0">
              <a:buNone/>
            </a:pPr>
            <a:r>
              <a:rPr lang="en-US" sz="1800" b="1" dirty="0">
                <a:solidFill>
                  <a:schemeClr val="accent1"/>
                </a:solidFill>
              </a:rPr>
              <a:t>支援可能人数・資格について</a:t>
            </a:r>
            <a:endParaRPr lang="en-US" sz="1800" dirty="0"/>
          </a:p>
        </p:txBody>
      </p:sp>
      <p:sp>
        <p:nvSpPr>
          <p:cNvPr id="12" name="Text 9"/>
          <p:cNvSpPr txBox="1"/>
          <p:nvPr/>
        </p:nvSpPr>
        <p:spPr>
          <a:xfrm>
            <a:off x="6675120" y="2560320"/>
            <a:ext cx="4754880" cy="731520"/>
          </a:xfrm>
          <a:prstGeom prst="rect">
            <a:avLst/>
          </a:prstGeom>
          <a:noFill/>
          <a:ln/>
        </p:spPr>
        <p:txBody>
          <a:bodyPr wrap="square" lIns="0" tIns="0" rIns="0" bIns="0" rtlCol="0" anchor="ctr"/>
          <a:lstStyle/>
          <a:p>
            <a:pPr indent="0" marL="0">
              <a:buNone/>
            </a:pPr>
            <a:r>
              <a:rPr lang="en-US" sz="1400" dirty="0">
                <a:solidFill>
                  <a:schemeClr val="accent6"/>
                </a:solidFill>
              </a:rPr>
              <a:t>1日あたりの人数、DC・GC資格、教育対象者10名</a:t>
            </a:r>
            <a:endParaRPr lang="en-US" sz="1400" dirty="0"/>
          </a:p>
        </p:txBody>
      </p:sp>
      <p:sp>
        <p:nvSpPr>
          <p:cNvPr id="13" name="Agenda 3"/>
          <p:cNvSpPr/>
          <p:nvPr/>
        </p:nvSpPr>
        <p:spPr>
          <a:xfrm>
            <a:off x="548640" y="3429000"/>
            <a:ext cx="11064240" cy="731520"/>
          </a:xfrm>
          <a:prstGeom prst="roundRect">
            <a:avLst>
              <a:gd name="adj" fmla="val 10000"/>
            </a:avLst>
          </a:prstGeom>
          <a:solidFill>
            <a:schemeClr val="bg1"/>
          </a:solidFill>
          <a:ln w="9525">
            <a:solidFill>
              <a:schemeClr val="accent5"/>
            </a:solidFill>
            <a:prstDash val="solid"/>
          </a:ln>
        </p:spPr>
      </p:sp>
      <p:sp>
        <p:nvSpPr>
          <p:cNvPr id="14" name="Text 11"/>
          <p:cNvSpPr txBox="1"/>
          <p:nvPr/>
        </p:nvSpPr>
        <p:spPr>
          <a:xfrm>
            <a:off x="868680" y="3429000"/>
            <a:ext cx="822960" cy="731520"/>
          </a:xfrm>
          <a:prstGeom prst="rect">
            <a:avLst/>
          </a:prstGeom>
          <a:noFill/>
          <a:ln/>
        </p:spPr>
        <p:txBody>
          <a:bodyPr wrap="square" lIns="0" tIns="0" rIns="0" bIns="0" rtlCol="0" anchor="ctr"/>
          <a:lstStyle/>
          <a:p>
            <a:pPr indent="0" marL="0">
              <a:buNone/>
            </a:pPr>
            <a:r>
              <a:rPr lang="en-US" sz="2600" b="1" dirty="0">
                <a:solidFill>
                  <a:schemeClr val="accent2"/>
                </a:solidFill>
              </a:rPr>
              <a:t>03</a:t>
            </a:r>
            <a:endParaRPr lang="en-US" sz="2600" dirty="0"/>
          </a:p>
        </p:txBody>
      </p:sp>
      <p:sp>
        <p:nvSpPr>
          <p:cNvPr id="15" name="Text 12"/>
          <p:cNvSpPr txBox="1"/>
          <p:nvPr/>
        </p:nvSpPr>
        <p:spPr>
          <a:xfrm>
            <a:off x="1828800" y="3429000"/>
            <a:ext cx="4754880" cy="731520"/>
          </a:xfrm>
          <a:prstGeom prst="rect">
            <a:avLst/>
          </a:prstGeom>
          <a:noFill/>
          <a:ln/>
        </p:spPr>
        <p:txBody>
          <a:bodyPr wrap="square" lIns="0" tIns="0" rIns="0" bIns="0" rtlCol="0" anchor="ctr"/>
          <a:lstStyle/>
          <a:p>
            <a:pPr indent="0" marL="0">
              <a:buNone/>
            </a:pPr>
            <a:r>
              <a:rPr lang="en-US" sz="1800" b="1" dirty="0">
                <a:solidFill>
                  <a:schemeClr val="accent1"/>
                </a:solidFill>
              </a:rPr>
              <a:t>勤務時間について</a:t>
            </a:r>
            <a:endParaRPr lang="en-US" sz="1800" dirty="0"/>
          </a:p>
        </p:txBody>
      </p:sp>
      <p:sp>
        <p:nvSpPr>
          <p:cNvPr id="16" name="Text 13"/>
          <p:cNvSpPr txBox="1"/>
          <p:nvPr/>
        </p:nvSpPr>
        <p:spPr>
          <a:xfrm>
            <a:off x="6675120" y="3429000"/>
            <a:ext cx="4754880" cy="731520"/>
          </a:xfrm>
          <a:prstGeom prst="rect">
            <a:avLst/>
          </a:prstGeom>
          <a:noFill/>
          <a:ln/>
        </p:spPr>
        <p:txBody>
          <a:bodyPr wrap="square" lIns="0" tIns="0" rIns="0" bIns="0" rtlCol="0" anchor="ctr"/>
          <a:lstStyle/>
          <a:p>
            <a:pPr indent="0" marL="0">
              <a:buNone/>
            </a:pPr>
            <a:r>
              <a:rPr lang="en-US" sz="1400" dirty="0">
                <a:solidFill>
                  <a:schemeClr val="accent6"/>
                </a:solidFill>
              </a:rPr>
              <a:t>14:50開始の調整案と派遣料金</a:t>
            </a:r>
            <a:endParaRPr lang="en-US" sz="1400" dirty="0"/>
          </a:p>
        </p:txBody>
      </p:sp>
      <p:sp>
        <p:nvSpPr>
          <p:cNvPr id="17" name="Agenda 4"/>
          <p:cNvSpPr/>
          <p:nvPr/>
        </p:nvSpPr>
        <p:spPr>
          <a:xfrm>
            <a:off x="548640" y="4297680"/>
            <a:ext cx="11064240" cy="731520"/>
          </a:xfrm>
          <a:prstGeom prst="roundRect">
            <a:avLst>
              <a:gd name="adj" fmla="val 10000"/>
            </a:avLst>
          </a:prstGeom>
          <a:solidFill>
            <a:schemeClr val="bg1"/>
          </a:solidFill>
          <a:ln w="9525">
            <a:solidFill>
              <a:schemeClr val="accent5"/>
            </a:solidFill>
            <a:prstDash val="solid"/>
          </a:ln>
        </p:spPr>
      </p:sp>
      <p:sp>
        <p:nvSpPr>
          <p:cNvPr id="18" name="Text 15"/>
          <p:cNvSpPr txBox="1"/>
          <p:nvPr/>
        </p:nvSpPr>
        <p:spPr>
          <a:xfrm>
            <a:off x="868680" y="4297680"/>
            <a:ext cx="822960" cy="731520"/>
          </a:xfrm>
          <a:prstGeom prst="rect">
            <a:avLst/>
          </a:prstGeom>
          <a:noFill/>
          <a:ln/>
        </p:spPr>
        <p:txBody>
          <a:bodyPr wrap="square" lIns="0" tIns="0" rIns="0" bIns="0" rtlCol="0" anchor="ctr"/>
          <a:lstStyle/>
          <a:p>
            <a:pPr indent="0" marL="0">
              <a:buNone/>
            </a:pPr>
            <a:r>
              <a:rPr lang="en-US" sz="2600" b="1" dirty="0">
                <a:solidFill>
                  <a:schemeClr val="accent2"/>
                </a:solidFill>
              </a:rPr>
              <a:t>04</a:t>
            </a:r>
            <a:endParaRPr lang="en-US" sz="2600" dirty="0"/>
          </a:p>
        </p:txBody>
      </p:sp>
      <p:sp>
        <p:nvSpPr>
          <p:cNvPr id="19" name="Text 16"/>
          <p:cNvSpPr txBox="1"/>
          <p:nvPr/>
        </p:nvSpPr>
        <p:spPr>
          <a:xfrm>
            <a:off x="1828800" y="4297680"/>
            <a:ext cx="4754880" cy="731520"/>
          </a:xfrm>
          <a:prstGeom prst="rect">
            <a:avLst/>
          </a:prstGeom>
          <a:noFill/>
          <a:ln/>
        </p:spPr>
        <p:txBody>
          <a:bodyPr wrap="square" lIns="0" tIns="0" rIns="0" bIns="0" rtlCol="0" anchor="ctr"/>
          <a:lstStyle/>
          <a:p>
            <a:pPr indent="0" marL="0">
              <a:buNone/>
            </a:pPr>
            <a:r>
              <a:rPr lang="en-US" sz="1800" b="1" dirty="0">
                <a:solidFill>
                  <a:schemeClr val="accent1"/>
                </a:solidFill>
              </a:rPr>
              <a:t>事前教育・訓練について</a:t>
            </a:r>
            <a:endParaRPr lang="en-US" sz="1800" dirty="0"/>
          </a:p>
        </p:txBody>
      </p:sp>
      <p:sp>
        <p:nvSpPr>
          <p:cNvPr id="20" name="Text 17"/>
          <p:cNvSpPr txBox="1"/>
          <p:nvPr/>
        </p:nvSpPr>
        <p:spPr>
          <a:xfrm>
            <a:off x="6675120" y="4297680"/>
            <a:ext cx="4754880" cy="731520"/>
          </a:xfrm>
          <a:prstGeom prst="rect">
            <a:avLst/>
          </a:prstGeom>
          <a:noFill/>
          <a:ln/>
        </p:spPr>
        <p:txBody>
          <a:bodyPr wrap="square" lIns="0" tIns="0" rIns="0" bIns="0" rtlCol="0" anchor="ctr"/>
          <a:lstStyle/>
          <a:p>
            <a:pPr indent="0" marL="0">
              <a:buNone/>
            </a:pPr>
            <a:r>
              <a:rPr lang="en-US" sz="1400" dirty="0">
                <a:solidFill>
                  <a:schemeClr val="accent6"/>
                </a:solidFill>
              </a:rPr>
              <a:t>1日4時間×6日の研修日程（2案）</a:t>
            </a:r>
            <a:endParaRPr lang="en-US" sz="1400" dirty="0"/>
          </a:p>
        </p:txBody>
      </p:sp>
      <p:sp>
        <p:nvSpPr>
          <p:cNvPr id="21" name="Agenda 5"/>
          <p:cNvSpPr/>
          <p:nvPr/>
        </p:nvSpPr>
        <p:spPr>
          <a:xfrm>
            <a:off x="548640" y="5166360"/>
            <a:ext cx="11064240" cy="731520"/>
          </a:xfrm>
          <a:prstGeom prst="roundRect">
            <a:avLst>
              <a:gd name="adj" fmla="val 10000"/>
            </a:avLst>
          </a:prstGeom>
          <a:solidFill>
            <a:schemeClr val="bg1"/>
          </a:solidFill>
          <a:ln w="9525">
            <a:solidFill>
              <a:schemeClr val="accent5"/>
            </a:solidFill>
            <a:prstDash val="solid"/>
          </a:ln>
        </p:spPr>
      </p:sp>
      <p:sp>
        <p:nvSpPr>
          <p:cNvPr id="22" name="Text 19"/>
          <p:cNvSpPr txBox="1"/>
          <p:nvPr/>
        </p:nvSpPr>
        <p:spPr>
          <a:xfrm>
            <a:off x="868680" y="5166360"/>
            <a:ext cx="822960" cy="731520"/>
          </a:xfrm>
          <a:prstGeom prst="rect">
            <a:avLst/>
          </a:prstGeom>
          <a:noFill/>
          <a:ln/>
        </p:spPr>
        <p:txBody>
          <a:bodyPr wrap="square" lIns="0" tIns="0" rIns="0" bIns="0" rtlCol="0" anchor="ctr"/>
          <a:lstStyle/>
          <a:p>
            <a:pPr indent="0" marL="0">
              <a:buNone/>
            </a:pPr>
            <a:r>
              <a:rPr lang="en-US" sz="2600" b="1" dirty="0">
                <a:solidFill>
                  <a:schemeClr val="accent2"/>
                </a:solidFill>
              </a:rPr>
              <a:t>05</a:t>
            </a:r>
            <a:endParaRPr lang="en-US" sz="2600" dirty="0"/>
          </a:p>
        </p:txBody>
      </p:sp>
      <p:sp>
        <p:nvSpPr>
          <p:cNvPr id="23" name="Text 20"/>
          <p:cNvSpPr txBox="1"/>
          <p:nvPr/>
        </p:nvSpPr>
        <p:spPr>
          <a:xfrm>
            <a:off x="1828800" y="5166360"/>
            <a:ext cx="4754880" cy="731520"/>
          </a:xfrm>
          <a:prstGeom prst="rect">
            <a:avLst/>
          </a:prstGeom>
          <a:noFill/>
          <a:ln/>
        </p:spPr>
        <p:txBody>
          <a:bodyPr wrap="square" lIns="0" tIns="0" rIns="0" bIns="0" rtlCol="0" anchor="ctr"/>
          <a:lstStyle/>
          <a:p>
            <a:pPr indent="0" marL="0">
              <a:buNone/>
            </a:pPr>
            <a:r>
              <a:rPr lang="en-US" sz="1800" b="1" dirty="0">
                <a:solidFill>
                  <a:schemeClr val="accent1"/>
                </a:solidFill>
              </a:rPr>
              <a:t>ご相談・確認させていただきたい事項</a:t>
            </a:r>
            <a:endParaRPr lang="en-US" sz="1800" dirty="0"/>
          </a:p>
        </p:txBody>
      </p:sp>
      <p:sp>
        <p:nvSpPr>
          <p:cNvPr id="24" name="Text 21"/>
          <p:cNvSpPr txBox="1"/>
          <p:nvPr/>
        </p:nvSpPr>
        <p:spPr>
          <a:xfrm>
            <a:off x="6675120" y="5166360"/>
            <a:ext cx="4754880" cy="731520"/>
          </a:xfrm>
          <a:prstGeom prst="rect">
            <a:avLst/>
          </a:prstGeom>
          <a:noFill/>
          <a:ln/>
        </p:spPr>
        <p:txBody>
          <a:bodyPr wrap="square" lIns="0" tIns="0" rIns="0" bIns="0" rtlCol="0" anchor="ctr"/>
          <a:lstStyle/>
          <a:p>
            <a:pPr indent="0" marL="0">
              <a:buNone/>
            </a:pPr>
            <a:r>
              <a:rPr lang="en-US" sz="1400" dirty="0">
                <a:solidFill>
                  <a:schemeClr val="accent6"/>
                </a:solidFill>
              </a:rPr>
              <a:t>本日ご回答・ご意見をいただきたい6点</a:t>
            </a:r>
            <a:endParaRPr lang="en-US" sz="1400" dirty="0"/>
          </a:p>
        </p:txBody>
      </p:sp>
      <p:sp>
        <p:nvSpPr>
          <p:cNvPr id="25" name="Slide Number Placeholder 0"/>
          <p:cNvSpPr>
            <a:spLocks noGrp="1"/>
          </p:cNvSpPr>
          <p:nvPr>
            <p:ph type="sldNum" sz="quarter" idx="4294967295"/>
          </p:nvPr>
        </p:nvSpPr>
        <p:spPr>
          <a:xfrm>
            <a:off x="11183112" y="64008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algn="l" indent="0" marL="0">
              <a:buNone/>
            </a:pPr>
            <a:r>
              <a:rPr lang="en-US" sz="1200" b="1" dirty="0">
                <a:solidFill>
                  <a:schemeClr val="accent2"/>
                </a:solidFill>
              </a:rPr>
              <a:t>01　支援のお願い</a:t>
            </a:r>
            <a:endParaRPr lang="en-US" sz="1200" dirty="0"/>
          </a:p>
        </p:txBody>
      </p:sp>
      <p:sp>
        <p:nvSpPr>
          <p:cNvPr id="3" name="Text 0"/>
          <p:cNvSpPr/>
          <p:nvPr>
            <p:ph idx="101" type="title" hasCustomPrompt="1"/>
          </p:nvPr>
        </p:nvSpPr>
        <p:spPr>
          <a:xfrm>
            <a:off x="548640" y="685800"/>
            <a:ext cx="11064240" cy="640080"/>
          </a:xfrm>
          <a:prstGeom prst="rect">
            <a:avLst/>
          </a:prstGeom>
          <a:noFill/>
          <a:ln/>
        </p:spPr>
        <p:txBody>
          <a:bodyPr wrap="square" lIns="0" tIns="0" rIns="0" bIns="0" rtlCol="0" anchor="t"/>
          <a:lstStyle/>
          <a:p>
            <a:pPr algn="l" indent="0" marL="0">
              <a:buNone/>
            </a:pPr>
            <a:r>
              <a:rPr lang="en-US" sz="2800" b="1" dirty="0">
                <a:solidFill>
                  <a:schemeClr val="accent1"/>
                </a:solidFill>
              </a:rPr>
              <a:t>5J便のハンドリング業務に、1日6名のご支援をお願いしたい</a:t>
            </a:r>
            <a:endParaRPr lang="en-US" sz="2800" dirty="0"/>
          </a:p>
        </p:txBody>
      </p:sp>
      <p:sp>
        <p:nvSpPr>
          <p:cNvPr id="5" name="Flight card"/>
          <p:cNvSpPr/>
          <p:nvPr/>
        </p:nvSpPr>
        <p:spPr>
          <a:xfrm>
            <a:off x="548640" y="1600200"/>
            <a:ext cx="4206240" cy="4526280"/>
          </a:xfrm>
          <a:prstGeom prst="roundRect">
            <a:avLst>
              <a:gd name="adj" fmla="val 1739"/>
            </a:avLst>
          </a:prstGeom>
          <a:solidFill>
            <a:schemeClr val="accent1"/>
          </a:solidFill>
          <a:ln/>
        </p:spPr>
      </p:sp>
      <p:sp>
        <p:nvSpPr>
          <p:cNvPr id="6" name="Text 3"/>
          <p:cNvSpPr txBox="1"/>
          <p:nvPr/>
        </p:nvSpPr>
        <p:spPr>
          <a:xfrm>
            <a:off x="868680" y="1874520"/>
            <a:ext cx="3566160" cy="274320"/>
          </a:xfrm>
          <a:prstGeom prst="rect">
            <a:avLst/>
          </a:prstGeom>
          <a:noFill/>
          <a:ln/>
        </p:spPr>
        <p:txBody>
          <a:bodyPr wrap="square" lIns="0" tIns="0" rIns="0" bIns="0" rtlCol="0" anchor="t"/>
          <a:lstStyle/>
          <a:p>
            <a:pPr indent="0" marL="0">
              <a:buNone/>
            </a:pPr>
            <a:r>
              <a:rPr lang="en-US" sz="1200" b="1" dirty="0">
                <a:solidFill>
                  <a:schemeClr val="accent3"/>
                </a:solidFill>
              </a:rPr>
              <a:t>対象便</a:t>
            </a:r>
            <a:endParaRPr lang="en-US" sz="1200" dirty="0"/>
          </a:p>
        </p:txBody>
      </p:sp>
      <p:sp>
        <p:nvSpPr>
          <p:cNvPr id="7" name="Text 4"/>
          <p:cNvSpPr txBox="1"/>
          <p:nvPr/>
        </p:nvSpPr>
        <p:spPr>
          <a:xfrm>
            <a:off x="868680" y="2194560"/>
            <a:ext cx="3566160" cy="548640"/>
          </a:xfrm>
          <a:prstGeom prst="rect">
            <a:avLst/>
          </a:prstGeom>
          <a:noFill/>
          <a:ln/>
        </p:spPr>
        <p:txBody>
          <a:bodyPr wrap="square" lIns="0" tIns="0" rIns="0" bIns="0" rtlCol="0" anchor="t"/>
          <a:lstStyle/>
          <a:p>
            <a:pPr indent="0" marL="0">
              <a:buNone/>
            </a:pPr>
            <a:r>
              <a:rPr lang="en-US" sz="2800" b="1" dirty="0">
                <a:solidFill>
                  <a:schemeClr val="bg1"/>
                </a:solidFill>
              </a:rPr>
              <a:t>5J5128／5J5129</a:t>
            </a:r>
            <a:endParaRPr lang="en-US" sz="2800" dirty="0"/>
          </a:p>
        </p:txBody>
      </p:sp>
      <p:sp>
        <p:nvSpPr>
          <p:cNvPr id="8" name="Text 5"/>
          <p:cNvSpPr txBox="1"/>
          <p:nvPr/>
        </p:nvSpPr>
        <p:spPr>
          <a:xfrm>
            <a:off x="868680" y="3017520"/>
            <a:ext cx="2103120" cy="457200"/>
          </a:xfrm>
          <a:prstGeom prst="rect">
            <a:avLst/>
          </a:prstGeom>
          <a:noFill/>
          <a:ln/>
        </p:spPr>
        <p:txBody>
          <a:bodyPr wrap="square" lIns="0" tIns="0" rIns="0" bIns="0" rtlCol="0" anchor="ctr"/>
          <a:lstStyle/>
          <a:p>
            <a:pPr indent="0" marL="0">
              <a:buNone/>
            </a:pPr>
            <a:r>
              <a:rPr lang="en-US" sz="1400" dirty="0">
                <a:solidFill>
                  <a:srgbClr val="B8C4D6"/>
                </a:solidFill>
              </a:rPr>
              <a:t>STA</a:t>
            </a:r>
            <a:endParaRPr lang="en-US" sz="1400" dirty="0"/>
          </a:p>
        </p:txBody>
      </p:sp>
      <p:sp>
        <p:nvSpPr>
          <p:cNvPr id="9" name="Text 6"/>
          <p:cNvSpPr txBox="1"/>
          <p:nvPr/>
        </p:nvSpPr>
        <p:spPr>
          <a:xfrm>
            <a:off x="2880360" y="3017520"/>
            <a:ext cx="1554480" cy="457200"/>
          </a:xfrm>
          <a:prstGeom prst="rect">
            <a:avLst/>
          </a:prstGeom>
          <a:noFill/>
          <a:ln/>
        </p:spPr>
        <p:txBody>
          <a:bodyPr wrap="square" lIns="0" tIns="0" rIns="0" bIns="0" rtlCol="0" anchor="ctr"/>
          <a:lstStyle/>
          <a:p>
            <a:pPr algn="r" indent="0" marL="0">
              <a:buNone/>
            </a:pPr>
            <a:r>
              <a:rPr lang="en-US" sz="2200" b="1" dirty="0">
                <a:solidFill>
                  <a:schemeClr val="bg1"/>
                </a:solidFill>
              </a:rPr>
              <a:t>16:50</a:t>
            </a:r>
            <a:endParaRPr lang="en-US" sz="2200" dirty="0"/>
          </a:p>
        </p:txBody>
      </p:sp>
      <p:sp>
        <p:nvSpPr>
          <p:cNvPr id="10" name="Text 7"/>
          <p:cNvSpPr txBox="1"/>
          <p:nvPr/>
        </p:nvSpPr>
        <p:spPr>
          <a:xfrm>
            <a:off x="868680" y="3584448"/>
            <a:ext cx="2103120" cy="457200"/>
          </a:xfrm>
          <a:prstGeom prst="rect">
            <a:avLst/>
          </a:prstGeom>
          <a:noFill/>
          <a:ln/>
        </p:spPr>
        <p:txBody>
          <a:bodyPr wrap="square" lIns="0" tIns="0" rIns="0" bIns="0" rtlCol="0" anchor="ctr"/>
          <a:lstStyle/>
          <a:p>
            <a:pPr indent="0" marL="0">
              <a:buNone/>
            </a:pPr>
            <a:r>
              <a:rPr lang="en-US" sz="1400" dirty="0">
                <a:solidFill>
                  <a:srgbClr val="B8C4D6"/>
                </a:solidFill>
              </a:rPr>
              <a:t>STD</a:t>
            </a:r>
            <a:endParaRPr lang="en-US" sz="1400" dirty="0"/>
          </a:p>
        </p:txBody>
      </p:sp>
      <p:sp>
        <p:nvSpPr>
          <p:cNvPr id="11" name="Text 8"/>
          <p:cNvSpPr txBox="1"/>
          <p:nvPr/>
        </p:nvSpPr>
        <p:spPr>
          <a:xfrm>
            <a:off x="2880360" y="3584448"/>
            <a:ext cx="1554480" cy="457200"/>
          </a:xfrm>
          <a:prstGeom prst="rect">
            <a:avLst/>
          </a:prstGeom>
          <a:noFill/>
          <a:ln/>
        </p:spPr>
        <p:txBody>
          <a:bodyPr wrap="square" lIns="0" tIns="0" rIns="0" bIns="0" rtlCol="0" anchor="ctr"/>
          <a:lstStyle/>
          <a:p>
            <a:pPr algn="r" indent="0" marL="0">
              <a:buNone/>
            </a:pPr>
            <a:r>
              <a:rPr lang="en-US" sz="2200" b="1" dirty="0">
                <a:solidFill>
                  <a:schemeClr val="bg1"/>
                </a:solidFill>
              </a:rPr>
              <a:t>17:50</a:t>
            </a:r>
            <a:endParaRPr lang="en-US" sz="2200" dirty="0"/>
          </a:p>
        </p:txBody>
      </p:sp>
      <p:sp>
        <p:nvSpPr>
          <p:cNvPr id="12" name="Text 9"/>
          <p:cNvSpPr txBox="1"/>
          <p:nvPr/>
        </p:nvSpPr>
        <p:spPr>
          <a:xfrm>
            <a:off x="868680" y="4151376"/>
            <a:ext cx="2103120" cy="457200"/>
          </a:xfrm>
          <a:prstGeom prst="rect">
            <a:avLst/>
          </a:prstGeom>
          <a:noFill/>
          <a:ln/>
        </p:spPr>
        <p:txBody>
          <a:bodyPr wrap="square" lIns="0" tIns="0" rIns="0" bIns="0" rtlCol="0" anchor="ctr"/>
          <a:lstStyle/>
          <a:p>
            <a:pPr indent="0" marL="0">
              <a:buNone/>
            </a:pPr>
            <a:r>
              <a:rPr lang="en-US" sz="1400" dirty="0">
                <a:solidFill>
                  <a:srgbClr val="B8C4D6"/>
                </a:solidFill>
              </a:rPr>
              <a:t>カウンターオープン</a:t>
            </a:r>
            <a:endParaRPr lang="en-US" sz="1400" dirty="0"/>
          </a:p>
        </p:txBody>
      </p:sp>
      <p:sp>
        <p:nvSpPr>
          <p:cNvPr id="13" name="Text 10"/>
          <p:cNvSpPr txBox="1"/>
          <p:nvPr/>
        </p:nvSpPr>
        <p:spPr>
          <a:xfrm>
            <a:off x="2880360" y="4151376"/>
            <a:ext cx="1554480" cy="457200"/>
          </a:xfrm>
          <a:prstGeom prst="rect">
            <a:avLst/>
          </a:prstGeom>
          <a:noFill/>
          <a:ln/>
        </p:spPr>
        <p:txBody>
          <a:bodyPr wrap="square" lIns="0" tIns="0" rIns="0" bIns="0" rtlCol="0" anchor="ctr"/>
          <a:lstStyle/>
          <a:p>
            <a:pPr algn="r" indent="0" marL="0">
              <a:buNone/>
            </a:pPr>
            <a:r>
              <a:rPr lang="en-US" sz="2200" b="1" dirty="0">
                <a:solidFill>
                  <a:schemeClr val="bg1"/>
                </a:solidFill>
              </a:rPr>
              <a:t>14:50</a:t>
            </a:r>
            <a:endParaRPr lang="en-US" sz="2200" dirty="0"/>
          </a:p>
        </p:txBody>
      </p:sp>
      <p:sp>
        <p:nvSpPr>
          <p:cNvPr id="14" name="Shape 11"/>
          <p:cNvSpPr/>
          <p:nvPr/>
        </p:nvSpPr>
        <p:spPr>
          <a:xfrm>
            <a:off x="868680" y="4892040"/>
            <a:ext cx="3566160" cy="914400"/>
          </a:xfrm>
          <a:prstGeom prst="roundRect">
            <a:avLst>
              <a:gd name="adj" fmla="val 6000"/>
            </a:avLst>
          </a:prstGeom>
          <a:solidFill>
            <a:srgbClr val="22325A"/>
          </a:solidFill>
          <a:ln/>
        </p:spPr>
      </p:sp>
      <p:sp>
        <p:nvSpPr>
          <p:cNvPr id="15" name="Text 12"/>
          <p:cNvSpPr txBox="1"/>
          <p:nvPr/>
        </p:nvSpPr>
        <p:spPr>
          <a:xfrm>
            <a:off x="1051560" y="4983480"/>
            <a:ext cx="3200400" cy="731520"/>
          </a:xfrm>
          <a:prstGeom prst="rect">
            <a:avLst/>
          </a:prstGeom>
          <a:noFill/>
          <a:ln/>
        </p:spPr>
        <p:txBody>
          <a:bodyPr wrap="square" lIns="0" tIns="0" rIns="0" bIns="0" rtlCol="0" anchor="ctr"/>
          <a:lstStyle/>
          <a:p>
            <a:pPr indent="0" marL="0">
              <a:buNone/>
            </a:pPr>
            <a:r>
              <a:rPr lang="en-US" sz="1100" dirty="0">
                <a:solidFill>
                  <a:srgbClr val="B8C4D6"/>
                </a:solidFill>
              </a:rPr>
              <a:t>対象業務</a:t>
            </a:r>
            <a:endParaRPr lang="en-US" sz="1400" dirty="0"/>
          </a:p>
          <a:p>
            <a:pPr indent="0" marL="0">
              <a:buNone/>
            </a:pPr>
            <a:r>
              <a:rPr lang="en-US" sz="1600" b="1" dirty="0">
                <a:solidFill>
                  <a:schemeClr val="bg1"/>
                </a:solidFill>
              </a:rPr>
              <a:t>チェックイン・到着・ゲート業務</a:t>
            </a:r>
            <a:endParaRPr lang="en-US" sz="1400" dirty="0"/>
          </a:p>
        </p:txBody>
      </p:sp>
      <p:sp>
        <p:nvSpPr>
          <p:cNvPr id="16" name="Stat 1"/>
          <p:cNvSpPr/>
          <p:nvPr/>
        </p:nvSpPr>
        <p:spPr>
          <a:xfrm>
            <a:off x="5029200" y="1600200"/>
            <a:ext cx="2011680" cy="2057400"/>
          </a:xfrm>
          <a:prstGeom prst="roundRect">
            <a:avLst>
              <a:gd name="adj" fmla="val 3636"/>
            </a:avLst>
          </a:prstGeom>
          <a:solidFill>
            <a:schemeClr val="bg1"/>
          </a:solidFill>
          <a:ln w="9525">
            <a:solidFill>
              <a:schemeClr val="accent5"/>
            </a:solidFill>
            <a:prstDash val="solid"/>
          </a:ln>
        </p:spPr>
      </p:sp>
      <p:pic>
        <p:nvPicPr>
          <p:cNvPr id="17" name="Image 0" descr="preencoded.png">    </p:cNvPr>
          <p:cNvPicPr>
            <a:picLocks noChangeAspect="1"/>
          </p:cNvPicPr>
          <p:nvPr/>
        </p:nvPicPr>
        <p:blipFill>
          <a:blip r:embed="rId1"/>
          <a:stretch>
            <a:fillRect/>
          </a:stretch>
        </p:blipFill>
        <p:spPr>
          <a:xfrm>
            <a:off x="5303520" y="1828800"/>
            <a:ext cx="411480" cy="411480"/>
          </a:xfrm>
          <a:prstGeom prst="rect">
            <a:avLst/>
          </a:prstGeom>
        </p:spPr>
      </p:pic>
      <p:sp>
        <p:nvSpPr>
          <p:cNvPr id="18" name="Text 14"/>
          <p:cNvSpPr txBox="1"/>
          <p:nvPr/>
        </p:nvSpPr>
        <p:spPr>
          <a:xfrm>
            <a:off x="5303520" y="2377440"/>
            <a:ext cx="1554480" cy="594360"/>
          </a:xfrm>
          <a:prstGeom prst="rect">
            <a:avLst/>
          </a:prstGeom>
          <a:noFill/>
          <a:ln/>
        </p:spPr>
        <p:txBody>
          <a:bodyPr wrap="square" lIns="0" tIns="0" rIns="0" bIns="0" rtlCol="0" anchor="t"/>
          <a:lstStyle/>
          <a:p>
            <a:pPr indent="0" marL="0">
              <a:buNone/>
            </a:pPr>
            <a:r>
              <a:rPr lang="en-US" sz="2200" b="1" dirty="0">
                <a:solidFill>
                  <a:schemeClr val="accent1"/>
                </a:solidFill>
              </a:rPr>
              <a:t>6名／日</a:t>
            </a:r>
            <a:endParaRPr lang="en-US" sz="2200" dirty="0"/>
          </a:p>
        </p:txBody>
      </p:sp>
      <p:sp>
        <p:nvSpPr>
          <p:cNvPr id="19" name="Text 15"/>
          <p:cNvSpPr txBox="1"/>
          <p:nvPr/>
        </p:nvSpPr>
        <p:spPr>
          <a:xfrm>
            <a:off x="5303520" y="3017520"/>
            <a:ext cx="1554480" cy="502920"/>
          </a:xfrm>
          <a:prstGeom prst="rect">
            <a:avLst/>
          </a:prstGeom>
          <a:noFill/>
          <a:ln/>
        </p:spPr>
        <p:txBody>
          <a:bodyPr wrap="square" lIns="0" tIns="0" rIns="0" bIns="0" rtlCol="0" anchor="t"/>
          <a:lstStyle/>
          <a:p>
            <a:pPr indent="0" marL="0">
              <a:buNone/>
            </a:pPr>
            <a:r>
              <a:rPr lang="en-US" sz="1200" dirty="0">
                <a:solidFill>
                  <a:schemeClr val="accent6"/>
                </a:solidFill>
              </a:rPr>
              <a:t>希望支援人数（Daily）</a:t>
            </a:r>
            <a:endParaRPr lang="en-US" sz="1200" dirty="0"/>
          </a:p>
        </p:txBody>
      </p:sp>
      <p:sp>
        <p:nvSpPr>
          <p:cNvPr id="20" name="Stat 2"/>
          <p:cNvSpPr/>
          <p:nvPr/>
        </p:nvSpPr>
        <p:spPr>
          <a:xfrm>
            <a:off x="7315200" y="1600200"/>
            <a:ext cx="2011680" cy="2057400"/>
          </a:xfrm>
          <a:prstGeom prst="roundRect">
            <a:avLst>
              <a:gd name="adj" fmla="val 3636"/>
            </a:avLst>
          </a:prstGeom>
          <a:solidFill>
            <a:schemeClr val="bg1"/>
          </a:solidFill>
          <a:ln w="9525">
            <a:solidFill>
              <a:schemeClr val="accent5"/>
            </a:solidFill>
            <a:prstDash val="solid"/>
          </a:ln>
        </p:spPr>
      </p:sp>
      <p:pic>
        <p:nvPicPr>
          <p:cNvPr id="21" name="Image 1" descr="preencoded.png">    </p:cNvPr>
          <p:cNvPicPr>
            <a:picLocks noChangeAspect="1"/>
          </p:cNvPicPr>
          <p:nvPr/>
        </p:nvPicPr>
        <p:blipFill>
          <a:blip r:embed="rId2"/>
          <a:stretch>
            <a:fillRect/>
          </a:stretch>
        </p:blipFill>
        <p:spPr>
          <a:xfrm>
            <a:off x="7589520" y="1828800"/>
            <a:ext cx="411480" cy="411480"/>
          </a:xfrm>
          <a:prstGeom prst="rect">
            <a:avLst/>
          </a:prstGeom>
        </p:spPr>
      </p:pic>
      <p:sp>
        <p:nvSpPr>
          <p:cNvPr id="22" name="Text 17"/>
          <p:cNvSpPr txBox="1"/>
          <p:nvPr/>
        </p:nvSpPr>
        <p:spPr>
          <a:xfrm>
            <a:off x="7589520" y="2377440"/>
            <a:ext cx="1554480" cy="594360"/>
          </a:xfrm>
          <a:prstGeom prst="rect">
            <a:avLst/>
          </a:prstGeom>
          <a:noFill/>
          <a:ln/>
        </p:spPr>
        <p:txBody>
          <a:bodyPr wrap="square" lIns="0" tIns="0" rIns="0" bIns="0" rtlCol="0" anchor="t"/>
          <a:lstStyle/>
          <a:p>
            <a:pPr indent="0" marL="0">
              <a:buNone/>
            </a:pPr>
            <a:r>
              <a:rPr lang="en-US" sz="2200" b="1" dirty="0">
                <a:solidFill>
                  <a:schemeClr val="accent1"/>
                </a:solidFill>
              </a:rPr>
              <a:t>2027/3/31</a:t>
            </a:r>
            <a:endParaRPr lang="en-US" sz="2200" dirty="0"/>
          </a:p>
        </p:txBody>
      </p:sp>
      <p:sp>
        <p:nvSpPr>
          <p:cNvPr id="23" name="Text 18"/>
          <p:cNvSpPr txBox="1"/>
          <p:nvPr/>
        </p:nvSpPr>
        <p:spPr>
          <a:xfrm>
            <a:off x="7589520" y="3017520"/>
            <a:ext cx="1554480" cy="502920"/>
          </a:xfrm>
          <a:prstGeom prst="rect">
            <a:avLst/>
          </a:prstGeom>
          <a:noFill/>
          <a:ln/>
        </p:spPr>
        <p:txBody>
          <a:bodyPr wrap="square" lIns="0" tIns="0" rIns="0" bIns="0" rtlCol="0" anchor="t"/>
          <a:lstStyle/>
          <a:p>
            <a:pPr indent="0" marL="0">
              <a:buNone/>
            </a:pPr>
            <a:r>
              <a:rPr lang="en-US" sz="1200" dirty="0">
                <a:solidFill>
                  <a:schemeClr val="accent6"/>
                </a:solidFill>
              </a:rPr>
              <a:t>希望支援期間（可能な限り早期～）</a:t>
            </a:r>
            <a:endParaRPr lang="en-US" sz="1200" dirty="0"/>
          </a:p>
        </p:txBody>
      </p:sp>
      <p:sp>
        <p:nvSpPr>
          <p:cNvPr id="24" name="Stat 3"/>
          <p:cNvSpPr/>
          <p:nvPr/>
        </p:nvSpPr>
        <p:spPr>
          <a:xfrm>
            <a:off x="9601200" y="1600200"/>
            <a:ext cx="2011680" cy="2057400"/>
          </a:xfrm>
          <a:prstGeom prst="roundRect">
            <a:avLst>
              <a:gd name="adj" fmla="val 3636"/>
            </a:avLst>
          </a:prstGeom>
          <a:solidFill>
            <a:schemeClr val="bg1"/>
          </a:solidFill>
          <a:ln w="9525">
            <a:solidFill>
              <a:schemeClr val="accent5"/>
            </a:solidFill>
            <a:prstDash val="solid"/>
          </a:ln>
        </p:spPr>
      </p:sp>
      <p:pic>
        <p:nvPicPr>
          <p:cNvPr id="25" name="Image 2" descr="preencoded.png">    </p:cNvPr>
          <p:cNvPicPr>
            <a:picLocks noChangeAspect="1"/>
          </p:cNvPicPr>
          <p:nvPr/>
        </p:nvPicPr>
        <p:blipFill>
          <a:blip r:embed="rId3"/>
          <a:stretch>
            <a:fillRect/>
          </a:stretch>
        </p:blipFill>
        <p:spPr>
          <a:xfrm>
            <a:off x="9875520" y="1828800"/>
            <a:ext cx="411480" cy="411480"/>
          </a:xfrm>
          <a:prstGeom prst="rect">
            <a:avLst/>
          </a:prstGeom>
        </p:spPr>
      </p:pic>
      <p:sp>
        <p:nvSpPr>
          <p:cNvPr id="26" name="Text 20"/>
          <p:cNvSpPr txBox="1"/>
          <p:nvPr/>
        </p:nvSpPr>
        <p:spPr>
          <a:xfrm>
            <a:off x="9875520" y="2377440"/>
            <a:ext cx="1554480" cy="594360"/>
          </a:xfrm>
          <a:prstGeom prst="rect">
            <a:avLst/>
          </a:prstGeom>
          <a:noFill/>
          <a:ln/>
        </p:spPr>
        <p:txBody>
          <a:bodyPr wrap="square" lIns="0" tIns="0" rIns="0" bIns="0" rtlCol="0" anchor="t"/>
          <a:lstStyle/>
          <a:p>
            <a:pPr indent="0" marL="0">
              <a:buNone/>
            </a:pPr>
            <a:r>
              <a:rPr lang="en-US" sz="2200" b="1" dirty="0">
                <a:solidFill>
                  <a:schemeClr val="accent1"/>
                </a:solidFill>
              </a:rPr>
              <a:t>労働者派遣</a:t>
            </a:r>
            <a:endParaRPr lang="en-US" sz="2200" dirty="0"/>
          </a:p>
        </p:txBody>
      </p:sp>
      <p:sp>
        <p:nvSpPr>
          <p:cNvPr id="27" name="Text 21"/>
          <p:cNvSpPr txBox="1"/>
          <p:nvPr/>
        </p:nvSpPr>
        <p:spPr>
          <a:xfrm>
            <a:off x="9875520" y="3017520"/>
            <a:ext cx="1554480" cy="502920"/>
          </a:xfrm>
          <a:prstGeom prst="rect">
            <a:avLst/>
          </a:prstGeom>
          <a:noFill/>
          <a:ln/>
        </p:spPr>
        <p:txBody>
          <a:bodyPr wrap="square" lIns="0" tIns="0" rIns="0" bIns="0" rtlCol="0" anchor="t"/>
          <a:lstStyle/>
          <a:p>
            <a:pPr indent="0" marL="0">
              <a:buNone/>
            </a:pPr>
            <a:r>
              <a:rPr lang="en-US" sz="1200" dirty="0">
                <a:solidFill>
                  <a:schemeClr val="accent6"/>
                </a:solidFill>
              </a:rPr>
              <a:t>契約形態</a:t>
            </a:r>
            <a:endParaRPr lang="en-US" sz="1200" dirty="0"/>
          </a:p>
        </p:txBody>
      </p:sp>
      <p:sp>
        <p:nvSpPr>
          <p:cNvPr id="28" name="Rate card"/>
          <p:cNvSpPr/>
          <p:nvPr/>
        </p:nvSpPr>
        <p:spPr>
          <a:xfrm>
            <a:off x="5029200" y="3931920"/>
            <a:ext cx="6583680" cy="2194560"/>
          </a:xfrm>
          <a:prstGeom prst="roundRect">
            <a:avLst>
              <a:gd name="adj" fmla="val 3333"/>
            </a:avLst>
          </a:prstGeom>
          <a:solidFill>
            <a:schemeClr val="bg1"/>
          </a:solidFill>
          <a:ln w="9525">
            <a:solidFill>
              <a:schemeClr val="accent5"/>
            </a:solidFill>
            <a:prstDash val="solid"/>
          </a:ln>
        </p:spPr>
      </p:sp>
      <p:pic>
        <p:nvPicPr>
          <p:cNvPr id="29" name="Image 3" descr="preencoded.png">    </p:cNvPr>
          <p:cNvPicPr>
            <a:picLocks noChangeAspect="1"/>
          </p:cNvPicPr>
          <p:nvPr/>
        </p:nvPicPr>
        <p:blipFill>
          <a:blip r:embed="rId4"/>
          <a:stretch>
            <a:fillRect/>
          </a:stretch>
        </p:blipFill>
        <p:spPr>
          <a:xfrm>
            <a:off x="5303520" y="4160520"/>
            <a:ext cx="365760" cy="365760"/>
          </a:xfrm>
          <a:prstGeom prst="rect">
            <a:avLst/>
          </a:prstGeom>
        </p:spPr>
      </p:pic>
      <p:sp>
        <p:nvSpPr>
          <p:cNvPr id="30" name="Text 23"/>
          <p:cNvSpPr txBox="1"/>
          <p:nvPr/>
        </p:nvSpPr>
        <p:spPr>
          <a:xfrm>
            <a:off x="5806440" y="4160520"/>
            <a:ext cx="2743200" cy="365760"/>
          </a:xfrm>
          <a:prstGeom prst="rect">
            <a:avLst/>
          </a:prstGeom>
          <a:noFill/>
          <a:ln/>
        </p:spPr>
        <p:txBody>
          <a:bodyPr wrap="square" lIns="0" tIns="0" rIns="0" bIns="0" rtlCol="0" anchor="ctr"/>
          <a:lstStyle/>
          <a:p>
            <a:pPr indent="0" marL="0">
              <a:buNone/>
            </a:pPr>
            <a:r>
              <a:rPr lang="en-US" sz="1600" b="1" dirty="0">
                <a:solidFill>
                  <a:schemeClr val="accent1"/>
                </a:solidFill>
              </a:rPr>
              <a:t>派遣単価</a:t>
            </a:r>
            <a:endParaRPr lang="en-US" sz="1600" dirty="0"/>
          </a:p>
        </p:txBody>
      </p:sp>
      <p:sp>
        <p:nvSpPr>
          <p:cNvPr id="31" name="Shape 24"/>
          <p:cNvSpPr/>
          <p:nvPr/>
        </p:nvSpPr>
        <p:spPr>
          <a:xfrm>
            <a:off x="5303520" y="4709160"/>
            <a:ext cx="6035040" cy="0"/>
          </a:xfrm>
          <a:prstGeom prst="line">
            <a:avLst/>
          </a:prstGeom>
          <a:noFill/>
          <a:ln w="9525">
            <a:solidFill>
              <a:schemeClr val="accent5"/>
            </a:solidFill>
            <a:prstDash val="solid"/>
          </a:ln>
        </p:spPr>
      </p:sp>
      <p:sp>
        <p:nvSpPr>
          <p:cNvPr id="32" name="Text 25"/>
          <p:cNvSpPr txBox="1"/>
          <p:nvPr/>
        </p:nvSpPr>
        <p:spPr>
          <a:xfrm>
            <a:off x="5303520" y="4754880"/>
            <a:ext cx="3291840" cy="502920"/>
          </a:xfrm>
          <a:prstGeom prst="rect">
            <a:avLst/>
          </a:prstGeom>
          <a:noFill/>
          <a:ln/>
        </p:spPr>
        <p:txBody>
          <a:bodyPr wrap="square" lIns="0" tIns="0" rIns="0" bIns="0" rtlCol="0" anchor="ctr"/>
          <a:lstStyle/>
          <a:p>
            <a:pPr indent="0" marL="0">
              <a:buNone/>
            </a:pPr>
            <a:r>
              <a:rPr lang="en-US" sz="1500" dirty="0">
                <a:solidFill>
                  <a:schemeClr val="accent6"/>
                </a:solidFill>
              </a:rPr>
              <a:t>通常派遣単価</a:t>
            </a:r>
            <a:endParaRPr lang="en-US" sz="1500" dirty="0"/>
          </a:p>
        </p:txBody>
      </p:sp>
      <p:sp>
        <p:nvSpPr>
          <p:cNvPr id="33" name="Text 26"/>
          <p:cNvSpPr txBox="1"/>
          <p:nvPr/>
        </p:nvSpPr>
        <p:spPr>
          <a:xfrm>
            <a:off x="8412480" y="4754880"/>
            <a:ext cx="2926080" cy="502920"/>
          </a:xfrm>
          <a:prstGeom prst="rect">
            <a:avLst/>
          </a:prstGeom>
          <a:noFill/>
          <a:ln/>
        </p:spPr>
        <p:txBody>
          <a:bodyPr wrap="square" lIns="0" tIns="0" rIns="0" bIns="0" rtlCol="0" anchor="ctr"/>
          <a:lstStyle/>
          <a:p>
            <a:pPr algn="r" indent="0" marL="0">
              <a:buNone/>
            </a:pPr>
            <a:r>
              <a:rPr lang="en-US" sz="2200" b="1" dirty="0">
                <a:solidFill>
                  <a:schemeClr val="accent1"/>
                </a:solidFill>
              </a:rPr>
              <a:t>2,100円／時間</a:t>
            </a:r>
            <a:endParaRPr lang="en-US" sz="2200" dirty="0"/>
          </a:p>
        </p:txBody>
      </p:sp>
      <p:sp>
        <p:nvSpPr>
          <p:cNvPr id="34" name="Shape 27"/>
          <p:cNvSpPr/>
          <p:nvPr/>
        </p:nvSpPr>
        <p:spPr>
          <a:xfrm>
            <a:off x="5303520" y="5303520"/>
            <a:ext cx="6035040" cy="0"/>
          </a:xfrm>
          <a:prstGeom prst="line">
            <a:avLst/>
          </a:prstGeom>
          <a:noFill/>
          <a:ln w="9525">
            <a:solidFill>
              <a:schemeClr val="accent5"/>
            </a:solidFill>
            <a:prstDash val="solid"/>
          </a:ln>
        </p:spPr>
      </p:sp>
      <p:sp>
        <p:nvSpPr>
          <p:cNvPr id="35" name="Text 28"/>
          <p:cNvSpPr txBox="1"/>
          <p:nvPr/>
        </p:nvSpPr>
        <p:spPr>
          <a:xfrm>
            <a:off x="5303520" y="5349240"/>
            <a:ext cx="3291840" cy="502920"/>
          </a:xfrm>
          <a:prstGeom prst="rect">
            <a:avLst/>
          </a:prstGeom>
          <a:noFill/>
          <a:ln/>
        </p:spPr>
        <p:txBody>
          <a:bodyPr wrap="square" lIns="0" tIns="0" rIns="0" bIns="0" rtlCol="0" anchor="ctr"/>
          <a:lstStyle/>
          <a:p>
            <a:pPr indent="0" marL="0">
              <a:buNone/>
            </a:pPr>
            <a:r>
              <a:rPr lang="en-US" sz="1500" dirty="0">
                <a:solidFill>
                  <a:schemeClr val="accent6"/>
                </a:solidFill>
              </a:rPr>
              <a:t>教育・訓練期間中の単価</a:t>
            </a:r>
            <a:endParaRPr lang="en-US" sz="1500" dirty="0"/>
          </a:p>
        </p:txBody>
      </p:sp>
      <p:sp>
        <p:nvSpPr>
          <p:cNvPr id="36" name="Text 29"/>
          <p:cNvSpPr txBox="1"/>
          <p:nvPr/>
        </p:nvSpPr>
        <p:spPr>
          <a:xfrm>
            <a:off x="8412480" y="5349240"/>
            <a:ext cx="2926080" cy="502920"/>
          </a:xfrm>
          <a:prstGeom prst="rect">
            <a:avLst/>
          </a:prstGeom>
          <a:noFill/>
          <a:ln/>
        </p:spPr>
        <p:txBody>
          <a:bodyPr wrap="square" lIns="0" tIns="0" rIns="0" bIns="0" rtlCol="0" anchor="ctr"/>
          <a:lstStyle/>
          <a:p>
            <a:pPr algn="r" indent="0" marL="0">
              <a:buNone/>
            </a:pPr>
            <a:r>
              <a:rPr lang="en-US" sz="2200" b="1" dirty="0">
                <a:solidFill>
                  <a:schemeClr val="accent2"/>
                </a:solidFill>
              </a:rPr>
              <a:t>1,800円／時間</a:t>
            </a:r>
            <a:endParaRPr lang="en-US" sz="2200" dirty="0"/>
          </a:p>
        </p:txBody>
      </p:sp>
      <p:sp>
        <p:nvSpPr>
          <p:cNvPr id="25" name="Slide Number Placeholder 0"/>
          <p:cNvSpPr>
            <a:spLocks noGrp="1"/>
          </p:cNvSpPr>
          <p:nvPr>
            <p:ph type="sldNum" sz="quarter" idx="4294967295"/>
          </p:nvPr>
        </p:nvSpPr>
        <p:spPr>
          <a:xfrm>
            <a:off x="11183112" y="64008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algn="l" indent="0" marL="0">
              <a:buNone/>
            </a:pPr>
            <a:r>
              <a:rPr lang="en-US" sz="1200" b="1" dirty="0">
                <a:solidFill>
                  <a:schemeClr val="accent2"/>
                </a:solidFill>
              </a:rPr>
              <a:t>02　支援可能人数・資格について</a:t>
            </a:r>
            <a:endParaRPr lang="en-US" sz="1200" dirty="0"/>
          </a:p>
        </p:txBody>
      </p:sp>
      <p:sp>
        <p:nvSpPr>
          <p:cNvPr id="3" name="Text 0"/>
          <p:cNvSpPr/>
          <p:nvPr>
            <p:ph idx="101" type="title" hasCustomPrompt="1"/>
          </p:nvPr>
        </p:nvSpPr>
        <p:spPr>
          <a:xfrm>
            <a:off x="548640" y="685800"/>
            <a:ext cx="11064240" cy="640080"/>
          </a:xfrm>
          <a:prstGeom prst="rect">
            <a:avLst/>
          </a:prstGeom>
          <a:noFill/>
          <a:ln/>
        </p:spPr>
        <p:txBody>
          <a:bodyPr wrap="square" lIns="0" tIns="0" rIns="0" bIns="0" rtlCol="0" anchor="t"/>
          <a:lstStyle/>
          <a:p>
            <a:pPr algn="l" indent="0" marL="0">
              <a:buNone/>
            </a:pPr>
            <a:r>
              <a:rPr lang="en-US" sz="2800" b="1" dirty="0">
                <a:solidFill>
                  <a:schemeClr val="accent1"/>
                </a:solidFill>
              </a:rPr>
              <a:t>NAOS様の通常業務に支障のない範囲で、3点をご確認ください</a:t>
            </a:r>
            <a:endParaRPr lang="en-US" sz="2800" dirty="0"/>
          </a:p>
        </p:txBody>
      </p:sp>
      <p:sp>
        <p:nvSpPr>
          <p:cNvPr id="5" name="Question 1"/>
          <p:cNvSpPr/>
          <p:nvPr/>
        </p:nvSpPr>
        <p:spPr>
          <a:xfrm>
            <a:off x="548640" y="1600200"/>
            <a:ext cx="3505200" cy="2286000"/>
          </a:xfrm>
          <a:prstGeom prst="roundRect">
            <a:avLst>
              <a:gd name="adj" fmla="val 3200"/>
            </a:avLst>
          </a:prstGeom>
          <a:solidFill>
            <a:schemeClr val="bg1"/>
          </a:solidFill>
          <a:ln w="9525">
            <a:solidFill>
              <a:schemeClr val="accent5"/>
            </a:solidFill>
            <a:prstDash val="solid"/>
          </a:ln>
        </p:spPr>
      </p:sp>
      <p:pic>
        <p:nvPicPr>
          <p:cNvPr id="6" name="Image 0" descr="preencoded.png">    </p:cNvPr>
          <p:cNvPicPr>
            <a:picLocks noChangeAspect="1"/>
          </p:cNvPicPr>
          <p:nvPr/>
        </p:nvPicPr>
        <p:blipFill>
          <a:blip r:embed="rId1"/>
          <a:stretch>
            <a:fillRect/>
          </a:stretch>
        </p:blipFill>
        <p:spPr>
          <a:xfrm>
            <a:off x="868680" y="1874520"/>
            <a:ext cx="457200" cy="457200"/>
          </a:xfrm>
          <a:prstGeom prst="rect">
            <a:avLst/>
          </a:prstGeom>
        </p:spPr>
      </p:pic>
      <p:sp>
        <p:nvSpPr>
          <p:cNvPr id="7" name="Text 3"/>
          <p:cNvSpPr txBox="1"/>
          <p:nvPr/>
        </p:nvSpPr>
        <p:spPr>
          <a:xfrm>
            <a:off x="3139440" y="1874520"/>
            <a:ext cx="594360" cy="457200"/>
          </a:xfrm>
          <a:prstGeom prst="rect">
            <a:avLst/>
          </a:prstGeom>
          <a:noFill/>
          <a:ln/>
        </p:spPr>
        <p:txBody>
          <a:bodyPr wrap="square" lIns="0" tIns="0" rIns="0" bIns="0" rtlCol="0" anchor="ctr"/>
          <a:lstStyle/>
          <a:p>
            <a:pPr algn="r" indent="0" marL="0">
              <a:buNone/>
            </a:pPr>
            <a:r>
              <a:rPr lang="en-US" sz="1800" b="1" dirty="0">
                <a:solidFill>
                  <a:schemeClr val="accent2"/>
                </a:solidFill>
              </a:rPr>
              <a:t>Q1</a:t>
            </a:r>
            <a:endParaRPr lang="en-US" sz="1800" dirty="0"/>
          </a:p>
        </p:txBody>
      </p:sp>
      <p:sp>
        <p:nvSpPr>
          <p:cNvPr id="8" name="Text 4"/>
          <p:cNvSpPr txBox="1"/>
          <p:nvPr/>
        </p:nvSpPr>
        <p:spPr>
          <a:xfrm>
            <a:off x="868680" y="2514600"/>
            <a:ext cx="2865120" cy="411480"/>
          </a:xfrm>
          <a:prstGeom prst="rect">
            <a:avLst/>
          </a:prstGeom>
          <a:noFill/>
          <a:ln/>
        </p:spPr>
        <p:txBody>
          <a:bodyPr wrap="square" lIns="0" tIns="0" rIns="0" bIns="0" rtlCol="0" anchor="t"/>
          <a:lstStyle/>
          <a:p>
            <a:pPr indent="0" marL="0">
              <a:buNone/>
            </a:pPr>
            <a:r>
              <a:rPr lang="en-US" sz="1800" b="1" dirty="0">
                <a:solidFill>
                  <a:schemeClr val="accent1"/>
                </a:solidFill>
              </a:rPr>
              <a:t>1日あたりの支援人数</a:t>
            </a:r>
            <a:endParaRPr lang="en-US" sz="1800" dirty="0"/>
          </a:p>
        </p:txBody>
      </p:sp>
      <p:sp>
        <p:nvSpPr>
          <p:cNvPr id="9" name="Text 5"/>
          <p:cNvSpPr txBox="1"/>
          <p:nvPr/>
        </p:nvSpPr>
        <p:spPr>
          <a:xfrm>
            <a:off x="868680" y="2971800"/>
            <a:ext cx="2865120" cy="822960"/>
          </a:xfrm>
          <a:prstGeom prst="rect">
            <a:avLst/>
          </a:prstGeom>
          <a:noFill/>
          <a:ln/>
        </p:spPr>
        <p:txBody>
          <a:bodyPr wrap="square" lIns="0" tIns="0" rIns="0" bIns="0" rtlCol="0" anchor="t"/>
          <a:lstStyle/>
          <a:p>
            <a:pPr indent="0" marL="0">
              <a:buNone/>
            </a:pPr>
            <a:r>
              <a:rPr lang="en-US" sz="1400" dirty="0">
                <a:solidFill>
                  <a:schemeClr val="accent6"/>
                </a:solidFill>
              </a:rPr>
              <a:t>1日あたり何名程度のご支援が可能でしょうか。</a:t>
            </a:r>
            <a:endParaRPr lang="en-US" sz="1400" dirty="0"/>
          </a:p>
        </p:txBody>
      </p:sp>
      <p:sp>
        <p:nvSpPr>
          <p:cNvPr id="10" name="Question 2"/>
          <p:cNvSpPr/>
          <p:nvPr/>
        </p:nvSpPr>
        <p:spPr>
          <a:xfrm>
            <a:off x="4328160" y="1600200"/>
            <a:ext cx="3505200" cy="2286000"/>
          </a:xfrm>
          <a:prstGeom prst="roundRect">
            <a:avLst>
              <a:gd name="adj" fmla="val 3200"/>
            </a:avLst>
          </a:prstGeom>
          <a:solidFill>
            <a:schemeClr val="bg1"/>
          </a:solidFill>
          <a:ln w="9525">
            <a:solidFill>
              <a:schemeClr val="accent5"/>
            </a:solidFill>
            <a:prstDash val="solid"/>
          </a:ln>
        </p:spPr>
      </p:sp>
      <p:pic>
        <p:nvPicPr>
          <p:cNvPr id="11" name="Image 1" descr="preencoded.png">    </p:cNvPr>
          <p:cNvPicPr>
            <a:picLocks noChangeAspect="1"/>
          </p:cNvPicPr>
          <p:nvPr/>
        </p:nvPicPr>
        <p:blipFill>
          <a:blip r:embed="rId2"/>
          <a:stretch>
            <a:fillRect/>
          </a:stretch>
        </p:blipFill>
        <p:spPr>
          <a:xfrm>
            <a:off x="4648200" y="1874520"/>
            <a:ext cx="457200" cy="457200"/>
          </a:xfrm>
          <a:prstGeom prst="rect">
            <a:avLst/>
          </a:prstGeom>
        </p:spPr>
      </p:pic>
      <p:sp>
        <p:nvSpPr>
          <p:cNvPr id="12" name="Text 7"/>
          <p:cNvSpPr txBox="1"/>
          <p:nvPr/>
        </p:nvSpPr>
        <p:spPr>
          <a:xfrm>
            <a:off x="6918960" y="1874520"/>
            <a:ext cx="594360" cy="457200"/>
          </a:xfrm>
          <a:prstGeom prst="rect">
            <a:avLst/>
          </a:prstGeom>
          <a:noFill/>
          <a:ln/>
        </p:spPr>
        <p:txBody>
          <a:bodyPr wrap="square" lIns="0" tIns="0" rIns="0" bIns="0" rtlCol="0" anchor="ctr"/>
          <a:lstStyle/>
          <a:p>
            <a:pPr algn="r" indent="0" marL="0">
              <a:buNone/>
            </a:pPr>
            <a:r>
              <a:rPr lang="en-US" sz="1800" b="1" dirty="0">
                <a:solidFill>
                  <a:schemeClr val="accent2"/>
                </a:solidFill>
              </a:rPr>
              <a:t>Q2</a:t>
            </a:r>
            <a:endParaRPr lang="en-US" sz="1800" dirty="0"/>
          </a:p>
        </p:txBody>
      </p:sp>
      <p:sp>
        <p:nvSpPr>
          <p:cNvPr id="13" name="Text 8"/>
          <p:cNvSpPr txBox="1"/>
          <p:nvPr/>
        </p:nvSpPr>
        <p:spPr>
          <a:xfrm>
            <a:off x="4648200" y="2514600"/>
            <a:ext cx="2865120" cy="411480"/>
          </a:xfrm>
          <a:prstGeom prst="rect">
            <a:avLst/>
          </a:prstGeom>
          <a:noFill/>
          <a:ln/>
        </p:spPr>
        <p:txBody>
          <a:bodyPr wrap="square" lIns="0" tIns="0" rIns="0" bIns="0" rtlCol="0" anchor="t"/>
          <a:lstStyle/>
          <a:p>
            <a:pPr indent="0" marL="0">
              <a:buNone/>
            </a:pPr>
            <a:r>
              <a:rPr lang="en-US" sz="1800" b="1" dirty="0">
                <a:solidFill>
                  <a:schemeClr val="accent1"/>
                </a:solidFill>
              </a:rPr>
              <a:t>DC・GC資格保有者</a:t>
            </a:r>
            <a:endParaRPr lang="en-US" sz="1800" dirty="0"/>
          </a:p>
        </p:txBody>
      </p:sp>
      <p:sp>
        <p:nvSpPr>
          <p:cNvPr id="14" name="Text 9"/>
          <p:cNvSpPr txBox="1"/>
          <p:nvPr/>
        </p:nvSpPr>
        <p:spPr>
          <a:xfrm>
            <a:off x="4648200" y="2971800"/>
            <a:ext cx="2865120" cy="822960"/>
          </a:xfrm>
          <a:prstGeom prst="rect">
            <a:avLst/>
          </a:prstGeom>
          <a:noFill/>
          <a:ln/>
        </p:spPr>
        <p:txBody>
          <a:bodyPr wrap="square" lIns="0" tIns="0" rIns="0" bIns="0" rtlCol="0" anchor="t"/>
          <a:lstStyle/>
          <a:p>
            <a:pPr indent="0" marL="0">
              <a:buNone/>
            </a:pPr>
            <a:r>
              <a:rPr lang="en-US" sz="1400" dirty="0">
                <a:solidFill>
                  <a:schemeClr val="accent6"/>
                </a:solidFill>
              </a:rPr>
              <a:t>DC・GC資格を保有されている方の派遣は可能でしょうか。</a:t>
            </a:r>
            <a:endParaRPr lang="en-US" sz="1400" dirty="0"/>
          </a:p>
        </p:txBody>
      </p:sp>
      <p:sp>
        <p:nvSpPr>
          <p:cNvPr id="15" name="Question 3"/>
          <p:cNvSpPr/>
          <p:nvPr/>
        </p:nvSpPr>
        <p:spPr>
          <a:xfrm>
            <a:off x="8107680" y="1600200"/>
            <a:ext cx="3505200" cy="2286000"/>
          </a:xfrm>
          <a:prstGeom prst="roundRect">
            <a:avLst>
              <a:gd name="adj" fmla="val 3200"/>
            </a:avLst>
          </a:prstGeom>
          <a:solidFill>
            <a:schemeClr val="bg1"/>
          </a:solidFill>
          <a:ln w="9525">
            <a:solidFill>
              <a:schemeClr val="accent5"/>
            </a:solidFill>
            <a:prstDash val="solid"/>
          </a:ln>
        </p:spPr>
      </p:sp>
      <p:pic>
        <p:nvPicPr>
          <p:cNvPr id="16" name="Image 2" descr="preencoded.png">    </p:cNvPr>
          <p:cNvPicPr>
            <a:picLocks noChangeAspect="1"/>
          </p:cNvPicPr>
          <p:nvPr/>
        </p:nvPicPr>
        <p:blipFill>
          <a:blip r:embed="rId3"/>
          <a:stretch>
            <a:fillRect/>
          </a:stretch>
        </p:blipFill>
        <p:spPr>
          <a:xfrm>
            <a:off x="8427720" y="1874520"/>
            <a:ext cx="457200" cy="457200"/>
          </a:xfrm>
          <a:prstGeom prst="rect">
            <a:avLst/>
          </a:prstGeom>
        </p:spPr>
      </p:pic>
      <p:sp>
        <p:nvSpPr>
          <p:cNvPr id="17" name="Text 11"/>
          <p:cNvSpPr txBox="1"/>
          <p:nvPr/>
        </p:nvSpPr>
        <p:spPr>
          <a:xfrm>
            <a:off x="10698480" y="1874520"/>
            <a:ext cx="594360" cy="457200"/>
          </a:xfrm>
          <a:prstGeom prst="rect">
            <a:avLst/>
          </a:prstGeom>
          <a:noFill/>
          <a:ln/>
        </p:spPr>
        <p:txBody>
          <a:bodyPr wrap="square" lIns="0" tIns="0" rIns="0" bIns="0" rtlCol="0" anchor="ctr"/>
          <a:lstStyle/>
          <a:p>
            <a:pPr algn="r" indent="0" marL="0">
              <a:buNone/>
            </a:pPr>
            <a:r>
              <a:rPr lang="en-US" sz="1800" b="1" dirty="0">
                <a:solidFill>
                  <a:schemeClr val="accent2"/>
                </a:solidFill>
              </a:rPr>
              <a:t>Q3</a:t>
            </a:r>
            <a:endParaRPr lang="en-US" sz="1800" dirty="0"/>
          </a:p>
        </p:txBody>
      </p:sp>
      <p:sp>
        <p:nvSpPr>
          <p:cNvPr id="18" name="Text 12"/>
          <p:cNvSpPr txBox="1"/>
          <p:nvPr/>
        </p:nvSpPr>
        <p:spPr>
          <a:xfrm>
            <a:off x="8427720" y="2514600"/>
            <a:ext cx="2865120" cy="411480"/>
          </a:xfrm>
          <a:prstGeom prst="rect">
            <a:avLst/>
          </a:prstGeom>
          <a:noFill/>
          <a:ln/>
        </p:spPr>
        <p:txBody>
          <a:bodyPr wrap="square" lIns="0" tIns="0" rIns="0" bIns="0" rtlCol="0" anchor="t"/>
          <a:lstStyle/>
          <a:p>
            <a:pPr indent="0" marL="0">
              <a:buNone/>
            </a:pPr>
            <a:r>
              <a:rPr lang="en-US" sz="1800" b="1" dirty="0">
                <a:solidFill>
                  <a:schemeClr val="accent1"/>
                </a:solidFill>
              </a:rPr>
              <a:t>教育対象者 10名程度</a:t>
            </a:r>
            <a:endParaRPr lang="en-US" sz="1800" dirty="0"/>
          </a:p>
        </p:txBody>
      </p:sp>
      <p:sp>
        <p:nvSpPr>
          <p:cNvPr id="19" name="Text 13"/>
          <p:cNvSpPr txBox="1"/>
          <p:nvPr/>
        </p:nvSpPr>
        <p:spPr>
          <a:xfrm>
            <a:off x="8427720" y="2971800"/>
            <a:ext cx="2865120" cy="822960"/>
          </a:xfrm>
          <a:prstGeom prst="rect">
            <a:avLst/>
          </a:prstGeom>
          <a:noFill/>
          <a:ln/>
        </p:spPr>
        <p:txBody>
          <a:bodyPr wrap="square" lIns="0" tIns="0" rIns="0" bIns="0" rtlCol="0" anchor="t"/>
          <a:lstStyle/>
          <a:p>
            <a:pPr indent="0" marL="0">
              <a:buNone/>
            </a:pPr>
            <a:r>
              <a:rPr lang="en-US" sz="1400" dirty="0">
                <a:solidFill>
                  <a:schemeClr val="accent6"/>
                </a:solidFill>
              </a:rPr>
              <a:t>継続的な支援に向け、10名程度の教育対象者を確保いただくことは可能でしょうか。</a:t>
            </a:r>
            <a:endParaRPr lang="en-US" sz="1400" dirty="0"/>
          </a:p>
        </p:txBody>
      </p:sp>
      <p:sp>
        <p:nvSpPr>
          <p:cNvPr id="20" name="Staffing visual"/>
          <p:cNvSpPr/>
          <p:nvPr/>
        </p:nvSpPr>
        <p:spPr>
          <a:xfrm>
            <a:off x="548640" y="4160520"/>
            <a:ext cx="11064240" cy="1965960"/>
          </a:xfrm>
          <a:prstGeom prst="roundRect">
            <a:avLst>
              <a:gd name="adj" fmla="val 3721"/>
            </a:avLst>
          </a:prstGeom>
          <a:solidFill>
            <a:schemeClr val="bg1"/>
          </a:solidFill>
          <a:ln w="9525">
            <a:solidFill>
              <a:schemeClr val="accent5"/>
            </a:solidFill>
            <a:prstDash val="solid"/>
          </a:ln>
        </p:spPr>
      </p:sp>
      <p:sp>
        <p:nvSpPr>
          <p:cNvPr id="21" name="Text 15"/>
          <p:cNvSpPr txBox="1"/>
          <p:nvPr/>
        </p:nvSpPr>
        <p:spPr>
          <a:xfrm>
            <a:off x="868680" y="4343400"/>
            <a:ext cx="10424160" cy="365760"/>
          </a:xfrm>
          <a:prstGeom prst="rect">
            <a:avLst/>
          </a:prstGeom>
          <a:noFill/>
          <a:ln/>
        </p:spPr>
        <p:txBody>
          <a:bodyPr wrap="square" lIns="0" tIns="0" rIns="0" bIns="0" rtlCol="0" anchor="t"/>
          <a:lstStyle/>
          <a:p>
            <a:pPr indent="0" marL="0">
              <a:buNone/>
            </a:pPr>
            <a:r>
              <a:rPr lang="en-US" sz="1600" b="1" dirty="0">
                <a:solidFill>
                  <a:schemeClr val="accent1"/>
                </a:solidFill>
              </a:rPr>
              <a:t>1日6名の配置に対し、休日・シフトを考慮して10名程度への事前教育を想定</a:t>
            </a:r>
            <a:endParaRPr lang="en-US" sz="1600" dirty="0"/>
          </a:p>
        </p:txBody>
      </p:sp>
      <p:pic>
        <p:nvPicPr>
          <p:cNvPr id="22" name="Image 3" descr="preencoded.png">    </p:cNvPr>
          <p:cNvPicPr>
            <a:picLocks noChangeAspect="1"/>
          </p:cNvPicPr>
          <p:nvPr/>
        </p:nvPicPr>
        <p:blipFill>
          <a:blip r:embed="rId4"/>
          <a:stretch>
            <a:fillRect/>
          </a:stretch>
        </p:blipFill>
        <p:spPr>
          <a:xfrm>
            <a:off x="868680" y="4983480"/>
            <a:ext cx="411480" cy="411480"/>
          </a:xfrm>
          <a:prstGeom prst="rect">
            <a:avLst/>
          </a:prstGeom>
        </p:spPr>
      </p:pic>
      <p:pic>
        <p:nvPicPr>
          <p:cNvPr id="23" name="Image 4" descr="preencoded.png">    </p:cNvPr>
          <p:cNvPicPr>
            <a:picLocks noChangeAspect="1"/>
          </p:cNvPicPr>
          <p:nvPr/>
        </p:nvPicPr>
        <p:blipFill>
          <a:blip r:embed="rId5"/>
          <a:stretch>
            <a:fillRect/>
          </a:stretch>
        </p:blipFill>
        <p:spPr>
          <a:xfrm>
            <a:off x="1435608" y="4983480"/>
            <a:ext cx="411480" cy="411480"/>
          </a:xfrm>
          <a:prstGeom prst="rect">
            <a:avLst/>
          </a:prstGeom>
        </p:spPr>
      </p:pic>
      <p:pic>
        <p:nvPicPr>
          <p:cNvPr id="24" name="Image 5" descr="preencoded.png">    </p:cNvPr>
          <p:cNvPicPr>
            <a:picLocks noChangeAspect="1"/>
          </p:cNvPicPr>
          <p:nvPr/>
        </p:nvPicPr>
        <p:blipFill>
          <a:blip r:embed="rId6"/>
          <a:stretch>
            <a:fillRect/>
          </a:stretch>
        </p:blipFill>
        <p:spPr>
          <a:xfrm>
            <a:off x="2002536" y="4983480"/>
            <a:ext cx="411480" cy="411480"/>
          </a:xfrm>
          <a:prstGeom prst="rect">
            <a:avLst/>
          </a:prstGeom>
        </p:spPr>
      </p:pic>
      <p:pic>
        <p:nvPicPr>
          <p:cNvPr id="25" name="Image 6" descr="preencoded.png">    </p:cNvPr>
          <p:cNvPicPr>
            <a:picLocks noChangeAspect="1"/>
          </p:cNvPicPr>
          <p:nvPr/>
        </p:nvPicPr>
        <p:blipFill>
          <a:blip r:embed="rId7"/>
          <a:stretch>
            <a:fillRect/>
          </a:stretch>
        </p:blipFill>
        <p:spPr>
          <a:xfrm>
            <a:off x="2569464" y="4983480"/>
            <a:ext cx="411480" cy="411480"/>
          </a:xfrm>
          <a:prstGeom prst="rect">
            <a:avLst/>
          </a:prstGeom>
        </p:spPr>
      </p:pic>
      <p:pic>
        <p:nvPicPr>
          <p:cNvPr id="26" name="Image 7" descr="preencoded.png">    </p:cNvPr>
          <p:cNvPicPr>
            <a:picLocks noChangeAspect="1"/>
          </p:cNvPicPr>
          <p:nvPr/>
        </p:nvPicPr>
        <p:blipFill>
          <a:blip r:embed="rId8"/>
          <a:stretch>
            <a:fillRect/>
          </a:stretch>
        </p:blipFill>
        <p:spPr>
          <a:xfrm>
            <a:off x="3136392" y="4983480"/>
            <a:ext cx="411480" cy="411480"/>
          </a:xfrm>
          <a:prstGeom prst="rect">
            <a:avLst/>
          </a:prstGeom>
        </p:spPr>
      </p:pic>
      <p:pic>
        <p:nvPicPr>
          <p:cNvPr id="27" name="Image 8" descr="preencoded.png">    </p:cNvPr>
          <p:cNvPicPr>
            <a:picLocks noChangeAspect="1"/>
          </p:cNvPicPr>
          <p:nvPr/>
        </p:nvPicPr>
        <p:blipFill>
          <a:blip r:embed="rId9"/>
          <a:stretch>
            <a:fillRect/>
          </a:stretch>
        </p:blipFill>
        <p:spPr>
          <a:xfrm>
            <a:off x="3703320" y="4983480"/>
            <a:ext cx="411480" cy="411480"/>
          </a:xfrm>
          <a:prstGeom prst="rect">
            <a:avLst/>
          </a:prstGeom>
        </p:spPr>
      </p:pic>
      <p:pic>
        <p:nvPicPr>
          <p:cNvPr id="28" name="Image 9" descr="preencoded.png">    </p:cNvPr>
          <p:cNvPicPr>
            <a:picLocks noChangeAspect="1"/>
          </p:cNvPicPr>
          <p:nvPr/>
        </p:nvPicPr>
        <p:blipFill>
          <a:blip r:embed="rId10"/>
          <a:stretch>
            <a:fillRect/>
          </a:stretch>
        </p:blipFill>
        <p:spPr>
          <a:xfrm>
            <a:off x="4270248" y="4983480"/>
            <a:ext cx="411480" cy="411480"/>
          </a:xfrm>
          <a:prstGeom prst="rect">
            <a:avLst/>
          </a:prstGeom>
        </p:spPr>
      </p:pic>
      <p:pic>
        <p:nvPicPr>
          <p:cNvPr id="29" name="Image 10" descr="preencoded.png">    </p:cNvPr>
          <p:cNvPicPr>
            <a:picLocks noChangeAspect="1"/>
          </p:cNvPicPr>
          <p:nvPr/>
        </p:nvPicPr>
        <p:blipFill>
          <a:blip r:embed="rId11"/>
          <a:stretch>
            <a:fillRect/>
          </a:stretch>
        </p:blipFill>
        <p:spPr>
          <a:xfrm>
            <a:off x="4837176" y="4983480"/>
            <a:ext cx="411480" cy="411480"/>
          </a:xfrm>
          <a:prstGeom prst="rect">
            <a:avLst/>
          </a:prstGeom>
        </p:spPr>
      </p:pic>
      <p:pic>
        <p:nvPicPr>
          <p:cNvPr id="30" name="Image 11" descr="preencoded.png">    </p:cNvPr>
          <p:cNvPicPr>
            <a:picLocks noChangeAspect="1"/>
          </p:cNvPicPr>
          <p:nvPr/>
        </p:nvPicPr>
        <p:blipFill>
          <a:blip r:embed="rId12"/>
          <a:stretch>
            <a:fillRect/>
          </a:stretch>
        </p:blipFill>
        <p:spPr>
          <a:xfrm>
            <a:off x="5404104" y="4983480"/>
            <a:ext cx="411480" cy="411480"/>
          </a:xfrm>
          <a:prstGeom prst="rect">
            <a:avLst/>
          </a:prstGeom>
        </p:spPr>
      </p:pic>
      <p:pic>
        <p:nvPicPr>
          <p:cNvPr id="31" name="Image 12" descr="preencoded.png">    </p:cNvPr>
          <p:cNvPicPr>
            <a:picLocks noChangeAspect="1"/>
          </p:cNvPicPr>
          <p:nvPr/>
        </p:nvPicPr>
        <p:blipFill>
          <a:blip r:embed="rId13"/>
          <a:stretch>
            <a:fillRect/>
          </a:stretch>
        </p:blipFill>
        <p:spPr>
          <a:xfrm>
            <a:off x="5971032" y="4983480"/>
            <a:ext cx="411480" cy="411480"/>
          </a:xfrm>
          <a:prstGeom prst="rect">
            <a:avLst/>
          </a:prstGeom>
        </p:spPr>
      </p:pic>
      <p:sp>
        <p:nvSpPr>
          <p:cNvPr id="32" name="Text 16"/>
          <p:cNvSpPr txBox="1"/>
          <p:nvPr/>
        </p:nvSpPr>
        <p:spPr>
          <a:xfrm>
            <a:off x="868680" y="5577840"/>
            <a:ext cx="2743200" cy="320040"/>
          </a:xfrm>
          <a:prstGeom prst="rect">
            <a:avLst/>
          </a:prstGeom>
          <a:noFill/>
          <a:ln/>
        </p:spPr>
        <p:txBody>
          <a:bodyPr wrap="square" lIns="0" tIns="0" rIns="0" bIns="0" rtlCol="0" anchor="t"/>
          <a:lstStyle/>
          <a:p>
            <a:pPr indent="0" marL="0">
              <a:buNone/>
            </a:pPr>
            <a:r>
              <a:rPr lang="en-US" sz="1200" b="1" dirty="0">
                <a:solidFill>
                  <a:schemeClr val="accent1"/>
                </a:solidFill>
              </a:rPr>
              <a:t>■ 1日の配置 6名</a:t>
            </a:r>
            <a:endParaRPr lang="en-US" sz="1200" dirty="0"/>
          </a:p>
        </p:txBody>
      </p:sp>
      <p:sp>
        <p:nvSpPr>
          <p:cNvPr id="33" name="Text 17"/>
          <p:cNvSpPr txBox="1"/>
          <p:nvPr/>
        </p:nvSpPr>
        <p:spPr>
          <a:xfrm>
            <a:off x="3108960" y="5577840"/>
            <a:ext cx="3200400" cy="320040"/>
          </a:xfrm>
          <a:prstGeom prst="rect">
            <a:avLst/>
          </a:prstGeom>
          <a:noFill/>
          <a:ln/>
        </p:spPr>
        <p:txBody>
          <a:bodyPr wrap="square" lIns="0" tIns="0" rIns="0" bIns="0" rtlCol="0" anchor="t"/>
          <a:lstStyle/>
          <a:p>
            <a:pPr indent="0" marL="0">
              <a:buNone/>
            </a:pPr>
            <a:r>
              <a:rPr lang="en-US" sz="1200" b="1" dirty="0">
                <a:solidFill>
                  <a:srgbClr val="8A93A3"/>
                </a:solidFill>
              </a:rPr>
              <a:t>■ 休日・シフト交代要員 4名</a:t>
            </a:r>
            <a:endParaRPr lang="en-US" sz="1200" dirty="0"/>
          </a:p>
        </p:txBody>
      </p:sp>
      <p:sp>
        <p:nvSpPr>
          <p:cNvPr id="34" name="Shape 18"/>
          <p:cNvSpPr/>
          <p:nvPr/>
        </p:nvSpPr>
        <p:spPr>
          <a:xfrm>
            <a:off x="6949440" y="4892040"/>
            <a:ext cx="4389120" cy="1005840"/>
          </a:xfrm>
          <a:prstGeom prst="roundRect">
            <a:avLst>
              <a:gd name="adj" fmla="val 5455"/>
            </a:avLst>
          </a:prstGeom>
          <a:solidFill>
            <a:schemeClr val="accent4"/>
          </a:solidFill>
          <a:ln/>
        </p:spPr>
      </p:sp>
      <p:sp>
        <p:nvSpPr>
          <p:cNvPr id="35" name="Text 19"/>
          <p:cNvSpPr txBox="1"/>
          <p:nvPr/>
        </p:nvSpPr>
        <p:spPr>
          <a:xfrm>
            <a:off x="7223760" y="4937760"/>
            <a:ext cx="3931920" cy="914400"/>
          </a:xfrm>
          <a:prstGeom prst="rect">
            <a:avLst/>
          </a:prstGeom>
          <a:noFill/>
          <a:ln/>
        </p:spPr>
        <p:txBody>
          <a:bodyPr wrap="square" lIns="0" tIns="0" rIns="0" bIns="0" rtlCol="0" anchor="ctr"/>
          <a:lstStyle/>
          <a:p>
            <a:pPr indent="0" marL="0">
              <a:buNone/>
            </a:pPr>
            <a:r>
              <a:rPr lang="en-US" sz="1200" b="1" dirty="0">
                <a:solidFill>
                  <a:schemeClr val="accent2"/>
                </a:solidFill>
              </a:rPr>
              <a:t>事前教育の対象</a:t>
            </a:r>
            <a:endParaRPr lang="en-US" sz="1400" dirty="0"/>
          </a:p>
          <a:p>
            <a:pPr indent="0" marL="0">
              <a:buNone/>
            </a:pPr>
            <a:r>
              <a:rPr lang="en-US" sz="2400" b="1" dirty="0">
                <a:solidFill>
                  <a:schemeClr val="accent1"/>
                </a:solidFill>
              </a:rPr>
              <a:t>計10名程度</a:t>
            </a:r>
            <a:endParaRPr lang="en-US" sz="1400" dirty="0"/>
          </a:p>
        </p:txBody>
      </p:sp>
      <p:sp>
        <p:nvSpPr>
          <p:cNvPr id="25" name="Slide Number Placeholder 0"/>
          <p:cNvSpPr>
            <a:spLocks noGrp="1"/>
          </p:cNvSpPr>
          <p:nvPr>
            <p:ph type="sldNum" sz="quarter" idx="4294967295"/>
          </p:nvPr>
        </p:nvSpPr>
        <p:spPr>
          <a:xfrm>
            <a:off x="11183112" y="64008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algn="l" indent="0" marL="0">
              <a:buNone/>
            </a:pPr>
            <a:r>
              <a:rPr lang="en-US" sz="1200" b="1" dirty="0">
                <a:solidFill>
                  <a:schemeClr val="accent2"/>
                </a:solidFill>
              </a:rPr>
              <a:t>03　勤務時間について</a:t>
            </a:r>
            <a:endParaRPr lang="en-US" sz="1200" dirty="0"/>
          </a:p>
        </p:txBody>
      </p:sp>
      <p:sp>
        <p:nvSpPr>
          <p:cNvPr id="3" name="Text 0"/>
          <p:cNvSpPr/>
          <p:nvPr>
            <p:ph idx="101" type="title" hasCustomPrompt="1"/>
          </p:nvPr>
        </p:nvSpPr>
        <p:spPr>
          <a:xfrm>
            <a:off x="548640" y="685800"/>
            <a:ext cx="11064240" cy="640080"/>
          </a:xfrm>
          <a:prstGeom prst="rect">
            <a:avLst/>
          </a:prstGeom>
          <a:noFill/>
          <a:ln/>
        </p:spPr>
        <p:txBody>
          <a:bodyPr wrap="square" lIns="0" tIns="0" rIns="0" bIns="0" rtlCol="0" anchor="t"/>
          <a:lstStyle/>
          <a:p>
            <a:pPr algn="l" indent="0" marL="0">
              <a:buNone/>
            </a:pPr>
            <a:r>
              <a:rPr lang="en-US" sz="2800" b="1" dirty="0">
                <a:solidFill>
                  <a:schemeClr val="accent1"/>
                </a:solidFill>
              </a:rPr>
              <a:t>14:50（カウンターオープン）からの業務開始をご相談</a:t>
            </a:r>
            <a:endParaRPr lang="en-US" sz="2800" dirty="0"/>
          </a:p>
        </p:txBody>
      </p:sp>
      <p:sp>
        <p:nvSpPr>
          <p:cNvPr id="5" name="Timeline card"/>
          <p:cNvSpPr/>
          <p:nvPr/>
        </p:nvSpPr>
        <p:spPr>
          <a:xfrm>
            <a:off x="548640" y="1600200"/>
            <a:ext cx="11064240" cy="2331720"/>
          </a:xfrm>
          <a:prstGeom prst="roundRect">
            <a:avLst>
              <a:gd name="adj" fmla="val 3137"/>
            </a:avLst>
          </a:prstGeom>
          <a:solidFill>
            <a:schemeClr val="bg1"/>
          </a:solidFill>
          <a:ln w="9525">
            <a:solidFill>
              <a:schemeClr val="accent5"/>
            </a:solidFill>
            <a:prstDash val="solid"/>
          </a:ln>
        </p:spPr>
      </p:sp>
      <p:sp>
        <p:nvSpPr>
          <p:cNvPr id="6" name="Shape 3"/>
          <p:cNvSpPr/>
          <p:nvPr/>
        </p:nvSpPr>
        <p:spPr>
          <a:xfrm>
            <a:off x="2286000" y="2057400"/>
            <a:ext cx="0" cy="1645920"/>
          </a:xfrm>
          <a:prstGeom prst="line">
            <a:avLst/>
          </a:prstGeom>
          <a:noFill/>
          <a:ln w="9525">
            <a:solidFill>
              <a:schemeClr val="accent5"/>
            </a:solidFill>
            <a:prstDash val="solid"/>
          </a:ln>
        </p:spPr>
      </p:sp>
      <p:sp>
        <p:nvSpPr>
          <p:cNvPr id="7" name="Text 4"/>
          <p:cNvSpPr txBox="1"/>
          <p:nvPr/>
        </p:nvSpPr>
        <p:spPr>
          <a:xfrm>
            <a:off x="1920240" y="173736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14:00</a:t>
            </a:r>
            <a:endParaRPr lang="en-US" sz="1100" dirty="0"/>
          </a:p>
        </p:txBody>
      </p:sp>
      <p:sp>
        <p:nvSpPr>
          <p:cNvPr id="8" name="Shape 5"/>
          <p:cNvSpPr/>
          <p:nvPr/>
        </p:nvSpPr>
        <p:spPr>
          <a:xfrm>
            <a:off x="4041648" y="2057400"/>
            <a:ext cx="0" cy="1645920"/>
          </a:xfrm>
          <a:prstGeom prst="line">
            <a:avLst/>
          </a:prstGeom>
          <a:noFill/>
          <a:ln w="9525">
            <a:solidFill>
              <a:schemeClr val="accent5"/>
            </a:solidFill>
            <a:prstDash val="solid"/>
          </a:ln>
        </p:spPr>
      </p:sp>
      <p:sp>
        <p:nvSpPr>
          <p:cNvPr id="9" name="Text 6"/>
          <p:cNvSpPr txBox="1"/>
          <p:nvPr/>
        </p:nvSpPr>
        <p:spPr>
          <a:xfrm>
            <a:off x="3675888" y="173736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15:00</a:t>
            </a:r>
            <a:endParaRPr lang="en-US" sz="1100" dirty="0"/>
          </a:p>
        </p:txBody>
      </p:sp>
      <p:sp>
        <p:nvSpPr>
          <p:cNvPr id="10" name="Shape 7"/>
          <p:cNvSpPr/>
          <p:nvPr/>
        </p:nvSpPr>
        <p:spPr>
          <a:xfrm>
            <a:off x="5797296" y="2057400"/>
            <a:ext cx="0" cy="1645920"/>
          </a:xfrm>
          <a:prstGeom prst="line">
            <a:avLst/>
          </a:prstGeom>
          <a:noFill/>
          <a:ln w="9525">
            <a:solidFill>
              <a:schemeClr val="accent5"/>
            </a:solidFill>
            <a:prstDash val="solid"/>
          </a:ln>
        </p:spPr>
      </p:sp>
      <p:sp>
        <p:nvSpPr>
          <p:cNvPr id="11" name="Text 8"/>
          <p:cNvSpPr txBox="1"/>
          <p:nvPr/>
        </p:nvSpPr>
        <p:spPr>
          <a:xfrm>
            <a:off x="5431536" y="173736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16:00</a:t>
            </a:r>
            <a:endParaRPr lang="en-US" sz="1100" dirty="0"/>
          </a:p>
        </p:txBody>
      </p:sp>
      <p:sp>
        <p:nvSpPr>
          <p:cNvPr id="12" name="Shape 9"/>
          <p:cNvSpPr/>
          <p:nvPr/>
        </p:nvSpPr>
        <p:spPr>
          <a:xfrm>
            <a:off x="7552944" y="2057400"/>
            <a:ext cx="0" cy="1645920"/>
          </a:xfrm>
          <a:prstGeom prst="line">
            <a:avLst/>
          </a:prstGeom>
          <a:noFill/>
          <a:ln w="9525">
            <a:solidFill>
              <a:schemeClr val="accent5"/>
            </a:solidFill>
            <a:prstDash val="solid"/>
          </a:ln>
        </p:spPr>
      </p:sp>
      <p:sp>
        <p:nvSpPr>
          <p:cNvPr id="13" name="Text 10"/>
          <p:cNvSpPr txBox="1"/>
          <p:nvPr/>
        </p:nvSpPr>
        <p:spPr>
          <a:xfrm>
            <a:off x="7187184" y="173736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17:00</a:t>
            </a:r>
            <a:endParaRPr lang="en-US" sz="1100" dirty="0"/>
          </a:p>
        </p:txBody>
      </p:sp>
      <p:sp>
        <p:nvSpPr>
          <p:cNvPr id="14" name="Shape 11"/>
          <p:cNvSpPr/>
          <p:nvPr/>
        </p:nvSpPr>
        <p:spPr>
          <a:xfrm>
            <a:off x="9308592" y="2057400"/>
            <a:ext cx="0" cy="1645920"/>
          </a:xfrm>
          <a:prstGeom prst="line">
            <a:avLst/>
          </a:prstGeom>
          <a:noFill/>
          <a:ln w="9525">
            <a:solidFill>
              <a:schemeClr val="accent5"/>
            </a:solidFill>
            <a:prstDash val="solid"/>
          </a:ln>
        </p:spPr>
      </p:sp>
      <p:sp>
        <p:nvSpPr>
          <p:cNvPr id="15" name="Text 12"/>
          <p:cNvSpPr txBox="1"/>
          <p:nvPr/>
        </p:nvSpPr>
        <p:spPr>
          <a:xfrm>
            <a:off x="8942832" y="173736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18:00</a:t>
            </a:r>
            <a:endParaRPr lang="en-US" sz="1100" dirty="0"/>
          </a:p>
        </p:txBody>
      </p:sp>
      <p:sp>
        <p:nvSpPr>
          <p:cNvPr id="16" name="Shape 13"/>
          <p:cNvSpPr/>
          <p:nvPr/>
        </p:nvSpPr>
        <p:spPr>
          <a:xfrm>
            <a:off x="11064240" y="2057400"/>
            <a:ext cx="0" cy="1645920"/>
          </a:xfrm>
          <a:prstGeom prst="line">
            <a:avLst/>
          </a:prstGeom>
          <a:noFill/>
          <a:ln w="9525">
            <a:solidFill>
              <a:schemeClr val="accent5"/>
            </a:solidFill>
            <a:prstDash val="solid"/>
          </a:ln>
        </p:spPr>
      </p:sp>
      <p:sp>
        <p:nvSpPr>
          <p:cNvPr id="17" name="Text 14"/>
          <p:cNvSpPr txBox="1"/>
          <p:nvPr/>
        </p:nvSpPr>
        <p:spPr>
          <a:xfrm>
            <a:off x="10698480" y="173736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19:00</a:t>
            </a:r>
            <a:endParaRPr lang="en-US" sz="1100" dirty="0"/>
          </a:p>
        </p:txBody>
      </p:sp>
      <p:sp>
        <p:nvSpPr>
          <p:cNvPr id="18" name="Shape 15"/>
          <p:cNvSpPr/>
          <p:nvPr/>
        </p:nvSpPr>
        <p:spPr>
          <a:xfrm>
            <a:off x="3749040" y="2103120"/>
            <a:ext cx="0" cy="1280160"/>
          </a:xfrm>
          <a:prstGeom prst="line">
            <a:avLst/>
          </a:prstGeom>
          <a:noFill/>
          <a:ln w="19050">
            <a:solidFill>
              <a:schemeClr val="accent2"/>
            </a:solidFill>
            <a:prstDash val="dash"/>
          </a:ln>
        </p:spPr>
      </p:sp>
      <p:sp>
        <p:nvSpPr>
          <p:cNvPr id="19" name="Text 16"/>
          <p:cNvSpPr txBox="1"/>
          <p:nvPr/>
        </p:nvSpPr>
        <p:spPr>
          <a:xfrm>
            <a:off x="2651760" y="3401568"/>
            <a:ext cx="2194560" cy="274320"/>
          </a:xfrm>
          <a:prstGeom prst="rect">
            <a:avLst/>
          </a:prstGeom>
          <a:noFill/>
          <a:ln/>
        </p:spPr>
        <p:txBody>
          <a:bodyPr wrap="square" lIns="0" tIns="0" rIns="0" bIns="0" rtlCol="0" anchor="t"/>
          <a:lstStyle/>
          <a:p>
            <a:pPr algn="ctr" indent="0" marL="0">
              <a:buNone/>
            </a:pPr>
            <a:r>
              <a:rPr lang="en-US" sz="1100" b="1" dirty="0">
                <a:solidFill>
                  <a:schemeClr val="accent2"/>
                </a:solidFill>
              </a:rPr>
              <a:t>カウンターオープン 14:50</a:t>
            </a:r>
            <a:endParaRPr lang="en-US" sz="1100" dirty="0"/>
          </a:p>
        </p:txBody>
      </p:sp>
      <p:sp>
        <p:nvSpPr>
          <p:cNvPr id="20" name="Shape 17"/>
          <p:cNvSpPr/>
          <p:nvPr/>
        </p:nvSpPr>
        <p:spPr>
          <a:xfrm>
            <a:off x="7260336" y="2103120"/>
            <a:ext cx="0" cy="1280160"/>
          </a:xfrm>
          <a:prstGeom prst="line">
            <a:avLst/>
          </a:prstGeom>
          <a:noFill/>
          <a:ln w="19050">
            <a:solidFill>
              <a:schemeClr val="accent2"/>
            </a:solidFill>
            <a:prstDash val="dash"/>
          </a:ln>
        </p:spPr>
      </p:sp>
      <p:sp>
        <p:nvSpPr>
          <p:cNvPr id="21" name="Text 18"/>
          <p:cNvSpPr txBox="1"/>
          <p:nvPr/>
        </p:nvSpPr>
        <p:spPr>
          <a:xfrm>
            <a:off x="6163056" y="3401568"/>
            <a:ext cx="2194560" cy="274320"/>
          </a:xfrm>
          <a:prstGeom prst="rect">
            <a:avLst/>
          </a:prstGeom>
          <a:noFill/>
          <a:ln/>
        </p:spPr>
        <p:txBody>
          <a:bodyPr wrap="square" lIns="0" tIns="0" rIns="0" bIns="0" rtlCol="0" anchor="t"/>
          <a:lstStyle/>
          <a:p>
            <a:pPr algn="ctr" indent="0" marL="0">
              <a:buNone/>
            </a:pPr>
            <a:r>
              <a:rPr lang="en-US" sz="1100" b="1" dirty="0">
                <a:solidFill>
                  <a:schemeClr val="accent2"/>
                </a:solidFill>
              </a:rPr>
              <a:t>STA 16:50</a:t>
            </a:r>
            <a:endParaRPr lang="en-US" sz="1100" dirty="0"/>
          </a:p>
        </p:txBody>
      </p:sp>
      <p:sp>
        <p:nvSpPr>
          <p:cNvPr id="22" name="Shape 19"/>
          <p:cNvSpPr/>
          <p:nvPr/>
        </p:nvSpPr>
        <p:spPr>
          <a:xfrm>
            <a:off x="9015984" y="2103120"/>
            <a:ext cx="0" cy="1280160"/>
          </a:xfrm>
          <a:prstGeom prst="line">
            <a:avLst/>
          </a:prstGeom>
          <a:noFill/>
          <a:ln w="19050">
            <a:solidFill>
              <a:schemeClr val="accent2"/>
            </a:solidFill>
            <a:prstDash val="dash"/>
          </a:ln>
        </p:spPr>
      </p:sp>
      <p:sp>
        <p:nvSpPr>
          <p:cNvPr id="23" name="Text 20"/>
          <p:cNvSpPr txBox="1"/>
          <p:nvPr/>
        </p:nvSpPr>
        <p:spPr>
          <a:xfrm>
            <a:off x="7918704" y="3401568"/>
            <a:ext cx="2194560" cy="274320"/>
          </a:xfrm>
          <a:prstGeom prst="rect">
            <a:avLst/>
          </a:prstGeom>
          <a:noFill/>
          <a:ln/>
        </p:spPr>
        <p:txBody>
          <a:bodyPr wrap="square" lIns="0" tIns="0" rIns="0" bIns="0" rtlCol="0" anchor="t"/>
          <a:lstStyle/>
          <a:p>
            <a:pPr algn="ctr" indent="0" marL="0">
              <a:buNone/>
            </a:pPr>
            <a:r>
              <a:rPr lang="en-US" sz="1100" b="1" dirty="0">
                <a:solidFill>
                  <a:schemeClr val="accent2"/>
                </a:solidFill>
              </a:rPr>
              <a:t>STD 17:50</a:t>
            </a:r>
            <a:endParaRPr lang="en-US" sz="1100" dirty="0"/>
          </a:p>
        </p:txBody>
      </p:sp>
      <p:sp>
        <p:nvSpPr>
          <p:cNvPr id="24" name="Text 21"/>
          <p:cNvSpPr txBox="1"/>
          <p:nvPr/>
        </p:nvSpPr>
        <p:spPr>
          <a:xfrm>
            <a:off x="868680" y="2194560"/>
            <a:ext cx="1280160" cy="411480"/>
          </a:xfrm>
          <a:prstGeom prst="rect">
            <a:avLst/>
          </a:prstGeom>
          <a:noFill/>
          <a:ln/>
        </p:spPr>
        <p:txBody>
          <a:bodyPr wrap="square" lIns="0" tIns="0" rIns="0" bIns="0" rtlCol="0" anchor="ctr"/>
          <a:lstStyle/>
          <a:p>
            <a:pPr indent="0" marL="0">
              <a:buNone/>
            </a:pPr>
            <a:r>
              <a:rPr lang="en-US" sz="1500" b="1" dirty="0">
                <a:solidFill>
                  <a:schemeClr val="accent1"/>
                </a:solidFill>
              </a:rPr>
              <a:t>当初案</a:t>
            </a:r>
            <a:endParaRPr lang="en-US" sz="1500" dirty="0"/>
          </a:p>
        </p:txBody>
      </p:sp>
      <p:sp>
        <p:nvSpPr>
          <p:cNvPr id="25" name="Bar 当初案"/>
          <p:cNvSpPr/>
          <p:nvPr/>
        </p:nvSpPr>
        <p:spPr>
          <a:xfrm>
            <a:off x="3163824" y="2194560"/>
            <a:ext cx="7022592" cy="411480"/>
          </a:xfrm>
          <a:prstGeom prst="rect">
            <a:avLst/>
          </a:prstGeom>
          <a:solidFill>
            <a:srgbClr val="D3D8DF"/>
          </a:solidFill>
          <a:ln/>
        </p:spPr>
        <p:txBody>
          <a:bodyPr wrap="square" lIns="0" tIns="0" rIns="0" bIns="0" rtlCol="0" anchor="ctr"/>
          <a:lstStyle/>
          <a:p>
            <a:pPr algn="ctr" indent="0" marL="0">
              <a:buNone/>
            </a:pPr>
            <a:r>
              <a:rPr lang="en-US" sz="1300" b="1" dirty="0">
                <a:solidFill>
                  <a:schemeClr val="accent1"/>
                </a:solidFill>
              </a:rPr>
              <a:t>14:30～18:30（4時間）</a:t>
            </a:r>
            <a:endParaRPr lang="en-US" sz="1300" dirty="0"/>
          </a:p>
        </p:txBody>
      </p:sp>
      <p:sp>
        <p:nvSpPr>
          <p:cNvPr id="26" name="Text 23"/>
          <p:cNvSpPr txBox="1"/>
          <p:nvPr/>
        </p:nvSpPr>
        <p:spPr>
          <a:xfrm>
            <a:off x="868680" y="2743200"/>
            <a:ext cx="1280160" cy="411480"/>
          </a:xfrm>
          <a:prstGeom prst="rect">
            <a:avLst/>
          </a:prstGeom>
          <a:noFill/>
          <a:ln/>
        </p:spPr>
        <p:txBody>
          <a:bodyPr wrap="square" lIns="0" tIns="0" rIns="0" bIns="0" rtlCol="0" anchor="ctr"/>
          <a:lstStyle/>
          <a:p>
            <a:pPr indent="0" marL="0">
              <a:buNone/>
            </a:pPr>
            <a:r>
              <a:rPr lang="en-US" sz="1500" b="1" dirty="0">
                <a:solidFill>
                  <a:schemeClr val="accent1"/>
                </a:solidFill>
              </a:rPr>
              <a:t>調整案</a:t>
            </a:r>
            <a:endParaRPr lang="en-US" sz="1500" dirty="0"/>
          </a:p>
        </p:txBody>
      </p:sp>
      <p:sp>
        <p:nvSpPr>
          <p:cNvPr id="27" name="Bar 調整案"/>
          <p:cNvSpPr/>
          <p:nvPr/>
        </p:nvSpPr>
        <p:spPr>
          <a:xfrm>
            <a:off x="3749040" y="2743200"/>
            <a:ext cx="6437376" cy="411480"/>
          </a:xfrm>
          <a:prstGeom prst="rect">
            <a:avLst/>
          </a:prstGeom>
          <a:solidFill>
            <a:schemeClr val="accent1"/>
          </a:solidFill>
          <a:ln/>
        </p:spPr>
        <p:txBody>
          <a:bodyPr wrap="square" lIns="0" tIns="0" rIns="0" bIns="0" rtlCol="0" anchor="ctr"/>
          <a:lstStyle/>
          <a:p>
            <a:pPr algn="ctr" indent="0" marL="0">
              <a:buNone/>
            </a:pPr>
            <a:r>
              <a:rPr lang="en-US" sz="1300" b="1" dirty="0">
                <a:solidFill>
                  <a:schemeClr val="bg1"/>
                </a:solidFill>
              </a:rPr>
              <a:t>14:50～18:30（3時間40分）</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6035040" cy="914400"/>
        </p:xfrm>
        <a:graphic>
          <a:graphicData uri="http://schemas.openxmlformats.org/drawingml/2006/table">
            <a:tbl>
              <a:tblPr/>
              <a:tblGrid>
                <a:gridCol w="2377440"/>
                <a:gridCol w="1828800"/>
                <a:gridCol w="1828800"/>
              </a:tblGrid>
              <a:tr h="411480">
                <a:tc>
                  <a:txBody>
                    <a:bodyPr/>
                    <a:lstStyle/>
                    <a:p>
                      <a:pPr algn="ctr" indent="0" marL="0">
                        <a:buNone/>
                      </a:pPr>
                      <a:r>
                        <a:rPr lang="en-US" sz="1400" b="1" dirty="0">
                          <a:solidFill>
                            <a:schemeClr val="bg1"/>
                          </a:solidFill>
                          <a:latin typeface="Meiryo" pitchFamily="34" charset="0"/>
                          <a:ea typeface="Meiryo" pitchFamily="34" charset="-122"/>
                          <a:cs typeface="Meiryo" pitchFamily="34" charset="-120"/>
                        </a:rPr>
                        <a:t>項目</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Meiryo" pitchFamily="34" charset="0"/>
                          <a:ea typeface="Meiryo" pitchFamily="34" charset="-122"/>
                          <a:cs typeface="Meiryo" pitchFamily="34" charset="-120"/>
                        </a:rPr>
                        <a:t>当初案</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Meiryo" pitchFamily="34" charset="0"/>
                          <a:ea typeface="Meiryo" pitchFamily="34" charset="-122"/>
                          <a:cs typeface="Meiryo" pitchFamily="34" charset="-120"/>
                        </a:rPr>
                        <a:t>調整案</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accent1"/>
                    </a:solidFill>
                  </a:tcPr>
                </a:tc>
              </a:tr>
              <a:tr h="411480">
                <a:tc>
                  <a:txBody>
                    <a:bodyPr/>
                    <a:lstStyle/>
                    <a:p>
                      <a:pPr algn="ctr" indent="0" marL="0">
                        <a:buNone/>
                      </a:pPr>
                      <a:r>
                        <a:rPr lang="en-US" sz="1400" dirty="0">
                          <a:solidFill>
                            <a:schemeClr val="accent6"/>
                          </a:solidFill>
                          <a:latin typeface="Meiryo" pitchFamily="34" charset="0"/>
                          <a:ea typeface="Meiryo" pitchFamily="34" charset="-122"/>
                          <a:cs typeface="Meiryo" pitchFamily="34" charset="-120"/>
                        </a:rPr>
                        <a:t>勤務時間</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accent6"/>
                          </a:solidFill>
                          <a:latin typeface="Meiryo" pitchFamily="34" charset="0"/>
                          <a:ea typeface="Meiryo" pitchFamily="34" charset="-122"/>
                          <a:cs typeface="Meiryo" pitchFamily="34" charset="-120"/>
                        </a:rPr>
                        <a:t>14:30～18:30</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latin typeface="Meiryo" pitchFamily="34" charset="0"/>
                          <a:ea typeface="Meiryo" pitchFamily="34" charset="-122"/>
                          <a:cs typeface="Meiryo" pitchFamily="34" charset="-120"/>
                        </a:rPr>
                        <a:t>14:50～18:30</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r>
              <a:tr h="411480">
                <a:tc>
                  <a:txBody>
                    <a:bodyPr/>
                    <a:lstStyle/>
                    <a:p>
                      <a:pPr algn="ctr" indent="0" marL="0">
                        <a:buNone/>
                      </a:pPr>
                      <a:r>
                        <a:rPr lang="en-US" sz="1400" dirty="0">
                          <a:solidFill>
                            <a:schemeClr val="accent6"/>
                          </a:solidFill>
                          <a:latin typeface="Meiryo" pitchFamily="34" charset="0"/>
                          <a:ea typeface="Meiryo" pitchFamily="34" charset="-122"/>
                          <a:cs typeface="Meiryo" pitchFamily="34" charset="-120"/>
                        </a:rPr>
                        <a:t>1日の就業時間</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accent6"/>
                          </a:solidFill>
                          <a:latin typeface="Meiryo" pitchFamily="34" charset="0"/>
                          <a:ea typeface="Meiryo" pitchFamily="34" charset="-122"/>
                          <a:cs typeface="Meiryo" pitchFamily="34" charset="-120"/>
                        </a:rPr>
                        <a:t>4時間</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latin typeface="Meiryo" pitchFamily="34" charset="0"/>
                          <a:ea typeface="Meiryo" pitchFamily="34" charset="-122"/>
                          <a:cs typeface="Meiryo" pitchFamily="34" charset="-120"/>
                        </a:rPr>
                        <a:t>3時間40分</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r>
              <a:tr h="411480">
                <a:tc>
                  <a:txBody>
                    <a:bodyPr/>
                    <a:lstStyle/>
                    <a:p>
                      <a:pPr algn="ctr" indent="0" marL="0">
                        <a:buNone/>
                      </a:pPr>
                      <a:r>
                        <a:rPr lang="en-US" sz="1400" dirty="0">
                          <a:solidFill>
                            <a:schemeClr val="accent6"/>
                          </a:solidFill>
                          <a:latin typeface="Meiryo" pitchFamily="34" charset="0"/>
                          <a:ea typeface="Meiryo" pitchFamily="34" charset="-122"/>
                          <a:cs typeface="Meiryo" pitchFamily="34" charset="-120"/>
                        </a:rPr>
                        <a:t>1名あたり派遣料金（1日）</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accent6"/>
                          </a:solidFill>
                          <a:latin typeface="Meiryo" pitchFamily="34" charset="0"/>
                          <a:ea typeface="Meiryo" pitchFamily="34" charset="-122"/>
                          <a:cs typeface="Meiryo" pitchFamily="34" charset="-120"/>
                        </a:rPr>
                        <a:t>8,400円</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2"/>
                          </a:solidFill>
                          <a:latin typeface="Meiryo" pitchFamily="34" charset="0"/>
                          <a:ea typeface="Meiryo" pitchFamily="34" charset="-122"/>
                          <a:cs typeface="Meiryo" pitchFamily="34" charset="-120"/>
                        </a:rPr>
                        <a:t>7,700円</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r>
            </a:tbl>
          </a:graphicData>
        </a:graphic>
      </p:graphicFrame>
      <p:sp>
        <p:nvSpPr>
          <p:cNvPr id="29" name="Text 25"/>
          <p:cNvSpPr txBox="1"/>
          <p:nvPr/>
        </p:nvSpPr>
        <p:spPr>
          <a:xfrm>
            <a:off x="548640" y="5897880"/>
            <a:ext cx="6035040" cy="274320"/>
          </a:xfrm>
          <a:prstGeom prst="rect">
            <a:avLst/>
          </a:prstGeom>
          <a:noFill/>
          <a:ln/>
        </p:spPr>
        <p:txBody>
          <a:bodyPr wrap="square" lIns="0" tIns="0" rIns="0" bIns="0" rtlCol="0" anchor="t"/>
          <a:lstStyle/>
          <a:p>
            <a:pPr indent="0" marL="0">
              <a:buNone/>
            </a:pPr>
            <a:r>
              <a:rPr lang="en-US" sz="1100" dirty="0">
                <a:solidFill>
                  <a:schemeClr val="accent6"/>
                </a:solidFill>
              </a:rPr>
              <a:t>※通常派遣単価2,100円／時間で算出。税別想定。</a:t>
            </a:r>
            <a:endParaRPr lang="en-US" sz="1100" dirty="0"/>
          </a:p>
        </p:txBody>
      </p:sp>
      <p:sp>
        <p:nvSpPr>
          <p:cNvPr id="30" name="Point 1"/>
          <p:cNvSpPr/>
          <p:nvPr/>
        </p:nvSpPr>
        <p:spPr>
          <a:xfrm>
            <a:off x="6858000" y="4160520"/>
            <a:ext cx="4754880" cy="868680"/>
          </a:xfrm>
          <a:prstGeom prst="roundRect">
            <a:avLst>
              <a:gd name="adj" fmla="val 8421"/>
            </a:avLst>
          </a:prstGeom>
          <a:solidFill>
            <a:schemeClr val="accent4"/>
          </a:solidFill>
          <a:ln/>
        </p:spPr>
      </p:sp>
      <p:sp>
        <p:nvSpPr>
          <p:cNvPr id="31" name="Text 27"/>
          <p:cNvSpPr txBox="1"/>
          <p:nvPr/>
        </p:nvSpPr>
        <p:spPr>
          <a:xfrm>
            <a:off x="7086600" y="4251960"/>
            <a:ext cx="4343400" cy="731520"/>
          </a:xfrm>
          <a:prstGeom prst="rect">
            <a:avLst/>
          </a:prstGeom>
          <a:noFill/>
          <a:ln/>
        </p:spPr>
        <p:txBody>
          <a:bodyPr wrap="square" lIns="0" tIns="0" rIns="0" bIns="0" rtlCol="0" anchor="ctr"/>
          <a:lstStyle/>
          <a:p>
            <a:pPr indent="0" marL="0">
              <a:buNone/>
            </a:pPr>
            <a:r>
              <a:rPr lang="en-US" sz="1400" b="1" dirty="0">
                <a:solidFill>
                  <a:schemeClr val="accent1"/>
                </a:solidFill>
              </a:rPr>
              <a:t>派遣料金の精算</a:t>
            </a:r>
            <a:endParaRPr lang="en-US" sz="1400" dirty="0"/>
          </a:p>
          <a:p>
            <a:pPr indent="0" marL="0">
              <a:buNone/>
            </a:pPr>
            <a:r>
              <a:rPr lang="en-US" sz="1150" dirty="0">
                <a:solidFill>
                  <a:schemeClr val="accent6"/>
                </a:solidFill>
              </a:rPr>
              <a:t>14:50開始が可能な場合、個別派遣契約書に1分単位で精算する旨を明記する方向で調整したいと考えております。</a:t>
            </a:r>
            <a:endParaRPr lang="en-US" sz="1400" dirty="0"/>
          </a:p>
        </p:txBody>
      </p:sp>
      <p:sp>
        <p:nvSpPr>
          <p:cNvPr id="32" name="Point 2"/>
          <p:cNvSpPr/>
          <p:nvPr/>
        </p:nvSpPr>
        <p:spPr>
          <a:xfrm>
            <a:off x="6858000" y="5148072"/>
            <a:ext cx="4754880" cy="868680"/>
          </a:xfrm>
          <a:prstGeom prst="roundRect">
            <a:avLst>
              <a:gd name="adj" fmla="val 8421"/>
            </a:avLst>
          </a:prstGeom>
          <a:solidFill>
            <a:schemeClr val="bg1"/>
          </a:solidFill>
          <a:ln w="9525">
            <a:solidFill>
              <a:schemeClr val="accent5"/>
            </a:solidFill>
            <a:prstDash val="solid"/>
          </a:ln>
        </p:spPr>
      </p:sp>
      <p:sp>
        <p:nvSpPr>
          <p:cNvPr id="33" name="Text 29"/>
          <p:cNvSpPr txBox="1"/>
          <p:nvPr/>
        </p:nvSpPr>
        <p:spPr>
          <a:xfrm>
            <a:off x="7086600" y="5239512"/>
            <a:ext cx="4343400" cy="731520"/>
          </a:xfrm>
          <a:prstGeom prst="rect">
            <a:avLst/>
          </a:prstGeom>
          <a:noFill/>
          <a:ln/>
        </p:spPr>
        <p:txBody>
          <a:bodyPr wrap="square" lIns="0" tIns="0" rIns="0" bIns="0" rtlCol="0" anchor="ctr"/>
          <a:lstStyle/>
          <a:p>
            <a:pPr indent="0" marL="0">
              <a:buNone/>
            </a:pPr>
            <a:r>
              <a:rPr lang="en-US" sz="1400" b="1" dirty="0">
                <a:solidFill>
                  <a:schemeClr val="accent1"/>
                </a:solidFill>
              </a:rPr>
              <a:t>オープン前の準備業務</a:t>
            </a:r>
            <a:endParaRPr lang="en-US" sz="1400" dirty="0"/>
          </a:p>
          <a:p>
            <a:pPr indent="0" marL="0">
              <a:buNone/>
            </a:pPr>
            <a:r>
              <a:rPr lang="en-US" sz="1150" dirty="0">
                <a:solidFill>
                  <a:schemeClr val="accent6"/>
                </a:solidFill>
              </a:rPr>
              <a:t>カウンターオープン前の準備業務は、FMG側での対応も含めて調整いたします。</a:t>
            </a:r>
            <a:endParaRPr lang="en-US" sz="1400" dirty="0"/>
          </a:p>
        </p:txBody>
      </p:sp>
      <p:sp>
        <p:nvSpPr>
          <p:cNvPr id="25" name="Slide Number Placeholder 0"/>
          <p:cNvSpPr>
            <a:spLocks noGrp="1"/>
          </p:cNvSpPr>
          <p:nvPr>
            <p:ph type="sldNum" sz="quarter" idx="4294967295"/>
          </p:nvPr>
        </p:nvSpPr>
        <p:spPr>
          <a:xfrm>
            <a:off x="11183112" y="64008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algn="l" indent="0" marL="0">
              <a:buNone/>
            </a:pPr>
            <a:r>
              <a:rPr lang="en-US" sz="1200" b="1" dirty="0">
                <a:solidFill>
                  <a:schemeClr val="accent2"/>
                </a:solidFill>
              </a:rPr>
              <a:t>04　事前教育・訓練について</a:t>
            </a:r>
            <a:endParaRPr lang="en-US" sz="1200" dirty="0"/>
          </a:p>
        </p:txBody>
      </p:sp>
      <p:sp>
        <p:nvSpPr>
          <p:cNvPr id="3" name="Text 0"/>
          <p:cNvSpPr/>
          <p:nvPr>
            <p:ph idx="101" type="title" hasCustomPrompt="1"/>
          </p:nvPr>
        </p:nvSpPr>
        <p:spPr>
          <a:xfrm>
            <a:off x="548640" y="685800"/>
            <a:ext cx="11064240" cy="640080"/>
          </a:xfrm>
          <a:prstGeom prst="rect">
            <a:avLst/>
          </a:prstGeom>
          <a:noFill/>
          <a:ln/>
        </p:spPr>
        <p:txBody>
          <a:bodyPr wrap="square" lIns="0" tIns="0" rIns="0" bIns="0" rtlCol="0" anchor="t"/>
          <a:lstStyle/>
          <a:p>
            <a:pPr algn="l" indent="0" marL="0">
              <a:buNone/>
            </a:pPr>
            <a:r>
              <a:rPr lang="en-US" sz="2800" b="1" dirty="0">
                <a:solidFill>
                  <a:schemeClr val="accent1"/>
                </a:solidFill>
              </a:rPr>
              <a:t>研修は1日4時間×6日（計24時間）、日程は2案でご相談</a:t>
            </a:r>
            <a:endParaRPr lang="en-US" sz="2800" dirty="0"/>
          </a:p>
        </p:txBody>
      </p:sp>
      <p:sp>
        <p:nvSpPr>
          <p:cNvPr id="5" name="Text 2"/>
          <p:cNvSpPr txBox="1"/>
          <p:nvPr/>
        </p:nvSpPr>
        <p:spPr>
          <a:xfrm>
            <a:off x="548640" y="1554480"/>
            <a:ext cx="5120640" cy="365760"/>
          </a:xfrm>
          <a:prstGeom prst="rect">
            <a:avLst/>
          </a:prstGeom>
          <a:noFill/>
          <a:ln/>
        </p:spPr>
        <p:txBody>
          <a:bodyPr wrap="square" lIns="0" tIns="0" rIns="0" bIns="0" rtlCol="0" anchor="ctr"/>
          <a:lstStyle/>
          <a:p>
            <a:pPr indent="0" marL="0">
              <a:buNone/>
            </a:pPr>
            <a:r>
              <a:rPr lang="en-US" sz="1700" b="1" dirty="0">
                <a:solidFill>
                  <a:schemeClr val="accent1"/>
                </a:solidFill>
              </a:rPr>
              <a:t>案①</a:t>
            </a:r>
            <a:pPr indent="0" marL="0">
              <a:buNone/>
            </a:pPr>
            <a:r>
              <a:rPr lang="en-US" sz="1200" dirty="0">
                <a:solidFill>
                  <a:schemeClr val="accent6"/>
                </a:solidFill>
              </a:rPr>
              <a:t>　10名一括受講</a:t>
            </a:r>
            <a:endParaRPr lang="en-US" sz="1400" dirty="0"/>
          </a:p>
        </p:txBody>
      </p:sp>
      <p:sp>
        <p:nvSpPr>
          <p:cNvPr id="6" name="Text 3"/>
          <p:cNvSpPr txBox="1"/>
          <p:nvPr/>
        </p:nvSpPr>
        <p:spPr>
          <a:xfrm>
            <a:off x="548640" y="1938528"/>
            <a:ext cx="5120640" cy="256032"/>
          </a:xfrm>
          <a:prstGeom prst="rect">
            <a:avLst/>
          </a:prstGeom>
          <a:noFill/>
          <a:ln/>
        </p:spPr>
        <p:txBody>
          <a:bodyPr wrap="square" lIns="0" tIns="0" rIns="0" bIns="0" rtlCol="0" anchor="t"/>
          <a:lstStyle/>
          <a:p>
            <a:pPr indent="0" marL="0">
              <a:buNone/>
            </a:pPr>
            <a:r>
              <a:rPr lang="en-US" sz="1100" b="1" dirty="0">
                <a:solidFill>
                  <a:schemeClr val="accent2"/>
                </a:solidFill>
              </a:rPr>
              <a:t>2026年11月</a:t>
            </a:r>
            <a:endParaRPr lang="en-US" sz="1100" dirty="0"/>
          </a:p>
        </p:txBody>
      </p:sp>
      <p:sp>
        <p:nvSpPr>
          <p:cNvPr id="7" name="Text 4"/>
          <p:cNvSpPr txBox="1"/>
          <p:nvPr/>
        </p:nvSpPr>
        <p:spPr>
          <a:xfrm>
            <a:off x="548640" y="2212848"/>
            <a:ext cx="731520" cy="274320"/>
          </a:xfrm>
          <a:prstGeom prst="rect">
            <a:avLst/>
          </a:prstGeom>
          <a:noFill/>
          <a:ln/>
        </p:spPr>
        <p:txBody>
          <a:bodyPr wrap="square" lIns="0" tIns="0" rIns="0" bIns="0" rtlCol="0" anchor="t"/>
          <a:lstStyle/>
          <a:p>
            <a:pPr algn="ctr" indent="0" marL="0">
              <a:buNone/>
            </a:pPr>
            <a:r>
              <a:rPr lang="en-US" sz="1100" b="1" dirty="0">
                <a:solidFill>
                  <a:schemeClr val="accent2"/>
                </a:solidFill>
              </a:rPr>
              <a:t>日</a:t>
            </a:r>
            <a:endParaRPr lang="en-US" sz="1100" dirty="0"/>
          </a:p>
        </p:txBody>
      </p:sp>
      <p:sp>
        <p:nvSpPr>
          <p:cNvPr id="8" name="Text 5"/>
          <p:cNvSpPr txBox="1"/>
          <p:nvPr/>
        </p:nvSpPr>
        <p:spPr>
          <a:xfrm>
            <a:off x="1280160" y="2212848"/>
            <a:ext cx="731520" cy="274320"/>
          </a:xfrm>
          <a:prstGeom prst="rect">
            <a:avLst/>
          </a:prstGeom>
          <a:noFill/>
          <a:ln/>
        </p:spPr>
        <p:txBody>
          <a:bodyPr wrap="square" lIns="0" tIns="0" rIns="0" bIns="0" rtlCol="0" anchor="t"/>
          <a:lstStyle/>
          <a:p>
            <a:pPr algn="ctr" indent="0" marL="0">
              <a:buNone/>
            </a:pPr>
            <a:r>
              <a:rPr lang="en-US" sz="1100" b="1" dirty="0">
                <a:solidFill>
                  <a:schemeClr val="accent6"/>
                </a:solidFill>
              </a:rPr>
              <a:t>月</a:t>
            </a:r>
            <a:endParaRPr lang="en-US" sz="1100" dirty="0"/>
          </a:p>
        </p:txBody>
      </p:sp>
      <p:sp>
        <p:nvSpPr>
          <p:cNvPr id="9" name="Text 6"/>
          <p:cNvSpPr txBox="1"/>
          <p:nvPr/>
        </p:nvSpPr>
        <p:spPr>
          <a:xfrm>
            <a:off x="2011680" y="2212848"/>
            <a:ext cx="731520" cy="274320"/>
          </a:xfrm>
          <a:prstGeom prst="rect">
            <a:avLst/>
          </a:prstGeom>
          <a:noFill/>
          <a:ln/>
        </p:spPr>
        <p:txBody>
          <a:bodyPr wrap="square" lIns="0" tIns="0" rIns="0" bIns="0" rtlCol="0" anchor="t"/>
          <a:lstStyle/>
          <a:p>
            <a:pPr algn="ctr" indent="0" marL="0">
              <a:buNone/>
            </a:pPr>
            <a:r>
              <a:rPr lang="en-US" sz="1100" b="1" dirty="0">
                <a:solidFill>
                  <a:schemeClr val="accent6"/>
                </a:solidFill>
              </a:rPr>
              <a:t>火</a:t>
            </a:r>
            <a:endParaRPr lang="en-US" sz="1100" dirty="0"/>
          </a:p>
        </p:txBody>
      </p:sp>
      <p:sp>
        <p:nvSpPr>
          <p:cNvPr id="10" name="Text 7"/>
          <p:cNvSpPr txBox="1"/>
          <p:nvPr/>
        </p:nvSpPr>
        <p:spPr>
          <a:xfrm>
            <a:off x="2743200" y="2212848"/>
            <a:ext cx="731520" cy="274320"/>
          </a:xfrm>
          <a:prstGeom prst="rect">
            <a:avLst/>
          </a:prstGeom>
          <a:noFill/>
          <a:ln/>
        </p:spPr>
        <p:txBody>
          <a:bodyPr wrap="square" lIns="0" tIns="0" rIns="0" bIns="0" rtlCol="0" anchor="t"/>
          <a:lstStyle/>
          <a:p>
            <a:pPr algn="ctr" indent="0" marL="0">
              <a:buNone/>
            </a:pPr>
            <a:r>
              <a:rPr lang="en-US" sz="1100" b="1" dirty="0">
                <a:solidFill>
                  <a:schemeClr val="accent6"/>
                </a:solidFill>
              </a:rPr>
              <a:t>水</a:t>
            </a:r>
            <a:endParaRPr lang="en-US" sz="1100" dirty="0"/>
          </a:p>
        </p:txBody>
      </p:sp>
      <p:sp>
        <p:nvSpPr>
          <p:cNvPr id="11" name="Text 8"/>
          <p:cNvSpPr txBox="1"/>
          <p:nvPr/>
        </p:nvSpPr>
        <p:spPr>
          <a:xfrm>
            <a:off x="3474720" y="2212848"/>
            <a:ext cx="731520" cy="274320"/>
          </a:xfrm>
          <a:prstGeom prst="rect">
            <a:avLst/>
          </a:prstGeom>
          <a:noFill/>
          <a:ln/>
        </p:spPr>
        <p:txBody>
          <a:bodyPr wrap="square" lIns="0" tIns="0" rIns="0" bIns="0" rtlCol="0" anchor="t"/>
          <a:lstStyle/>
          <a:p>
            <a:pPr algn="ctr" indent="0" marL="0">
              <a:buNone/>
            </a:pPr>
            <a:r>
              <a:rPr lang="en-US" sz="1100" b="1" dirty="0">
                <a:solidFill>
                  <a:schemeClr val="accent6"/>
                </a:solidFill>
              </a:rPr>
              <a:t>木</a:t>
            </a:r>
            <a:endParaRPr lang="en-US" sz="1100" dirty="0"/>
          </a:p>
        </p:txBody>
      </p:sp>
      <p:sp>
        <p:nvSpPr>
          <p:cNvPr id="12" name="Text 9"/>
          <p:cNvSpPr txBox="1"/>
          <p:nvPr/>
        </p:nvSpPr>
        <p:spPr>
          <a:xfrm>
            <a:off x="4206240" y="2212848"/>
            <a:ext cx="731520" cy="274320"/>
          </a:xfrm>
          <a:prstGeom prst="rect">
            <a:avLst/>
          </a:prstGeom>
          <a:noFill/>
          <a:ln/>
        </p:spPr>
        <p:txBody>
          <a:bodyPr wrap="square" lIns="0" tIns="0" rIns="0" bIns="0" rtlCol="0" anchor="t"/>
          <a:lstStyle/>
          <a:p>
            <a:pPr algn="ctr" indent="0" marL="0">
              <a:buNone/>
            </a:pPr>
            <a:r>
              <a:rPr lang="en-US" sz="1100" b="1" dirty="0">
                <a:solidFill>
                  <a:schemeClr val="accent6"/>
                </a:solidFill>
              </a:rPr>
              <a:t>金</a:t>
            </a:r>
            <a:endParaRPr lang="en-US" sz="1100" dirty="0"/>
          </a:p>
        </p:txBody>
      </p:sp>
      <p:sp>
        <p:nvSpPr>
          <p:cNvPr id="13" name="Text 10"/>
          <p:cNvSpPr txBox="1"/>
          <p:nvPr/>
        </p:nvSpPr>
        <p:spPr>
          <a:xfrm>
            <a:off x="4937760" y="2212848"/>
            <a:ext cx="731520" cy="274320"/>
          </a:xfrm>
          <a:prstGeom prst="rect">
            <a:avLst/>
          </a:prstGeom>
          <a:noFill/>
          <a:ln/>
        </p:spPr>
        <p:txBody>
          <a:bodyPr wrap="square" lIns="0" tIns="0" rIns="0" bIns="0" rtlCol="0" anchor="t"/>
          <a:lstStyle/>
          <a:p>
            <a:pPr algn="ctr" indent="0" marL="0">
              <a:buNone/>
            </a:pPr>
            <a:r>
              <a:rPr lang="en-US" sz="1100" b="1" dirty="0">
                <a:solidFill>
                  <a:schemeClr val="accent6"/>
                </a:solidFill>
              </a:rPr>
              <a:t>土</a:t>
            </a:r>
            <a:endParaRPr lang="en-US" sz="1100" dirty="0"/>
          </a:p>
        </p:txBody>
      </p:sp>
      <p:sp>
        <p:nvSpPr>
          <p:cNvPr id="14" name="Text 11"/>
          <p:cNvSpPr/>
          <p:nvPr/>
        </p:nvSpPr>
        <p:spPr>
          <a:xfrm>
            <a:off x="576072" y="2542032"/>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B4530F"/>
                </a:solidFill>
              </a:rPr>
              <a:t>1</a:t>
            </a:r>
            <a:endParaRPr lang="en-US" sz="1100" dirty="0"/>
          </a:p>
        </p:txBody>
      </p:sp>
      <p:sp>
        <p:nvSpPr>
          <p:cNvPr id="15" name="Text 12"/>
          <p:cNvSpPr/>
          <p:nvPr/>
        </p:nvSpPr>
        <p:spPr>
          <a:xfrm>
            <a:off x="1307592" y="2542032"/>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2</a:t>
            </a:r>
            <a:endParaRPr lang="en-US" sz="1100" dirty="0"/>
          </a:p>
        </p:txBody>
      </p:sp>
      <p:sp>
        <p:nvSpPr>
          <p:cNvPr id="16" name="Text 13"/>
          <p:cNvSpPr/>
          <p:nvPr/>
        </p:nvSpPr>
        <p:spPr>
          <a:xfrm>
            <a:off x="2039112" y="2542032"/>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B4530F"/>
                </a:solidFill>
              </a:rPr>
              <a:t>3 祝</a:t>
            </a:r>
            <a:endParaRPr lang="en-US" sz="1100" dirty="0"/>
          </a:p>
        </p:txBody>
      </p:sp>
      <p:sp>
        <p:nvSpPr>
          <p:cNvPr id="17" name="Text 14"/>
          <p:cNvSpPr/>
          <p:nvPr/>
        </p:nvSpPr>
        <p:spPr>
          <a:xfrm>
            <a:off x="2770632" y="2542032"/>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4</a:t>
            </a:r>
            <a:endParaRPr lang="en-US" sz="1100" dirty="0"/>
          </a:p>
        </p:txBody>
      </p:sp>
      <p:sp>
        <p:nvSpPr>
          <p:cNvPr id="18" name="Text 15"/>
          <p:cNvSpPr/>
          <p:nvPr/>
        </p:nvSpPr>
        <p:spPr>
          <a:xfrm>
            <a:off x="3502152" y="2542032"/>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5</a:t>
            </a:r>
            <a:endParaRPr lang="en-US" sz="1100" dirty="0"/>
          </a:p>
        </p:txBody>
      </p:sp>
      <p:sp>
        <p:nvSpPr>
          <p:cNvPr id="19" name="Text 16"/>
          <p:cNvSpPr/>
          <p:nvPr/>
        </p:nvSpPr>
        <p:spPr>
          <a:xfrm>
            <a:off x="4233672" y="2542032"/>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6</a:t>
            </a:r>
            <a:endParaRPr lang="en-US" sz="1100" dirty="0"/>
          </a:p>
        </p:txBody>
      </p:sp>
      <p:sp>
        <p:nvSpPr>
          <p:cNvPr id="20" name="Text 17"/>
          <p:cNvSpPr/>
          <p:nvPr/>
        </p:nvSpPr>
        <p:spPr>
          <a:xfrm>
            <a:off x="4965192" y="2542032"/>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7</a:t>
            </a:r>
            <a:endParaRPr lang="en-US" sz="1100" dirty="0"/>
          </a:p>
        </p:txBody>
      </p:sp>
      <p:sp>
        <p:nvSpPr>
          <p:cNvPr id="21" name="Text 18"/>
          <p:cNvSpPr/>
          <p:nvPr/>
        </p:nvSpPr>
        <p:spPr>
          <a:xfrm>
            <a:off x="576072" y="2971800"/>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B4530F"/>
                </a:solidFill>
              </a:rPr>
              <a:t>8</a:t>
            </a:r>
            <a:endParaRPr lang="en-US" sz="1100" dirty="0"/>
          </a:p>
        </p:txBody>
      </p:sp>
      <p:sp>
        <p:nvSpPr>
          <p:cNvPr id="22" name="Text 19"/>
          <p:cNvSpPr/>
          <p:nvPr/>
        </p:nvSpPr>
        <p:spPr>
          <a:xfrm>
            <a:off x="1307592" y="2971800"/>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9</a:t>
            </a:r>
            <a:endParaRPr lang="en-US" sz="1100" dirty="0"/>
          </a:p>
        </p:txBody>
      </p:sp>
      <p:sp>
        <p:nvSpPr>
          <p:cNvPr id="23" name="Text 20"/>
          <p:cNvSpPr/>
          <p:nvPr/>
        </p:nvSpPr>
        <p:spPr>
          <a:xfrm>
            <a:off x="2039112" y="2971800"/>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10</a:t>
            </a:r>
            <a:endParaRPr lang="en-US" sz="1100" dirty="0"/>
          </a:p>
        </p:txBody>
      </p:sp>
      <p:sp>
        <p:nvSpPr>
          <p:cNvPr id="24" name="Text 21"/>
          <p:cNvSpPr/>
          <p:nvPr/>
        </p:nvSpPr>
        <p:spPr>
          <a:xfrm>
            <a:off x="2770632" y="2971800"/>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11</a:t>
            </a:r>
            <a:endParaRPr lang="en-US" sz="1100" dirty="0"/>
          </a:p>
        </p:txBody>
      </p:sp>
      <p:sp>
        <p:nvSpPr>
          <p:cNvPr id="25" name="Text 22"/>
          <p:cNvSpPr/>
          <p:nvPr/>
        </p:nvSpPr>
        <p:spPr>
          <a:xfrm>
            <a:off x="3502152" y="2971800"/>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12</a:t>
            </a:r>
            <a:endParaRPr lang="en-US" sz="1100" dirty="0"/>
          </a:p>
        </p:txBody>
      </p:sp>
      <p:sp>
        <p:nvSpPr>
          <p:cNvPr id="26" name="Text 23"/>
          <p:cNvSpPr/>
          <p:nvPr/>
        </p:nvSpPr>
        <p:spPr>
          <a:xfrm>
            <a:off x="4233672" y="2971800"/>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13</a:t>
            </a:r>
            <a:endParaRPr lang="en-US" sz="1100" dirty="0"/>
          </a:p>
        </p:txBody>
      </p:sp>
      <p:sp>
        <p:nvSpPr>
          <p:cNvPr id="27" name="Text 24"/>
          <p:cNvSpPr/>
          <p:nvPr/>
        </p:nvSpPr>
        <p:spPr>
          <a:xfrm>
            <a:off x="4965192" y="2971800"/>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14</a:t>
            </a:r>
            <a:endParaRPr lang="en-US" sz="1100" dirty="0"/>
          </a:p>
        </p:txBody>
      </p:sp>
      <p:sp>
        <p:nvSpPr>
          <p:cNvPr id="28" name="Text 25"/>
          <p:cNvSpPr/>
          <p:nvPr/>
        </p:nvSpPr>
        <p:spPr>
          <a:xfrm>
            <a:off x="576072" y="3401568"/>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B4530F"/>
                </a:solidFill>
              </a:rPr>
              <a:t>15</a:t>
            </a:r>
            <a:endParaRPr lang="en-US" sz="1100" dirty="0"/>
          </a:p>
        </p:txBody>
      </p:sp>
      <p:sp>
        <p:nvSpPr>
          <p:cNvPr id="29" name="Text 26"/>
          <p:cNvSpPr/>
          <p:nvPr/>
        </p:nvSpPr>
        <p:spPr>
          <a:xfrm>
            <a:off x="1307592" y="3401568"/>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16</a:t>
            </a:r>
            <a:endParaRPr lang="en-US" sz="1100" dirty="0"/>
          </a:p>
        </p:txBody>
      </p:sp>
      <p:sp>
        <p:nvSpPr>
          <p:cNvPr id="30" name="Text 27"/>
          <p:cNvSpPr/>
          <p:nvPr/>
        </p:nvSpPr>
        <p:spPr>
          <a:xfrm>
            <a:off x="2039112" y="3401568"/>
            <a:ext cx="676656" cy="374904"/>
          </a:xfrm>
          <a:prstGeom prst="rect">
            <a:avLst/>
          </a:prstGeom>
          <a:solidFill>
            <a:srgbClr val="14213D"/>
          </a:solidFill>
          <a:ln w="6350">
            <a:solidFill>
              <a:srgbClr val="D9DDD3"/>
            </a:solidFill>
          </a:ln>
        </p:spPr>
        <p:txBody>
          <a:bodyPr wrap="square" lIns="0" tIns="0" rIns="0" bIns="0" rtlCol="0" anchor="ctr"/>
          <a:lstStyle/>
          <a:p>
            <a:pPr algn="ctr" indent="0" marL="0">
              <a:buNone/>
            </a:pPr>
            <a:r>
              <a:rPr lang="en-US" sz="1100" b="1" dirty="0">
                <a:solidFill>
                  <a:srgbClr val="FFFFFF"/>
                </a:solidFill>
              </a:rPr>
              <a:t>17</a:t>
            </a:r>
            <a:endParaRPr lang="en-US" sz="1100" dirty="0"/>
          </a:p>
        </p:txBody>
      </p:sp>
      <p:sp>
        <p:nvSpPr>
          <p:cNvPr id="31" name="Text 28"/>
          <p:cNvSpPr/>
          <p:nvPr/>
        </p:nvSpPr>
        <p:spPr>
          <a:xfrm>
            <a:off x="2770632" y="3401568"/>
            <a:ext cx="676656" cy="374904"/>
          </a:xfrm>
          <a:prstGeom prst="rect">
            <a:avLst/>
          </a:prstGeom>
          <a:solidFill>
            <a:srgbClr val="14213D"/>
          </a:solidFill>
          <a:ln w="6350">
            <a:solidFill>
              <a:srgbClr val="D9DDD3"/>
            </a:solidFill>
          </a:ln>
        </p:spPr>
        <p:txBody>
          <a:bodyPr wrap="square" lIns="0" tIns="0" rIns="0" bIns="0" rtlCol="0" anchor="ctr"/>
          <a:lstStyle/>
          <a:p>
            <a:pPr algn="ctr" indent="0" marL="0">
              <a:buNone/>
            </a:pPr>
            <a:r>
              <a:rPr lang="en-US" sz="1100" b="1" dirty="0">
                <a:solidFill>
                  <a:srgbClr val="FFFFFF"/>
                </a:solidFill>
              </a:rPr>
              <a:t>18</a:t>
            </a:r>
            <a:endParaRPr lang="en-US" sz="1100" dirty="0"/>
          </a:p>
        </p:txBody>
      </p:sp>
      <p:sp>
        <p:nvSpPr>
          <p:cNvPr id="32" name="Text 29"/>
          <p:cNvSpPr/>
          <p:nvPr/>
        </p:nvSpPr>
        <p:spPr>
          <a:xfrm>
            <a:off x="3502152" y="3401568"/>
            <a:ext cx="676656" cy="374904"/>
          </a:xfrm>
          <a:prstGeom prst="rect">
            <a:avLst/>
          </a:prstGeom>
          <a:solidFill>
            <a:srgbClr val="14213D"/>
          </a:solidFill>
          <a:ln w="6350">
            <a:solidFill>
              <a:srgbClr val="D9DDD3"/>
            </a:solidFill>
          </a:ln>
        </p:spPr>
        <p:txBody>
          <a:bodyPr wrap="square" lIns="0" tIns="0" rIns="0" bIns="0" rtlCol="0" anchor="ctr"/>
          <a:lstStyle/>
          <a:p>
            <a:pPr algn="ctr" indent="0" marL="0">
              <a:buNone/>
            </a:pPr>
            <a:r>
              <a:rPr lang="en-US" sz="1100" b="1" dirty="0">
                <a:solidFill>
                  <a:srgbClr val="FFFFFF"/>
                </a:solidFill>
              </a:rPr>
              <a:t>19</a:t>
            </a:r>
            <a:endParaRPr lang="en-US" sz="1100" dirty="0"/>
          </a:p>
        </p:txBody>
      </p:sp>
      <p:sp>
        <p:nvSpPr>
          <p:cNvPr id="33" name="Text 30"/>
          <p:cNvSpPr/>
          <p:nvPr/>
        </p:nvSpPr>
        <p:spPr>
          <a:xfrm>
            <a:off x="4233672" y="3401568"/>
            <a:ext cx="676656" cy="374904"/>
          </a:xfrm>
          <a:prstGeom prst="rect">
            <a:avLst/>
          </a:prstGeom>
          <a:solidFill>
            <a:srgbClr val="14213D"/>
          </a:solidFill>
          <a:ln w="6350">
            <a:solidFill>
              <a:srgbClr val="D9DDD3"/>
            </a:solidFill>
          </a:ln>
        </p:spPr>
        <p:txBody>
          <a:bodyPr wrap="square" lIns="0" tIns="0" rIns="0" bIns="0" rtlCol="0" anchor="ctr"/>
          <a:lstStyle/>
          <a:p>
            <a:pPr algn="ctr" indent="0" marL="0">
              <a:buNone/>
            </a:pPr>
            <a:r>
              <a:rPr lang="en-US" sz="1100" b="1" dirty="0">
                <a:solidFill>
                  <a:srgbClr val="FFFFFF"/>
                </a:solidFill>
              </a:rPr>
              <a:t>20</a:t>
            </a:r>
            <a:endParaRPr lang="en-US" sz="1100" dirty="0"/>
          </a:p>
        </p:txBody>
      </p:sp>
      <p:sp>
        <p:nvSpPr>
          <p:cNvPr id="34" name="Text 31"/>
          <p:cNvSpPr/>
          <p:nvPr/>
        </p:nvSpPr>
        <p:spPr>
          <a:xfrm>
            <a:off x="4965192" y="3401568"/>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21</a:t>
            </a:r>
            <a:endParaRPr lang="en-US" sz="1100" dirty="0"/>
          </a:p>
        </p:txBody>
      </p:sp>
      <p:sp>
        <p:nvSpPr>
          <p:cNvPr id="35" name="Text 32"/>
          <p:cNvSpPr/>
          <p:nvPr/>
        </p:nvSpPr>
        <p:spPr>
          <a:xfrm>
            <a:off x="576072" y="3831336"/>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B4530F"/>
                </a:solidFill>
              </a:rPr>
              <a:t>22</a:t>
            </a:r>
            <a:endParaRPr lang="en-US" sz="1100" dirty="0"/>
          </a:p>
        </p:txBody>
      </p:sp>
      <p:sp>
        <p:nvSpPr>
          <p:cNvPr id="36" name="Text 33"/>
          <p:cNvSpPr/>
          <p:nvPr/>
        </p:nvSpPr>
        <p:spPr>
          <a:xfrm>
            <a:off x="1307592" y="3831336"/>
            <a:ext cx="676656" cy="374904"/>
          </a:xfrm>
          <a:prstGeom prst="rect">
            <a:avLst/>
          </a:prstGeom>
          <a:solidFill>
            <a:srgbClr val="14213D"/>
          </a:solidFill>
          <a:ln w="6350">
            <a:solidFill>
              <a:srgbClr val="D9DDD3"/>
            </a:solidFill>
          </a:ln>
        </p:spPr>
        <p:txBody>
          <a:bodyPr wrap="square" lIns="0" tIns="0" rIns="0" bIns="0" rtlCol="0" anchor="ctr"/>
          <a:lstStyle/>
          <a:p>
            <a:pPr algn="ctr" indent="0" marL="0">
              <a:buNone/>
            </a:pPr>
            <a:r>
              <a:rPr lang="en-US" sz="1100" b="1" dirty="0">
                <a:solidFill>
                  <a:srgbClr val="FFFFFF"/>
                </a:solidFill>
              </a:rPr>
              <a:t>23 祝</a:t>
            </a:r>
            <a:endParaRPr lang="en-US" sz="1100" dirty="0"/>
          </a:p>
        </p:txBody>
      </p:sp>
      <p:sp>
        <p:nvSpPr>
          <p:cNvPr id="37" name="Text 34"/>
          <p:cNvSpPr/>
          <p:nvPr/>
        </p:nvSpPr>
        <p:spPr>
          <a:xfrm>
            <a:off x="2039112" y="3831336"/>
            <a:ext cx="676656" cy="374904"/>
          </a:xfrm>
          <a:prstGeom prst="rect">
            <a:avLst/>
          </a:prstGeom>
          <a:solidFill>
            <a:srgbClr val="14213D"/>
          </a:solidFill>
          <a:ln w="6350">
            <a:solidFill>
              <a:srgbClr val="D9DDD3"/>
            </a:solidFill>
          </a:ln>
        </p:spPr>
        <p:txBody>
          <a:bodyPr wrap="square" lIns="0" tIns="0" rIns="0" bIns="0" rtlCol="0" anchor="ctr"/>
          <a:lstStyle/>
          <a:p>
            <a:pPr algn="ctr" indent="0" marL="0">
              <a:buNone/>
            </a:pPr>
            <a:r>
              <a:rPr lang="en-US" sz="1100" b="1" dirty="0">
                <a:solidFill>
                  <a:srgbClr val="FFFFFF"/>
                </a:solidFill>
              </a:rPr>
              <a:t>24</a:t>
            </a:r>
            <a:endParaRPr lang="en-US" sz="1100" dirty="0"/>
          </a:p>
        </p:txBody>
      </p:sp>
      <p:sp>
        <p:nvSpPr>
          <p:cNvPr id="38" name="Text 35"/>
          <p:cNvSpPr/>
          <p:nvPr/>
        </p:nvSpPr>
        <p:spPr>
          <a:xfrm>
            <a:off x="2770632" y="3831336"/>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25</a:t>
            </a:r>
            <a:endParaRPr lang="en-US" sz="1100" dirty="0"/>
          </a:p>
        </p:txBody>
      </p:sp>
      <p:sp>
        <p:nvSpPr>
          <p:cNvPr id="39" name="Text 36"/>
          <p:cNvSpPr/>
          <p:nvPr/>
        </p:nvSpPr>
        <p:spPr>
          <a:xfrm>
            <a:off x="3502152" y="3831336"/>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26</a:t>
            </a:r>
            <a:endParaRPr lang="en-US" sz="1100" dirty="0"/>
          </a:p>
        </p:txBody>
      </p:sp>
      <p:sp>
        <p:nvSpPr>
          <p:cNvPr id="40" name="Text 37"/>
          <p:cNvSpPr/>
          <p:nvPr/>
        </p:nvSpPr>
        <p:spPr>
          <a:xfrm>
            <a:off x="4233672" y="3831336"/>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27</a:t>
            </a:r>
            <a:endParaRPr lang="en-US" sz="1100" dirty="0"/>
          </a:p>
        </p:txBody>
      </p:sp>
      <p:sp>
        <p:nvSpPr>
          <p:cNvPr id="41" name="Text 38"/>
          <p:cNvSpPr/>
          <p:nvPr/>
        </p:nvSpPr>
        <p:spPr>
          <a:xfrm>
            <a:off x="4965192" y="3831336"/>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28</a:t>
            </a:r>
            <a:endParaRPr lang="en-US" sz="1100" dirty="0"/>
          </a:p>
        </p:txBody>
      </p:sp>
      <p:sp>
        <p:nvSpPr>
          <p:cNvPr id="42" name="Text 39"/>
          <p:cNvSpPr/>
          <p:nvPr/>
        </p:nvSpPr>
        <p:spPr>
          <a:xfrm>
            <a:off x="576072" y="4261104"/>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B4530F"/>
                </a:solidFill>
              </a:rPr>
              <a:t>29</a:t>
            </a:r>
            <a:endParaRPr lang="en-US" sz="1100" dirty="0"/>
          </a:p>
        </p:txBody>
      </p:sp>
      <p:sp>
        <p:nvSpPr>
          <p:cNvPr id="43" name="Text 40"/>
          <p:cNvSpPr/>
          <p:nvPr/>
        </p:nvSpPr>
        <p:spPr>
          <a:xfrm>
            <a:off x="1307592" y="4261104"/>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30</a:t>
            </a:r>
            <a:endParaRPr lang="en-US" sz="1100" dirty="0"/>
          </a:p>
        </p:txBody>
      </p:sp>
      <p:sp>
        <p:nvSpPr>
          <p:cNvPr id="44" name="Text 41"/>
          <p:cNvSpPr txBox="1"/>
          <p:nvPr/>
        </p:nvSpPr>
        <p:spPr>
          <a:xfrm>
            <a:off x="6492240" y="1554480"/>
            <a:ext cx="5120640" cy="365760"/>
          </a:xfrm>
          <a:prstGeom prst="rect">
            <a:avLst/>
          </a:prstGeom>
          <a:noFill/>
          <a:ln/>
        </p:spPr>
        <p:txBody>
          <a:bodyPr wrap="square" lIns="0" tIns="0" rIns="0" bIns="0" rtlCol="0" anchor="ctr"/>
          <a:lstStyle/>
          <a:p>
            <a:pPr indent="0" marL="0">
              <a:buNone/>
            </a:pPr>
            <a:r>
              <a:rPr lang="en-US" sz="1700" b="1" dirty="0">
                <a:solidFill>
                  <a:schemeClr val="accent1"/>
                </a:solidFill>
              </a:rPr>
              <a:t>案②</a:t>
            </a:r>
            <a:pPr indent="0" marL="0">
              <a:buNone/>
            </a:pPr>
            <a:r>
              <a:rPr lang="en-US" sz="1200" dirty="0">
                <a:solidFill>
                  <a:schemeClr val="accent6"/>
                </a:solidFill>
              </a:rPr>
              <a:t>　2チームに分けて受講</a:t>
            </a:r>
            <a:endParaRPr lang="en-US" sz="1400" dirty="0"/>
          </a:p>
        </p:txBody>
      </p:sp>
      <p:sp>
        <p:nvSpPr>
          <p:cNvPr id="45" name="Text 42"/>
          <p:cNvSpPr txBox="1"/>
          <p:nvPr/>
        </p:nvSpPr>
        <p:spPr>
          <a:xfrm>
            <a:off x="6492240" y="1938528"/>
            <a:ext cx="5120640" cy="256032"/>
          </a:xfrm>
          <a:prstGeom prst="rect">
            <a:avLst/>
          </a:prstGeom>
          <a:noFill/>
          <a:ln/>
        </p:spPr>
        <p:txBody>
          <a:bodyPr wrap="square" lIns="0" tIns="0" rIns="0" bIns="0" rtlCol="0" anchor="t"/>
          <a:lstStyle/>
          <a:p>
            <a:pPr indent="0" marL="0">
              <a:buNone/>
            </a:pPr>
            <a:r>
              <a:rPr lang="en-US" sz="1100" b="1" dirty="0">
                <a:solidFill>
                  <a:schemeClr val="accent2"/>
                </a:solidFill>
              </a:rPr>
              <a:t>2026年11月</a:t>
            </a:r>
            <a:endParaRPr lang="en-US" sz="1100" dirty="0"/>
          </a:p>
        </p:txBody>
      </p:sp>
      <p:sp>
        <p:nvSpPr>
          <p:cNvPr id="46" name="Text 43"/>
          <p:cNvSpPr txBox="1"/>
          <p:nvPr/>
        </p:nvSpPr>
        <p:spPr>
          <a:xfrm>
            <a:off x="6492240" y="2212848"/>
            <a:ext cx="731520" cy="274320"/>
          </a:xfrm>
          <a:prstGeom prst="rect">
            <a:avLst/>
          </a:prstGeom>
          <a:noFill/>
          <a:ln/>
        </p:spPr>
        <p:txBody>
          <a:bodyPr wrap="square" lIns="0" tIns="0" rIns="0" bIns="0" rtlCol="0" anchor="t"/>
          <a:lstStyle/>
          <a:p>
            <a:pPr algn="ctr" indent="0" marL="0">
              <a:buNone/>
            </a:pPr>
            <a:r>
              <a:rPr lang="en-US" sz="1100" b="1" dirty="0">
                <a:solidFill>
                  <a:schemeClr val="accent2"/>
                </a:solidFill>
              </a:rPr>
              <a:t>日</a:t>
            </a:r>
            <a:endParaRPr lang="en-US" sz="1100" dirty="0"/>
          </a:p>
        </p:txBody>
      </p:sp>
      <p:sp>
        <p:nvSpPr>
          <p:cNvPr id="47" name="Text 44"/>
          <p:cNvSpPr txBox="1"/>
          <p:nvPr/>
        </p:nvSpPr>
        <p:spPr>
          <a:xfrm>
            <a:off x="7223760" y="2212848"/>
            <a:ext cx="731520" cy="274320"/>
          </a:xfrm>
          <a:prstGeom prst="rect">
            <a:avLst/>
          </a:prstGeom>
          <a:noFill/>
          <a:ln/>
        </p:spPr>
        <p:txBody>
          <a:bodyPr wrap="square" lIns="0" tIns="0" rIns="0" bIns="0" rtlCol="0" anchor="t"/>
          <a:lstStyle/>
          <a:p>
            <a:pPr algn="ctr" indent="0" marL="0">
              <a:buNone/>
            </a:pPr>
            <a:r>
              <a:rPr lang="en-US" sz="1100" b="1" dirty="0">
                <a:solidFill>
                  <a:schemeClr val="accent6"/>
                </a:solidFill>
              </a:rPr>
              <a:t>月</a:t>
            </a:r>
            <a:endParaRPr lang="en-US" sz="1100" dirty="0"/>
          </a:p>
        </p:txBody>
      </p:sp>
      <p:sp>
        <p:nvSpPr>
          <p:cNvPr id="48" name="Text 45"/>
          <p:cNvSpPr txBox="1"/>
          <p:nvPr/>
        </p:nvSpPr>
        <p:spPr>
          <a:xfrm>
            <a:off x="7955280" y="2212848"/>
            <a:ext cx="731520" cy="274320"/>
          </a:xfrm>
          <a:prstGeom prst="rect">
            <a:avLst/>
          </a:prstGeom>
          <a:noFill/>
          <a:ln/>
        </p:spPr>
        <p:txBody>
          <a:bodyPr wrap="square" lIns="0" tIns="0" rIns="0" bIns="0" rtlCol="0" anchor="t"/>
          <a:lstStyle/>
          <a:p>
            <a:pPr algn="ctr" indent="0" marL="0">
              <a:buNone/>
            </a:pPr>
            <a:r>
              <a:rPr lang="en-US" sz="1100" b="1" dirty="0">
                <a:solidFill>
                  <a:schemeClr val="accent6"/>
                </a:solidFill>
              </a:rPr>
              <a:t>火</a:t>
            </a:r>
            <a:endParaRPr lang="en-US" sz="1100" dirty="0"/>
          </a:p>
        </p:txBody>
      </p:sp>
      <p:sp>
        <p:nvSpPr>
          <p:cNvPr id="49" name="Text 46"/>
          <p:cNvSpPr txBox="1"/>
          <p:nvPr/>
        </p:nvSpPr>
        <p:spPr>
          <a:xfrm>
            <a:off x="8686800" y="2212848"/>
            <a:ext cx="731520" cy="274320"/>
          </a:xfrm>
          <a:prstGeom prst="rect">
            <a:avLst/>
          </a:prstGeom>
          <a:noFill/>
          <a:ln/>
        </p:spPr>
        <p:txBody>
          <a:bodyPr wrap="square" lIns="0" tIns="0" rIns="0" bIns="0" rtlCol="0" anchor="t"/>
          <a:lstStyle/>
          <a:p>
            <a:pPr algn="ctr" indent="0" marL="0">
              <a:buNone/>
            </a:pPr>
            <a:r>
              <a:rPr lang="en-US" sz="1100" b="1" dirty="0">
                <a:solidFill>
                  <a:schemeClr val="accent6"/>
                </a:solidFill>
              </a:rPr>
              <a:t>水</a:t>
            </a:r>
            <a:endParaRPr lang="en-US" sz="1100" dirty="0"/>
          </a:p>
        </p:txBody>
      </p:sp>
      <p:sp>
        <p:nvSpPr>
          <p:cNvPr id="50" name="Text 47"/>
          <p:cNvSpPr txBox="1"/>
          <p:nvPr/>
        </p:nvSpPr>
        <p:spPr>
          <a:xfrm>
            <a:off x="9418320" y="2212848"/>
            <a:ext cx="731520" cy="274320"/>
          </a:xfrm>
          <a:prstGeom prst="rect">
            <a:avLst/>
          </a:prstGeom>
          <a:noFill/>
          <a:ln/>
        </p:spPr>
        <p:txBody>
          <a:bodyPr wrap="square" lIns="0" tIns="0" rIns="0" bIns="0" rtlCol="0" anchor="t"/>
          <a:lstStyle/>
          <a:p>
            <a:pPr algn="ctr" indent="0" marL="0">
              <a:buNone/>
            </a:pPr>
            <a:r>
              <a:rPr lang="en-US" sz="1100" b="1" dirty="0">
                <a:solidFill>
                  <a:schemeClr val="accent6"/>
                </a:solidFill>
              </a:rPr>
              <a:t>木</a:t>
            </a:r>
            <a:endParaRPr lang="en-US" sz="1100" dirty="0"/>
          </a:p>
        </p:txBody>
      </p:sp>
      <p:sp>
        <p:nvSpPr>
          <p:cNvPr id="51" name="Text 48"/>
          <p:cNvSpPr txBox="1"/>
          <p:nvPr/>
        </p:nvSpPr>
        <p:spPr>
          <a:xfrm>
            <a:off x="10149840" y="2212848"/>
            <a:ext cx="731520" cy="274320"/>
          </a:xfrm>
          <a:prstGeom prst="rect">
            <a:avLst/>
          </a:prstGeom>
          <a:noFill/>
          <a:ln/>
        </p:spPr>
        <p:txBody>
          <a:bodyPr wrap="square" lIns="0" tIns="0" rIns="0" bIns="0" rtlCol="0" anchor="t"/>
          <a:lstStyle/>
          <a:p>
            <a:pPr algn="ctr" indent="0" marL="0">
              <a:buNone/>
            </a:pPr>
            <a:r>
              <a:rPr lang="en-US" sz="1100" b="1" dirty="0">
                <a:solidFill>
                  <a:schemeClr val="accent6"/>
                </a:solidFill>
              </a:rPr>
              <a:t>金</a:t>
            </a:r>
            <a:endParaRPr lang="en-US" sz="1100" dirty="0"/>
          </a:p>
        </p:txBody>
      </p:sp>
      <p:sp>
        <p:nvSpPr>
          <p:cNvPr id="52" name="Text 49"/>
          <p:cNvSpPr txBox="1"/>
          <p:nvPr/>
        </p:nvSpPr>
        <p:spPr>
          <a:xfrm>
            <a:off x="10881360" y="2212848"/>
            <a:ext cx="731520" cy="274320"/>
          </a:xfrm>
          <a:prstGeom prst="rect">
            <a:avLst/>
          </a:prstGeom>
          <a:noFill/>
          <a:ln/>
        </p:spPr>
        <p:txBody>
          <a:bodyPr wrap="square" lIns="0" tIns="0" rIns="0" bIns="0" rtlCol="0" anchor="t"/>
          <a:lstStyle/>
          <a:p>
            <a:pPr algn="ctr" indent="0" marL="0">
              <a:buNone/>
            </a:pPr>
            <a:r>
              <a:rPr lang="en-US" sz="1100" b="1" dirty="0">
                <a:solidFill>
                  <a:schemeClr val="accent6"/>
                </a:solidFill>
              </a:rPr>
              <a:t>土</a:t>
            </a:r>
            <a:endParaRPr lang="en-US" sz="1100" dirty="0"/>
          </a:p>
        </p:txBody>
      </p:sp>
      <p:sp>
        <p:nvSpPr>
          <p:cNvPr id="53" name="Text 50"/>
          <p:cNvSpPr/>
          <p:nvPr/>
        </p:nvSpPr>
        <p:spPr>
          <a:xfrm>
            <a:off x="6519672" y="2542032"/>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B4530F"/>
                </a:solidFill>
              </a:rPr>
              <a:t>1</a:t>
            </a:r>
            <a:endParaRPr lang="en-US" sz="1100" dirty="0"/>
          </a:p>
        </p:txBody>
      </p:sp>
      <p:sp>
        <p:nvSpPr>
          <p:cNvPr id="54" name="Text 51"/>
          <p:cNvSpPr/>
          <p:nvPr/>
        </p:nvSpPr>
        <p:spPr>
          <a:xfrm>
            <a:off x="7251192" y="2542032"/>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2</a:t>
            </a:r>
            <a:endParaRPr lang="en-US" sz="1100" dirty="0"/>
          </a:p>
        </p:txBody>
      </p:sp>
      <p:sp>
        <p:nvSpPr>
          <p:cNvPr id="55" name="Text 52"/>
          <p:cNvSpPr/>
          <p:nvPr/>
        </p:nvSpPr>
        <p:spPr>
          <a:xfrm>
            <a:off x="7982712" y="2542032"/>
            <a:ext cx="676656" cy="374904"/>
          </a:xfrm>
          <a:prstGeom prst="rect">
            <a:avLst/>
          </a:prstGeom>
          <a:solidFill>
            <a:srgbClr val="B4530F"/>
          </a:solidFill>
          <a:ln w="6350">
            <a:solidFill>
              <a:srgbClr val="D9DDD3"/>
            </a:solidFill>
          </a:ln>
        </p:spPr>
        <p:txBody>
          <a:bodyPr wrap="square" lIns="0" tIns="0" rIns="0" bIns="0" rtlCol="0" anchor="ctr"/>
          <a:lstStyle/>
          <a:p>
            <a:pPr algn="ctr" indent="0" marL="0">
              <a:buNone/>
            </a:pPr>
            <a:r>
              <a:rPr lang="en-US" sz="1100" b="1" dirty="0">
                <a:solidFill>
                  <a:srgbClr val="FFFFFF"/>
                </a:solidFill>
              </a:rPr>
              <a:t>3 祝</a:t>
            </a:r>
            <a:endParaRPr lang="en-US" sz="1100" dirty="0"/>
          </a:p>
        </p:txBody>
      </p:sp>
      <p:sp>
        <p:nvSpPr>
          <p:cNvPr id="56" name="Text 53"/>
          <p:cNvSpPr/>
          <p:nvPr/>
        </p:nvSpPr>
        <p:spPr>
          <a:xfrm>
            <a:off x="8714232" y="2542032"/>
            <a:ext cx="676656" cy="374904"/>
          </a:xfrm>
          <a:prstGeom prst="rect">
            <a:avLst/>
          </a:prstGeom>
          <a:solidFill>
            <a:srgbClr val="B4530F"/>
          </a:solidFill>
          <a:ln w="6350">
            <a:solidFill>
              <a:srgbClr val="D9DDD3"/>
            </a:solid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57" name="Text 54"/>
          <p:cNvSpPr/>
          <p:nvPr/>
        </p:nvSpPr>
        <p:spPr>
          <a:xfrm>
            <a:off x="9445752" y="2542032"/>
            <a:ext cx="676656" cy="374904"/>
          </a:xfrm>
          <a:prstGeom prst="rect">
            <a:avLst/>
          </a:prstGeom>
          <a:solidFill>
            <a:srgbClr val="B4530F"/>
          </a:solidFill>
          <a:ln w="6350">
            <a:solidFill>
              <a:srgbClr val="D9DDD3"/>
            </a:solid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58" name="Text 55"/>
          <p:cNvSpPr/>
          <p:nvPr/>
        </p:nvSpPr>
        <p:spPr>
          <a:xfrm>
            <a:off x="10177272" y="2542032"/>
            <a:ext cx="676656" cy="374904"/>
          </a:xfrm>
          <a:prstGeom prst="rect">
            <a:avLst/>
          </a:prstGeom>
          <a:solidFill>
            <a:srgbClr val="B4530F"/>
          </a:solidFill>
          <a:ln w="6350">
            <a:solidFill>
              <a:srgbClr val="D9DDD3"/>
            </a:solid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59" name="Text 56"/>
          <p:cNvSpPr/>
          <p:nvPr/>
        </p:nvSpPr>
        <p:spPr>
          <a:xfrm>
            <a:off x="10908792" y="2542032"/>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7</a:t>
            </a:r>
            <a:endParaRPr lang="en-US" sz="1100" dirty="0"/>
          </a:p>
        </p:txBody>
      </p:sp>
      <p:sp>
        <p:nvSpPr>
          <p:cNvPr id="60" name="Text 57"/>
          <p:cNvSpPr/>
          <p:nvPr/>
        </p:nvSpPr>
        <p:spPr>
          <a:xfrm>
            <a:off x="6519672" y="2971800"/>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B4530F"/>
                </a:solidFill>
              </a:rPr>
              <a:t>8</a:t>
            </a:r>
            <a:endParaRPr lang="en-US" sz="1100" dirty="0"/>
          </a:p>
        </p:txBody>
      </p:sp>
      <p:sp>
        <p:nvSpPr>
          <p:cNvPr id="61" name="Text 58"/>
          <p:cNvSpPr/>
          <p:nvPr/>
        </p:nvSpPr>
        <p:spPr>
          <a:xfrm>
            <a:off x="7251192" y="2971800"/>
            <a:ext cx="676656" cy="374904"/>
          </a:xfrm>
          <a:prstGeom prst="rect">
            <a:avLst/>
          </a:prstGeom>
          <a:solidFill>
            <a:srgbClr val="B4530F"/>
          </a:solidFill>
          <a:ln w="6350">
            <a:solidFill>
              <a:srgbClr val="D9DDD3"/>
            </a:solidFill>
          </a:ln>
        </p:spPr>
        <p:txBody>
          <a:bodyPr wrap="square" lIns="0" tIns="0" rIns="0" bIns="0" rtlCol="0" anchor="ctr"/>
          <a:lstStyle/>
          <a:p>
            <a:pPr algn="ctr" indent="0" marL="0">
              <a:buNone/>
            </a:pPr>
            <a:r>
              <a:rPr lang="en-US" sz="1100" b="1" dirty="0">
                <a:solidFill>
                  <a:srgbClr val="FFFFFF"/>
                </a:solidFill>
              </a:rPr>
              <a:t>9</a:t>
            </a:r>
            <a:endParaRPr lang="en-US" sz="1100" dirty="0"/>
          </a:p>
        </p:txBody>
      </p:sp>
      <p:sp>
        <p:nvSpPr>
          <p:cNvPr id="62" name="Text 59"/>
          <p:cNvSpPr/>
          <p:nvPr/>
        </p:nvSpPr>
        <p:spPr>
          <a:xfrm>
            <a:off x="7982712" y="2971800"/>
            <a:ext cx="676656" cy="374904"/>
          </a:xfrm>
          <a:prstGeom prst="rect">
            <a:avLst/>
          </a:prstGeom>
          <a:solidFill>
            <a:srgbClr val="B4530F"/>
          </a:solidFill>
          <a:ln w="6350">
            <a:solidFill>
              <a:srgbClr val="D9DDD3"/>
            </a:solidFill>
          </a:ln>
        </p:spPr>
        <p:txBody>
          <a:bodyPr wrap="square" lIns="0" tIns="0" rIns="0" bIns="0" rtlCol="0" anchor="ctr"/>
          <a:lstStyle/>
          <a:p>
            <a:pPr algn="ctr" indent="0" marL="0">
              <a:buNone/>
            </a:pPr>
            <a:r>
              <a:rPr lang="en-US" sz="1100" b="1" dirty="0">
                <a:solidFill>
                  <a:srgbClr val="FFFFFF"/>
                </a:solidFill>
              </a:rPr>
              <a:t>10</a:t>
            </a:r>
            <a:endParaRPr lang="en-US" sz="1100" dirty="0"/>
          </a:p>
        </p:txBody>
      </p:sp>
      <p:sp>
        <p:nvSpPr>
          <p:cNvPr id="63" name="Text 60"/>
          <p:cNvSpPr/>
          <p:nvPr/>
        </p:nvSpPr>
        <p:spPr>
          <a:xfrm>
            <a:off x="8714232" y="2971800"/>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11</a:t>
            </a:r>
            <a:endParaRPr lang="en-US" sz="1100" dirty="0"/>
          </a:p>
        </p:txBody>
      </p:sp>
      <p:sp>
        <p:nvSpPr>
          <p:cNvPr id="64" name="Text 61"/>
          <p:cNvSpPr/>
          <p:nvPr/>
        </p:nvSpPr>
        <p:spPr>
          <a:xfrm>
            <a:off x="9445752" y="2971800"/>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12</a:t>
            </a:r>
            <a:endParaRPr lang="en-US" sz="1100" dirty="0"/>
          </a:p>
        </p:txBody>
      </p:sp>
      <p:sp>
        <p:nvSpPr>
          <p:cNvPr id="65" name="Text 62"/>
          <p:cNvSpPr/>
          <p:nvPr/>
        </p:nvSpPr>
        <p:spPr>
          <a:xfrm>
            <a:off x="10177272" y="2971800"/>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13</a:t>
            </a:r>
            <a:endParaRPr lang="en-US" sz="1100" dirty="0"/>
          </a:p>
        </p:txBody>
      </p:sp>
      <p:sp>
        <p:nvSpPr>
          <p:cNvPr id="66" name="Text 63"/>
          <p:cNvSpPr/>
          <p:nvPr/>
        </p:nvSpPr>
        <p:spPr>
          <a:xfrm>
            <a:off x="10908792" y="2971800"/>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14</a:t>
            </a:r>
            <a:endParaRPr lang="en-US" sz="1100" dirty="0"/>
          </a:p>
        </p:txBody>
      </p:sp>
      <p:sp>
        <p:nvSpPr>
          <p:cNvPr id="67" name="Text 64"/>
          <p:cNvSpPr/>
          <p:nvPr/>
        </p:nvSpPr>
        <p:spPr>
          <a:xfrm>
            <a:off x="6519672" y="3401568"/>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B4530F"/>
                </a:solidFill>
              </a:rPr>
              <a:t>15</a:t>
            </a:r>
            <a:endParaRPr lang="en-US" sz="1100" dirty="0"/>
          </a:p>
        </p:txBody>
      </p:sp>
      <p:sp>
        <p:nvSpPr>
          <p:cNvPr id="68" name="Text 65"/>
          <p:cNvSpPr/>
          <p:nvPr/>
        </p:nvSpPr>
        <p:spPr>
          <a:xfrm>
            <a:off x="7251192" y="3401568"/>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16</a:t>
            </a:r>
            <a:endParaRPr lang="en-US" sz="1100" dirty="0"/>
          </a:p>
        </p:txBody>
      </p:sp>
      <p:sp>
        <p:nvSpPr>
          <p:cNvPr id="69" name="Text 66"/>
          <p:cNvSpPr/>
          <p:nvPr/>
        </p:nvSpPr>
        <p:spPr>
          <a:xfrm>
            <a:off x="7982712" y="3401568"/>
            <a:ext cx="676656" cy="374904"/>
          </a:xfrm>
          <a:prstGeom prst="rect">
            <a:avLst/>
          </a:prstGeom>
          <a:solidFill>
            <a:srgbClr val="14213D"/>
          </a:solidFill>
          <a:ln w="6350">
            <a:solidFill>
              <a:srgbClr val="D9DDD3"/>
            </a:solidFill>
          </a:ln>
        </p:spPr>
        <p:txBody>
          <a:bodyPr wrap="square" lIns="0" tIns="0" rIns="0" bIns="0" rtlCol="0" anchor="ctr"/>
          <a:lstStyle/>
          <a:p>
            <a:pPr algn="ctr" indent="0" marL="0">
              <a:buNone/>
            </a:pPr>
            <a:r>
              <a:rPr lang="en-US" sz="1100" b="1" dirty="0">
                <a:solidFill>
                  <a:srgbClr val="FFFFFF"/>
                </a:solidFill>
              </a:rPr>
              <a:t>17</a:t>
            </a:r>
            <a:endParaRPr lang="en-US" sz="1100" dirty="0"/>
          </a:p>
        </p:txBody>
      </p:sp>
      <p:sp>
        <p:nvSpPr>
          <p:cNvPr id="70" name="Text 67"/>
          <p:cNvSpPr/>
          <p:nvPr/>
        </p:nvSpPr>
        <p:spPr>
          <a:xfrm>
            <a:off x="8714232" y="3401568"/>
            <a:ext cx="676656" cy="374904"/>
          </a:xfrm>
          <a:prstGeom prst="rect">
            <a:avLst/>
          </a:prstGeom>
          <a:solidFill>
            <a:srgbClr val="14213D"/>
          </a:solidFill>
          <a:ln w="6350">
            <a:solidFill>
              <a:srgbClr val="D9DDD3"/>
            </a:solidFill>
          </a:ln>
        </p:spPr>
        <p:txBody>
          <a:bodyPr wrap="square" lIns="0" tIns="0" rIns="0" bIns="0" rtlCol="0" anchor="ctr"/>
          <a:lstStyle/>
          <a:p>
            <a:pPr algn="ctr" indent="0" marL="0">
              <a:buNone/>
            </a:pPr>
            <a:r>
              <a:rPr lang="en-US" sz="1100" b="1" dirty="0">
                <a:solidFill>
                  <a:srgbClr val="FFFFFF"/>
                </a:solidFill>
              </a:rPr>
              <a:t>18</a:t>
            </a:r>
            <a:endParaRPr lang="en-US" sz="1100" dirty="0"/>
          </a:p>
        </p:txBody>
      </p:sp>
      <p:sp>
        <p:nvSpPr>
          <p:cNvPr id="71" name="Text 68"/>
          <p:cNvSpPr/>
          <p:nvPr/>
        </p:nvSpPr>
        <p:spPr>
          <a:xfrm>
            <a:off x="9445752" y="3401568"/>
            <a:ext cx="676656" cy="374904"/>
          </a:xfrm>
          <a:prstGeom prst="rect">
            <a:avLst/>
          </a:prstGeom>
          <a:solidFill>
            <a:srgbClr val="14213D"/>
          </a:solidFill>
          <a:ln w="6350">
            <a:solidFill>
              <a:srgbClr val="D9DDD3"/>
            </a:solidFill>
          </a:ln>
        </p:spPr>
        <p:txBody>
          <a:bodyPr wrap="square" lIns="0" tIns="0" rIns="0" bIns="0" rtlCol="0" anchor="ctr"/>
          <a:lstStyle/>
          <a:p>
            <a:pPr algn="ctr" indent="0" marL="0">
              <a:buNone/>
            </a:pPr>
            <a:r>
              <a:rPr lang="en-US" sz="1100" b="1" dirty="0">
                <a:solidFill>
                  <a:srgbClr val="FFFFFF"/>
                </a:solidFill>
              </a:rPr>
              <a:t>19</a:t>
            </a:r>
            <a:endParaRPr lang="en-US" sz="1100" dirty="0"/>
          </a:p>
        </p:txBody>
      </p:sp>
      <p:sp>
        <p:nvSpPr>
          <p:cNvPr id="72" name="Text 69"/>
          <p:cNvSpPr/>
          <p:nvPr/>
        </p:nvSpPr>
        <p:spPr>
          <a:xfrm>
            <a:off x="10177272" y="3401568"/>
            <a:ext cx="676656" cy="374904"/>
          </a:xfrm>
          <a:prstGeom prst="rect">
            <a:avLst/>
          </a:prstGeom>
          <a:solidFill>
            <a:srgbClr val="14213D"/>
          </a:solidFill>
          <a:ln w="6350">
            <a:solidFill>
              <a:srgbClr val="D9DDD3"/>
            </a:solidFill>
          </a:ln>
        </p:spPr>
        <p:txBody>
          <a:bodyPr wrap="square" lIns="0" tIns="0" rIns="0" bIns="0" rtlCol="0" anchor="ctr"/>
          <a:lstStyle/>
          <a:p>
            <a:pPr algn="ctr" indent="0" marL="0">
              <a:buNone/>
            </a:pPr>
            <a:r>
              <a:rPr lang="en-US" sz="1100" b="1" dirty="0">
                <a:solidFill>
                  <a:srgbClr val="FFFFFF"/>
                </a:solidFill>
              </a:rPr>
              <a:t>20</a:t>
            </a:r>
            <a:endParaRPr lang="en-US" sz="1100" dirty="0"/>
          </a:p>
        </p:txBody>
      </p:sp>
      <p:sp>
        <p:nvSpPr>
          <p:cNvPr id="73" name="Text 70"/>
          <p:cNvSpPr/>
          <p:nvPr/>
        </p:nvSpPr>
        <p:spPr>
          <a:xfrm>
            <a:off x="10908792" y="3401568"/>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21</a:t>
            </a:r>
            <a:endParaRPr lang="en-US" sz="1100" dirty="0"/>
          </a:p>
        </p:txBody>
      </p:sp>
      <p:sp>
        <p:nvSpPr>
          <p:cNvPr id="74" name="Text 71"/>
          <p:cNvSpPr/>
          <p:nvPr/>
        </p:nvSpPr>
        <p:spPr>
          <a:xfrm>
            <a:off x="6519672" y="3831336"/>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B4530F"/>
                </a:solidFill>
              </a:rPr>
              <a:t>22</a:t>
            </a:r>
            <a:endParaRPr lang="en-US" sz="1100" dirty="0"/>
          </a:p>
        </p:txBody>
      </p:sp>
      <p:sp>
        <p:nvSpPr>
          <p:cNvPr id="75" name="Text 72"/>
          <p:cNvSpPr/>
          <p:nvPr/>
        </p:nvSpPr>
        <p:spPr>
          <a:xfrm>
            <a:off x="7251192" y="3831336"/>
            <a:ext cx="676656" cy="374904"/>
          </a:xfrm>
          <a:prstGeom prst="rect">
            <a:avLst/>
          </a:prstGeom>
          <a:solidFill>
            <a:srgbClr val="14213D"/>
          </a:solidFill>
          <a:ln w="6350">
            <a:solidFill>
              <a:srgbClr val="D9DDD3"/>
            </a:solidFill>
          </a:ln>
        </p:spPr>
        <p:txBody>
          <a:bodyPr wrap="square" lIns="0" tIns="0" rIns="0" bIns="0" rtlCol="0" anchor="ctr"/>
          <a:lstStyle/>
          <a:p>
            <a:pPr algn="ctr" indent="0" marL="0">
              <a:buNone/>
            </a:pPr>
            <a:r>
              <a:rPr lang="en-US" sz="1100" b="1" dirty="0">
                <a:solidFill>
                  <a:srgbClr val="FFFFFF"/>
                </a:solidFill>
              </a:rPr>
              <a:t>23 祝</a:t>
            </a:r>
            <a:endParaRPr lang="en-US" sz="1100" dirty="0"/>
          </a:p>
        </p:txBody>
      </p:sp>
      <p:sp>
        <p:nvSpPr>
          <p:cNvPr id="76" name="Text 73"/>
          <p:cNvSpPr/>
          <p:nvPr/>
        </p:nvSpPr>
        <p:spPr>
          <a:xfrm>
            <a:off x="7982712" y="3831336"/>
            <a:ext cx="676656" cy="374904"/>
          </a:xfrm>
          <a:prstGeom prst="rect">
            <a:avLst/>
          </a:prstGeom>
          <a:solidFill>
            <a:srgbClr val="14213D"/>
          </a:solidFill>
          <a:ln w="6350">
            <a:solidFill>
              <a:srgbClr val="D9DDD3"/>
            </a:solidFill>
          </a:ln>
        </p:spPr>
        <p:txBody>
          <a:bodyPr wrap="square" lIns="0" tIns="0" rIns="0" bIns="0" rtlCol="0" anchor="ctr"/>
          <a:lstStyle/>
          <a:p>
            <a:pPr algn="ctr" indent="0" marL="0">
              <a:buNone/>
            </a:pPr>
            <a:r>
              <a:rPr lang="en-US" sz="1100" b="1" dirty="0">
                <a:solidFill>
                  <a:srgbClr val="FFFFFF"/>
                </a:solidFill>
              </a:rPr>
              <a:t>24</a:t>
            </a:r>
            <a:endParaRPr lang="en-US" sz="1100" dirty="0"/>
          </a:p>
        </p:txBody>
      </p:sp>
      <p:sp>
        <p:nvSpPr>
          <p:cNvPr id="77" name="Text 74"/>
          <p:cNvSpPr/>
          <p:nvPr/>
        </p:nvSpPr>
        <p:spPr>
          <a:xfrm>
            <a:off x="8714232" y="3831336"/>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25</a:t>
            </a:r>
            <a:endParaRPr lang="en-US" sz="1100" dirty="0"/>
          </a:p>
        </p:txBody>
      </p:sp>
      <p:sp>
        <p:nvSpPr>
          <p:cNvPr id="78" name="Text 75"/>
          <p:cNvSpPr/>
          <p:nvPr/>
        </p:nvSpPr>
        <p:spPr>
          <a:xfrm>
            <a:off x="9445752" y="3831336"/>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26</a:t>
            </a:r>
            <a:endParaRPr lang="en-US" sz="1100" dirty="0"/>
          </a:p>
        </p:txBody>
      </p:sp>
      <p:sp>
        <p:nvSpPr>
          <p:cNvPr id="79" name="Text 76"/>
          <p:cNvSpPr/>
          <p:nvPr/>
        </p:nvSpPr>
        <p:spPr>
          <a:xfrm>
            <a:off x="10177272" y="3831336"/>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27</a:t>
            </a:r>
            <a:endParaRPr lang="en-US" sz="1100" dirty="0"/>
          </a:p>
        </p:txBody>
      </p:sp>
      <p:sp>
        <p:nvSpPr>
          <p:cNvPr id="80" name="Text 77"/>
          <p:cNvSpPr/>
          <p:nvPr/>
        </p:nvSpPr>
        <p:spPr>
          <a:xfrm>
            <a:off x="10908792" y="3831336"/>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28</a:t>
            </a:r>
            <a:endParaRPr lang="en-US" sz="1100" dirty="0"/>
          </a:p>
        </p:txBody>
      </p:sp>
      <p:sp>
        <p:nvSpPr>
          <p:cNvPr id="81" name="Text 78"/>
          <p:cNvSpPr/>
          <p:nvPr/>
        </p:nvSpPr>
        <p:spPr>
          <a:xfrm>
            <a:off x="6519672" y="4261104"/>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B4530F"/>
                </a:solidFill>
              </a:rPr>
              <a:t>29</a:t>
            </a:r>
            <a:endParaRPr lang="en-US" sz="1100" dirty="0"/>
          </a:p>
        </p:txBody>
      </p:sp>
      <p:sp>
        <p:nvSpPr>
          <p:cNvPr id="82" name="Text 79"/>
          <p:cNvSpPr/>
          <p:nvPr/>
        </p:nvSpPr>
        <p:spPr>
          <a:xfrm>
            <a:off x="7251192" y="4261104"/>
            <a:ext cx="676656" cy="374904"/>
          </a:xfrm>
          <a:prstGeom prst="rect">
            <a:avLst/>
          </a:prstGeom>
          <a:solidFill>
            <a:srgbClr val="FFFFFF"/>
          </a:solidFill>
          <a:ln w="6350">
            <a:solidFill>
              <a:srgbClr val="D9DDD3"/>
            </a:solidFill>
          </a:ln>
        </p:spPr>
        <p:txBody>
          <a:bodyPr wrap="square" lIns="0" tIns="0" rIns="0" bIns="0" rtlCol="0" anchor="ctr"/>
          <a:lstStyle/>
          <a:p>
            <a:pPr algn="ctr" indent="0" marL="0">
              <a:buNone/>
            </a:pPr>
            <a:r>
              <a:rPr lang="en-US" sz="1100" dirty="0">
                <a:solidFill>
                  <a:srgbClr val="4A5568"/>
                </a:solidFill>
              </a:rPr>
              <a:t>30</a:t>
            </a:r>
            <a:endParaRPr lang="en-US" sz="1100" dirty="0"/>
          </a:p>
        </p:txBody>
      </p:sp>
      <p:sp>
        <p:nvSpPr>
          <p:cNvPr id="83" name="Shape 80"/>
          <p:cNvSpPr/>
          <p:nvPr/>
        </p:nvSpPr>
        <p:spPr>
          <a:xfrm>
            <a:off x="548640" y="4754880"/>
            <a:ext cx="228600" cy="228600"/>
          </a:xfrm>
          <a:prstGeom prst="rect">
            <a:avLst/>
          </a:prstGeom>
          <a:solidFill>
            <a:srgbClr val="14213D"/>
          </a:solidFill>
          <a:ln/>
        </p:spPr>
      </p:sp>
      <p:sp>
        <p:nvSpPr>
          <p:cNvPr id="84" name="Text 81"/>
          <p:cNvSpPr txBox="1"/>
          <p:nvPr/>
        </p:nvSpPr>
        <p:spPr>
          <a:xfrm>
            <a:off x="868680" y="4709160"/>
            <a:ext cx="5394960" cy="320040"/>
          </a:xfrm>
          <a:prstGeom prst="rect">
            <a:avLst/>
          </a:prstGeom>
          <a:noFill/>
          <a:ln/>
        </p:spPr>
        <p:txBody>
          <a:bodyPr wrap="square" lIns="0" tIns="0" rIns="0" bIns="0" rtlCol="0" anchor="ctr"/>
          <a:lstStyle/>
          <a:p>
            <a:pPr indent="0" marL="0">
              <a:buNone/>
            </a:pPr>
            <a:r>
              <a:rPr lang="en-US" sz="1200" b="1" dirty="0">
                <a:solidFill>
                  <a:schemeClr val="accent1"/>
                </a:solidFill>
              </a:rPr>
              <a:t>案①（10名）／案② 第2陣：11/17～20、23～24</a:t>
            </a:r>
            <a:endParaRPr lang="en-US" sz="1200" dirty="0"/>
          </a:p>
        </p:txBody>
      </p:sp>
      <p:sp>
        <p:nvSpPr>
          <p:cNvPr id="85" name="Shape 82"/>
          <p:cNvSpPr/>
          <p:nvPr/>
        </p:nvSpPr>
        <p:spPr>
          <a:xfrm>
            <a:off x="6492240" y="4754880"/>
            <a:ext cx="228600" cy="228600"/>
          </a:xfrm>
          <a:prstGeom prst="rect">
            <a:avLst/>
          </a:prstGeom>
          <a:solidFill>
            <a:srgbClr val="B4530F"/>
          </a:solidFill>
          <a:ln/>
        </p:spPr>
      </p:sp>
      <p:sp>
        <p:nvSpPr>
          <p:cNvPr id="86" name="Text 83"/>
          <p:cNvSpPr txBox="1"/>
          <p:nvPr/>
        </p:nvSpPr>
        <p:spPr>
          <a:xfrm>
            <a:off x="6812280" y="4709160"/>
            <a:ext cx="5394960" cy="320040"/>
          </a:xfrm>
          <a:prstGeom prst="rect">
            <a:avLst/>
          </a:prstGeom>
          <a:noFill/>
          <a:ln/>
        </p:spPr>
        <p:txBody>
          <a:bodyPr wrap="square" lIns="0" tIns="0" rIns="0" bIns="0" rtlCol="0" anchor="ctr"/>
          <a:lstStyle/>
          <a:p>
            <a:pPr indent="0" marL="0">
              <a:buNone/>
            </a:pPr>
            <a:r>
              <a:rPr lang="en-US" sz="1200" b="1" dirty="0">
                <a:solidFill>
                  <a:schemeClr val="accent1"/>
                </a:solidFill>
              </a:rPr>
              <a:t>案② 第1陣：11/3～6、9～10</a:t>
            </a:r>
            <a:endParaRPr lang="en-US" sz="1200" dirty="0"/>
          </a:p>
        </p:txBody>
      </p:sp>
      <p:sp>
        <p:nvSpPr>
          <p:cNvPr id="87" name="Training notes"/>
          <p:cNvSpPr/>
          <p:nvPr/>
        </p:nvSpPr>
        <p:spPr>
          <a:xfrm>
            <a:off x="548640" y="5212080"/>
            <a:ext cx="11064240" cy="960120"/>
          </a:xfrm>
          <a:prstGeom prst="roundRect">
            <a:avLst>
              <a:gd name="adj" fmla="val 7619"/>
            </a:avLst>
          </a:prstGeom>
          <a:solidFill>
            <a:schemeClr val="accent4"/>
          </a:solidFill>
          <a:ln/>
        </p:spPr>
      </p:sp>
      <p:sp>
        <p:nvSpPr>
          <p:cNvPr id="88" name="Text 85"/>
          <p:cNvSpPr txBox="1"/>
          <p:nvPr/>
        </p:nvSpPr>
        <p:spPr>
          <a:xfrm>
            <a:off x="777240" y="5285232"/>
            <a:ext cx="10607040" cy="822960"/>
          </a:xfrm>
          <a:prstGeom prst="rect">
            <a:avLst/>
          </a:prstGeom>
          <a:noFill/>
          <a:ln/>
        </p:spPr>
        <p:txBody>
          <a:bodyPr wrap="square" lIns="0" tIns="0" rIns="0" bIns="0" rtlCol="0" anchor="ctr"/>
          <a:lstStyle/>
          <a:p>
            <a:pPr marL="342900" indent="-342900">
              <a:spcAft>
                <a:spcPts val="200"/>
              </a:spcAft>
              <a:buSzPct val="100000"/>
              <a:buChar char="•"/>
            </a:pPr>
            <a:r>
              <a:rPr lang="en-US" sz="1250" dirty="0">
                <a:solidFill>
                  <a:schemeClr val="accent1"/>
                </a:solidFill>
              </a:rPr>
              <a:t>研修時間はいずれも15:00～19:00。各案とも1名あたり計24時間（4時間×6日）です。</a:t>
            </a:r>
            <a:endParaRPr lang="en-US" sz="1250" dirty="0"/>
          </a:p>
          <a:p>
            <a:pPr marL="342900" indent="-342900">
              <a:spcAft>
                <a:spcPts val="200"/>
              </a:spcAft>
              <a:buSzPct val="100000"/>
              <a:buChar char="•"/>
            </a:pPr>
            <a:r>
              <a:rPr lang="en-US" sz="1250" dirty="0">
                <a:solidFill>
                  <a:schemeClr val="accent1"/>
                </a:solidFill>
              </a:rPr>
              <a:t>研修の性質上、各日程は同じメンバーに継続して受講いただく必要がございます。</a:t>
            </a:r>
            <a:endParaRPr lang="en-US" sz="1250" dirty="0"/>
          </a:p>
          <a:p>
            <a:pPr marL="342900" indent="-342900">
              <a:spcAft>
                <a:spcPts val="200"/>
              </a:spcAft>
              <a:buSzPct val="100000"/>
              <a:buChar char="•"/>
            </a:pPr>
            <a:r>
              <a:rPr lang="en-US" sz="1250" dirty="0">
                <a:solidFill>
                  <a:schemeClr val="accent1"/>
                </a:solidFill>
              </a:rPr>
              <a:t>11月3日・23日は祝日のため、受講可否も含めご相談させてください。</a:t>
            </a:r>
            <a:endParaRPr lang="en-US" sz="1250" dirty="0"/>
          </a:p>
        </p:txBody>
      </p:sp>
      <p:sp>
        <p:nvSpPr>
          <p:cNvPr id="25" name="Slide Number Placeholder 0"/>
          <p:cNvSpPr>
            <a:spLocks noGrp="1"/>
          </p:cNvSpPr>
          <p:nvPr>
            <p:ph type="sldNum" sz="quarter" idx="4294967295"/>
          </p:nvPr>
        </p:nvSpPr>
        <p:spPr>
          <a:xfrm>
            <a:off x="11183112" y="64008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algn="l" indent="0" marL="0">
              <a:buNone/>
            </a:pPr>
            <a:r>
              <a:rPr lang="en-US" sz="1200" b="1" dirty="0">
                <a:solidFill>
                  <a:schemeClr val="accent2"/>
                </a:solidFill>
              </a:rPr>
              <a:t>05　ご相談・確認させていただきたい事項</a:t>
            </a:r>
            <a:endParaRPr lang="en-US" sz="1200" dirty="0"/>
          </a:p>
        </p:txBody>
      </p:sp>
      <p:sp>
        <p:nvSpPr>
          <p:cNvPr id="3" name="Text 0"/>
          <p:cNvSpPr/>
          <p:nvPr>
            <p:ph idx="101" type="title" hasCustomPrompt="1"/>
          </p:nvPr>
        </p:nvSpPr>
        <p:spPr>
          <a:xfrm>
            <a:off x="548640" y="685800"/>
            <a:ext cx="11064240" cy="640080"/>
          </a:xfrm>
          <a:prstGeom prst="rect">
            <a:avLst/>
          </a:prstGeom>
          <a:noFill/>
          <a:ln/>
        </p:spPr>
        <p:txBody>
          <a:bodyPr wrap="square" lIns="0" tIns="0" rIns="0" bIns="0" rtlCol="0" anchor="t"/>
          <a:lstStyle/>
          <a:p>
            <a:pPr algn="l" indent="0" marL="0">
              <a:buNone/>
            </a:pPr>
            <a:r>
              <a:rPr lang="en-US" sz="2800" b="1" dirty="0">
                <a:solidFill>
                  <a:schemeClr val="accent1"/>
                </a:solidFill>
              </a:rPr>
              <a:t>本日、以下6点についてご回答・ご意見をいただけますと幸いです</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731520"/>
                <a:gridCol w="6035040"/>
                <a:gridCol w="914400"/>
                <a:gridCol w="3383280"/>
              </a:tblGrid>
              <a:tr h="411480">
                <a:tc>
                  <a:txBody>
                    <a:bodyPr/>
                    <a:lstStyle/>
                    <a:p>
                      <a:pPr algn="ctr" indent="0" marL="0">
                        <a:buNone/>
                      </a:pPr>
                      <a:r>
                        <a:rPr lang="en-US" sz="1400" b="1" dirty="0">
                          <a:solidFill>
                            <a:schemeClr val="bg1"/>
                          </a:solidFill>
                          <a:latin typeface="Meiryo" pitchFamily="34" charset="0"/>
                          <a:ea typeface="Meiryo" pitchFamily="34" charset="-122"/>
                          <a:cs typeface="Meiryo" pitchFamily="34" charset="-120"/>
                        </a:rPr>
                        <a:t>No.</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Meiryo" pitchFamily="34" charset="0"/>
                          <a:ea typeface="Meiryo" pitchFamily="34" charset="-122"/>
                          <a:cs typeface="Meiryo" pitchFamily="34" charset="-120"/>
                        </a:rPr>
                        <a:t>確認事項</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Meiryo" pitchFamily="34" charset="0"/>
                          <a:ea typeface="Meiryo" pitchFamily="34" charset="-122"/>
                          <a:cs typeface="Meiryo" pitchFamily="34" charset="-120"/>
                        </a:rPr>
                        <a:t>関連</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Meiryo" pitchFamily="34" charset="0"/>
                          <a:ea typeface="Meiryo" pitchFamily="34" charset="-122"/>
                          <a:cs typeface="Meiryo" pitchFamily="34" charset="-120"/>
                        </a:rPr>
                        <a:t>ご回答</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accent1"/>
                    </a:solidFill>
                  </a:tcPr>
                </a:tc>
              </a:tr>
              <a:tr h="603504">
                <a:tc>
                  <a:txBody>
                    <a:bodyPr/>
                    <a:lstStyle/>
                    <a:p>
                      <a:pPr algn="ctr" indent="0" marL="0">
                        <a:buNone/>
                      </a:pPr>
                      <a:r>
                        <a:rPr lang="en-US" sz="1400" b="1" dirty="0">
                          <a:solidFill>
                            <a:schemeClr val="accent2"/>
                          </a:solidFill>
                          <a:latin typeface="Meiryo" pitchFamily="34" charset="0"/>
                          <a:ea typeface="Meiryo" pitchFamily="34" charset="-122"/>
                          <a:cs typeface="Meiryo" pitchFamily="34" charset="-120"/>
                        </a:rPr>
                        <a:t>1</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latin typeface="Meiryo" pitchFamily="34" charset="0"/>
                          <a:ea typeface="Meiryo" pitchFamily="34" charset="-122"/>
                          <a:cs typeface="Meiryo" pitchFamily="34" charset="-120"/>
                        </a:rPr>
                        <a:t>1日あたりの支援可能人数</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accent6"/>
                          </a:solidFill>
                          <a:latin typeface="Meiryo" pitchFamily="34" charset="0"/>
                          <a:ea typeface="Meiryo" pitchFamily="34" charset="-122"/>
                          <a:cs typeface="Meiryo" pitchFamily="34" charset="-120"/>
                        </a:rPr>
                        <a:t>02</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indent="0" marL="0">
                        <a:buNone/>
                      </a:pP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r>
              <a:tr h="603504">
                <a:tc>
                  <a:txBody>
                    <a:bodyPr/>
                    <a:lstStyle/>
                    <a:p>
                      <a:pPr algn="ctr" indent="0" marL="0">
                        <a:buNone/>
                      </a:pPr>
                      <a:r>
                        <a:rPr lang="en-US" sz="1400" b="1" dirty="0">
                          <a:solidFill>
                            <a:schemeClr val="accent2"/>
                          </a:solidFill>
                          <a:latin typeface="Meiryo" pitchFamily="34" charset="0"/>
                          <a:ea typeface="Meiryo" pitchFamily="34" charset="-122"/>
                          <a:cs typeface="Meiryo" pitchFamily="34" charset="-120"/>
                        </a:rPr>
                        <a:t>2</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latin typeface="Meiryo" pitchFamily="34" charset="0"/>
                          <a:ea typeface="Meiryo" pitchFamily="34" charset="-122"/>
                          <a:cs typeface="Meiryo" pitchFamily="34" charset="-120"/>
                        </a:rPr>
                        <a:t>DC・GC資格保有者の派遣可否</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accent6"/>
                          </a:solidFill>
                          <a:latin typeface="Meiryo" pitchFamily="34" charset="0"/>
                          <a:ea typeface="Meiryo" pitchFamily="34" charset="-122"/>
                          <a:cs typeface="Meiryo" pitchFamily="34" charset="-120"/>
                        </a:rPr>
                        <a:t>02</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indent="0" marL="0">
                        <a:buNone/>
                      </a:pP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r>
              <a:tr h="603504">
                <a:tc>
                  <a:txBody>
                    <a:bodyPr/>
                    <a:lstStyle/>
                    <a:p>
                      <a:pPr algn="ctr" indent="0" marL="0">
                        <a:buNone/>
                      </a:pPr>
                      <a:r>
                        <a:rPr lang="en-US" sz="1400" b="1" dirty="0">
                          <a:solidFill>
                            <a:schemeClr val="accent2"/>
                          </a:solidFill>
                          <a:latin typeface="Meiryo" pitchFamily="34" charset="0"/>
                          <a:ea typeface="Meiryo" pitchFamily="34" charset="-122"/>
                          <a:cs typeface="Meiryo" pitchFamily="34" charset="-120"/>
                        </a:rPr>
                        <a:t>3</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latin typeface="Meiryo" pitchFamily="34" charset="0"/>
                          <a:ea typeface="Meiryo" pitchFamily="34" charset="-122"/>
                          <a:cs typeface="Meiryo" pitchFamily="34" charset="-120"/>
                        </a:rPr>
                        <a:t>14:50からの業務開始の可否</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accent6"/>
                          </a:solidFill>
                          <a:latin typeface="Meiryo" pitchFamily="34" charset="0"/>
                          <a:ea typeface="Meiryo" pitchFamily="34" charset="-122"/>
                          <a:cs typeface="Meiryo" pitchFamily="34" charset="-120"/>
                        </a:rPr>
                        <a:t>03</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indent="0" marL="0">
                        <a:buNone/>
                      </a:pP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r>
              <a:tr h="603504">
                <a:tc>
                  <a:txBody>
                    <a:bodyPr/>
                    <a:lstStyle/>
                    <a:p>
                      <a:pPr algn="ctr" indent="0" marL="0">
                        <a:buNone/>
                      </a:pPr>
                      <a:r>
                        <a:rPr lang="en-US" sz="1400" b="1" dirty="0">
                          <a:solidFill>
                            <a:schemeClr val="accent2"/>
                          </a:solidFill>
                          <a:latin typeface="Meiryo" pitchFamily="34" charset="0"/>
                          <a:ea typeface="Meiryo" pitchFamily="34" charset="-122"/>
                          <a:cs typeface="Meiryo" pitchFamily="34" charset="-120"/>
                        </a:rPr>
                        <a:t>4</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latin typeface="Meiryo" pitchFamily="34" charset="0"/>
                          <a:ea typeface="Meiryo" pitchFamily="34" charset="-122"/>
                          <a:cs typeface="Meiryo" pitchFamily="34" charset="-120"/>
                        </a:rPr>
                        <a:t>1分単位での派遣料金精算の可否</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accent6"/>
                          </a:solidFill>
                          <a:latin typeface="Meiryo" pitchFamily="34" charset="0"/>
                          <a:ea typeface="Meiryo" pitchFamily="34" charset="-122"/>
                          <a:cs typeface="Meiryo" pitchFamily="34" charset="-120"/>
                        </a:rPr>
                        <a:t>03</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indent="0" marL="0">
                        <a:buNone/>
                      </a:pP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r>
              <a:tr h="603504">
                <a:tc>
                  <a:txBody>
                    <a:bodyPr/>
                    <a:lstStyle/>
                    <a:p>
                      <a:pPr algn="ctr" indent="0" marL="0">
                        <a:buNone/>
                      </a:pPr>
                      <a:r>
                        <a:rPr lang="en-US" sz="1400" b="1" dirty="0">
                          <a:solidFill>
                            <a:schemeClr val="accent2"/>
                          </a:solidFill>
                          <a:latin typeface="Meiryo" pitchFamily="34" charset="0"/>
                          <a:ea typeface="Meiryo" pitchFamily="34" charset="-122"/>
                          <a:cs typeface="Meiryo" pitchFamily="34" charset="-120"/>
                        </a:rPr>
                        <a:t>5</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latin typeface="Meiryo" pitchFamily="34" charset="0"/>
                          <a:ea typeface="Meiryo" pitchFamily="34" charset="-122"/>
                          <a:cs typeface="Meiryo" pitchFamily="34" charset="-120"/>
                        </a:rPr>
                        <a:t>研修対象者10名程度の確保および研修日程（案①／案②）の可否</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accent6"/>
                          </a:solidFill>
                          <a:latin typeface="Meiryo" pitchFamily="34" charset="0"/>
                          <a:ea typeface="Meiryo" pitchFamily="34" charset="-122"/>
                          <a:cs typeface="Meiryo" pitchFamily="34" charset="-120"/>
                        </a:rPr>
                        <a:t>02・04</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indent="0" marL="0">
                        <a:buNone/>
                      </a:pP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r>
              <a:tr h="603504">
                <a:tc>
                  <a:txBody>
                    <a:bodyPr/>
                    <a:lstStyle/>
                    <a:p>
                      <a:pPr algn="ctr" indent="0" marL="0">
                        <a:buNone/>
                      </a:pPr>
                      <a:r>
                        <a:rPr lang="en-US" sz="1400" b="1" dirty="0">
                          <a:solidFill>
                            <a:schemeClr val="accent2"/>
                          </a:solidFill>
                          <a:latin typeface="Meiryo" pitchFamily="34" charset="0"/>
                          <a:ea typeface="Meiryo" pitchFamily="34" charset="-122"/>
                          <a:cs typeface="Meiryo" pitchFamily="34" charset="-120"/>
                        </a:rPr>
                        <a:t>6</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latin typeface="Meiryo" pitchFamily="34" charset="0"/>
                          <a:ea typeface="Meiryo" pitchFamily="34" charset="-122"/>
                          <a:cs typeface="Meiryo" pitchFamily="34" charset="-120"/>
                        </a:rPr>
                        <a:t>支援開始可能時期</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accent6"/>
                          </a:solidFill>
                          <a:latin typeface="Meiryo" pitchFamily="34" charset="0"/>
                          <a:ea typeface="Meiryo" pitchFamily="34" charset="-122"/>
                          <a:cs typeface="Meiryo" pitchFamily="34" charset="-120"/>
                        </a:rPr>
                        <a:t>01</a:t>
                      </a: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c>
                  <a:txBody>
                    <a:bodyPr/>
                    <a:lstStyle/>
                    <a:p>
                      <a:pPr indent="0" marL="0">
                        <a:buNone/>
                      </a:pPr>
                      <a:endParaRPr lang="en-US" sz="1400" dirty="0">
                        <a:latin typeface="Meiryo" charset="0"/>
                        <a:ea typeface="Meiryo" charset="0"/>
                        <a:cs typeface="Meiryo" charset="0"/>
                      </a:endParaRPr>
                    </a:p>
                  </a:txBody>
                  <a:tcPr marL="91440" marR="91440" marT="45720" marB="45720" anchor="ctr">
                    <a:lnL w="9525" cap="flat" cmpd="sng" algn="ctr">
                      <a:solidFill>
                        <a:srgbClr val="D9DDD3"/>
                      </a:solidFill>
                      <a:prstDash val="solid"/>
                      <a:round/>
                      <a:headEnd type="none" w="med" len="med"/>
                      <a:tailEnd type="none" w="med" len="med"/>
                    </a:lnL>
                    <a:lnR w="9525" cap="flat" cmpd="sng" algn="ctr">
                      <a:solidFill>
                        <a:srgbClr val="D9DDD3"/>
                      </a:solidFill>
                      <a:prstDash val="solid"/>
                      <a:round/>
                      <a:headEnd type="none" w="med" len="med"/>
                      <a:tailEnd type="none" w="med" len="med"/>
                    </a:lnR>
                    <a:lnT w="9525" cap="flat" cmpd="sng" algn="ctr">
                      <a:solidFill>
                        <a:srgbClr val="D9DDD3"/>
                      </a:solidFill>
                      <a:prstDash val="solid"/>
                      <a:round/>
                      <a:headEnd type="none" w="med" len="med"/>
                      <a:tailEnd type="none" w="med" len="med"/>
                    </a:lnT>
                    <a:lnB w="9525" cap="flat" cmpd="sng" algn="ctr">
                      <a:solidFill>
                        <a:srgbClr val="D9DDD3"/>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5943600"/>
            <a:ext cx="11064240" cy="320040"/>
          </a:xfrm>
          <a:prstGeom prst="rect">
            <a:avLst/>
          </a:prstGeom>
          <a:noFill/>
          <a:ln/>
        </p:spPr>
        <p:txBody>
          <a:bodyPr wrap="square" lIns="0" tIns="0" rIns="0" bIns="0" rtlCol="0" anchor="t"/>
          <a:lstStyle/>
          <a:p>
            <a:pPr algn="r" indent="0" marL="0">
              <a:buNone/>
            </a:pPr>
            <a:r>
              <a:rPr lang="en-US" sz="1400" b="1" dirty="0">
                <a:solidFill>
                  <a:schemeClr val="accent1"/>
                </a:solidFill>
              </a:rPr>
              <a:t>何卒よろしくお願い申し上げます。</a:t>
            </a:r>
            <a:endParaRPr lang="en-US" sz="1400" dirty="0"/>
          </a:p>
        </p:txBody>
      </p:sp>
      <p:sp>
        <p:nvSpPr>
          <p:cNvPr id="25" name="Slide Number Placeholder 0"/>
          <p:cNvSpPr>
            <a:spLocks noGrp="1"/>
          </p:cNvSpPr>
          <p:nvPr>
            <p:ph type="sldNum" sz="quarter" idx="4294967295"/>
          </p:nvPr>
        </p:nvSpPr>
        <p:spPr>
          <a:xfrm>
            <a:off x="11183112" y="64008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FMG NAOS">
  <a:themeElements>
    <a:clrScheme name="FMG NAOS">
      <a:dk1>
        <a:srgbClr val="1F2937"/>
      </a:dk1>
      <a:lt1>
        <a:srgbClr val="FFFFFF"/>
      </a:lt1>
      <a:dk2>
        <a:srgbClr val="14213D"/>
      </a:dk2>
      <a:lt2>
        <a:srgbClr val="F4F5F2"/>
      </a:lt2>
      <a:accent1>
        <a:srgbClr val="14213D"/>
      </a:accent1>
      <a:accent2>
        <a:srgbClr val="B4530F"/>
      </a:accent2>
      <a:accent3>
        <a:srgbClr val="F2A65A"/>
      </a:accent3>
      <a:accent4>
        <a:srgbClr val="FBE9D8"/>
      </a:accent4>
      <a:accent5>
        <a:srgbClr val="D9DDD3"/>
      </a:accent5>
      <a:accent6>
        <a:srgbClr val="4A5568"/>
      </a:accent6>
      <a:hlink>
        <a:srgbClr val="B4530F"/>
      </a:hlink>
      <a:folHlink>
        <a:srgbClr val="4A5568"/>
      </a:folHlink>
    </a:clrScheme>
    <a:fontScheme name="FMG NAOS">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CTS冬季支援に関するご相談・確認事項</dc:title>
  <dc:subject>PptxGenJS Presentation</dc:subject>
  <dc:creator>株式会社FMG</dc:creator>
  <cp:lastModifiedBy>株式会社FMG</cp:lastModifiedBy>
  <cp:revision>1</cp:revision>
  <dcterms:created xsi:type="dcterms:W3CDTF">2026-10-16T05:38:09Z</dcterms:created>
  <dcterms:modified xsi:type="dcterms:W3CDTF">2026-10-16T05:38:09Z</dcterms:modified>
</cp:coreProperties>
</file>