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76" r:id="rId27"/>
    <p:sldId id="277" r:id="rId28"/>
    <p:sldId id="278" r:id="rId29"/>
    <p:sldId id="279" r:id="rId30"/>
    <p:sldId id="280" r:id="rId31"/>
    <p:sldId id="281" r:id="rId32"/>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5.xml"/><Relationship Id="rId11" Type="http://schemas.openxmlformats.org/officeDocument/2006/relationships/slide" Target="slides/slide16.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slide" Target="slides/slide2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30" Type="http://schemas.openxmlformats.org/officeDocument/2006/relationships/slide" Target="slides/slide12.xml"/><Relationship Id="rId31" Type="http://schemas.openxmlformats.org/officeDocument/2006/relationships/slide" Target="slides/slide13.xml"/><Relationship Id="rId32"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直接人件費［原価］</c:v>
                </c:pt>
              </c:strCache>
            </c:strRef>
          </c:tx>
          <c:spPr>
            <a:solidFill>
              <a:srgbClr val="1B2A4A"/>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Sheet1!$B$2:$B$2</c:f>
              <c:numCache>
                <c:formatCode>General</c:formatCode>
                <c:ptCount val="1"/>
                <c:pt idx="0">
                  <c:v>60.3</c:v>
                </c:pt>
              </c:numCache>
            </c:numRef>
          </c:val>
        </c:ser>
        <c:ser>
          <c:idx val="1"/>
          <c:order val="1"/>
          <c:tx>
            <c:strRef>
              <c:f>Sheet1!$C$1</c:f>
              <c:strCache>
                <c:ptCount val="1"/>
                <c:pt idx="0">
                  <c:v>派遣・業務委託費</c:v>
                </c:pt>
              </c:strCache>
            </c:strRef>
          </c:tx>
          <c:spPr>
            <a:solidFill>
              <a:srgbClr val="2E5AAC"/>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Sheet1!$C$2:$C$2</c:f>
              <c:numCache>
                <c:formatCode>General</c:formatCode>
                <c:ptCount val="1"/>
                <c:pt idx="0">
                  <c:v>30.7</c:v>
                </c:pt>
              </c:numCache>
            </c:numRef>
          </c:val>
        </c:ser>
        <c:ser>
          <c:idx val="2"/>
          <c:order val="2"/>
          <c:tx>
            <c:strRef>
              <c:f>Sheet1!$D$1</c:f>
              <c:strCache>
                <c:ptCount val="1"/>
                <c:pt idx="0">
                  <c:v>その他原価・販管費</c:v>
                </c:pt>
              </c:strCache>
            </c:strRef>
          </c:tx>
          <c:spPr>
            <a:solidFill>
              <a:srgbClr val="C9D3E4"/>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Sheet1!$D$2:$D$2</c:f>
              <c:numCache>
                <c:formatCode>General</c:formatCode>
                <c:ptCount val="1"/>
                <c:pt idx="0">
                  <c:v>16.7</c:v>
                </c:pt>
              </c:numCache>
            </c:numRef>
          </c:val>
        </c:ser>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F2733"/>
              </a:solidFill>
              <a:latin typeface="Meiryo"/>
              <a:cs typeface="Meiry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旅客 営業損益</c:v>
                </c:pt>
              </c:strCache>
            </c:strRef>
          </c:tx>
          <c:spPr>
            <a:solidFill>
              <a:srgbClr val="1E7A5A">
                <a:alpha val="100000"/>
              </a:srgbClr>
            </a:solidFill>
            <a:effectLst/>
          </c:spPr>
          <c:invertIfNegative val="0"/>
          <c:dLbls>
            <c:numFmt formatCode="#,##0" sourceLinked="0"/>
            <c:txPr>
              <a:bodyPr/>
              <a:lstStyle/>
              <a:p>
                <a:pPr>
                  <a:defRPr b="1" i="0" strike="noStrike" sz="1200" u="none">
                    <a:solidFill>
                      <a:srgbClr val="1F2733"/>
                    </a:solidFill>
                    <a:latin typeface="Meiryo"/>
                  </a:defRPr>
                </a:pPr>
              </a:p>
            </c:txPr>
            <c:showLegendKey val="0"/>
            <c:showVal val="1"/>
            <c:showCatName val="0"/>
            <c:showSerName val="0"/>
            <c:showPercent val="0"/>
            <c:showBubbleSize val="0"/>
            <c:showLeaderLines val="0"/>
          </c:dLbls>
          <c:cat>
            <c:multiLvlStrRef>
              <c:f>Sheet1!$A$2:$A$7</c:f>
              <c:multiLvlStrCache>
                <c:ptCount val="6"/>
                <c:lvl>
                  <c:pt idx="0">
                    <c:v>那覇</c:v>
                  </c:pt>
                  <c:pt idx="1">
                    <c:v>羽田</c:v>
                  </c:pt>
                  <c:pt idx="2">
                    <c:v>千歳</c:v>
                  </c:pt>
                  <c:pt idx="3">
                    <c:v>北九州</c:v>
                  </c:pt>
                  <c:pt idx="4">
                    <c:v>関空</c:v>
                  </c:pt>
                  <c:pt idx="5">
                    <c:v>成田</c:v>
                  </c:pt>
                </c:lvl>
              </c:multiLvlStrCache>
            </c:multiLvlStrRef>
          </c:cat>
          <c:val>
            <c:numRef>
              <c:f>Sheet1!$B$2:$B$7</c:f>
              <c:numCache>
                <c:formatCode>General</c:formatCode>
                <c:ptCount val="6"/>
                <c:pt idx="0">
                  <c:v>7586</c:v>
                </c:pt>
                <c:pt idx="1">
                  <c:v>3258</c:v>
                </c:pt>
                <c:pt idx="2">
                  <c:v>1310</c:v>
                </c:pt>
                <c:pt idx="3">
                  <c:v>0</c:v>
                </c:pt>
                <c:pt idx="4">
                  <c:v>-7676</c:v>
                </c:pt>
                <c:pt idx="5">
                  <c:v>-17310</c:v>
                </c:pt>
              </c:numCache>
            </c:numRef>
          </c:val>
        </c:ser>
        <c:dLbls>
          <c:numFmt formatCode="#,##0" sourceLinked="0"/>
          <c:txPr>
            <a:bodyPr/>
            <a:lstStyle/>
            <a:p>
              <a:pPr>
                <a:defRPr b="1" i="0" strike="noStrike" sz="1200" u="none">
                  <a:solidFill>
                    <a:srgbClr val="1F2733"/>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733"/>
                </a:solidFill>
                <a:latin typeface="Meiryo"/>
              </a:defRPr>
            </a:pPr>
            <a:endParaRPr lang="en-US"/>
          </a:p>
        </c:txPr>
        <c:crossAx val="2094734552"/>
        <c:crosses val="autoZero"/>
        <c:auto val="1"/>
        <c:lblAlgn val="ctr"/>
        <c:noMultiLvlLbl val="1"/>
      </c:catAx>
      <c:valAx>
        <c:axId val="2094734552"/>
        <c:scaling>
          <c:orientation val="minMax"/>
          <c:max val="10000"/>
          <c:min val="-2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ndard"/>
        <c:varyColors val="0"/>
        <c:ser>
          <c:idx val="0"/>
          <c:order val="0"/>
          <c:tx>
            <c:strRef>
              <c:f>Sheet1!$B$1</c:f>
              <c:strCache>
                <c:ptCount val="1"/>
                <c:pt idx="0">
                  <c:v>時間帯別 稼働便数</c:v>
                </c:pt>
              </c:strCache>
            </c:strRef>
          </c:tx>
          <c:spPr>
            <a:solidFill>
              <a:srgbClr val="2E5AAC"/>
            </a:solidFill>
            <a:ln w="19050">
              <a:solidFill>
                <a:srgbClr val="1B2A4A"/>
              </a:solidFill>
            </a:ln>
          </c:spPr>
          <c:cat>
            <c:strRef>
              <c:f>Sheet1!$A$2:$A$30</c:f>
              <c:strCache>
                <c:ptCount val="29"/>
                <c:pt idx="0">
                  <c:v>05:30</c:v>
                </c:pt>
                <c:pt idx="1">
                  <c:v>06:00</c:v>
                </c:pt>
                <c:pt idx="2">
                  <c:v>06:30</c:v>
                </c:pt>
                <c:pt idx="3">
                  <c:v>07:00</c:v>
                </c:pt>
                <c:pt idx="4">
                  <c:v>07:30</c:v>
                </c:pt>
                <c:pt idx="5">
                  <c:v>08:00</c:v>
                </c:pt>
                <c:pt idx="6">
                  <c:v>08:30</c:v>
                </c:pt>
                <c:pt idx="7">
                  <c:v>09:00</c:v>
                </c:pt>
                <c:pt idx="8">
                  <c:v>09:30</c:v>
                </c:pt>
                <c:pt idx="9">
                  <c:v>10:00</c:v>
                </c:pt>
                <c:pt idx="10">
                  <c:v>10:30</c:v>
                </c:pt>
                <c:pt idx="11">
                  <c:v>11:00</c:v>
                </c:pt>
                <c:pt idx="12">
                  <c:v>11:30</c:v>
                </c:pt>
                <c:pt idx="13">
                  <c:v>12:00</c:v>
                </c:pt>
                <c:pt idx="14">
                  <c:v>12:30</c:v>
                </c:pt>
                <c:pt idx="15">
                  <c:v>13:00</c:v>
                </c:pt>
                <c:pt idx="16">
                  <c:v>13:30</c:v>
                </c:pt>
                <c:pt idx="17">
                  <c:v>14:00</c:v>
                </c:pt>
                <c:pt idx="18">
                  <c:v>14:30</c:v>
                </c:pt>
                <c:pt idx="19">
                  <c:v>15:00</c:v>
                </c:pt>
                <c:pt idx="20">
                  <c:v>15:30</c:v>
                </c:pt>
                <c:pt idx="21">
                  <c:v>16:00</c:v>
                </c:pt>
                <c:pt idx="22">
                  <c:v>16:30</c:v>
                </c:pt>
                <c:pt idx="23">
                  <c:v>17:00</c:v>
                </c:pt>
                <c:pt idx="24">
                  <c:v>17:30</c:v>
                </c:pt>
                <c:pt idx="25">
                  <c:v>18:00</c:v>
                </c:pt>
                <c:pt idx="26">
                  <c:v>18:30</c:v>
                </c:pt>
                <c:pt idx="27">
                  <c:v>19:00</c:v>
                </c:pt>
                <c:pt idx="28">
                  <c:v>19:30</c:v>
                </c:pt>
              </c:strCache>
            </c:strRef>
          </c:cat>
          <c:val>
            <c:numRef>
              <c:f>Sheet1!$B$2:$B$30</c:f>
              <c:numCache>
                <c:formatCode>General</c:formatCode>
                <c:ptCount val="29"/>
                <c:pt idx="0">
                  <c:v>0</c:v>
                </c:pt>
                <c:pt idx="1">
                  <c:v>3</c:v>
                </c:pt>
                <c:pt idx="2">
                  <c:v>7</c:v>
                </c:pt>
                <c:pt idx="3">
                  <c:v>7</c:v>
                </c:pt>
                <c:pt idx="4">
                  <c:v>8</c:v>
                </c:pt>
                <c:pt idx="5">
                  <c:v>8</c:v>
                </c:pt>
                <c:pt idx="6">
                  <c:v>11</c:v>
                </c:pt>
                <c:pt idx="7">
                  <c:v>8</c:v>
                </c:pt>
                <c:pt idx="8">
                  <c:v>5</c:v>
                </c:pt>
                <c:pt idx="9">
                  <c:v>4</c:v>
                </c:pt>
                <c:pt idx="10">
                  <c:v>3</c:v>
                </c:pt>
                <c:pt idx="11">
                  <c:v>3</c:v>
                </c:pt>
                <c:pt idx="12">
                  <c:v>1</c:v>
                </c:pt>
                <c:pt idx="13">
                  <c:v>1</c:v>
                </c:pt>
                <c:pt idx="14">
                  <c:v>1</c:v>
                </c:pt>
                <c:pt idx="15">
                  <c:v>1</c:v>
                </c:pt>
                <c:pt idx="16">
                  <c:v>2</c:v>
                </c:pt>
                <c:pt idx="17">
                  <c:v>1</c:v>
                </c:pt>
                <c:pt idx="18">
                  <c:v>1</c:v>
                </c:pt>
                <c:pt idx="19">
                  <c:v>1</c:v>
                </c:pt>
                <c:pt idx="20">
                  <c:v>1</c:v>
                </c:pt>
                <c:pt idx="21">
                  <c:v>1</c:v>
                </c:pt>
                <c:pt idx="22">
                  <c:v>1</c:v>
                </c:pt>
                <c:pt idx="23">
                  <c:v>1</c:v>
                </c:pt>
                <c:pt idx="24">
                  <c:v>1</c:v>
                </c:pt>
                <c:pt idx="25">
                  <c:v>1</c:v>
                </c:pt>
                <c:pt idx="26">
                  <c:v>1</c:v>
                </c:pt>
                <c:pt idx="27">
                  <c:v>1</c:v>
                </c:pt>
                <c:pt idx="28">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900">
                <a:solidFill>
                  <a:srgbClr val="6B7686"/>
                </a:solidFill>
                <a:latin typeface="Meiryo"/>
              </a:defRPr>
            </a:pPr>
          </a:p>
        </c:txPr>
        <c:crossAx val="-2100718248"/>
        <c:crosses val="autoZero"/>
        <c:auto val="1"/>
        <c:lblAlgn val="ctr"/>
        <c:lblOffset val="100"/>
        <c:noMultiLvlLbl val="0"/>
        <c:tickLblSkip val="2"/>
        <c:tickMarkSkip val="2"/>
      </c:catAx>
      <c:valAx>
        <c:axId val="-2100718248"/>
        <c:scaling>
          <c:orientation val="minMax"/>
        </c:scaling>
        <c:delete val="0"/>
        <c:axPos val="l"/>
        <c:majorGridlines/>
        <c:numFmt formatCode="General" sourceLinked="1"/>
        <c:majorTickMark val="out"/>
        <c:minorTickMark val="none"/>
        <c:tickLblPos val="nextTo"/>
        <c:txPr>
          <a:bodyPr/>
          <a:lstStyle/>
          <a:p>
            <a:pPr>
              <a:defRPr sz="900">
                <a:solidFill>
                  <a:srgbClr val="6B7686"/>
                </a:solidFill>
                <a:latin typeface="Meiryo"/>
              </a:defRPr>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忙しい中、急なご案内にもかかわらずお集まりいただきありがとうございます。本日は、会社として進めている短時間勤務者（パート・アルバイト）の採用について、背景も含めてご説明します。最初に申し上げたいのは、これは単に『人が足りないからアルバイトを採る』という話ではない、とい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お話しするのは、単純な採用の話ではありません。旅客部門の多くの支店で、収入に対して人件費が上回る『原価割れ』が起きています。これまでは便が増える・人が足りない・退職者が出るとなればフルタイム正社員を補充する、という考え方が中心でした。しかし同じ持ち方で本当に収支を改善できるのか。ここを見直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まず、なぜ今この取り組みが必要なのか。旅客部門だけの実際の収支を見ていただきます。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旅客部門だけを抜き出すと、売上178百万に対して売上原価が182百万。販管費を引く前、原価だけで売上を超えています。これが原価割れです。営業損益では月17百万円の赤字、年に直すと約2.1億円の赤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赤字の中身を見ると、そのほとんどが人件費です。直接人件費が売上の6割、派遣・委託を足すと9割。ピークに合わせてフルタイム社員を持てば、ピークが終わった後の時間にも人件費が発生し続けます。ここを変えたいというのが今回の主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旅客部門だけで基地を並べると、羽田・千歳・那覇は黒字です。決して旅客事業そのものが赤字なのではありません。成田だけが突出して赤く、その額は他基地の黒字を単月で食いつぶすほどです。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全社で見ると、営業赤字はおよそ月58百万円。そのうち成田の旅客部門だけで約3割、成田全部門では約6割を占めます。つまり、成田を直さなければ全社の収支は直らない、というのが今の姿です。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人が足りません』で止めないようにしたい。何人足りないのか、一日のうち何時から何時まで、どのポジションで必要なのか。ここまで分解して初めて本当に必要な採用数が見えます。フルタイムが必要な仕事と、ピークだけ人が要る仕事を、同じ採用方法で埋めない、という考え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当に必要なのは10人の『社員』でしょうか。違います。必要なのはこの4時間の『10人分の出面』です。ピークのために8時間勤務者を10人増やせば、ピーク後の時間にも人件費が出ます。であれば、その時間だけ働ける方を配置する方が会社として合理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時点で1日4〜5時間、週3日程度、原則週20時間未満を基本に考えています。重要なのは、単に勤務時間の短い社員を増やすことではなく、各支店のピークに合わせて必要な時間帯に入っていただくこと。特に成田では経験者を積極採用し、資格・経験を活かして早くラインに入っていただくことも想定しています。制度・教育・交通費は整理中の部分もあり、決定と検討を分けて進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今日いちばんお願いしたいところです。『5人ほしい』ではなく、『6時から10時まで3人不足』『7時から12時まで2人不足』という形で見ていただきたい。5人足りないからフルタイムを5人採るのと、必要な時間に短時間勤務者を配置するのとでは人件費が全く違います。人事から確認する際は、何人ではなく『何時に・どのポジションで・何人』まで確認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誤解のないようお伝えしますが、『今後正社員を一切採らない』という意味ではありません。中途正社員採用は抑制方向ですが、即戦力の経験者など本当に必要な人材は個別判断します。一方で、朝の4時間だけ不足しているから正社員を一人採る、という採り方は見直します。フルタイムが担う部分と短時間勤務者で担える部分を整理し、組み合わせて運営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現在、成田と新千歳から先行して募集を始めています。まずそれぞれ10名を目標に動いていますが、この数字を固定的に考えているわけではありません。最終的にはWinter Scheduleを見ながら、各支店で何時に何人不足するかを確認して必要人数を決めます。経験者は経験・資格に応じた時給を設定し、即戦力採用を強化します。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採用広告を出せば終わりではありません。短時間勤務者に従来のフルタイム向け教育をそのまま当てると、勤務希望と合わない可能性があります。本社研修・OJT・交通費・資格者の配置。こうした課題を人事・教育・現場で役割分担しながら整理しています。このプロジェクトでは『採用した人数』ではなく『実際に必要なラインへ投入できた人数』まで見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ここからが皆さんへのお願いです。人事だけで『この支店は10人』と決めても、現場で必要な時間と合わなければ意味がありません。Winter Scheduleを基準に必要出面を確認し、既存社員でどこまでカバーできるか、それでも不足する時間帯はどこかを出してください。その不足のうち短時間勤務者で対応できるポジションを一緒に選定したい。『何人ほしいか』ではなく『何時に・何人・どの仕事で必要か』でご共有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取り組みは単なる採用手法の変更ではなく、当たり前だと思っていた『人員の持ち方』を変える取り組みです。だからこそ人事だけではできません。現場を一番知る皆さんに、『何人ほしいか』ではなく『何時に・何人・本当に必要か』を一緒に考えていただきたい。会社の収支改善と、現場が無理なく運営できること、この二つの両立を目指します。ご協力をお願い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成田の特徴を、一日の時間軸で見てみたいと思います。</a:t>
            </a:r>
          </a:p>
          <a:p>
            <a:r>
              <a:t>現場の皆さんは感覚として一番よく分かっていると思いますが、成田は朝に非常に多くの人員が必要になります。</a:t>
            </a:r>
          </a:p>
          <a:p>
            <a:r>
              <a:t>ところが、12時を過ぎると必要人数が急激に落ちていきます。</a:t>
            </a:r>
          </a:p>
          <a:p>
            <a:r>
              <a:t>一方で、私たちが雇用しているフルタイムの正社員には、月166時間働いてもらう必要があります。</a:t>
            </a:r>
          </a:p>
          <a:p>
            <a:r>
              <a:t>では、この朝の大きな山を、すべてフルタイム社員だけで埋めたらどうなるでしょうか。</a:t>
            </a:r>
          </a:p>
          <a:p>
            <a:r>
              <a:t>朝は確かに必要です。でも、その人たちの勤務時間は朝のピークが終わったところで終わるわけではありません。</a:t>
            </a:r>
          </a:p>
          <a:p>
            <a:r>
              <a:t>つまり、現場の配置が悪いとか、シフトの作り方が悪いとか、その前に、そもそも「需要の形」と「雇用の形」が合っていない可能性があります。</a:t>
            </a:r>
          </a:p>
          <a:p>
            <a:r>
              <a:t>私はここを、今回の短時間勤務者活用を考える上で非常に重要なポイントだと思っています。</a:t>
            </a:r>
          </a:p>
          <a:p>
            <a:r>
              <a:t>朝に必要な4時間、5時間の出面を確保するために、月166時間勤務する人だけを増やしていけば、人件費が膨らみやすくなるのは、ある意味当然です。</a:t>
            </a:r>
          </a:p>
          <a:p>
            <a:r>
              <a:t>だからこそ、「何人社員を持つか」ではなく、「何時に何人必要なのか」という考え方に変えていく必要があります。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補足スライドです。便ごとの地上作業帯（カウンター開設から出発まで）を時間軸で並べています。</a:t>
            </a:r>
          </a:p>
          <a:p>
            <a:r>
              <a:t>青が朝便、橙が昼・夕便。灰色の線が12時です。</a:t>
            </a:r>
          </a:p>
          <a:p>
            <a:r>
              <a:t>個々の便で見ても、ほとんどの作業が12時までに終わり、午後はほぼ空くことを確認いただけます。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現時点で人事として、朝のピーク帯に短時間勤務者の配置を想定している便の一覧です。</a:t>
            </a:r>
          </a:p>
          <a:p>
            <a:r>
              <a:t>対象はVN・AM・RF・5J・UL・VJ。時刻はすべて実際の線表から取っており、推測値はありません。</a:t>
            </a:r>
          </a:p>
          <a:p>
            <a:r>
              <a:t>VJの夕方便（VJ934/935）は、Winterで運休する場合は対象外、運航する場合は別途検討します。ULは火・木・土の運航です。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ここで少し、私自身の昔の話をさせてください。</a:t>
            </a:r>
          </a:p>
          <a:p>
            <a:r>
              <a:t>以前、母が薬膳料理のレストランを経営していて、私もその店を手伝っていました。</a:t>
            </a:r>
          </a:p>
          <a:p>
            <a:r>
              <a:t>お店はかなり繁盛していました。お客様で満席になることも多く、料理の評判も良かった。</a:t>
            </a:r>
          </a:p>
          <a:p>
            <a:r>
              <a:t>当時の私たちは、お客様に喜んでもらえる料理を作ろう、良いサービスをしよう、と一生懸命やっていました。</a:t>
            </a:r>
          </a:p>
          <a:p>
            <a:r>
              <a:t>一見すると、ものすごく成功している店に見えます。</a:t>
            </a:r>
          </a:p>
          <a:p>
            <a:r>
              <a:t>でも、一つ大きな問題がありました。</a:t>
            </a:r>
          </a:p>
          <a:p>
            <a:r>
              <a:t>原価のコントロールができていなかったんです。</a:t>
            </a:r>
          </a:p>
          <a:p>
            <a:r>
              <a:t>良いものを作りたい。お客様に喜んでもらいたい。そのために良い材料を使う。人も十分に配置する。</a:t>
            </a:r>
          </a:p>
          <a:p>
            <a:r>
              <a:t>結果として、材料費、人件費、その他の経費を合わせると、売上を上回ってしまっていました。</a:t>
            </a:r>
          </a:p>
          <a:p>
            <a:r>
              <a:t>店は満席です。お客様からの評判もいい。スタッフも一生懸命働いている。</a:t>
            </a:r>
          </a:p>
          <a:p>
            <a:r>
              <a:t>でも、利益が出ない。</a:t>
            </a:r>
          </a:p>
          <a:p>
            <a:r>
              <a:t>母は、自分の貯金からお金を補填して店を続けていました。</a:t>
            </a:r>
          </a:p>
          <a:p>
            <a:r>
              <a:t>当然、いつまでも続けられるわけがありませんでした。</a:t>
            </a:r>
          </a:p>
          <a:p>
            <a:r>
              <a:t>私は今、会社で起きていることを見ていて、構造としてはこれと非常によく似ていると思っています。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これは、現場のサービスが悪いという話ではありません。</a:t>
            </a:r>
          </a:p>
          <a:p>
            <a:r>
              <a:t>むしろ逆です。</a:t>
            </a:r>
          </a:p>
          <a:p>
            <a:r>
              <a:t>現場の皆さんは、限られた条件の中で、本当に一生懸命サービスを維持していただいていると思っています。</a:t>
            </a:r>
          </a:p>
          <a:p>
            <a:r>
              <a:t>でも、ここで皆さんにも一度、「自分がこの会社の経営者だったら」と考えていただきたいんです。</a:t>
            </a:r>
          </a:p>
          <a:p>
            <a:r>
              <a:t>人を潤沢に配置する。その結果、オペレーションは安定する。お客様からの評判もいい。スタッフも一生懸命働いている。</a:t>
            </a:r>
          </a:p>
          <a:p>
            <a:r>
              <a:t>でも、100円の売上を上げるために、原価だけで103円かかっている。</a:t>
            </a:r>
          </a:p>
          <a:p>
            <a:r>
              <a:t>これは、経営として成功と言えるでしょうか。</a:t>
            </a:r>
          </a:p>
          <a:p>
            <a:r>
              <a:t>私は、言えないと思います。</a:t>
            </a:r>
          </a:p>
          <a:p>
            <a:r>
              <a:t>どれだけ良いサービスでも、事業そのものが継続できなくなってしまったら、そのサービスを提供し続けることもできなくなるからです。</a:t>
            </a:r>
          </a:p>
          <a:p>
            <a:r>
              <a:t>必要なサービス品質と安全・安定運航を守ることは大前提です。</a:t>
            </a:r>
          </a:p>
          <a:p>
            <a:r>
              <a:t>その上で、そのサービスを持続可能な原価で提供できる形にする。</a:t>
            </a:r>
          </a:p>
          <a:p>
            <a:r>
              <a:t>それが、今私たちに必要なことだと思っています。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当然、「もっと仕事を取ってくればいいじゃないか」「営業がもっと成田の人員構成に合った時間帯の仕事を取ってくれればいいじゃないか」という意見もあると思います。</a:t>
            </a:r>
          </a:p>
          <a:p>
            <a:r>
              <a:t>それ自体は間違っていないと思います。</a:t>
            </a:r>
          </a:p>
          <a:p>
            <a:r>
              <a:t>売上を増やすことは必要です。営業にも、新しい仕事を取ってきてもらわなければなりません。</a:t>
            </a:r>
          </a:p>
          <a:p>
            <a:r>
              <a:t>でも、その仕事が取れるまで、私たちは何もしなくていいのでしょうか。</a:t>
            </a:r>
          </a:p>
          <a:p>
            <a:r>
              <a:t>営業が、今の私たちの人員構成にぴったり合う仕事を取ってきてくれるのを待ちながら、毎月赤字を出し続ける。</a:t>
            </a:r>
          </a:p>
          <a:p>
            <a:r>
              <a:t>それは経営ではないと思っています。</a:t>
            </a:r>
          </a:p>
          <a:p>
            <a:r>
              <a:t>売上を増やすことと、原価を適正化すること。これは、どちらか一方ではありません。</a:t>
            </a:r>
          </a:p>
          <a:p>
            <a:r>
              <a:t>両方やる必要があります。</a:t>
            </a:r>
          </a:p>
          <a:p>
            <a:r>
              <a:t>営業には売上を増やしてもらう。</a:t>
            </a:r>
          </a:p>
          <a:p>
            <a:r>
              <a:t>そして私たちは、自分たちでコントロールできる原価を見直す。</a:t>
            </a:r>
          </a:p>
          <a:p>
            <a:r>
              <a:t>その一つが、人員の持ち方です。</a:t>
            </a:r>
          </a:p>
          <a:p>
            <a:r>
              <a:t>だから今回、短時間勤務者という選択肢を増やしたいんです。</a:t>
            </a:r>
          </a:p>
          <a:p/>
          <a:p>
            <a:r>
              <a:t>―― 次のスライドへのつなぎ ――</a:t>
            </a:r>
          </a:p>
          <a:p>
            <a:r>
              <a:t>では、この構造をどう変えるのか。</a:t>
            </a:r>
          </a:p>
          <a:p>
            <a:r>
              <a:t>答えは、単純に「人を減らす」ことではありません。</a:t>
            </a:r>
          </a:p>
          <a:p>
            <a:r>
              <a:t>必要な人まで削れば、当然オペレーションは回らなくなります。それでは意味がありません。</a:t>
            </a:r>
          </a:p>
          <a:p>
            <a:r>
              <a:t>見直したいのは、「必要な人」ではなく、「必要ではない時間にまで発生している人件費」です。</a:t>
            </a:r>
          </a:p>
          <a:p>
            <a:r>
              <a:t>そのために、人員を一日単位の「人数」で見るのではなく、「時間 × 人数」で見る。</a:t>
            </a:r>
          </a:p>
          <a:p>
            <a:r>
              <a:t>ここから、具体的にどう人員の持ち方を変えていくのかをご説明します。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B2A4A"/>
          </a:solidFill>
          <a:ln/>
        </p:spPr>
        <p:txBody>
          <a:bodyPr/>
          <a:p/>
        </p:txBody>
      </p:sp>
      <p:sp>
        <p:nvSpPr>
          <p:cNvPr id="3" name="Shape 1"/>
          <p:cNvSpPr/>
          <p:nvPr/>
        </p:nvSpPr>
        <p:spPr>
          <a:xfrm>
            <a:off x="685800" y="640080"/>
            <a:ext cx="1920240" cy="457200"/>
          </a:xfrm>
          <a:prstGeom prst="roundRect">
            <a:avLst>
              <a:gd name="adj" fmla="val 50000"/>
            </a:avLst>
          </a:prstGeom>
          <a:solidFill>
            <a:srgbClr val="2E4270"/>
          </a:solidFill>
          <a:ln/>
        </p:spPr>
        <p:txBody>
          <a:bodyPr/>
          <a:p/>
        </p:txBody>
      </p:sp>
      <p:sp>
        <p:nvSpPr>
          <p:cNvPr id="4" name="Text 2"/>
          <p:cNvSpPr/>
          <p:nvPr/>
        </p:nvSpPr>
        <p:spPr>
          <a:xfrm>
            <a:off x="685800" y="640080"/>
            <a:ext cx="1920240" cy="457200"/>
          </a:xfrm>
          <a:prstGeom prst="rect">
            <a:avLst/>
          </a:prstGeom>
          <a:noFill/>
          <a:ln/>
        </p:spPr>
        <p:txBody>
          <a:bodyPr wrap="square" rtlCol="0" anchor="ctr"/>
          <a:lstStyle/>
          <a:p>
            <a:pPr algn="ctr" indent="0" marL="0">
              <a:buNone/>
            </a:pPr>
            <a:r>
              <a:rPr lang="en-US" sz="1200" b="1" dirty="0">
                <a:solidFill>
                  <a:srgbClr val="CFE0FF"/>
                </a:solidFill>
                <a:latin typeface="Meiryo" pitchFamily="34" charset="0"/>
                <a:ea typeface="Meiryo" pitchFamily="34" charset="-122"/>
                <a:cs typeface="Meiryo" pitchFamily="34" charset="-120"/>
              </a:rPr>
              <a:t>旅客部門 収支改善</a:t>
            </a:r>
            <a:endParaRPr lang="en-US" sz="1200" dirty="0"/>
          </a:p>
        </p:txBody>
      </p:sp>
      <p:sp>
        <p:nvSpPr>
          <p:cNvPr id="5" name="Text 3"/>
          <p:cNvSpPr/>
          <p:nvPr/>
        </p:nvSpPr>
        <p:spPr>
          <a:xfrm>
            <a:off x="685800" y="1737360"/>
            <a:ext cx="10789920" cy="1828800"/>
          </a:xfrm>
          <a:prstGeom prst="rect">
            <a:avLst/>
          </a:prstGeom>
          <a:noFill/>
          <a:ln/>
        </p:spPr>
        <p:txBody>
          <a:bodyPr wrap="square" rtlCol="0" anchor="ctr"/>
          <a:lstStyle/>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短時間勤務者（パート・アルバイト）採用</a:t>
            </a:r>
            <a:endParaRPr lang="en-US" sz="4000" dirty="0"/>
          </a:p>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説明会</a:t>
            </a:r>
            <a:endParaRPr lang="en-US" sz="4000" dirty="0"/>
          </a:p>
        </p:txBody>
      </p:sp>
      <p:sp>
        <p:nvSpPr>
          <p:cNvPr id="6" name="Text 4"/>
          <p:cNvSpPr/>
          <p:nvPr/>
        </p:nvSpPr>
        <p:spPr>
          <a:xfrm>
            <a:off x="713232" y="3703320"/>
            <a:ext cx="10789920" cy="548640"/>
          </a:xfrm>
          <a:prstGeom prst="rect">
            <a:avLst/>
          </a:prstGeom>
          <a:noFill/>
          <a:ln/>
        </p:spPr>
        <p:txBody>
          <a:bodyPr wrap="square" rtlCol="0" anchor="ctr"/>
          <a:lstStyle/>
          <a:p>
            <a:pPr indent="0" marL="0">
              <a:buNone/>
            </a:pPr>
            <a:r>
              <a:rPr lang="en-US" sz="1800" i="1" dirty="0">
                <a:solidFill>
                  <a:srgbClr val="CADCFC"/>
                </a:solidFill>
                <a:latin typeface="Meiryo" pitchFamily="34" charset="0"/>
                <a:ea typeface="Meiryo" pitchFamily="34" charset="-122"/>
                <a:cs typeface="Meiryo" pitchFamily="34" charset="-120"/>
              </a:rPr>
              <a:t>―『必要な時間に、必要な人員を配置する』体制への転換 ―</a:t>
            </a:r>
            <a:endParaRPr lang="en-US" sz="1800" dirty="0"/>
          </a:p>
        </p:txBody>
      </p:sp>
      <p:sp>
        <p:nvSpPr>
          <p:cNvPr id="7" name="Shape 5"/>
          <p:cNvSpPr/>
          <p:nvPr/>
        </p:nvSpPr>
        <p:spPr>
          <a:xfrm>
            <a:off x="731520" y="4526280"/>
            <a:ext cx="3840480" cy="0"/>
          </a:xfrm>
          <a:prstGeom prst="line">
            <a:avLst/>
          </a:prstGeom>
          <a:noFill/>
          <a:ln w="19050">
            <a:solidFill>
              <a:srgbClr val="3C5488"/>
            </a:solidFill>
            <a:prstDash val="solid"/>
          </a:ln>
        </p:spPr>
        <p:txBody>
          <a:bodyPr/>
          <a:p/>
        </p:txBody>
      </p:sp>
      <p:sp>
        <p:nvSpPr>
          <p:cNvPr id="8" name="Text 6"/>
          <p:cNvSpPr/>
          <p:nvPr/>
        </p:nvSpPr>
        <p:spPr>
          <a:xfrm>
            <a:off x="731520" y="4800600"/>
            <a:ext cx="10058400" cy="365760"/>
          </a:xfrm>
          <a:prstGeom prst="rect">
            <a:avLst/>
          </a:prstGeom>
          <a:noFill/>
          <a:ln/>
        </p:spPr>
        <p:txBody>
          <a:bodyPr wrap="square" rtlCol="0" anchor="ctr"/>
          <a:lstStyle/>
          <a:p>
            <a:pPr indent="0" marL="0">
              <a:buNone/>
            </a:pPr>
            <a:r>
              <a:rPr lang="en-US" sz="1500" b="1" dirty="0">
                <a:solidFill>
                  <a:srgbClr val="9FB0CC"/>
                </a:solidFill>
                <a:latin typeface="Meiryo" pitchFamily="34" charset="0"/>
                <a:ea typeface="Meiryo" pitchFamily="34" charset="-122"/>
                <a:cs typeface="Meiryo" pitchFamily="34" charset="-120"/>
              </a:rPr>
              <a:t>対象：</a:t>
            </a:r>
            <a:pPr indent="0" marL="0">
              <a:buNone/>
            </a:pPr>
            <a:r>
              <a:rPr lang="en-US" sz="1500" dirty="0">
                <a:solidFill>
                  <a:srgbClr val="FFFFFF"/>
                </a:solidFill>
                <a:latin typeface="Meiryo" pitchFamily="34" charset="0"/>
                <a:ea typeface="Meiryo" pitchFamily="34" charset="-122"/>
                <a:cs typeface="Meiryo" pitchFamily="34" charset="-120"/>
              </a:rPr>
              <a:t>部長・支店長・所属長クラス</a:t>
            </a:r>
            <a:endParaRPr lang="en-US" sz="1500" dirty="0"/>
          </a:p>
        </p:txBody>
      </p:sp>
      <p:sp>
        <p:nvSpPr>
          <p:cNvPr id="9" name="Text 7"/>
          <p:cNvSpPr/>
          <p:nvPr/>
        </p:nvSpPr>
        <p:spPr>
          <a:xfrm>
            <a:off x="731520" y="5257800"/>
            <a:ext cx="10607040" cy="640080"/>
          </a:xfrm>
          <a:prstGeom prst="rect">
            <a:avLst/>
          </a:prstGeom>
          <a:noFill/>
          <a:ln/>
        </p:spPr>
        <p:txBody>
          <a:bodyPr wrap="square" rtlCol="0" anchor="ctr"/>
          <a:lstStyle/>
          <a:p>
            <a:pPr indent="0" marL="0">
              <a:buNone/>
            </a:pPr>
            <a:r>
              <a:rPr lang="en-US" sz="1400" b="1" dirty="0">
                <a:solidFill>
                  <a:srgbClr val="9FB0CC"/>
                </a:solidFill>
                <a:latin typeface="Meiryo" pitchFamily="34" charset="0"/>
                <a:ea typeface="Meiryo" pitchFamily="34" charset="-122"/>
                <a:cs typeface="Meiryo" pitchFamily="34" charset="-120"/>
              </a:rPr>
              <a:t>目的：</a:t>
            </a:r>
            <a:pPr indent="0" marL="0">
              <a:buNone/>
            </a:pPr>
            <a:r>
              <a:rPr lang="en-US" sz="1400" dirty="0">
                <a:solidFill>
                  <a:srgbClr val="E5ECF7"/>
                </a:solidFill>
                <a:latin typeface="Meiryo" pitchFamily="34" charset="0"/>
                <a:ea typeface="Meiryo" pitchFamily="34" charset="-122"/>
                <a:cs typeface="Meiryo" pitchFamily="34" charset="-120"/>
              </a:rPr>
              <a:t>背景・会社方針・現場での活用方法・進め方を共有し、各所属で「必要な時間 × 必要人数」を具体化する</a:t>
            </a:r>
            <a:endParaRPr lang="en-US" sz="1400" dirty="0"/>
          </a:p>
        </p:txBody>
      </p:sp>
      <p:sp>
        <p:nvSpPr>
          <p:cNvPr id="10" name="Text 8"/>
          <p:cNvSpPr/>
          <p:nvPr/>
        </p:nvSpPr>
        <p:spPr>
          <a:xfrm>
            <a:off x="731520" y="6035040"/>
            <a:ext cx="4572000" cy="365760"/>
          </a:xfrm>
          <a:prstGeom prst="rect">
            <a:avLst/>
          </a:prstGeom>
          <a:noFill/>
          <a:ln/>
        </p:spPr>
        <p:txBody>
          <a:bodyPr wrap="square" rtlCol="0" anchor="ctr"/>
          <a:lstStyle/>
          <a:p>
            <a:pPr indent="0" marL="0">
              <a:buNone/>
            </a:pPr>
            <a:r>
              <a:rPr lang="en-US" sz="1300" dirty="0">
                <a:solidFill>
                  <a:srgbClr val="9FB0CC"/>
                </a:solidFill>
                <a:latin typeface="Meiryo" pitchFamily="34" charset="0"/>
                <a:ea typeface="Meiryo" pitchFamily="34" charset="-122"/>
                <a:cs typeface="Meiryo" pitchFamily="34" charset="-120"/>
              </a:rPr>
              <a:t>2026年8月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本日いちばん伝えたいこと</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これは「採用施策」ではなく、</a:t>
            </a:r>
            <a:endParaRPr lang="en-US" sz="3000" dirty="0"/>
          </a:p>
          <a:p>
            <a:pPr algn="l" indent="0" marL="0">
              <a:buNone/>
            </a:pPr>
            <a:r>
              <a:rPr lang="en-US" sz="3000" b="1" dirty="0">
                <a:solidFill>
                  <a:srgbClr val="1B2A4A"/>
                </a:solidFill>
                <a:latin typeface="Meiryo" pitchFamily="34" charset="0"/>
                <a:ea typeface="Meiryo" pitchFamily="34" charset="-122"/>
                <a:cs typeface="Meiryo" pitchFamily="34" charset="-120"/>
              </a:rPr>
              <a:t>人員の持ち方を変える取り組みです</a:t>
            </a:r>
            <a:endParaRPr lang="en-US" sz="3000" dirty="0"/>
          </a:p>
        </p:txBody>
      </p:sp>
      <p:sp>
        <p:nvSpPr>
          <p:cNvPr id="4" name="Shape 2"/>
          <p:cNvSpPr/>
          <p:nvPr/>
        </p:nvSpPr>
        <p:spPr>
          <a:xfrm>
            <a:off x="54864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68680" y="2651760"/>
            <a:ext cx="914400" cy="914400"/>
          </a:xfrm>
          <a:prstGeom prst="roundRect">
            <a:avLst>
              <a:gd name="adj" fmla="val 50000"/>
            </a:avLst>
          </a:prstGeom>
          <a:solidFill>
            <a:srgbClr val="E9EEF8"/>
          </a:solidFill>
          <a:ln/>
        </p:spPr>
        <p:txBody>
          <a:bodyPr/>
          <a:p/>
        </p:txBody>
      </p:sp>
      <p:sp>
        <p:nvSpPr>
          <p:cNvPr id="6" name="Text 4"/>
          <p:cNvSpPr/>
          <p:nvPr/>
        </p:nvSpPr>
        <p:spPr>
          <a:xfrm>
            <a:off x="868680" y="2651760"/>
            <a:ext cx="914400" cy="914400"/>
          </a:xfrm>
          <a:prstGeom prst="rect">
            <a:avLst/>
          </a:prstGeom>
          <a:noFill/>
          <a:ln/>
        </p:spPr>
        <p:txBody>
          <a:bodyPr wrap="square" rtlCol="0" anchor="ctr"/>
          <a:lstStyle/>
          <a:p>
            <a:pPr algn="ctr" indent="0" marL="0">
              <a:buNone/>
            </a:pPr>
            <a:r>
              <a:rPr lang="en-US" sz="2600" b="1" dirty="0">
                <a:solidFill>
                  <a:srgbClr val="2E5AAC"/>
                </a:solidFill>
                <a:latin typeface="Meiryo" pitchFamily="34" charset="0"/>
                <a:ea typeface="Meiryo" pitchFamily="34" charset="-122"/>
                <a:cs typeface="Meiryo" pitchFamily="34" charset="-120"/>
              </a:rPr>
              <a:t>01</a:t>
            </a:r>
            <a:endParaRPr lang="en-US" sz="2600" dirty="0"/>
          </a:p>
        </p:txBody>
      </p:sp>
      <p:sp>
        <p:nvSpPr>
          <p:cNvPr id="7" name="Text 5"/>
          <p:cNvSpPr/>
          <p:nvPr/>
        </p:nvSpPr>
        <p:spPr>
          <a:xfrm>
            <a:off x="84124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採用の話ではない</a:t>
            </a:r>
            <a:endParaRPr lang="en-US" sz="1900" dirty="0"/>
          </a:p>
        </p:txBody>
      </p:sp>
      <p:sp>
        <p:nvSpPr>
          <p:cNvPr id="8" name="Text 6"/>
          <p:cNvSpPr/>
          <p:nvPr/>
        </p:nvSpPr>
        <p:spPr>
          <a:xfrm>
            <a:off x="84124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人が足りないからパートを採る、ではない。旅客部門の収支改善に向けた「人員の持ち方」そのものの見直し。</a:t>
            </a:r>
            <a:endParaRPr lang="en-US" sz="1350" dirty="0"/>
          </a:p>
        </p:txBody>
      </p:sp>
      <p:sp>
        <p:nvSpPr>
          <p:cNvPr id="9" name="Shape 7"/>
          <p:cNvSpPr/>
          <p:nvPr/>
        </p:nvSpPr>
        <p:spPr>
          <a:xfrm>
            <a:off x="429768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Shape 8"/>
          <p:cNvSpPr/>
          <p:nvPr/>
        </p:nvSpPr>
        <p:spPr>
          <a:xfrm>
            <a:off x="4617720" y="2651760"/>
            <a:ext cx="914400" cy="914400"/>
          </a:xfrm>
          <a:prstGeom prst="roundRect">
            <a:avLst>
              <a:gd name="adj" fmla="val 50000"/>
            </a:avLst>
          </a:prstGeom>
          <a:solidFill>
            <a:srgbClr val="F6EEDC"/>
          </a:solidFill>
          <a:ln/>
        </p:spPr>
        <p:txBody>
          <a:bodyPr/>
          <a:p/>
        </p:txBody>
      </p:sp>
      <p:sp>
        <p:nvSpPr>
          <p:cNvPr id="11" name="Text 9"/>
          <p:cNvSpPr/>
          <p:nvPr/>
        </p:nvSpPr>
        <p:spPr>
          <a:xfrm>
            <a:off x="4617720" y="2651760"/>
            <a:ext cx="914400" cy="914400"/>
          </a:xfrm>
          <a:prstGeom prst="rect">
            <a:avLst/>
          </a:prstGeom>
          <a:noFill/>
          <a:ln/>
        </p:spPr>
        <p:txBody>
          <a:bodyPr wrap="square" rtlCol="0" anchor="ctr"/>
          <a:lstStyle/>
          <a:p>
            <a:pPr algn="ctr" indent="0" marL="0">
              <a:buNone/>
            </a:pPr>
            <a:r>
              <a:rPr lang="en-US" sz="2600" b="1" dirty="0">
                <a:solidFill>
                  <a:srgbClr val="B8891B"/>
                </a:solidFill>
                <a:latin typeface="Meiryo" pitchFamily="34" charset="0"/>
                <a:ea typeface="Meiryo" pitchFamily="34" charset="-122"/>
                <a:cs typeface="Meiryo" pitchFamily="34" charset="-120"/>
              </a:rPr>
              <a:t>02</a:t>
            </a:r>
            <a:endParaRPr lang="en-US" sz="2600" dirty="0"/>
          </a:p>
        </p:txBody>
      </p:sp>
      <p:sp>
        <p:nvSpPr>
          <p:cNvPr id="12" name="Text 10"/>
          <p:cNvSpPr/>
          <p:nvPr/>
        </p:nvSpPr>
        <p:spPr>
          <a:xfrm>
            <a:off x="459028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人数 → 時間×人数</a:t>
            </a:r>
            <a:endParaRPr lang="en-US" sz="1900" dirty="0"/>
          </a:p>
        </p:txBody>
      </p:sp>
      <p:sp>
        <p:nvSpPr>
          <p:cNvPr id="13" name="Text 11"/>
          <p:cNvSpPr/>
          <p:nvPr/>
        </p:nvSpPr>
        <p:spPr>
          <a:xfrm>
            <a:off x="459028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「何人必要か」から、「何時に・どのポジションで・何人必要か」へ考え方を転換する。</a:t>
            </a:r>
            <a:endParaRPr lang="en-US" sz="1350" dirty="0"/>
          </a:p>
        </p:txBody>
      </p:sp>
      <p:sp>
        <p:nvSpPr>
          <p:cNvPr id="14" name="Shape 12"/>
          <p:cNvSpPr/>
          <p:nvPr/>
        </p:nvSpPr>
        <p:spPr>
          <a:xfrm>
            <a:off x="804672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Shape 13"/>
          <p:cNvSpPr/>
          <p:nvPr/>
        </p:nvSpPr>
        <p:spPr>
          <a:xfrm>
            <a:off x="8366760" y="2651760"/>
            <a:ext cx="914400" cy="914400"/>
          </a:xfrm>
          <a:prstGeom prst="roundRect">
            <a:avLst>
              <a:gd name="adj" fmla="val 50000"/>
            </a:avLst>
          </a:prstGeom>
          <a:solidFill>
            <a:srgbClr val="E3F0EA"/>
          </a:solidFill>
          <a:ln/>
        </p:spPr>
        <p:txBody>
          <a:bodyPr/>
          <a:p/>
        </p:txBody>
      </p:sp>
      <p:sp>
        <p:nvSpPr>
          <p:cNvPr id="16" name="Text 14"/>
          <p:cNvSpPr/>
          <p:nvPr/>
        </p:nvSpPr>
        <p:spPr>
          <a:xfrm>
            <a:off x="8366760" y="2651760"/>
            <a:ext cx="914400" cy="914400"/>
          </a:xfrm>
          <a:prstGeom prst="rect">
            <a:avLst/>
          </a:prstGeom>
          <a:noFill/>
          <a:ln/>
        </p:spPr>
        <p:txBody>
          <a:bodyPr wrap="square" rtlCol="0" anchor="ctr"/>
          <a:lstStyle/>
          <a:p>
            <a:pPr algn="ctr" indent="0" marL="0">
              <a:buNone/>
            </a:pPr>
            <a:r>
              <a:rPr lang="en-US" sz="2600" b="1" dirty="0">
                <a:solidFill>
                  <a:srgbClr val="1E7A5A"/>
                </a:solidFill>
                <a:latin typeface="Meiryo" pitchFamily="34" charset="0"/>
                <a:ea typeface="Meiryo" pitchFamily="34" charset="-122"/>
                <a:cs typeface="Meiryo" pitchFamily="34" charset="-120"/>
              </a:rPr>
              <a:t>03</a:t>
            </a:r>
            <a:endParaRPr lang="en-US" sz="2600" dirty="0"/>
          </a:p>
        </p:txBody>
      </p:sp>
      <p:sp>
        <p:nvSpPr>
          <p:cNvPr id="17" name="Text 15"/>
          <p:cNvSpPr/>
          <p:nvPr/>
        </p:nvSpPr>
        <p:spPr>
          <a:xfrm>
            <a:off x="833932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組み合わせで運営</a:t>
            </a:r>
            <a:endParaRPr lang="en-US" sz="1900" dirty="0"/>
          </a:p>
        </p:txBody>
      </p:sp>
      <p:sp>
        <p:nvSpPr>
          <p:cNvPr id="18" name="Text 16"/>
          <p:cNvSpPr/>
          <p:nvPr/>
        </p:nvSpPr>
        <p:spPr>
          <a:xfrm>
            <a:off x="833932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正社員だけで全時間帯を埋めず、必要な時間帯に短時間勤務者を組み合わせ、運営と収支を両立する。</a:t>
            </a:r>
            <a:endParaRPr lang="en-US" sz="1350" dirty="0"/>
          </a:p>
        </p:txBody>
      </p:sp>
      <p:sp>
        <p:nvSpPr>
          <p:cNvPr id="19" name="Text 17"/>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8"/>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本日の進め方（30〜40分想定）</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説明会の流れ</a:t>
            </a:r>
            <a:endParaRPr lang="en-US" sz="3000" dirty="0"/>
          </a:p>
        </p:txBody>
      </p:sp>
      <p:sp>
        <p:nvSpPr>
          <p:cNvPr id="4" name="Shape 2"/>
          <p:cNvSpPr/>
          <p:nvPr/>
        </p:nvSpPr>
        <p:spPr>
          <a:xfrm>
            <a:off x="548640" y="2148840"/>
            <a:ext cx="11091672" cy="502920"/>
          </a:xfrm>
          <a:prstGeom prst="rect">
            <a:avLst/>
          </a:prstGeom>
          <a:solidFill>
            <a:srgbClr val="FFFFFF"/>
          </a:solidFill>
          <a:ln/>
        </p:spPr>
        <p:txBody>
          <a:bodyPr/>
          <a:p/>
        </p:txBody>
      </p:sp>
      <p:sp>
        <p:nvSpPr>
          <p:cNvPr id="5" name="Shape 3"/>
          <p:cNvSpPr/>
          <p:nvPr/>
        </p:nvSpPr>
        <p:spPr>
          <a:xfrm>
            <a:off x="685800" y="2240280"/>
            <a:ext cx="320040" cy="320040"/>
          </a:xfrm>
          <a:prstGeom prst="roundRect">
            <a:avLst>
              <a:gd name="adj" fmla="val 48571"/>
            </a:avLst>
          </a:prstGeom>
          <a:solidFill>
            <a:srgbClr val="1B2A4A"/>
          </a:solidFill>
          <a:ln/>
        </p:spPr>
        <p:txBody>
          <a:bodyPr/>
          <a:p/>
        </p:txBody>
      </p:sp>
      <p:sp>
        <p:nvSpPr>
          <p:cNvPr id="6" name="Text 4"/>
          <p:cNvSpPr/>
          <p:nvPr/>
        </p:nvSpPr>
        <p:spPr>
          <a:xfrm>
            <a:off x="685800" y="224028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7" name="Text 5"/>
          <p:cNvSpPr/>
          <p:nvPr/>
        </p:nvSpPr>
        <p:spPr>
          <a:xfrm>
            <a:off x="1280160" y="214884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冒頭・目的</a:t>
            </a:r>
            <a:endParaRPr lang="en-US" sz="1500" dirty="0"/>
          </a:p>
        </p:txBody>
      </p:sp>
      <p:sp>
        <p:nvSpPr>
          <p:cNvPr id="8" name="Text 6"/>
          <p:cNvSpPr/>
          <p:nvPr/>
        </p:nvSpPr>
        <p:spPr>
          <a:xfrm>
            <a:off x="6400800" y="214884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3分</a:t>
            </a:r>
            <a:endParaRPr lang="en-US" sz="1300" dirty="0"/>
          </a:p>
        </p:txBody>
      </p:sp>
      <p:sp>
        <p:nvSpPr>
          <p:cNvPr id="9" name="Text 7"/>
          <p:cNvSpPr/>
          <p:nvPr/>
        </p:nvSpPr>
        <p:spPr>
          <a:xfrm>
            <a:off x="7589520" y="214884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なぜ急遽この説明会を行うのか</a:t>
            </a:r>
            <a:endParaRPr lang="en-US" sz="1250" dirty="0"/>
          </a:p>
        </p:txBody>
      </p:sp>
      <p:sp>
        <p:nvSpPr>
          <p:cNvPr id="10" name="Shape 8"/>
          <p:cNvSpPr/>
          <p:nvPr/>
        </p:nvSpPr>
        <p:spPr>
          <a:xfrm>
            <a:off x="685800" y="2743200"/>
            <a:ext cx="320040" cy="320040"/>
          </a:xfrm>
          <a:prstGeom prst="roundRect">
            <a:avLst>
              <a:gd name="adj" fmla="val 48571"/>
            </a:avLst>
          </a:prstGeom>
          <a:solidFill>
            <a:srgbClr val="1B2A4A"/>
          </a:solidFill>
          <a:ln/>
        </p:spPr>
        <p:txBody>
          <a:bodyPr/>
          <a:p/>
        </p:txBody>
      </p:sp>
      <p:sp>
        <p:nvSpPr>
          <p:cNvPr id="11" name="Text 9"/>
          <p:cNvSpPr/>
          <p:nvPr/>
        </p:nvSpPr>
        <p:spPr>
          <a:xfrm>
            <a:off x="685800" y="274320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2" name="Text 10"/>
          <p:cNvSpPr/>
          <p:nvPr/>
        </p:nvSpPr>
        <p:spPr>
          <a:xfrm>
            <a:off x="1280160" y="265176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背景・収支状況</a:t>
            </a:r>
            <a:endParaRPr lang="en-US" sz="1500" dirty="0"/>
          </a:p>
        </p:txBody>
      </p:sp>
      <p:sp>
        <p:nvSpPr>
          <p:cNvPr id="13" name="Text 11"/>
          <p:cNvSpPr/>
          <p:nvPr/>
        </p:nvSpPr>
        <p:spPr>
          <a:xfrm>
            <a:off x="6400800" y="265176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14" name="Text 12"/>
          <p:cNvSpPr/>
          <p:nvPr/>
        </p:nvSpPr>
        <p:spPr>
          <a:xfrm>
            <a:off x="7589520" y="265176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原価割れと人件費構造</a:t>
            </a:r>
            <a:endParaRPr lang="en-US" sz="1250" dirty="0"/>
          </a:p>
        </p:txBody>
      </p:sp>
      <p:sp>
        <p:nvSpPr>
          <p:cNvPr id="15" name="Shape 13"/>
          <p:cNvSpPr/>
          <p:nvPr/>
        </p:nvSpPr>
        <p:spPr>
          <a:xfrm>
            <a:off x="548640" y="3154680"/>
            <a:ext cx="11091672" cy="502920"/>
          </a:xfrm>
          <a:prstGeom prst="rect">
            <a:avLst/>
          </a:prstGeom>
          <a:solidFill>
            <a:srgbClr val="FFFFFF"/>
          </a:solidFill>
          <a:ln/>
        </p:spPr>
        <p:txBody>
          <a:bodyPr/>
          <a:p/>
        </p:txBody>
      </p:sp>
      <p:sp>
        <p:nvSpPr>
          <p:cNvPr id="16" name="Shape 14"/>
          <p:cNvSpPr/>
          <p:nvPr/>
        </p:nvSpPr>
        <p:spPr>
          <a:xfrm>
            <a:off x="685800" y="3246120"/>
            <a:ext cx="320040" cy="320040"/>
          </a:xfrm>
          <a:prstGeom prst="roundRect">
            <a:avLst>
              <a:gd name="adj" fmla="val 48571"/>
            </a:avLst>
          </a:prstGeom>
          <a:solidFill>
            <a:srgbClr val="1B2A4A"/>
          </a:solidFill>
          <a:ln/>
        </p:spPr>
        <p:txBody>
          <a:bodyPr/>
          <a:p/>
        </p:txBody>
      </p:sp>
      <p:sp>
        <p:nvSpPr>
          <p:cNvPr id="17" name="Text 15"/>
          <p:cNvSpPr/>
          <p:nvPr/>
        </p:nvSpPr>
        <p:spPr>
          <a:xfrm>
            <a:off x="685800" y="324612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8" name="Text 16"/>
          <p:cNvSpPr/>
          <p:nvPr/>
        </p:nvSpPr>
        <p:spPr>
          <a:xfrm>
            <a:off x="1280160" y="315468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人員の持ち方の転換</a:t>
            </a:r>
            <a:endParaRPr lang="en-US" sz="1500" dirty="0"/>
          </a:p>
        </p:txBody>
      </p:sp>
      <p:sp>
        <p:nvSpPr>
          <p:cNvPr id="19" name="Text 17"/>
          <p:cNvSpPr/>
          <p:nvPr/>
        </p:nvSpPr>
        <p:spPr>
          <a:xfrm>
            <a:off x="6400800" y="315468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7分</a:t>
            </a:r>
            <a:endParaRPr lang="en-US" sz="1300" dirty="0"/>
          </a:p>
        </p:txBody>
      </p:sp>
      <p:sp>
        <p:nvSpPr>
          <p:cNvPr id="20" name="Text 18"/>
          <p:cNvSpPr/>
          <p:nvPr/>
        </p:nvSpPr>
        <p:spPr>
          <a:xfrm>
            <a:off x="7589520" y="315468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「人数」から「時間×人数」へ</a:t>
            </a:r>
            <a:endParaRPr lang="en-US" sz="1250" dirty="0"/>
          </a:p>
        </p:txBody>
      </p:sp>
      <p:sp>
        <p:nvSpPr>
          <p:cNvPr id="21" name="Shape 19"/>
          <p:cNvSpPr/>
          <p:nvPr/>
        </p:nvSpPr>
        <p:spPr>
          <a:xfrm>
            <a:off x="685800" y="3749040"/>
            <a:ext cx="320040" cy="320040"/>
          </a:xfrm>
          <a:prstGeom prst="roundRect">
            <a:avLst>
              <a:gd name="adj" fmla="val 48571"/>
            </a:avLst>
          </a:prstGeom>
          <a:solidFill>
            <a:srgbClr val="1B2A4A"/>
          </a:solidFill>
          <a:ln/>
        </p:spPr>
        <p:txBody>
          <a:bodyPr/>
          <a:p/>
        </p:txBody>
      </p:sp>
      <p:sp>
        <p:nvSpPr>
          <p:cNvPr id="22" name="Text 20"/>
          <p:cNvSpPr/>
          <p:nvPr/>
        </p:nvSpPr>
        <p:spPr>
          <a:xfrm>
            <a:off x="685800" y="374904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3" name="Text 21"/>
          <p:cNvSpPr/>
          <p:nvPr/>
        </p:nvSpPr>
        <p:spPr>
          <a:xfrm>
            <a:off x="1280160" y="365760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短時間勤務者の基本設計</a:t>
            </a:r>
            <a:endParaRPr lang="en-US" sz="1500" dirty="0"/>
          </a:p>
        </p:txBody>
      </p:sp>
      <p:sp>
        <p:nvSpPr>
          <p:cNvPr id="24" name="Text 22"/>
          <p:cNvSpPr/>
          <p:nvPr/>
        </p:nvSpPr>
        <p:spPr>
          <a:xfrm>
            <a:off x="6400800" y="365760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25" name="Text 23"/>
          <p:cNvSpPr/>
          <p:nvPr/>
        </p:nvSpPr>
        <p:spPr>
          <a:xfrm>
            <a:off x="7589520" y="365760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勤務時間・対象・配置</a:t>
            </a:r>
            <a:endParaRPr lang="en-US" sz="1250" dirty="0"/>
          </a:p>
        </p:txBody>
      </p:sp>
      <p:sp>
        <p:nvSpPr>
          <p:cNvPr id="26" name="Shape 24"/>
          <p:cNvSpPr/>
          <p:nvPr/>
        </p:nvSpPr>
        <p:spPr>
          <a:xfrm>
            <a:off x="548640" y="4160520"/>
            <a:ext cx="11091672" cy="502920"/>
          </a:xfrm>
          <a:prstGeom prst="rect">
            <a:avLst/>
          </a:prstGeom>
          <a:solidFill>
            <a:srgbClr val="FFFFFF"/>
          </a:solidFill>
          <a:ln/>
        </p:spPr>
        <p:txBody>
          <a:bodyPr/>
          <a:p/>
        </p:txBody>
      </p:sp>
      <p:sp>
        <p:nvSpPr>
          <p:cNvPr id="27" name="Shape 25"/>
          <p:cNvSpPr/>
          <p:nvPr/>
        </p:nvSpPr>
        <p:spPr>
          <a:xfrm>
            <a:off x="685800" y="4251960"/>
            <a:ext cx="320040" cy="320040"/>
          </a:xfrm>
          <a:prstGeom prst="roundRect">
            <a:avLst>
              <a:gd name="adj" fmla="val 48571"/>
            </a:avLst>
          </a:prstGeom>
          <a:solidFill>
            <a:srgbClr val="1B2A4A"/>
          </a:solidFill>
          <a:ln/>
        </p:spPr>
        <p:txBody>
          <a:bodyPr/>
          <a:p/>
        </p:txBody>
      </p:sp>
      <p:sp>
        <p:nvSpPr>
          <p:cNvPr id="28" name="Text 26"/>
          <p:cNvSpPr/>
          <p:nvPr/>
        </p:nvSpPr>
        <p:spPr>
          <a:xfrm>
            <a:off x="685800" y="425196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29" name="Text 27"/>
          <p:cNvSpPr/>
          <p:nvPr/>
        </p:nvSpPr>
        <p:spPr>
          <a:xfrm>
            <a:off x="1280160" y="416052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現場での活用方法</a:t>
            </a:r>
            <a:endParaRPr lang="en-US" sz="1500" dirty="0"/>
          </a:p>
        </p:txBody>
      </p:sp>
      <p:sp>
        <p:nvSpPr>
          <p:cNvPr id="30" name="Text 28"/>
          <p:cNvSpPr/>
          <p:nvPr/>
        </p:nvSpPr>
        <p:spPr>
          <a:xfrm>
            <a:off x="6400800" y="416052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7分</a:t>
            </a:r>
            <a:endParaRPr lang="en-US" sz="1300" dirty="0"/>
          </a:p>
        </p:txBody>
      </p:sp>
      <p:sp>
        <p:nvSpPr>
          <p:cNvPr id="31" name="Text 29"/>
          <p:cNvSpPr/>
          <p:nvPr/>
        </p:nvSpPr>
        <p:spPr>
          <a:xfrm>
            <a:off x="7589520" y="416052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不足出面から採用人数を決める</a:t>
            </a:r>
            <a:endParaRPr lang="en-US" sz="1250" dirty="0"/>
          </a:p>
        </p:txBody>
      </p:sp>
      <p:sp>
        <p:nvSpPr>
          <p:cNvPr id="32" name="Shape 30"/>
          <p:cNvSpPr/>
          <p:nvPr/>
        </p:nvSpPr>
        <p:spPr>
          <a:xfrm>
            <a:off x="685800" y="4754880"/>
            <a:ext cx="320040" cy="320040"/>
          </a:xfrm>
          <a:prstGeom prst="roundRect">
            <a:avLst>
              <a:gd name="adj" fmla="val 48571"/>
            </a:avLst>
          </a:prstGeom>
          <a:solidFill>
            <a:srgbClr val="1B2A4A"/>
          </a:solidFill>
          <a:ln/>
        </p:spPr>
        <p:txBody>
          <a:bodyPr/>
          <a:p/>
        </p:txBody>
      </p:sp>
      <p:sp>
        <p:nvSpPr>
          <p:cNvPr id="33" name="Text 31"/>
          <p:cNvSpPr/>
          <p:nvPr/>
        </p:nvSpPr>
        <p:spPr>
          <a:xfrm>
            <a:off x="685800" y="475488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34" name="Text 32"/>
          <p:cNvSpPr/>
          <p:nvPr/>
        </p:nvSpPr>
        <p:spPr>
          <a:xfrm>
            <a:off x="1280160" y="466344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採用状況・課題</a:t>
            </a:r>
            <a:endParaRPr lang="en-US" sz="1500" dirty="0"/>
          </a:p>
        </p:txBody>
      </p:sp>
      <p:sp>
        <p:nvSpPr>
          <p:cNvPr id="35" name="Text 33"/>
          <p:cNvSpPr/>
          <p:nvPr/>
        </p:nvSpPr>
        <p:spPr>
          <a:xfrm>
            <a:off x="6400800" y="466344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36" name="Text 34"/>
          <p:cNvSpPr/>
          <p:nvPr/>
        </p:nvSpPr>
        <p:spPr>
          <a:xfrm>
            <a:off x="7589520" y="466344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成田・千歳先行、教育等の課題</a:t>
            </a:r>
            <a:endParaRPr lang="en-US" sz="1250" dirty="0"/>
          </a:p>
        </p:txBody>
      </p:sp>
      <p:sp>
        <p:nvSpPr>
          <p:cNvPr id="37" name="Shape 35"/>
          <p:cNvSpPr/>
          <p:nvPr/>
        </p:nvSpPr>
        <p:spPr>
          <a:xfrm>
            <a:off x="548640" y="5166360"/>
            <a:ext cx="11091672" cy="502920"/>
          </a:xfrm>
          <a:prstGeom prst="rect">
            <a:avLst/>
          </a:prstGeom>
          <a:solidFill>
            <a:srgbClr val="FFFFFF"/>
          </a:solidFill>
          <a:ln/>
        </p:spPr>
        <p:txBody>
          <a:bodyPr/>
          <a:p/>
        </p:txBody>
      </p:sp>
      <p:sp>
        <p:nvSpPr>
          <p:cNvPr id="38" name="Shape 36"/>
          <p:cNvSpPr/>
          <p:nvPr/>
        </p:nvSpPr>
        <p:spPr>
          <a:xfrm>
            <a:off x="685800" y="5257800"/>
            <a:ext cx="320040" cy="320040"/>
          </a:xfrm>
          <a:prstGeom prst="roundRect">
            <a:avLst>
              <a:gd name="adj" fmla="val 48571"/>
            </a:avLst>
          </a:prstGeom>
          <a:solidFill>
            <a:srgbClr val="1B2A4A"/>
          </a:solidFill>
          <a:ln/>
        </p:spPr>
        <p:txBody>
          <a:bodyPr/>
          <a:p/>
        </p:txBody>
      </p:sp>
      <p:sp>
        <p:nvSpPr>
          <p:cNvPr id="39" name="Text 37"/>
          <p:cNvSpPr/>
          <p:nvPr/>
        </p:nvSpPr>
        <p:spPr>
          <a:xfrm>
            <a:off x="685800" y="525780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7</a:t>
            </a:r>
            <a:endParaRPr lang="en-US" sz="1300" dirty="0"/>
          </a:p>
        </p:txBody>
      </p:sp>
      <p:sp>
        <p:nvSpPr>
          <p:cNvPr id="40" name="Text 38"/>
          <p:cNvSpPr/>
          <p:nvPr/>
        </p:nvSpPr>
        <p:spPr>
          <a:xfrm>
            <a:off x="1280160" y="516636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所属長へのお願い</a:t>
            </a:r>
            <a:endParaRPr lang="en-US" sz="1500" dirty="0"/>
          </a:p>
        </p:txBody>
      </p:sp>
      <p:sp>
        <p:nvSpPr>
          <p:cNvPr id="41" name="Text 39"/>
          <p:cNvSpPr/>
          <p:nvPr/>
        </p:nvSpPr>
        <p:spPr>
          <a:xfrm>
            <a:off x="6400800" y="516636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42" name="Text 40"/>
          <p:cNvSpPr/>
          <p:nvPr/>
        </p:nvSpPr>
        <p:spPr>
          <a:xfrm>
            <a:off x="7589520" y="516636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Winterに向けた必要出面の整理</a:t>
            </a:r>
            <a:endParaRPr lang="en-US" sz="1250" dirty="0"/>
          </a:p>
        </p:txBody>
      </p:sp>
      <p:sp>
        <p:nvSpPr>
          <p:cNvPr id="43" name="Shape 41"/>
          <p:cNvSpPr/>
          <p:nvPr/>
        </p:nvSpPr>
        <p:spPr>
          <a:xfrm>
            <a:off x="685800" y="5760720"/>
            <a:ext cx="320040" cy="320040"/>
          </a:xfrm>
          <a:prstGeom prst="roundRect">
            <a:avLst>
              <a:gd name="adj" fmla="val 48571"/>
            </a:avLst>
          </a:prstGeom>
          <a:solidFill>
            <a:srgbClr val="B8891B"/>
          </a:solidFill>
          <a:ln/>
        </p:spPr>
        <p:txBody>
          <a:bodyPr/>
          <a:p/>
        </p:txBody>
      </p:sp>
      <p:sp>
        <p:nvSpPr>
          <p:cNvPr id="44" name="Text 42"/>
          <p:cNvSpPr/>
          <p:nvPr/>
        </p:nvSpPr>
        <p:spPr>
          <a:xfrm>
            <a:off x="685800" y="576072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8</a:t>
            </a:r>
            <a:endParaRPr lang="en-US" sz="1300" dirty="0"/>
          </a:p>
        </p:txBody>
      </p:sp>
      <p:sp>
        <p:nvSpPr>
          <p:cNvPr id="45" name="Text 43"/>
          <p:cNvSpPr/>
          <p:nvPr/>
        </p:nvSpPr>
        <p:spPr>
          <a:xfrm>
            <a:off x="1280160" y="566928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質疑応答</a:t>
            </a:r>
            <a:endParaRPr lang="en-US" sz="1500" dirty="0"/>
          </a:p>
        </p:txBody>
      </p:sp>
      <p:sp>
        <p:nvSpPr>
          <p:cNvPr id="46" name="Text 44"/>
          <p:cNvSpPr/>
          <p:nvPr/>
        </p:nvSpPr>
        <p:spPr>
          <a:xfrm>
            <a:off x="6400800" y="566928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適宜</a:t>
            </a:r>
            <a:endParaRPr lang="en-US" sz="1300" dirty="0"/>
          </a:p>
        </p:txBody>
      </p:sp>
      <p:sp>
        <p:nvSpPr>
          <p:cNvPr id="47" name="Text 45"/>
          <p:cNvSpPr/>
          <p:nvPr/>
        </p:nvSpPr>
        <p:spPr>
          <a:xfrm>
            <a:off x="7589520" y="566928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懸念点を回収する</a:t>
            </a:r>
            <a:endParaRPr lang="en-US" sz="1250" dirty="0"/>
          </a:p>
        </p:txBody>
      </p:sp>
      <p:sp>
        <p:nvSpPr>
          <p:cNvPr id="48" name="Text 46"/>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49" name="Text 47"/>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685800" y="2286000"/>
            <a:ext cx="5486400" cy="365760"/>
          </a:xfrm>
          <a:prstGeom prst="rect">
            <a:avLst/>
          </a:prstGeom>
          <a:noFill/>
          <a:ln/>
        </p:spPr>
        <p:txBody>
          <a:bodyPr wrap="square" rtlCol="0" anchor="ctr"/>
          <a:lstStyle/>
          <a:p>
            <a:pPr indent="0" marL="0">
              <a:buNone/>
            </a:pPr>
            <a:r>
              <a:rPr lang="en-US" sz="1400" b="1" spc="300" kern="0" dirty="0">
                <a:solidFill>
                  <a:srgbClr val="7C93C6"/>
                </a:solidFill>
                <a:latin typeface="Meiryo" pitchFamily="34" charset="0"/>
                <a:ea typeface="Meiryo" pitchFamily="34" charset="-122"/>
                <a:cs typeface="Meiryo" pitchFamily="34" charset="-120"/>
              </a:rPr>
              <a:t>SECTION 01</a:t>
            </a:r>
            <a:endParaRPr lang="en-US" sz="1400" dirty="0"/>
          </a:p>
        </p:txBody>
      </p:sp>
      <p:sp>
        <p:nvSpPr>
          <p:cNvPr id="3" name="Text 1"/>
          <p:cNvSpPr/>
          <p:nvPr/>
        </p:nvSpPr>
        <p:spPr>
          <a:xfrm>
            <a:off x="658368" y="2743200"/>
            <a:ext cx="10789920" cy="914400"/>
          </a:xfrm>
          <a:prstGeom prst="rect">
            <a:avLst/>
          </a:prstGeom>
          <a:noFill/>
          <a:ln/>
        </p:spPr>
        <p:txBody>
          <a:bodyPr wrap="square" rtlCol="0" anchor="ctr"/>
          <a:lstStyle/>
          <a:p>
            <a:pPr indent="0" marL="0">
              <a:buNone/>
            </a:pPr>
            <a:r>
              <a:rPr lang="en-US" sz="3800" b="1" dirty="0">
                <a:solidFill>
                  <a:srgbClr val="FFFFFF"/>
                </a:solidFill>
                <a:latin typeface="Meiryo" pitchFamily="34" charset="0"/>
                <a:ea typeface="Meiryo" pitchFamily="34" charset="-122"/>
                <a:cs typeface="Meiryo" pitchFamily="34" charset="-120"/>
              </a:rPr>
              <a:t>成田・旅客部門の「現実」</a:t>
            </a:r>
            <a:endParaRPr lang="en-US" sz="3800" dirty="0"/>
          </a:p>
        </p:txBody>
      </p:sp>
      <p:sp>
        <p:nvSpPr>
          <p:cNvPr id="4" name="Text 2"/>
          <p:cNvSpPr/>
          <p:nvPr/>
        </p:nvSpPr>
        <p:spPr>
          <a:xfrm>
            <a:off x="685800" y="3703320"/>
            <a:ext cx="10789920" cy="457200"/>
          </a:xfrm>
          <a:prstGeom prst="rect">
            <a:avLst/>
          </a:prstGeom>
          <a:noFill/>
          <a:ln/>
        </p:spPr>
        <p:txBody>
          <a:bodyPr wrap="square" rtlCol="0" anchor="ctr"/>
          <a:lstStyle/>
          <a:p>
            <a:pPr indent="0" marL="0">
              <a:buNone/>
            </a:pPr>
            <a:r>
              <a:rPr lang="en-US" sz="1600" i="1" dirty="0">
                <a:solidFill>
                  <a:srgbClr val="CADCFC"/>
                </a:solidFill>
                <a:latin typeface="Meiryo" pitchFamily="34" charset="0"/>
                <a:ea typeface="Meiryo" pitchFamily="34" charset="-122"/>
                <a:cs typeface="Meiryo" pitchFamily="34" charset="-120"/>
              </a:rPr>
              <a:t>なぜ今、動かなければならないのか ― 2026年5月 基地別損益実績より</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背景①｜収支状況</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成田・旅客は「原価割れ」しています</a:t>
            </a:r>
            <a:endParaRPr lang="en-US" sz="3000" dirty="0"/>
          </a:p>
        </p:txBody>
      </p:sp>
      <p:sp>
        <p:nvSpPr>
          <p:cNvPr id="4" name="Text 2"/>
          <p:cNvSpPr/>
          <p:nvPr/>
        </p:nvSpPr>
        <p:spPr>
          <a:xfrm>
            <a:off x="566928" y="1664208"/>
            <a:ext cx="7315200" cy="32004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2026年5月 実績・旅客部門のみ（単位：千円）</a:t>
            </a:r>
            <a:endParaRPr lang="en-US" sz="1200" dirty="0"/>
          </a:p>
        </p:txBody>
      </p:sp>
      <p:sp>
        <p:nvSpPr>
          <p:cNvPr id="5" name="Shape 3"/>
          <p:cNvSpPr/>
          <p:nvPr/>
        </p:nvSpPr>
        <p:spPr>
          <a:xfrm>
            <a:off x="548640"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6" name="Text 4"/>
          <p:cNvSpPr/>
          <p:nvPr/>
        </p:nvSpPr>
        <p:spPr>
          <a:xfrm>
            <a:off x="822960"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営業損益</a:t>
            </a:r>
            <a:endParaRPr lang="en-US" sz="1500" dirty="0"/>
          </a:p>
        </p:txBody>
      </p:sp>
      <p:sp>
        <p:nvSpPr>
          <p:cNvPr id="7" name="Text 5"/>
          <p:cNvSpPr/>
          <p:nvPr/>
        </p:nvSpPr>
        <p:spPr>
          <a:xfrm>
            <a:off x="822960"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▲17,310</a:t>
            </a:r>
            <a:pPr indent="0" marL="0">
              <a:buNone/>
            </a:pPr>
            <a:r>
              <a:rPr lang="en-US" sz="1500" b="1" dirty="0">
                <a:solidFill>
                  <a:srgbClr val="C0392B"/>
                </a:solidFill>
                <a:latin typeface="Meiryo" pitchFamily="34" charset="0"/>
                <a:ea typeface="Meiryo" pitchFamily="34" charset="-122"/>
                <a:cs typeface="Meiryo" pitchFamily="34" charset="-120"/>
              </a:rPr>
              <a:t> 千円 / 月</a:t>
            </a:r>
            <a:endParaRPr lang="en-US" sz="4000" dirty="0"/>
          </a:p>
        </p:txBody>
      </p:sp>
      <p:sp>
        <p:nvSpPr>
          <p:cNvPr id="8" name="Text 6"/>
          <p:cNvSpPr/>
          <p:nvPr/>
        </p:nvSpPr>
        <p:spPr>
          <a:xfrm>
            <a:off x="822960"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営業利益率 ▲9.7%</a:t>
            </a:r>
            <a:endParaRPr lang="en-US" sz="1250" dirty="0"/>
          </a:p>
        </p:txBody>
      </p:sp>
      <p:sp>
        <p:nvSpPr>
          <p:cNvPr id="9" name="Shape 7"/>
          <p:cNvSpPr/>
          <p:nvPr/>
        </p:nvSpPr>
        <p:spPr>
          <a:xfrm>
            <a:off x="4407408"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Text 8"/>
          <p:cNvSpPr/>
          <p:nvPr/>
        </p:nvSpPr>
        <p:spPr>
          <a:xfrm>
            <a:off x="4681728"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売上原価率</a:t>
            </a:r>
            <a:endParaRPr lang="en-US" sz="1500" dirty="0"/>
          </a:p>
        </p:txBody>
      </p:sp>
      <p:sp>
        <p:nvSpPr>
          <p:cNvPr id="11" name="Text 9"/>
          <p:cNvSpPr/>
          <p:nvPr/>
        </p:nvSpPr>
        <p:spPr>
          <a:xfrm>
            <a:off x="4681728"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102.7</a:t>
            </a:r>
            <a:pPr indent="0" marL="0">
              <a:buNone/>
            </a:pPr>
            <a:r>
              <a:rPr lang="en-US" sz="1500" b="1" dirty="0">
                <a:solidFill>
                  <a:srgbClr val="C0392B"/>
                </a:solidFill>
                <a:latin typeface="Meiryo" pitchFamily="34" charset="0"/>
                <a:ea typeface="Meiryo" pitchFamily="34" charset="-122"/>
                <a:cs typeface="Meiryo" pitchFamily="34" charset="-120"/>
              </a:rPr>
              <a:t> %</a:t>
            </a:r>
            <a:endParaRPr lang="en-US" sz="4000" dirty="0"/>
          </a:p>
        </p:txBody>
      </p:sp>
      <p:sp>
        <p:nvSpPr>
          <p:cNvPr id="12" name="Text 10"/>
          <p:cNvSpPr/>
          <p:nvPr/>
        </p:nvSpPr>
        <p:spPr>
          <a:xfrm>
            <a:off x="4681728"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売上より原価が大きい</a:t>
            </a:r>
            <a:endParaRPr lang="en-US" sz="1250" dirty="0"/>
          </a:p>
        </p:txBody>
      </p:sp>
      <p:sp>
        <p:nvSpPr>
          <p:cNvPr id="13" name="Shape 11"/>
          <p:cNvSpPr/>
          <p:nvPr/>
        </p:nvSpPr>
        <p:spPr>
          <a:xfrm>
            <a:off x="8266176"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4" name="Text 12"/>
          <p:cNvSpPr/>
          <p:nvPr/>
        </p:nvSpPr>
        <p:spPr>
          <a:xfrm>
            <a:off x="8540496"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年換算の赤字</a:t>
            </a:r>
            <a:endParaRPr lang="en-US" sz="1500" dirty="0"/>
          </a:p>
        </p:txBody>
      </p:sp>
      <p:sp>
        <p:nvSpPr>
          <p:cNvPr id="15" name="Text 13"/>
          <p:cNvSpPr/>
          <p:nvPr/>
        </p:nvSpPr>
        <p:spPr>
          <a:xfrm>
            <a:off x="8540496"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約 ▲2.1</a:t>
            </a:r>
            <a:pPr indent="0" marL="0">
              <a:buNone/>
            </a:pPr>
            <a:r>
              <a:rPr lang="en-US" sz="1500" b="1" dirty="0">
                <a:solidFill>
                  <a:srgbClr val="C0392B"/>
                </a:solidFill>
                <a:latin typeface="Meiryo" pitchFamily="34" charset="0"/>
                <a:ea typeface="Meiryo" pitchFamily="34" charset="-122"/>
                <a:cs typeface="Meiryo" pitchFamily="34" charset="-120"/>
              </a:rPr>
              <a:t> 億円</a:t>
            </a:r>
            <a:endParaRPr lang="en-US" sz="4000" dirty="0"/>
          </a:p>
        </p:txBody>
      </p:sp>
      <p:sp>
        <p:nvSpPr>
          <p:cNvPr id="16" name="Text 14"/>
          <p:cNvSpPr/>
          <p:nvPr/>
        </p:nvSpPr>
        <p:spPr>
          <a:xfrm>
            <a:off x="8540496"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▲17,310千円 × 12ヶ月</a:t>
            </a:r>
            <a:endParaRPr lang="en-US" sz="1250" dirty="0"/>
          </a:p>
        </p:txBody>
      </p:sp>
      <p:sp>
        <p:nvSpPr>
          <p:cNvPr id="17" name="Shape 15"/>
          <p:cNvSpPr/>
          <p:nvPr/>
        </p:nvSpPr>
        <p:spPr>
          <a:xfrm>
            <a:off x="548640" y="4800600"/>
            <a:ext cx="11091672" cy="1234440"/>
          </a:xfrm>
          <a:prstGeom prst="roundRect">
            <a:avLst>
              <a:gd name="adj" fmla="val 5926"/>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8" name="Shape 16"/>
          <p:cNvSpPr/>
          <p:nvPr/>
        </p:nvSpPr>
        <p:spPr>
          <a:xfrm>
            <a:off x="548640" y="4800600"/>
            <a:ext cx="11091672" cy="1234440"/>
          </a:xfrm>
          <a:prstGeom prst="rect">
            <a:avLst/>
          </a:prstGeom>
          <a:solidFill>
            <a:srgbClr val="1B2A4A"/>
          </a:solidFill>
          <a:ln/>
        </p:spPr>
        <p:txBody>
          <a:bodyPr/>
          <a:p/>
        </p:txBody>
      </p:sp>
      <p:sp>
        <p:nvSpPr>
          <p:cNvPr id="19" name="Text 17"/>
          <p:cNvSpPr/>
          <p:nvPr/>
        </p:nvSpPr>
        <p:spPr>
          <a:xfrm>
            <a:off x="868680" y="4983480"/>
            <a:ext cx="10515600" cy="457200"/>
          </a:xfrm>
          <a:prstGeom prst="rect">
            <a:avLst/>
          </a:prstGeom>
          <a:noFill/>
          <a:ln/>
        </p:spPr>
        <p:txBody>
          <a:bodyPr wrap="square" rtlCol="0" anchor="ctr"/>
          <a:lstStyle/>
          <a:p>
            <a:pPr indent="0" marL="0">
              <a:buNone/>
            </a:pPr>
            <a:r>
              <a:rPr lang="en-US" sz="1600" dirty="0">
                <a:solidFill>
                  <a:srgbClr val="CADCFC"/>
                </a:solidFill>
                <a:latin typeface="Meiryo" pitchFamily="34" charset="0"/>
                <a:ea typeface="Meiryo" pitchFamily="34" charset="-122"/>
                <a:cs typeface="Meiryo" pitchFamily="34" charset="-120"/>
              </a:rPr>
              <a:t>売上 178,068  −  売上原価 182,818  =  </a:t>
            </a:r>
            <a:pPr indent="0" marL="0">
              <a:buNone/>
            </a:pPr>
            <a:r>
              <a:rPr lang="en-US" sz="1700" b="1" dirty="0">
                <a:solidFill>
                  <a:srgbClr val="FF9E93"/>
                </a:solidFill>
                <a:latin typeface="Meiryo" pitchFamily="34" charset="0"/>
                <a:ea typeface="Meiryo" pitchFamily="34" charset="-122"/>
                <a:cs typeface="Meiryo" pitchFamily="34" charset="-120"/>
              </a:rPr>
              <a:t>売上総損益 ▲4,751千円</a:t>
            </a:r>
            <a:endParaRPr lang="en-US" sz="1600" dirty="0"/>
          </a:p>
        </p:txBody>
      </p:sp>
      <p:sp>
        <p:nvSpPr>
          <p:cNvPr id="20" name="Text 18"/>
          <p:cNvSpPr/>
          <p:nvPr/>
        </p:nvSpPr>
        <p:spPr>
          <a:xfrm>
            <a:off x="868680" y="5486400"/>
            <a:ext cx="10515600" cy="457200"/>
          </a:xfrm>
          <a:prstGeom prst="rect">
            <a:avLst/>
          </a:prstGeom>
          <a:noFill/>
          <a:ln/>
        </p:spPr>
        <p:txBody>
          <a:bodyPr wrap="square" rtlCol="0" anchor="ctr"/>
          <a:lstStyle/>
          <a:p>
            <a:pPr indent="0" marL="0">
              <a:buNone/>
            </a:pPr>
            <a:r>
              <a:rPr lang="en-US" sz="1350" dirty="0">
                <a:solidFill>
                  <a:srgbClr val="E5ECF7"/>
                </a:solidFill>
                <a:latin typeface="Meiryo" pitchFamily="34" charset="0"/>
                <a:ea typeface="Meiryo" pitchFamily="34" charset="-122"/>
                <a:cs typeface="Meiryo" pitchFamily="34" charset="-120"/>
              </a:rPr>
              <a:t>販管費（12,560千円）を引く前の段階で、すでに赤字。まさに「原価割れ」です。</a:t>
            </a:r>
            <a:endParaRPr lang="en-US" sz="1350" dirty="0"/>
          </a:p>
        </p:txBody>
      </p:sp>
      <p:sp>
        <p:nvSpPr>
          <p:cNvPr id="21" name="Text 19"/>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2" name="Text 20"/>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背景②｜赤字の中身</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赤字の正体は「人件費」― 売上の9割</a:t>
            </a:r>
            <a:endParaRPr lang="en-US" sz="3000" dirty="0"/>
          </a:p>
        </p:txBody>
      </p:sp>
      <p:graphicFrame>
        <p:nvGraphicFramePr>
          <p:cNvPr id="4" name="Chart 0" descr=""/>
          <p:cNvGraphicFramePr/>
          <p:nvPr/>
        </p:nvGraphicFramePr>
        <p:xfrm>
          <a:off x="548640" y="2194560"/>
          <a:ext cx="5852160" cy="36576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1874520"/>
            <a:ext cx="5486400" cy="274320"/>
          </a:xfrm>
          <a:prstGeom prst="rect">
            <a:avLst/>
          </a:prstGeom>
          <a:noFill/>
          <a:ln/>
        </p:spPr>
        <p:txBody>
          <a:bodyPr wrap="square" rtlCol="0" anchor="ctr"/>
          <a:lstStyle/>
          <a:p>
            <a:pPr indent="0" marL="0">
              <a:buNone/>
            </a:pPr>
            <a:r>
              <a:rPr lang="en-US" sz="1100" dirty="0">
                <a:solidFill>
                  <a:srgbClr val="6B7686"/>
                </a:solidFill>
                <a:latin typeface="Meiryo" pitchFamily="34" charset="0"/>
                <a:ea typeface="Meiryo" pitchFamily="34" charset="-122"/>
                <a:cs typeface="Meiryo" pitchFamily="34" charset="-120"/>
              </a:rPr>
              <a:t>対売上構成比（％）</a:t>
            </a:r>
            <a:endParaRPr lang="en-US" sz="1100" dirty="0"/>
          </a:p>
        </p:txBody>
      </p:sp>
      <p:sp>
        <p:nvSpPr>
          <p:cNvPr id="6" name="Shape 3"/>
          <p:cNvSpPr/>
          <p:nvPr/>
        </p:nvSpPr>
        <p:spPr>
          <a:xfrm>
            <a:off x="6720840" y="2331720"/>
            <a:ext cx="4937760" cy="914400"/>
          </a:xfrm>
          <a:prstGeom prst="roundRect">
            <a:avLst>
              <a:gd name="adj" fmla="val 8000"/>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Text 4"/>
          <p:cNvSpPr/>
          <p:nvPr/>
        </p:nvSpPr>
        <p:spPr>
          <a:xfrm>
            <a:off x="6995160" y="2478024"/>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直接人件費［原価］</a:t>
            </a:r>
            <a:endParaRPr lang="en-US" sz="1450" dirty="0"/>
          </a:p>
        </p:txBody>
      </p:sp>
      <p:sp>
        <p:nvSpPr>
          <p:cNvPr id="8" name="Text 5"/>
          <p:cNvSpPr/>
          <p:nvPr/>
        </p:nvSpPr>
        <p:spPr>
          <a:xfrm>
            <a:off x="9921240" y="2423160"/>
            <a:ext cx="1463040" cy="731520"/>
          </a:xfrm>
          <a:prstGeom prst="rect">
            <a:avLst/>
          </a:prstGeom>
          <a:noFill/>
          <a:ln/>
        </p:spPr>
        <p:txBody>
          <a:bodyPr wrap="square" rtlCol="0" anchor="ctr"/>
          <a:lstStyle/>
          <a:p>
            <a:pPr algn="r" indent="0" marL="0">
              <a:buNone/>
            </a:pPr>
            <a:r>
              <a:rPr lang="en-US" sz="2400" b="1" dirty="0">
                <a:solidFill>
                  <a:srgbClr val="1B2A4A"/>
                </a:solidFill>
                <a:latin typeface="Meiryo" pitchFamily="34" charset="0"/>
                <a:ea typeface="Meiryo" pitchFamily="34" charset="-122"/>
                <a:cs typeface="Meiryo" pitchFamily="34" charset="-120"/>
              </a:rPr>
              <a:t>60.3%</a:t>
            </a:r>
            <a:endParaRPr lang="en-US" sz="2400" dirty="0"/>
          </a:p>
        </p:txBody>
      </p:sp>
      <p:sp>
        <p:nvSpPr>
          <p:cNvPr id="9" name="Text 6"/>
          <p:cNvSpPr/>
          <p:nvPr/>
        </p:nvSpPr>
        <p:spPr>
          <a:xfrm>
            <a:off x="6995160" y="2880360"/>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107,460千円</a:t>
            </a:r>
            <a:endParaRPr lang="en-US" sz="1250" dirty="0"/>
          </a:p>
        </p:txBody>
      </p:sp>
      <p:sp>
        <p:nvSpPr>
          <p:cNvPr id="10" name="Shape 7"/>
          <p:cNvSpPr/>
          <p:nvPr/>
        </p:nvSpPr>
        <p:spPr>
          <a:xfrm>
            <a:off x="6720840" y="3502152"/>
            <a:ext cx="4937760" cy="914400"/>
          </a:xfrm>
          <a:prstGeom prst="roundRect">
            <a:avLst>
              <a:gd name="adj" fmla="val 8000"/>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8"/>
          <p:cNvSpPr/>
          <p:nvPr/>
        </p:nvSpPr>
        <p:spPr>
          <a:xfrm>
            <a:off x="6995160" y="3648456"/>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派遣・業務委託費</a:t>
            </a:r>
            <a:endParaRPr lang="en-US" sz="1450" dirty="0"/>
          </a:p>
        </p:txBody>
      </p:sp>
      <p:sp>
        <p:nvSpPr>
          <p:cNvPr id="12" name="Text 9"/>
          <p:cNvSpPr/>
          <p:nvPr/>
        </p:nvSpPr>
        <p:spPr>
          <a:xfrm>
            <a:off x="9921240" y="3593592"/>
            <a:ext cx="1463040" cy="731520"/>
          </a:xfrm>
          <a:prstGeom prst="rect">
            <a:avLst/>
          </a:prstGeom>
          <a:noFill/>
          <a:ln/>
        </p:spPr>
        <p:txBody>
          <a:bodyPr wrap="square" rtlCol="0" anchor="ctr"/>
          <a:lstStyle/>
          <a:p>
            <a:pPr algn="r" indent="0" marL="0">
              <a:buNone/>
            </a:pPr>
            <a:r>
              <a:rPr lang="en-US" sz="2400" b="1" dirty="0">
                <a:solidFill>
                  <a:srgbClr val="2E5AAC"/>
                </a:solidFill>
                <a:latin typeface="Meiryo" pitchFamily="34" charset="0"/>
                <a:ea typeface="Meiryo" pitchFamily="34" charset="-122"/>
                <a:cs typeface="Meiryo" pitchFamily="34" charset="-120"/>
              </a:rPr>
              <a:t>30.7%</a:t>
            </a:r>
            <a:endParaRPr lang="en-US" sz="2400" dirty="0"/>
          </a:p>
        </p:txBody>
      </p:sp>
      <p:sp>
        <p:nvSpPr>
          <p:cNvPr id="13" name="Text 10"/>
          <p:cNvSpPr/>
          <p:nvPr/>
        </p:nvSpPr>
        <p:spPr>
          <a:xfrm>
            <a:off x="6995160" y="4050792"/>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54,675千円</a:t>
            </a:r>
            <a:endParaRPr lang="en-US" sz="1250" dirty="0"/>
          </a:p>
        </p:txBody>
      </p:sp>
      <p:sp>
        <p:nvSpPr>
          <p:cNvPr id="14" name="Shape 11"/>
          <p:cNvSpPr/>
          <p:nvPr/>
        </p:nvSpPr>
        <p:spPr>
          <a:xfrm>
            <a:off x="6720840" y="4672584"/>
            <a:ext cx="4937760" cy="1143000"/>
          </a:xfrm>
          <a:prstGeom prst="roundRect">
            <a:avLst>
              <a:gd name="adj" fmla="val 64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Text 12"/>
          <p:cNvSpPr/>
          <p:nvPr/>
        </p:nvSpPr>
        <p:spPr>
          <a:xfrm>
            <a:off x="6995160" y="4818888"/>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人件費 + 派遣 合計</a:t>
            </a:r>
            <a:endParaRPr lang="en-US" sz="1450" dirty="0"/>
          </a:p>
        </p:txBody>
      </p:sp>
      <p:sp>
        <p:nvSpPr>
          <p:cNvPr id="16" name="Text 13"/>
          <p:cNvSpPr/>
          <p:nvPr/>
        </p:nvSpPr>
        <p:spPr>
          <a:xfrm>
            <a:off x="9921240" y="4764024"/>
            <a:ext cx="1463040" cy="960120"/>
          </a:xfrm>
          <a:prstGeom prst="rect">
            <a:avLst/>
          </a:prstGeom>
          <a:noFill/>
          <a:ln/>
        </p:spPr>
        <p:txBody>
          <a:bodyPr wrap="square" rtlCol="0" anchor="ctr"/>
          <a:lstStyle/>
          <a:p>
            <a:pPr algn="r" indent="0" marL="0">
              <a:buNone/>
            </a:pPr>
            <a:r>
              <a:rPr lang="en-US" sz="3000" b="1" dirty="0">
                <a:solidFill>
                  <a:srgbClr val="C0392B"/>
                </a:solidFill>
                <a:latin typeface="Meiryo" pitchFamily="34" charset="0"/>
                <a:ea typeface="Meiryo" pitchFamily="34" charset="-122"/>
                <a:cs typeface="Meiryo" pitchFamily="34" charset="-120"/>
              </a:rPr>
              <a:t>91.1%</a:t>
            </a:r>
            <a:endParaRPr lang="en-US" sz="3000" dirty="0"/>
          </a:p>
        </p:txBody>
      </p:sp>
      <p:sp>
        <p:nvSpPr>
          <p:cNvPr id="17" name="Text 14"/>
          <p:cNvSpPr/>
          <p:nvPr/>
        </p:nvSpPr>
        <p:spPr>
          <a:xfrm>
            <a:off x="6995160" y="5330952"/>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162,135千円</a:t>
            </a:r>
            <a:endParaRPr lang="en-US" sz="1250" dirty="0"/>
          </a:p>
        </p:txBody>
      </p:sp>
      <p:sp>
        <p:nvSpPr>
          <p:cNvPr id="18" name="Text 15"/>
          <p:cNvSpPr/>
          <p:nvPr/>
        </p:nvSpPr>
        <p:spPr>
          <a:xfrm>
            <a:off x="6995160" y="5541264"/>
            <a:ext cx="4389120" cy="274320"/>
          </a:xfrm>
          <a:prstGeom prst="rect">
            <a:avLst/>
          </a:prstGeom>
          <a:noFill/>
          <a:ln/>
        </p:spPr>
        <p:txBody>
          <a:bodyPr wrap="square" rtlCol="0" anchor="ctr"/>
          <a:lstStyle/>
          <a:p>
            <a:pPr indent="0" marL="0">
              <a:buNone/>
            </a:pPr>
            <a:r>
              <a:rPr lang="en-US" sz="1200" b="1" dirty="0">
                <a:solidFill>
                  <a:srgbClr val="C0392B"/>
                </a:solidFill>
                <a:latin typeface="Meiryo" pitchFamily="34" charset="0"/>
                <a:ea typeface="Meiryo" pitchFamily="34" charset="-122"/>
                <a:cs typeface="Meiryo" pitchFamily="34" charset="-120"/>
              </a:rPr>
              <a:t>＝ 売上のほとんどが人にかかる費用</a:t>
            </a:r>
            <a:endParaRPr lang="en-US" sz="1200" dirty="0"/>
          </a:p>
        </p:txBody>
      </p:sp>
      <p:sp>
        <p:nvSpPr>
          <p:cNvPr id="19" name="Text 16"/>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7"/>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背景③｜他基地との比較</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黒字の基地もある。成田だけが突出して赤い</a:t>
            </a:r>
            <a:endParaRPr lang="en-US" sz="3000" dirty="0"/>
          </a:p>
        </p:txBody>
      </p:sp>
      <p:graphicFrame>
        <p:nvGraphicFramePr>
          <p:cNvPr id="4" name="Chart 0" descr=""/>
          <p:cNvGraphicFramePr/>
          <p:nvPr/>
        </p:nvGraphicFramePr>
        <p:xfrm>
          <a:off x="548640" y="2148840"/>
          <a:ext cx="7406640" cy="3886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1847088"/>
            <a:ext cx="6400800" cy="274320"/>
          </a:xfrm>
          <a:prstGeom prst="rect">
            <a:avLst/>
          </a:prstGeom>
          <a:noFill/>
          <a:ln/>
        </p:spPr>
        <p:txBody>
          <a:bodyPr wrap="square" rtlCol="0" anchor="ctr"/>
          <a:lstStyle/>
          <a:p>
            <a:pPr indent="0" marL="0">
              <a:buNone/>
            </a:pPr>
            <a:r>
              <a:rPr lang="en-US" sz="1100" dirty="0">
                <a:solidFill>
                  <a:srgbClr val="6B7686"/>
                </a:solidFill>
                <a:latin typeface="Meiryo" pitchFamily="34" charset="0"/>
                <a:ea typeface="Meiryo" pitchFamily="34" charset="-122"/>
                <a:cs typeface="Meiryo" pitchFamily="34" charset="-120"/>
              </a:rPr>
              <a:t>旅客部門のみ・営業損益（千円/月）</a:t>
            </a:r>
            <a:endParaRPr lang="en-US" sz="1100" dirty="0"/>
          </a:p>
        </p:txBody>
      </p:sp>
      <p:sp>
        <p:nvSpPr>
          <p:cNvPr id="6" name="Shape 3"/>
          <p:cNvSpPr/>
          <p:nvPr/>
        </p:nvSpPr>
        <p:spPr>
          <a:xfrm>
            <a:off x="8229600" y="2331720"/>
            <a:ext cx="3410712" cy="3566160"/>
          </a:xfrm>
          <a:prstGeom prst="roundRect">
            <a:avLst>
              <a:gd name="adj" fmla="val 2145"/>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Shape 4"/>
          <p:cNvSpPr/>
          <p:nvPr/>
        </p:nvSpPr>
        <p:spPr>
          <a:xfrm>
            <a:off x="8229600" y="2331720"/>
            <a:ext cx="3410712" cy="3566160"/>
          </a:xfrm>
          <a:prstGeom prst="rect">
            <a:avLst/>
          </a:prstGeom>
          <a:solidFill>
            <a:srgbClr val="1B2A4A"/>
          </a:solidFill>
          <a:ln/>
        </p:spPr>
        <p:txBody>
          <a:bodyPr/>
          <a:p/>
        </p:txBody>
      </p:sp>
      <p:sp>
        <p:nvSpPr>
          <p:cNvPr id="8" name="Text 5"/>
          <p:cNvSpPr/>
          <p:nvPr/>
        </p:nvSpPr>
        <p:spPr>
          <a:xfrm>
            <a:off x="8503920" y="2560320"/>
            <a:ext cx="2834640" cy="457200"/>
          </a:xfrm>
          <a:prstGeom prst="rect">
            <a:avLst/>
          </a:prstGeom>
          <a:noFill/>
          <a:ln/>
        </p:spPr>
        <p:txBody>
          <a:bodyPr wrap="square" rtlCol="0" anchor="ctr"/>
          <a:lstStyle/>
          <a:p>
            <a:pPr indent="0" marL="0">
              <a:buNone/>
            </a:pPr>
            <a:r>
              <a:rPr lang="en-US" sz="1800" b="1" dirty="0">
                <a:solidFill>
                  <a:srgbClr val="CADCFC"/>
                </a:solidFill>
                <a:latin typeface="Meiryo" pitchFamily="34" charset="0"/>
                <a:ea typeface="Meiryo" pitchFamily="34" charset="-122"/>
                <a:cs typeface="Meiryo" pitchFamily="34" charset="-120"/>
              </a:rPr>
              <a:t>成田</a:t>
            </a:r>
            <a:endParaRPr lang="en-US" sz="1800" dirty="0"/>
          </a:p>
        </p:txBody>
      </p:sp>
      <p:sp>
        <p:nvSpPr>
          <p:cNvPr id="9" name="Text 6"/>
          <p:cNvSpPr/>
          <p:nvPr/>
        </p:nvSpPr>
        <p:spPr>
          <a:xfrm>
            <a:off x="8503920" y="3063240"/>
            <a:ext cx="2926080" cy="822960"/>
          </a:xfrm>
          <a:prstGeom prst="rect">
            <a:avLst/>
          </a:prstGeom>
          <a:noFill/>
          <a:ln/>
        </p:spPr>
        <p:txBody>
          <a:bodyPr wrap="square" rtlCol="0" anchor="ctr"/>
          <a:lstStyle/>
          <a:p>
            <a:pPr indent="0" marL="0">
              <a:buNone/>
            </a:pPr>
            <a:r>
              <a:rPr lang="en-US" sz="4000" b="1" dirty="0">
                <a:solidFill>
                  <a:srgbClr val="FF9E93"/>
                </a:solidFill>
                <a:latin typeface="Meiryo" pitchFamily="34" charset="0"/>
                <a:ea typeface="Meiryo" pitchFamily="34" charset="-122"/>
                <a:cs typeface="Meiryo" pitchFamily="34" charset="-120"/>
              </a:rPr>
              <a:t>▲17,310</a:t>
            </a:r>
            <a:endParaRPr lang="en-US" sz="4000" dirty="0"/>
          </a:p>
        </p:txBody>
      </p:sp>
      <p:sp>
        <p:nvSpPr>
          <p:cNvPr id="10" name="Text 7"/>
          <p:cNvSpPr/>
          <p:nvPr/>
        </p:nvSpPr>
        <p:spPr>
          <a:xfrm>
            <a:off x="8503920" y="3886200"/>
            <a:ext cx="2834640" cy="365760"/>
          </a:xfrm>
          <a:prstGeom prst="rect">
            <a:avLst/>
          </a:prstGeom>
          <a:noFill/>
          <a:ln/>
        </p:spPr>
        <p:txBody>
          <a:bodyPr wrap="square" rtlCol="0" anchor="ctr"/>
          <a:lstStyle/>
          <a:p>
            <a:pPr indent="0" marL="0">
              <a:buNone/>
            </a:pPr>
            <a:r>
              <a:rPr lang="en-US" sz="1400" dirty="0">
                <a:solidFill>
                  <a:srgbClr val="CADCFC"/>
                </a:solidFill>
                <a:latin typeface="Meiryo" pitchFamily="34" charset="0"/>
                <a:ea typeface="Meiryo" pitchFamily="34" charset="-122"/>
                <a:cs typeface="Meiryo" pitchFamily="34" charset="-120"/>
              </a:rPr>
              <a:t>千円 / 月</a:t>
            </a:r>
            <a:endParaRPr lang="en-US" sz="1400" dirty="0"/>
          </a:p>
        </p:txBody>
      </p:sp>
      <p:sp>
        <p:nvSpPr>
          <p:cNvPr id="11" name="Shape 8"/>
          <p:cNvSpPr/>
          <p:nvPr/>
        </p:nvSpPr>
        <p:spPr>
          <a:xfrm>
            <a:off x="8503920" y="4434840"/>
            <a:ext cx="2834640" cy="0"/>
          </a:xfrm>
          <a:prstGeom prst="line">
            <a:avLst/>
          </a:prstGeom>
          <a:noFill/>
          <a:ln w="12700">
            <a:solidFill>
              <a:srgbClr val="3C5488"/>
            </a:solidFill>
            <a:prstDash val="solid"/>
          </a:ln>
        </p:spPr>
        <p:txBody>
          <a:bodyPr/>
          <a:p/>
        </p:txBody>
      </p:sp>
      <p:sp>
        <p:nvSpPr>
          <p:cNvPr id="12" name="Text 9"/>
          <p:cNvSpPr/>
          <p:nvPr/>
        </p:nvSpPr>
        <p:spPr>
          <a:xfrm>
            <a:off x="8503920" y="4617720"/>
            <a:ext cx="2926080" cy="1188720"/>
          </a:xfrm>
          <a:prstGeom prst="rect">
            <a:avLst/>
          </a:prstGeom>
          <a:noFill/>
          <a:ln/>
        </p:spPr>
        <p:txBody>
          <a:bodyPr wrap="square" rtlCol="0" anchor="ctr"/>
          <a:lstStyle/>
          <a:p>
            <a:pPr indent="0" marL="0">
              <a:lnSpc>
                <a:spcPct val="120000"/>
              </a:lnSpc>
              <a:buNone/>
            </a:pPr>
            <a:r>
              <a:rPr lang="en-US" sz="1250" dirty="0">
                <a:solidFill>
                  <a:srgbClr val="E5ECF7"/>
                </a:solidFill>
                <a:latin typeface="Meiryo" pitchFamily="34" charset="0"/>
                <a:ea typeface="Meiryo" pitchFamily="34" charset="-122"/>
                <a:cs typeface="Meiryo" pitchFamily="34" charset="-120"/>
              </a:rPr>
              <a:t>羽田・千歳・那覇の旅客は黒字。成田の赤字は、単月で他基地の黒字を食いつぶす規模です。</a:t>
            </a:r>
            <a:endParaRPr lang="en-US" sz="1250" dirty="0"/>
          </a:p>
        </p:txBody>
      </p:sp>
      <p:sp>
        <p:nvSpPr>
          <p:cNvPr id="13" name="Text 10"/>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4" name="Text 11"/>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背景④｜全社インパクト</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会社の赤字の過半は、成田から出ています</a:t>
            </a:r>
            <a:endParaRPr lang="en-US" sz="3000" dirty="0"/>
          </a:p>
        </p:txBody>
      </p:sp>
      <p:sp>
        <p:nvSpPr>
          <p:cNvPr id="4" name="Shape 2"/>
          <p:cNvSpPr/>
          <p:nvPr/>
        </p:nvSpPr>
        <p:spPr>
          <a:xfrm>
            <a:off x="548640" y="2286000"/>
            <a:ext cx="3657600" cy="3200400"/>
          </a:xfrm>
          <a:prstGeom prst="roundRect">
            <a:avLst>
              <a:gd name="adj" fmla="val 2286"/>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788920"/>
            <a:ext cx="3108960" cy="1280160"/>
          </a:xfrm>
          <a:prstGeom prst="rect">
            <a:avLst/>
          </a:prstGeom>
          <a:noFill/>
          <a:ln/>
        </p:spPr>
        <p:txBody>
          <a:bodyPr wrap="square" rtlCol="0" anchor="ctr"/>
          <a:lstStyle/>
          <a:p>
            <a:pPr algn="ctr" indent="0" marL="0">
              <a:buNone/>
            </a:pPr>
            <a:r>
              <a:rPr lang="en-US" sz="6400" b="1" dirty="0">
                <a:solidFill>
                  <a:srgbClr val="C0392B"/>
                </a:solidFill>
                <a:latin typeface="Meiryo" pitchFamily="34" charset="0"/>
                <a:ea typeface="Meiryo" pitchFamily="34" charset="-122"/>
                <a:cs typeface="Meiryo" pitchFamily="34" charset="-120"/>
              </a:rPr>
              <a:t>30%</a:t>
            </a:r>
            <a:endParaRPr lang="en-US" sz="6400" dirty="0"/>
          </a:p>
        </p:txBody>
      </p:sp>
      <p:sp>
        <p:nvSpPr>
          <p:cNvPr id="6" name="Text 4"/>
          <p:cNvSpPr/>
          <p:nvPr/>
        </p:nvSpPr>
        <p:spPr>
          <a:xfrm>
            <a:off x="822960" y="4160520"/>
            <a:ext cx="3108960" cy="457200"/>
          </a:xfrm>
          <a:prstGeom prst="rect">
            <a:avLst/>
          </a:prstGeom>
          <a:noFill/>
          <a:ln/>
        </p:spPr>
        <p:txBody>
          <a:bodyPr wrap="square" rtlCol="0" anchor="ctr"/>
          <a:lstStyle/>
          <a:p>
            <a:pPr algn="ctr" indent="0" marL="0">
              <a:buNone/>
            </a:pPr>
            <a:r>
              <a:rPr lang="en-US" sz="1800" b="1" dirty="0">
                <a:solidFill>
                  <a:srgbClr val="1F2733"/>
                </a:solidFill>
                <a:latin typeface="Meiryo" pitchFamily="34" charset="0"/>
                <a:ea typeface="Meiryo" pitchFamily="34" charset="-122"/>
                <a:cs typeface="Meiryo" pitchFamily="34" charset="-120"/>
              </a:rPr>
              <a:t>成田・旅客部門</a:t>
            </a:r>
            <a:endParaRPr lang="en-US" sz="1800" dirty="0"/>
          </a:p>
        </p:txBody>
      </p:sp>
      <p:sp>
        <p:nvSpPr>
          <p:cNvPr id="7" name="Text 5"/>
          <p:cNvSpPr/>
          <p:nvPr/>
        </p:nvSpPr>
        <p:spPr>
          <a:xfrm>
            <a:off x="822960" y="4663440"/>
            <a:ext cx="3108960" cy="640080"/>
          </a:xfrm>
          <a:prstGeom prst="rect">
            <a:avLst/>
          </a:prstGeom>
          <a:noFill/>
          <a:ln/>
        </p:spPr>
        <p:txBody>
          <a:bodyPr wrap="square" rtlCol="0" anchor="ctr"/>
          <a:lstStyle/>
          <a:p>
            <a:pPr algn="ctr" indent="0" marL="0">
              <a:lnSpc>
                <a:spcPct val="115000"/>
              </a:lnSpc>
              <a:buNone/>
            </a:pPr>
            <a:r>
              <a:rPr lang="en-US" sz="1250" dirty="0">
                <a:solidFill>
                  <a:srgbClr val="6B7686"/>
                </a:solidFill>
                <a:latin typeface="Meiryo" pitchFamily="34" charset="0"/>
                <a:ea typeface="Meiryo" pitchFamily="34" charset="-122"/>
                <a:cs typeface="Meiryo" pitchFamily="34" charset="-120"/>
              </a:rPr>
              <a:t>全社営業赤字（▲57,970千円/月）に占める割合</a:t>
            </a:r>
            <a:endParaRPr lang="en-US" sz="1250" dirty="0"/>
          </a:p>
        </p:txBody>
      </p:sp>
      <p:sp>
        <p:nvSpPr>
          <p:cNvPr id="8" name="Shape 6"/>
          <p:cNvSpPr/>
          <p:nvPr/>
        </p:nvSpPr>
        <p:spPr>
          <a:xfrm>
            <a:off x="4526280" y="2286000"/>
            <a:ext cx="3657600" cy="3200400"/>
          </a:xfrm>
          <a:prstGeom prst="roundRect">
            <a:avLst>
              <a:gd name="adj" fmla="val 2286"/>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4800600" y="2788920"/>
            <a:ext cx="3108960" cy="1280160"/>
          </a:xfrm>
          <a:prstGeom prst="rect">
            <a:avLst/>
          </a:prstGeom>
          <a:noFill/>
          <a:ln/>
        </p:spPr>
        <p:txBody>
          <a:bodyPr wrap="square" rtlCol="0" anchor="ctr"/>
          <a:lstStyle/>
          <a:p>
            <a:pPr algn="ctr" indent="0" marL="0">
              <a:buNone/>
            </a:pPr>
            <a:r>
              <a:rPr lang="en-US" sz="6400" b="1" dirty="0">
                <a:solidFill>
                  <a:srgbClr val="1B2A4A"/>
                </a:solidFill>
                <a:latin typeface="Meiryo" pitchFamily="34" charset="0"/>
                <a:ea typeface="Meiryo" pitchFamily="34" charset="-122"/>
                <a:cs typeface="Meiryo" pitchFamily="34" charset="-120"/>
              </a:rPr>
              <a:t>58%</a:t>
            </a:r>
            <a:endParaRPr lang="en-US" sz="6400" dirty="0"/>
          </a:p>
        </p:txBody>
      </p:sp>
      <p:sp>
        <p:nvSpPr>
          <p:cNvPr id="10" name="Text 8"/>
          <p:cNvSpPr/>
          <p:nvPr/>
        </p:nvSpPr>
        <p:spPr>
          <a:xfrm>
            <a:off x="4800600" y="4160520"/>
            <a:ext cx="3108960" cy="457200"/>
          </a:xfrm>
          <a:prstGeom prst="rect">
            <a:avLst/>
          </a:prstGeom>
          <a:noFill/>
          <a:ln/>
        </p:spPr>
        <p:txBody>
          <a:bodyPr wrap="square" rtlCol="0" anchor="ctr"/>
          <a:lstStyle/>
          <a:p>
            <a:pPr algn="ctr" indent="0" marL="0">
              <a:buNone/>
            </a:pPr>
            <a:r>
              <a:rPr lang="en-US" sz="1800" b="1" dirty="0">
                <a:solidFill>
                  <a:srgbClr val="1F2733"/>
                </a:solidFill>
                <a:latin typeface="Meiryo" pitchFamily="34" charset="0"/>
                <a:ea typeface="Meiryo" pitchFamily="34" charset="-122"/>
                <a:cs typeface="Meiryo" pitchFamily="34" charset="-120"/>
              </a:rPr>
              <a:t>成田・全部門</a:t>
            </a:r>
            <a:endParaRPr lang="en-US" sz="1800" dirty="0"/>
          </a:p>
        </p:txBody>
      </p:sp>
      <p:sp>
        <p:nvSpPr>
          <p:cNvPr id="11" name="Text 9"/>
          <p:cNvSpPr/>
          <p:nvPr/>
        </p:nvSpPr>
        <p:spPr>
          <a:xfrm>
            <a:off x="4800600" y="4663440"/>
            <a:ext cx="3108960" cy="640080"/>
          </a:xfrm>
          <a:prstGeom prst="rect">
            <a:avLst/>
          </a:prstGeom>
          <a:noFill/>
          <a:ln/>
        </p:spPr>
        <p:txBody>
          <a:bodyPr wrap="square" rtlCol="0" anchor="ctr"/>
          <a:lstStyle/>
          <a:p>
            <a:pPr algn="ctr" indent="0" marL="0">
              <a:lnSpc>
                <a:spcPct val="115000"/>
              </a:lnSpc>
              <a:buNone/>
            </a:pPr>
            <a:r>
              <a:rPr lang="en-US" sz="1250" dirty="0">
                <a:solidFill>
                  <a:srgbClr val="6B7686"/>
                </a:solidFill>
                <a:latin typeface="Meiryo" pitchFamily="34" charset="0"/>
                <a:ea typeface="Meiryo" pitchFamily="34" charset="-122"/>
                <a:cs typeface="Meiryo" pitchFamily="34" charset="-120"/>
              </a:rPr>
              <a:t>会社の赤字の半分以上が成田</a:t>
            </a:r>
            <a:endParaRPr lang="en-US" sz="1250" dirty="0"/>
          </a:p>
        </p:txBody>
      </p:sp>
      <p:sp>
        <p:nvSpPr>
          <p:cNvPr id="12" name="Shape 10"/>
          <p:cNvSpPr/>
          <p:nvPr/>
        </p:nvSpPr>
        <p:spPr>
          <a:xfrm>
            <a:off x="8549640" y="2286000"/>
            <a:ext cx="3090672" cy="3200400"/>
          </a:xfrm>
          <a:prstGeom prst="roundRect">
            <a:avLst>
              <a:gd name="adj" fmla="val 2367"/>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Shape 11"/>
          <p:cNvSpPr/>
          <p:nvPr/>
        </p:nvSpPr>
        <p:spPr>
          <a:xfrm>
            <a:off x="8549640" y="2286000"/>
            <a:ext cx="3090672" cy="3200400"/>
          </a:xfrm>
          <a:prstGeom prst="rect">
            <a:avLst/>
          </a:prstGeom>
          <a:solidFill>
            <a:srgbClr val="1B2A4A"/>
          </a:solidFill>
          <a:ln/>
        </p:spPr>
        <p:txBody>
          <a:bodyPr/>
          <a:p/>
        </p:txBody>
      </p:sp>
      <p:sp>
        <p:nvSpPr>
          <p:cNvPr id="14" name="Text 12"/>
          <p:cNvSpPr/>
          <p:nvPr/>
        </p:nvSpPr>
        <p:spPr>
          <a:xfrm>
            <a:off x="8823960" y="2560320"/>
            <a:ext cx="2560320" cy="365760"/>
          </a:xfrm>
          <a:prstGeom prst="rect">
            <a:avLst/>
          </a:prstGeom>
          <a:noFill/>
          <a:ln/>
        </p:spPr>
        <p:txBody>
          <a:bodyPr wrap="square" rtlCol="0" anchor="ctr"/>
          <a:lstStyle/>
          <a:p>
            <a:pPr indent="0" marL="0">
              <a:buNone/>
            </a:pPr>
            <a:r>
              <a:rPr lang="en-US" sz="1500" b="1" spc="200" kern="0" dirty="0">
                <a:solidFill>
                  <a:srgbClr val="7C93C6"/>
                </a:solidFill>
                <a:latin typeface="Meiryo" pitchFamily="34" charset="0"/>
                <a:ea typeface="Meiryo" pitchFamily="34" charset="-122"/>
                <a:cs typeface="Meiryo" pitchFamily="34" charset="-120"/>
              </a:rPr>
              <a:t>結論</a:t>
            </a:r>
            <a:endParaRPr lang="en-US" sz="1500" dirty="0"/>
          </a:p>
        </p:txBody>
      </p:sp>
      <p:sp>
        <p:nvSpPr>
          <p:cNvPr id="15" name="Text 13"/>
          <p:cNvSpPr/>
          <p:nvPr/>
        </p:nvSpPr>
        <p:spPr>
          <a:xfrm>
            <a:off x="8823960" y="3063240"/>
            <a:ext cx="2542032" cy="2194560"/>
          </a:xfrm>
          <a:prstGeom prst="rect">
            <a:avLst/>
          </a:prstGeom>
          <a:noFill/>
          <a:ln/>
        </p:spPr>
        <p:txBody>
          <a:bodyPr wrap="square" rtlCol="0" anchor="ctr"/>
          <a:lstStyle/>
          <a:p>
            <a:pPr indent="0" marL="0">
              <a:lnSpc>
                <a:spcPct val="120000"/>
              </a:lnSpc>
              <a:buNone/>
            </a:pPr>
            <a:r>
              <a:rPr lang="en-US" sz="2100" b="1" dirty="0">
                <a:solidFill>
                  <a:srgbClr val="FFFFFF"/>
                </a:solidFill>
                <a:latin typeface="Meiryo" pitchFamily="34" charset="0"/>
                <a:ea typeface="Meiryo" pitchFamily="34" charset="-122"/>
                <a:cs typeface="Meiryo" pitchFamily="34" charset="-120"/>
              </a:rPr>
              <a:t>成田・旅客を直さない限り、全社の収支は直らない。</a:t>
            </a:r>
            <a:endParaRPr lang="en-US" sz="2100" dirty="0"/>
          </a:p>
        </p:txBody>
      </p:sp>
      <p:sp>
        <p:nvSpPr>
          <p:cNvPr id="16" name="Text 14"/>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7" name="Text 15"/>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背景⑤｜時間帯別の需要（実線表より）</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成田の人員需要は、一日を通して一定ではない</a:t>
            </a:r>
          </a:p>
        </p:txBody>
      </p:sp>
      <p:graphicFrame>
        <p:nvGraphicFramePr>
          <p:cNvPr id="4" name="Chart 3"/>
          <p:cNvGraphicFramePr>
            <a:graphicFrameLocks noGrp="1"/>
          </p:cNvGraphicFramePr>
          <p:nvPr/>
        </p:nvGraphicFramePr>
        <p:xfrm>
          <a:off x="502920" y="1965960"/>
          <a:ext cx="7040880" cy="3977639"/>
        </p:xfrm>
        <a:graphic>
          <a:graphicData uri="http://schemas.openxmlformats.org/drawingml/2006/chart">
            <c:chart xmlns:c="http://schemas.openxmlformats.org/drawingml/2006/chart" r:id="rId2"/>
          </a:graphicData>
        </a:graphic>
      </p:graphicFrame>
      <p:sp>
        <p:nvSpPr>
          <p:cNvPr id="5" name="Rectangle 4"/>
          <p:cNvSpPr/>
          <p:nvPr/>
        </p:nvSpPr>
        <p:spPr>
          <a:xfrm>
            <a:off x="7818120" y="2011680"/>
            <a:ext cx="3840480" cy="658368"/>
          </a:xfrm>
          <a:prstGeom prst="rect">
            <a:avLst/>
          </a:prstGeom>
          <a:solidFill>
            <a:srgbClr val="E5EC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朝　　大量の人員が必要</a:t>
            </a:r>
          </a:p>
          <a:p>
            <a:pPr algn="l">
              <a:spcBef>
                <a:spcPts val="0"/>
              </a:spcBef>
              <a:spcAft>
                <a:spcPts val="200"/>
              </a:spcAft>
            </a:pPr>
            <a:r>
              <a:rPr sz="1300" b="1">
                <a:solidFill>
                  <a:srgbClr val="1F2733"/>
                </a:solidFill>
                <a:latin typeface="Meiryo"/>
              </a:rPr>
              <a:t>CTR OPEN 05:55〜、到着が集中</a:t>
            </a:r>
          </a:p>
        </p:txBody>
      </p:sp>
      <p:sp>
        <p:nvSpPr>
          <p:cNvPr id="6" name="Rectangle 5"/>
          <p:cNvSpPr/>
          <p:nvPr/>
        </p:nvSpPr>
        <p:spPr>
          <a:xfrm>
            <a:off x="7818120" y="2761488"/>
            <a:ext cx="3840480" cy="658368"/>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12時以降　必要人員が急減</a:t>
            </a:r>
          </a:p>
          <a:p>
            <a:pPr algn="l">
              <a:spcBef>
                <a:spcPts val="0"/>
              </a:spcBef>
              <a:spcAft>
                <a:spcPts val="200"/>
              </a:spcAft>
            </a:pPr>
            <a:r>
              <a:rPr sz="1300" b="1">
                <a:solidFill>
                  <a:srgbClr val="1F2733"/>
                </a:solidFill>
                <a:latin typeface="Meiryo"/>
              </a:rPr>
              <a:t>夕方まで低水準が続く</a:t>
            </a:r>
          </a:p>
        </p:txBody>
      </p:sp>
      <p:sp>
        <p:nvSpPr>
          <p:cNvPr id="7" name="Rectangle 6"/>
          <p:cNvSpPr/>
          <p:nvPr/>
        </p:nvSpPr>
        <p:spPr>
          <a:xfrm>
            <a:off x="7818120" y="3511296"/>
            <a:ext cx="3840480" cy="658368"/>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一方 フルタイム社員は月166時間</a:t>
            </a:r>
          </a:p>
          <a:p>
            <a:pPr algn="l">
              <a:spcBef>
                <a:spcPts val="0"/>
              </a:spcBef>
              <a:spcAft>
                <a:spcPts val="200"/>
              </a:spcAft>
            </a:pPr>
            <a:r>
              <a:rPr sz="1300" b="1">
                <a:solidFill>
                  <a:srgbClr val="1F2733"/>
                </a:solidFill>
                <a:latin typeface="Meiryo"/>
              </a:rPr>
              <a:t>朝のピーク後も勤務時間が残る</a:t>
            </a:r>
          </a:p>
        </p:txBody>
      </p:sp>
      <p:sp>
        <p:nvSpPr>
          <p:cNvPr id="8" name="Rounded Rectangle 7"/>
          <p:cNvSpPr/>
          <p:nvPr/>
        </p:nvSpPr>
        <p:spPr>
          <a:xfrm>
            <a:off x="7818120" y="4434840"/>
            <a:ext cx="3840480" cy="96012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700" b="1">
                <a:solidFill>
                  <a:srgbClr val="FFFFFF"/>
                </a:solidFill>
                <a:latin typeface="Meiryo"/>
              </a:rPr>
              <a:t>需要の形と、</a:t>
            </a:r>
          </a:p>
          <a:p>
            <a:pPr algn="ctr">
              <a:spcBef>
                <a:spcPts val="0"/>
              </a:spcBef>
              <a:spcAft>
                <a:spcPts val="200"/>
              </a:spcAft>
            </a:pPr>
            <a:r>
              <a:rPr sz="1700" b="1">
                <a:solidFill>
                  <a:srgbClr val="FFFFFF"/>
                </a:solidFill>
                <a:latin typeface="Meiryo"/>
              </a:rPr>
              <a:t>雇用の形は合っているか？</a:t>
            </a:r>
          </a:p>
        </p:txBody>
      </p:sp>
      <p:sp>
        <p:nvSpPr>
          <p:cNvPr id="9" name="Rectangle 8"/>
          <p:cNvSpPr/>
          <p:nvPr/>
        </p:nvSpPr>
        <p:spPr>
          <a:xfrm>
            <a:off x="502920" y="5989320"/>
            <a:ext cx="7040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 成田空港事業部がハンドリングを担当する便の同時稼働数（CTR OPEN〜出発）。出典：週間線表。</a:t>
            </a:r>
          </a:p>
        </p:txBody>
      </p:sp>
      <p:sp>
        <p:nvSpPr>
          <p:cNvPr id="10" name="Rectangle 9"/>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1" name="Rectangle 10"/>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背景⑤｜補足：便ごとの地上作業帯</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朝に便が集中している（便ごとの作業時間帯）</a:t>
            </a:r>
          </a:p>
        </p:txBody>
      </p:sp>
      <p:sp>
        <p:nvSpPr>
          <p:cNvPr id="4" name="Rectangle 3"/>
          <p:cNvSpPr/>
          <p:nvPr/>
        </p:nvSpPr>
        <p:spPr>
          <a:xfrm>
            <a:off x="214884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2024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5</a:t>
            </a:r>
          </a:p>
        </p:txBody>
      </p:sp>
      <p:sp>
        <p:nvSpPr>
          <p:cNvPr id="6" name="Rectangle 5"/>
          <p:cNvSpPr/>
          <p:nvPr/>
        </p:nvSpPr>
        <p:spPr>
          <a:xfrm>
            <a:off x="277672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4812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6</a:t>
            </a:r>
          </a:p>
        </p:txBody>
      </p:sp>
      <p:sp>
        <p:nvSpPr>
          <p:cNvPr id="8" name="Rectangle 7"/>
          <p:cNvSpPr/>
          <p:nvPr/>
        </p:nvSpPr>
        <p:spPr>
          <a:xfrm>
            <a:off x="340461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17601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7</a:t>
            </a:r>
          </a:p>
        </p:txBody>
      </p:sp>
      <p:sp>
        <p:nvSpPr>
          <p:cNvPr id="10" name="Rectangle 9"/>
          <p:cNvSpPr/>
          <p:nvPr/>
        </p:nvSpPr>
        <p:spPr>
          <a:xfrm>
            <a:off x="403250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80390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8</a:t>
            </a:r>
          </a:p>
        </p:txBody>
      </p:sp>
      <p:sp>
        <p:nvSpPr>
          <p:cNvPr id="12" name="Rectangle 11"/>
          <p:cNvSpPr/>
          <p:nvPr/>
        </p:nvSpPr>
        <p:spPr>
          <a:xfrm>
            <a:off x="466039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179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9</a:t>
            </a:r>
          </a:p>
        </p:txBody>
      </p:sp>
      <p:sp>
        <p:nvSpPr>
          <p:cNvPr id="14" name="Rectangle 13"/>
          <p:cNvSpPr/>
          <p:nvPr/>
        </p:nvSpPr>
        <p:spPr>
          <a:xfrm>
            <a:off x="528828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5968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10</a:t>
            </a:r>
          </a:p>
        </p:txBody>
      </p:sp>
      <p:sp>
        <p:nvSpPr>
          <p:cNvPr id="16" name="Rectangle 15"/>
          <p:cNvSpPr/>
          <p:nvPr/>
        </p:nvSpPr>
        <p:spPr>
          <a:xfrm>
            <a:off x="591616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11</a:t>
            </a:r>
          </a:p>
        </p:txBody>
      </p:sp>
      <p:sp>
        <p:nvSpPr>
          <p:cNvPr id="18" name="Rectangle 17"/>
          <p:cNvSpPr/>
          <p:nvPr/>
        </p:nvSpPr>
        <p:spPr>
          <a:xfrm>
            <a:off x="654405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1545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12</a:t>
            </a:r>
          </a:p>
        </p:txBody>
      </p:sp>
      <p:sp>
        <p:nvSpPr>
          <p:cNvPr id="20" name="Rectangle 19"/>
          <p:cNvSpPr/>
          <p:nvPr/>
        </p:nvSpPr>
        <p:spPr>
          <a:xfrm>
            <a:off x="717194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4334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13</a:t>
            </a:r>
          </a:p>
        </p:txBody>
      </p:sp>
      <p:sp>
        <p:nvSpPr>
          <p:cNvPr id="22" name="Rectangle 21"/>
          <p:cNvSpPr/>
          <p:nvPr/>
        </p:nvSpPr>
        <p:spPr>
          <a:xfrm>
            <a:off x="779983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7123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14</a:t>
            </a:r>
          </a:p>
        </p:txBody>
      </p:sp>
      <p:sp>
        <p:nvSpPr>
          <p:cNvPr id="24" name="Rectangle 23"/>
          <p:cNvSpPr/>
          <p:nvPr/>
        </p:nvSpPr>
        <p:spPr>
          <a:xfrm>
            <a:off x="842772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9912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15</a:t>
            </a:r>
          </a:p>
        </p:txBody>
      </p:sp>
      <p:sp>
        <p:nvSpPr>
          <p:cNvPr id="26" name="Rectangle 25"/>
          <p:cNvSpPr/>
          <p:nvPr/>
        </p:nvSpPr>
        <p:spPr>
          <a:xfrm>
            <a:off x="905560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2700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16</a:t>
            </a:r>
          </a:p>
        </p:txBody>
      </p:sp>
      <p:sp>
        <p:nvSpPr>
          <p:cNvPr id="28" name="Rectangle 27"/>
          <p:cNvSpPr/>
          <p:nvPr/>
        </p:nvSpPr>
        <p:spPr>
          <a:xfrm>
            <a:off x="968349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5489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17</a:t>
            </a:r>
          </a:p>
        </p:txBody>
      </p:sp>
      <p:sp>
        <p:nvSpPr>
          <p:cNvPr id="30" name="Rectangle 29"/>
          <p:cNvSpPr/>
          <p:nvPr/>
        </p:nvSpPr>
        <p:spPr>
          <a:xfrm>
            <a:off x="1031138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08278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18</a:t>
            </a:r>
          </a:p>
        </p:txBody>
      </p:sp>
      <p:sp>
        <p:nvSpPr>
          <p:cNvPr id="32" name="Rectangle 31"/>
          <p:cNvSpPr/>
          <p:nvPr/>
        </p:nvSpPr>
        <p:spPr>
          <a:xfrm>
            <a:off x="1093927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71067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19</a:t>
            </a:r>
          </a:p>
        </p:txBody>
      </p:sp>
      <p:sp>
        <p:nvSpPr>
          <p:cNvPr id="34" name="Rectangle 33"/>
          <p:cNvSpPr/>
          <p:nvPr/>
        </p:nvSpPr>
        <p:spPr>
          <a:xfrm>
            <a:off x="1156716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33856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20</a:t>
            </a:r>
          </a:p>
        </p:txBody>
      </p:sp>
      <p:sp>
        <p:nvSpPr>
          <p:cNvPr id="36" name="Rectangle 35"/>
          <p:cNvSpPr/>
          <p:nvPr/>
        </p:nvSpPr>
        <p:spPr>
          <a:xfrm>
            <a:off x="6544056" y="2148840"/>
            <a:ext cx="15240" cy="3703320"/>
          </a:xfrm>
          <a:prstGeom prst="rect">
            <a:avLst/>
          </a:prstGeom>
          <a:solidFill>
            <a:srgbClr val="9AA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2170230"/>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VJ822/823</a:t>
            </a:r>
          </a:p>
        </p:txBody>
      </p:sp>
      <p:sp>
        <p:nvSpPr>
          <p:cNvPr id="38" name="Rounded Rectangle 37"/>
          <p:cNvSpPr/>
          <p:nvPr/>
        </p:nvSpPr>
        <p:spPr>
          <a:xfrm>
            <a:off x="2724404" y="2188518"/>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2434753"/>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5J5062/063</a:t>
            </a:r>
          </a:p>
        </p:txBody>
      </p:sp>
      <p:sp>
        <p:nvSpPr>
          <p:cNvPr id="40" name="Rounded Rectangle 39"/>
          <p:cNvSpPr/>
          <p:nvPr/>
        </p:nvSpPr>
        <p:spPr>
          <a:xfrm>
            <a:off x="2724404" y="2453041"/>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2920" y="2699276"/>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VN318/319</a:t>
            </a:r>
          </a:p>
        </p:txBody>
      </p:sp>
      <p:sp>
        <p:nvSpPr>
          <p:cNvPr id="42" name="Rounded Rectangle 41"/>
          <p:cNvSpPr/>
          <p:nvPr/>
        </p:nvSpPr>
        <p:spPr>
          <a:xfrm>
            <a:off x="2776728" y="2717564"/>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2963799"/>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AM AM058/057</a:t>
            </a:r>
          </a:p>
        </p:txBody>
      </p:sp>
      <p:sp>
        <p:nvSpPr>
          <p:cNvPr id="44" name="Rounded Rectangle 43"/>
          <p:cNvSpPr/>
          <p:nvPr/>
        </p:nvSpPr>
        <p:spPr>
          <a:xfrm>
            <a:off x="3090672" y="2982087"/>
            <a:ext cx="1935988"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3228321"/>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VN310/311</a:t>
            </a:r>
          </a:p>
        </p:txBody>
      </p:sp>
      <p:sp>
        <p:nvSpPr>
          <p:cNvPr id="46" name="Rounded Rectangle 45"/>
          <p:cNvSpPr/>
          <p:nvPr/>
        </p:nvSpPr>
        <p:spPr>
          <a:xfrm>
            <a:off x="3090672" y="3246609"/>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02920" y="3492844"/>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VJ932/933</a:t>
            </a:r>
          </a:p>
        </p:txBody>
      </p:sp>
      <p:sp>
        <p:nvSpPr>
          <p:cNvPr id="48" name="Rounded Rectangle 47"/>
          <p:cNvSpPr/>
          <p:nvPr/>
        </p:nvSpPr>
        <p:spPr>
          <a:xfrm>
            <a:off x="3090672" y="3511132"/>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2920" y="3757367"/>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VN306/307</a:t>
            </a:r>
          </a:p>
        </p:txBody>
      </p:sp>
      <p:sp>
        <p:nvSpPr>
          <p:cNvPr id="50" name="Rounded Rectangle 49"/>
          <p:cNvSpPr/>
          <p:nvPr/>
        </p:nvSpPr>
        <p:spPr>
          <a:xfrm>
            <a:off x="3090672" y="3775655"/>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02920" y="4021890"/>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VN316/317</a:t>
            </a:r>
          </a:p>
        </p:txBody>
      </p:sp>
      <p:sp>
        <p:nvSpPr>
          <p:cNvPr id="52" name="Rounded Rectangle 51"/>
          <p:cNvSpPr/>
          <p:nvPr/>
        </p:nvSpPr>
        <p:spPr>
          <a:xfrm>
            <a:off x="3718560" y="4040178"/>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02920" y="4286413"/>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UL UL454/455</a:t>
            </a:r>
          </a:p>
        </p:txBody>
      </p:sp>
      <p:sp>
        <p:nvSpPr>
          <p:cNvPr id="54" name="Rounded Rectangle 53"/>
          <p:cNvSpPr/>
          <p:nvPr/>
        </p:nvSpPr>
        <p:spPr>
          <a:xfrm>
            <a:off x="4137152" y="4304701"/>
            <a:ext cx="1935988"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2920" y="4550936"/>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RF RF392/391</a:t>
            </a:r>
          </a:p>
        </p:txBody>
      </p:sp>
      <p:sp>
        <p:nvSpPr>
          <p:cNvPr id="56" name="Rounded Rectangle 55"/>
          <p:cNvSpPr/>
          <p:nvPr/>
        </p:nvSpPr>
        <p:spPr>
          <a:xfrm>
            <a:off x="4137152" y="4569224"/>
            <a:ext cx="1569720"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02920" y="4815458"/>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5J5068/069</a:t>
            </a:r>
          </a:p>
        </p:txBody>
      </p:sp>
      <p:sp>
        <p:nvSpPr>
          <p:cNvPr id="58" name="Rounded Rectangle 57"/>
          <p:cNvSpPr/>
          <p:nvPr/>
        </p:nvSpPr>
        <p:spPr>
          <a:xfrm>
            <a:off x="4189476" y="4833746"/>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2920" y="5079981"/>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5J5054/055</a:t>
            </a:r>
          </a:p>
        </p:txBody>
      </p:sp>
      <p:sp>
        <p:nvSpPr>
          <p:cNvPr id="60" name="Rounded Rectangle 59"/>
          <p:cNvSpPr/>
          <p:nvPr/>
        </p:nvSpPr>
        <p:spPr>
          <a:xfrm>
            <a:off x="5759196" y="5098269"/>
            <a:ext cx="1883664" cy="174585"/>
          </a:xfrm>
          <a:prstGeom prst="roundRect">
            <a:avLst>
              <a:gd name="adj" fmla="val 35000"/>
            </a:avLst>
          </a:prstGeom>
          <a:solidFill>
            <a:srgbClr val="D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02920" y="5344504"/>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VJ934/935</a:t>
            </a:r>
          </a:p>
        </p:txBody>
      </p:sp>
      <p:sp>
        <p:nvSpPr>
          <p:cNvPr id="62" name="Rounded Rectangle 61"/>
          <p:cNvSpPr/>
          <p:nvPr/>
        </p:nvSpPr>
        <p:spPr>
          <a:xfrm>
            <a:off x="7485888" y="5362792"/>
            <a:ext cx="1883664" cy="174585"/>
          </a:xfrm>
          <a:prstGeom prst="roundRect">
            <a:avLst>
              <a:gd name="adj" fmla="val 35000"/>
            </a:avLst>
          </a:prstGeom>
          <a:solidFill>
            <a:srgbClr val="B88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02920" y="5609027"/>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5J5056/057</a:t>
            </a:r>
          </a:p>
        </p:txBody>
      </p:sp>
      <p:sp>
        <p:nvSpPr>
          <p:cNvPr id="64" name="Rounded Rectangle 63"/>
          <p:cNvSpPr/>
          <p:nvPr/>
        </p:nvSpPr>
        <p:spPr>
          <a:xfrm>
            <a:off x="9212580" y="5627315"/>
            <a:ext cx="1883663" cy="174585"/>
          </a:xfrm>
          <a:prstGeom prst="roundRect">
            <a:avLst>
              <a:gd name="adj" fmla="val 35000"/>
            </a:avLst>
          </a:prstGeom>
          <a:solidFill>
            <a:srgbClr val="B88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48840" y="5943600"/>
            <a:ext cx="94183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000" b="0">
                <a:solidFill>
                  <a:srgbClr val="6B7686"/>
                </a:solidFill>
                <a:latin typeface="Meiryo"/>
              </a:rPr>
              <a:t>各バー＝CTR OPEN〜出発（STD）。青＝朝便、橙＝昼・夕便。12時（灰線）以降はほぼ空く。</a:t>
            </a:r>
          </a:p>
        </p:txBody>
      </p:sp>
      <p:sp>
        <p:nvSpPr>
          <p:cNvPr id="66" name="Rectangle 65"/>
          <p:cNvSpPr/>
          <p:nvPr/>
        </p:nvSpPr>
        <p:spPr>
          <a:xfrm>
            <a:off x="502920" y="6053328"/>
            <a:ext cx="10972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出典：週間線表（成田空港事業部ハンドリング便）。UL＝火・木・土運航。</a:t>
            </a:r>
          </a:p>
        </p:txBody>
      </p:sp>
      <p:sp>
        <p:nvSpPr>
          <p:cNvPr id="67" name="Rectangle 6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68" name="Rectangle 6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現場での活用｜配置候補便（人事部案）</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短時間勤務者の配置候補便</a:t>
            </a:r>
          </a:p>
        </p:txBody>
      </p:sp>
      <p:sp>
        <p:nvSpPr>
          <p:cNvPr id="4" name="Rectangle 3"/>
          <p:cNvSpPr/>
          <p:nvPr/>
        </p:nvSpPr>
        <p:spPr>
          <a:xfrm>
            <a:off x="6126480" y="960120"/>
            <a:ext cx="54864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2000" b="1">
                <a:solidFill>
                  <a:srgbClr val="2E5AAC"/>
                </a:solidFill>
                <a:latin typeface="Meiryo"/>
              </a:rPr>
              <a:t>VN / AM / RF / 5J / UL / VJ</a:t>
            </a:r>
          </a:p>
        </p:txBody>
      </p:sp>
      <p:graphicFrame>
        <p:nvGraphicFramePr>
          <p:cNvPr id="5" name="Table 4"/>
          <p:cNvGraphicFramePr>
            <a:graphicFrameLocks noGrp="1"/>
          </p:cNvGraphicFramePr>
          <p:nvPr/>
        </p:nvGraphicFramePr>
        <p:xfrm>
          <a:off x="502920" y="1965960"/>
          <a:ext cx="10241280" cy="3977639"/>
        </p:xfrm>
        <a:graphic>
          <a:graphicData uri="http://schemas.openxmlformats.org/drawingml/2006/table">
            <a:tbl>
              <a:tblPr>
                <a:tableStyleId>{5C22544A-7EE6-4342-B048-85BDC9FD1C3A}</a:tableStyleId>
              </a:tblPr>
              <a:tblGrid>
                <a:gridCol w="1005840"/>
                <a:gridCol w="1645920"/>
                <a:gridCol w="914400"/>
                <a:gridCol w="914400"/>
                <a:gridCol w="914400"/>
                <a:gridCol w="1188720"/>
                <a:gridCol w="914400"/>
                <a:gridCol w="2743200"/>
              </a:tblGrid>
              <a:tr h="265175">
                <a:tc>
                  <a:txBody>
                    <a:bodyPr wrap="square"/>
                    <a:lstStyle/>
                    <a:p>
                      <a:pPr algn="ctr"/>
                      <a:r>
                        <a:rPr sz="1000" b="1">
                          <a:solidFill>
                            <a:srgbClr val="FFFFFF"/>
                          </a:solidFill>
                          <a:latin typeface="Meiryo"/>
                        </a:rPr>
                        <a:t>Carrier</a:t>
                      </a:r>
                    </a:p>
                  </a:txBody>
                  <a:tcPr marL="36576" marR="36576" marT="18288" marB="18288" anchor="ctr">
                    <a:solidFill>
                      <a:srgbClr val="1B2A4A"/>
                    </a:solidFill>
                  </a:tcPr>
                </a:tc>
                <a:tc>
                  <a:txBody>
                    <a:bodyPr wrap="square"/>
                    <a:lstStyle/>
                    <a:p>
                      <a:pPr algn="ctr"/>
                      <a:r>
                        <a:rPr sz="1000" b="1">
                          <a:solidFill>
                            <a:srgbClr val="FFFFFF"/>
                          </a:solidFill>
                          <a:latin typeface="Meiryo"/>
                        </a:rPr>
                        <a:t>便名</a:t>
                      </a:r>
                    </a:p>
                  </a:txBody>
                  <a:tcPr marL="36576" marR="36576" marT="18288" marB="18288" anchor="ctr">
                    <a:solidFill>
                      <a:srgbClr val="1B2A4A"/>
                    </a:solidFill>
                  </a:tcPr>
                </a:tc>
                <a:tc>
                  <a:txBody>
                    <a:bodyPr wrap="square"/>
                    <a:lstStyle/>
                    <a:p>
                      <a:pPr algn="ctr"/>
                      <a:r>
                        <a:rPr sz="1000" b="1">
                          <a:solidFill>
                            <a:srgbClr val="FFFFFF"/>
                          </a:solidFill>
                          <a:latin typeface="Meiryo"/>
                        </a:rPr>
                        <a:t>行先</a:t>
                      </a:r>
                    </a:p>
                  </a:txBody>
                  <a:tcPr marL="36576" marR="36576" marT="18288" marB="18288" anchor="ctr">
                    <a:solidFill>
                      <a:srgbClr val="1B2A4A"/>
                    </a:solidFill>
                  </a:tcPr>
                </a:tc>
                <a:tc>
                  <a:txBody>
                    <a:bodyPr wrap="square"/>
                    <a:lstStyle/>
                    <a:p>
                      <a:pPr algn="ctr"/>
                      <a:r>
                        <a:rPr sz="1000" b="1">
                          <a:solidFill>
                            <a:srgbClr val="FFFFFF"/>
                          </a:solidFill>
                          <a:latin typeface="Meiryo"/>
                        </a:rPr>
                        <a:t>到着</a:t>
                      </a:r>
                    </a:p>
                  </a:txBody>
                  <a:tcPr marL="36576" marR="36576" marT="18288" marB="18288" anchor="ctr">
                    <a:solidFill>
                      <a:srgbClr val="1B2A4A"/>
                    </a:solidFill>
                  </a:tcPr>
                </a:tc>
                <a:tc>
                  <a:txBody>
                    <a:bodyPr wrap="square"/>
                    <a:lstStyle/>
                    <a:p>
                      <a:pPr algn="ctr"/>
                      <a:r>
                        <a:rPr sz="1000" b="1">
                          <a:solidFill>
                            <a:srgbClr val="FFFFFF"/>
                          </a:solidFill>
                          <a:latin typeface="Meiryo"/>
                        </a:rPr>
                        <a:t>出発</a:t>
                      </a:r>
                    </a:p>
                  </a:txBody>
                  <a:tcPr marL="36576" marR="36576" marT="18288" marB="18288" anchor="ctr">
                    <a:solidFill>
                      <a:srgbClr val="1B2A4A"/>
                    </a:solidFill>
                  </a:tcPr>
                </a:tc>
                <a:tc>
                  <a:txBody>
                    <a:bodyPr wrap="square"/>
                    <a:lstStyle/>
                    <a:p>
                      <a:pPr algn="ctr"/>
                      <a:r>
                        <a:rPr sz="1000" b="1">
                          <a:solidFill>
                            <a:srgbClr val="FFFFFF"/>
                          </a:solidFill>
                          <a:latin typeface="Meiryo"/>
                        </a:rPr>
                        <a:t>CTR OPEN</a:t>
                      </a:r>
                    </a:p>
                  </a:txBody>
                  <a:tcPr marL="36576" marR="36576" marT="18288" marB="18288" anchor="ctr">
                    <a:solidFill>
                      <a:srgbClr val="1B2A4A"/>
                    </a:solidFill>
                  </a:tcPr>
                </a:tc>
                <a:tc>
                  <a:txBody>
                    <a:bodyPr wrap="square"/>
                    <a:lstStyle/>
                    <a:p>
                      <a:pPr algn="ctr"/>
                      <a:r>
                        <a:rPr sz="1000" b="1">
                          <a:solidFill>
                            <a:srgbClr val="FFFFFF"/>
                          </a:solidFill>
                          <a:latin typeface="Meiryo"/>
                        </a:rPr>
                        <a:t>時間帯</a:t>
                      </a:r>
                    </a:p>
                  </a:txBody>
                  <a:tcPr marL="36576" marR="36576" marT="18288" marB="18288" anchor="ctr">
                    <a:solidFill>
                      <a:srgbClr val="1B2A4A"/>
                    </a:solidFill>
                  </a:tcPr>
                </a:tc>
                <a:tc>
                  <a:txBody>
                    <a:bodyPr wrap="square"/>
                    <a:lstStyle/>
                    <a:p>
                      <a:pPr algn="ctr"/>
                      <a:r>
                        <a:rPr sz="1000" b="1">
                          <a:solidFill>
                            <a:srgbClr val="FFFFFF"/>
                          </a:solidFill>
                          <a:latin typeface="Meiryo"/>
                        </a:rPr>
                        <a:t>配置</a:t>
                      </a:r>
                    </a:p>
                  </a:txBody>
                  <a:tcPr marL="36576" marR="36576" marT="18288" marB="18288" anchor="ctr">
                    <a:solidFill>
                      <a:srgbClr val="1B2A4A"/>
                    </a:solidFill>
                  </a:tcPr>
                </a:tc>
              </a:tr>
              <a:tr h="265175">
                <a:tc>
                  <a:txBody>
                    <a:bodyPr wrap="square"/>
                    <a:lstStyle/>
                    <a:p>
                      <a:pPr algn="ctr"/>
                      <a:r>
                        <a:rPr sz="1000" b="1">
                          <a:solidFill>
                            <a:srgbClr val="1F2733"/>
                          </a:solidFill>
                          <a:latin typeface="Meiryo"/>
                        </a:rPr>
                        <a:t>AM</a:t>
                      </a:r>
                    </a:p>
                  </a:txBody>
                  <a:tcPr marL="36576" marR="36576" marT="18288" marB="18288" anchor="ctr">
                    <a:solidFill>
                      <a:srgbClr val="FFFFFF"/>
                    </a:solidFill>
                  </a:tcPr>
                </a:tc>
                <a:tc>
                  <a:txBody>
                    <a:bodyPr wrap="square"/>
                    <a:lstStyle/>
                    <a:p>
                      <a:pPr algn="ctr"/>
                      <a:r>
                        <a:rPr sz="1000" b="0">
                          <a:solidFill>
                            <a:srgbClr val="1F2733"/>
                          </a:solidFill>
                          <a:latin typeface="Meiryo"/>
                        </a:rPr>
                        <a:t>AM058/057</a:t>
                      </a:r>
                    </a:p>
                  </a:txBody>
                  <a:tcPr marL="36576" marR="36576" marT="18288" marB="18288" anchor="ctr">
                    <a:solidFill>
                      <a:srgbClr val="FFFFFF"/>
                    </a:solidFill>
                  </a:tcPr>
                </a:tc>
                <a:tc>
                  <a:txBody>
                    <a:bodyPr wrap="square"/>
                    <a:lstStyle/>
                    <a:p>
                      <a:pPr algn="ctr"/>
                      <a:r>
                        <a:rPr sz="1000" b="0">
                          <a:solidFill>
                            <a:srgbClr val="1F2733"/>
                          </a:solidFill>
                          <a:latin typeface="Meiryo"/>
                        </a:rPr>
                        <a:t>MEX</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09:35</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FFFFF"/>
                    </a:solidFill>
                  </a:tcPr>
                </a:tc>
                <a:tc>
                  <a:txBody>
                    <a:bodyPr wrap="square"/>
                    <a:lstStyle/>
                    <a:p>
                      <a:pPr algn="ctr"/>
                      <a:r>
                        <a:rPr sz="1000" b="0">
                          <a:solidFill>
                            <a:srgbClr val="1F2733"/>
                          </a:solidFill>
                          <a:latin typeface="Meiryo"/>
                        </a:rPr>
                        <a:t>VJ822/823</a:t>
                      </a:r>
                    </a:p>
                  </a:txBody>
                  <a:tcPr marL="36576" marR="36576" marT="18288" marB="18288" anchor="ctr">
                    <a:solidFill>
                      <a:srgbClr val="FFFFFF"/>
                    </a:solidFill>
                  </a:tcPr>
                </a:tc>
                <a:tc>
                  <a:txBody>
                    <a:bodyPr wrap="square"/>
                    <a:lstStyle/>
                    <a:p>
                      <a:pPr algn="ctr"/>
                      <a:r>
                        <a:rPr sz="1000" b="0">
                          <a:solidFill>
                            <a:srgbClr val="1F2733"/>
                          </a:solidFill>
                          <a:latin typeface="Meiryo"/>
                        </a:rPr>
                        <a:t>SGN</a:t>
                      </a:r>
                    </a:p>
                  </a:txBody>
                  <a:tcPr marL="36576" marR="36576" marT="18288" marB="18288" anchor="ctr">
                    <a:solidFill>
                      <a:srgbClr val="FFFFFF"/>
                    </a:solidFill>
                  </a:tcPr>
                </a:tc>
                <a:tc>
                  <a:txBody>
                    <a:bodyPr wrap="square"/>
                    <a:lstStyle/>
                    <a:p>
                      <a:pPr algn="ctr"/>
                      <a:r>
                        <a:rPr sz="1000" b="0">
                          <a:solidFill>
                            <a:srgbClr val="1F2733"/>
                          </a:solidFill>
                          <a:latin typeface="Meiryo"/>
                        </a:rPr>
                        <a:t>07:40</a:t>
                      </a:r>
                    </a:p>
                  </a:txBody>
                  <a:tcPr marL="36576" marR="36576" marT="18288" marB="18288" anchor="ctr">
                    <a:solidFill>
                      <a:srgbClr val="FFFFFF"/>
                    </a:solidFill>
                  </a:tcPr>
                </a:tc>
                <a:tc>
                  <a:txBody>
                    <a:bodyPr wrap="square"/>
                    <a:lstStyle/>
                    <a:p>
                      <a:pPr algn="ctr"/>
                      <a:r>
                        <a:rPr sz="1000" b="0">
                          <a:solidFill>
                            <a:srgbClr val="1F2733"/>
                          </a:solidFill>
                          <a:latin typeface="Meiryo"/>
                        </a:rPr>
                        <a:t>08:55</a:t>
                      </a:r>
                    </a:p>
                  </a:txBody>
                  <a:tcPr marL="36576" marR="36576" marT="18288" marB="18288" anchor="ctr">
                    <a:solidFill>
                      <a:srgbClr val="FFFFFF"/>
                    </a:solidFill>
                  </a:tcPr>
                </a:tc>
                <a:tc>
                  <a:txBody>
                    <a:bodyPr wrap="square"/>
                    <a:lstStyle/>
                    <a:p>
                      <a:pPr algn="ctr"/>
                      <a:r>
                        <a:rPr sz="1000" b="0">
                          <a:solidFill>
                            <a:srgbClr val="1F2733"/>
                          </a:solidFill>
                          <a:latin typeface="Meiryo"/>
                        </a:rPr>
                        <a:t>05:55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VN318/319</a:t>
                      </a:r>
                    </a:p>
                  </a:txBody>
                  <a:tcPr marL="36576" marR="36576" marT="18288" marB="18288" anchor="ctr">
                    <a:solidFill>
                      <a:srgbClr val="FFFFFF"/>
                    </a:solidFill>
                  </a:tcPr>
                </a:tc>
                <a:tc>
                  <a:txBody>
                    <a:bodyPr wrap="square"/>
                    <a:lstStyle/>
                    <a:p>
                      <a:pPr algn="ctr"/>
                      <a:r>
                        <a:rPr sz="1000" b="0">
                          <a:solidFill>
                            <a:srgbClr val="1F2733"/>
                          </a:solidFill>
                          <a:latin typeface="Meiryo"/>
                        </a:rPr>
                        <a:t>DAD</a:t>
                      </a:r>
                    </a:p>
                  </a:txBody>
                  <a:tcPr marL="36576" marR="36576" marT="18288" marB="18288" anchor="ctr">
                    <a:solidFill>
                      <a:srgbClr val="FFFFFF"/>
                    </a:solidFill>
                  </a:tcPr>
                </a:tc>
                <a:tc>
                  <a:txBody>
                    <a:bodyPr wrap="square"/>
                    <a:lstStyle/>
                    <a:p>
                      <a:pPr algn="ctr"/>
                      <a:r>
                        <a:rPr sz="1000" b="0">
                          <a:solidFill>
                            <a:srgbClr val="1F2733"/>
                          </a:solidFill>
                          <a:latin typeface="Meiryo"/>
                        </a:rPr>
                        <a:t>07:35</a:t>
                      </a:r>
                    </a:p>
                  </a:txBody>
                  <a:tcPr marL="36576" marR="36576" marT="18288" marB="18288" anchor="ctr">
                    <a:solidFill>
                      <a:srgbClr val="FFFFFF"/>
                    </a:solidFill>
                  </a:tcPr>
                </a:tc>
                <a:tc>
                  <a:txBody>
                    <a:bodyPr wrap="square"/>
                    <a:lstStyle/>
                    <a:p>
                      <a:pPr algn="ctr"/>
                      <a:r>
                        <a:rPr sz="1000" b="0">
                          <a:solidFill>
                            <a:srgbClr val="1F2733"/>
                          </a:solidFill>
                          <a:latin typeface="Meiryo"/>
                        </a:rPr>
                        <a:t>09:00</a:t>
                      </a:r>
                    </a:p>
                  </a:txBody>
                  <a:tcPr marL="36576" marR="36576" marT="18288" marB="18288" anchor="ctr">
                    <a:solidFill>
                      <a:srgbClr val="FFFFFF"/>
                    </a:solidFill>
                  </a:tcPr>
                </a:tc>
                <a:tc>
                  <a:txBody>
                    <a:bodyPr wrap="square"/>
                    <a:lstStyle/>
                    <a:p>
                      <a:pPr algn="ctr"/>
                      <a:r>
                        <a:rPr sz="1000" b="0">
                          <a:solidFill>
                            <a:srgbClr val="1F2733"/>
                          </a:solidFill>
                          <a:latin typeface="Meiryo"/>
                        </a:rPr>
                        <a:t>06:00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VN310/311</a:t>
                      </a:r>
                    </a:p>
                  </a:txBody>
                  <a:tcPr marL="36576" marR="36576" marT="18288" marB="18288" anchor="ctr">
                    <a:solidFill>
                      <a:srgbClr val="FFFFFF"/>
                    </a:solidFill>
                  </a:tcPr>
                </a:tc>
                <a:tc>
                  <a:txBody>
                    <a:bodyPr wrap="square"/>
                    <a:lstStyle/>
                    <a:p>
                      <a:pPr algn="ctr"/>
                      <a:r>
                        <a:rPr sz="1000" b="0">
                          <a:solidFill>
                            <a:srgbClr val="1F2733"/>
                          </a:solidFill>
                          <a:latin typeface="Meiryo"/>
                        </a:rPr>
                        <a:t>HAN</a:t>
                      </a:r>
                    </a:p>
                  </a:txBody>
                  <a:tcPr marL="36576" marR="36576" marT="18288" marB="18288" anchor="ctr">
                    <a:solidFill>
                      <a:srgbClr val="FFFFFF"/>
                    </a:solidFill>
                  </a:tcPr>
                </a:tc>
                <a:tc>
                  <a:txBody>
                    <a:bodyPr wrap="square"/>
                    <a:lstStyle/>
                    <a:p>
                      <a:pPr algn="ctr"/>
                      <a:r>
                        <a:rPr sz="1000" b="0">
                          <a:solidFill>
                            <a:srgbClr val="1F2733"/>
                          </a:solidFill>
                          <a:latin typeface="Meiryo"/>
                        </a:rPr>
                        <a:t>07:35</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FFFFF"/>
                    </a:solidFill>
                  </a:tcPr>
                </a:tc>
                <a:tc>
                  <a:txBody>
                    <a:bodyPr wrap="square"/>
                    <a:lstStyle/>
                    <a:p>
                      <a:pPr algn="ctr"/>
                      <a:r>
                        <a:rPr sz="1000" b="0">
                          <a:solidFill>
                            <a:srgbClr val="1F2733"/>
                          </a:solidFill>
                          <a:latin typeface="Meiryo"/>
                        </a:rPr>
                        <a:t>VJ932/933</a:t>
                      </a:r>
                    </a:p>
                  </a:txBody>
                  <a:tcPr marL="36576" marR="36576" marT="18288" marB="18288" anchor="ctr">
                    <a:solidFill>
                      <a:srgbClr val="FFFFFF"/>
                    </a:solidFill>
                  </a:tcPr>
                </a:tc>
                <a:tc>
                  <a:txBody>
                    <a:bodyPr wrap="square"/>
                    <a:lstStyle/>
                    <a:p>
                      <a:pPr algn="ctr"/>
                      <a:r>
                        <a:rPr sz="1000" b="0">
                          <a:solidFill>
                            <a:srgbClr val="1F2733"/>
                          </a:solidFill>
                          <a:latin typeface="Meiryo"/>
                        </a:rPr>
                        <a:t>HAN</a:t>
                      </a:r>
                    </a:p>
                  </a:txBody>
                  <a:tcPr marL="36576" marR="36576" marT="18288" marB="18288" anchor="ctr">
                    <a:solidFill>
                      <a:srgbClr val="FFFFFF"/>
                    </a:solidFill>
                  </a:tcPr>
                </a:tc>
                <a:tc>
                  <a:txBody>
                    <a:bodyPr wrap="square"/>
                    <a:lstStyle/>
                    <a:p>
                      <a:pPr algn="ctr"/>
                      <a:r>
                        <a:rPr sz="1000" b="0">
                          <a:solidFill>
                            <a:srgbClr val="1F2733"/>
                          </a:solidFill>
                          <a:latin typeface="Meiryo"/>
                        </a:rPr>
                        <a:t>08:00</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VN306/307</a:t>
                      </a:r>
                    </a:p>
                  </a:txBody>
                  <a:tcPr marL="36576" marR="36576" marT="18288" marB="18288" anchor="ctr">
                    <a:solidFill>
                      <a:srgbClr val="FFFFFF"/>
                    </a:solidFill>
                  </a:tcPr>
                </a:tc>
                <a:tc>
                  <a:txBody>
                    <a:bodyPr wrap="square"/>
                    <a:lstStyle/>
                    <a:p>
                      <a:pPr algn="ctr"/>
                      <a:r>
                        <a:rPr sz="1000" b="0">
                          <a:solidFill>
                            <a:srgbClr val="1F2733"/>
                          </a:solidFill>
                          <a:latin typeface="Meiryo"/>
                        </a:rPr>
                        <a:t>SGN</a:t>
                      </a:r>
                    </a:p>
                  </a:txBody>
                  <a:tcPr marL="36576" marR="36576" marT="18288" marB="18288" anchor="ctr">
                    <a:solidFill>
                      <a:srgbClr val="FFFFFF"/>
                    </a:solidFill>
                  </a:tcPr>
                </a:tc>
                <a:tc>
                  <a:txBody>
                    <a:bodyPr wrap="square"/>
                    <a:lstStyle/>
                    <a:p>
                      <a:pPr algn="ctr"/>
                      <a:r>
                        <a:rPr sz="1000" b="0">
                          <a:solidFill>
                            <a:srgbClr val="1F2733"/>
                          </a:solidFill>
                          <a:latin typeface="Meiryo"/>
                        </a:rPr>
                        <a:t>08:00</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FFFFF"/>
                    </a:solidFill>
                  </a:tcPr>
                </a:tc>
                <a:tc>
                  <a:txBody>
                    <a:bodyPr wrap="square"/>
                    <a:lstStyle/>
                    <a:p>
                      <a:pPr algn="ctr"/>
                      <a:r>
                        <a:rPr sz="1000" b="0">
                          <a:solidFill>
                            <a:srgbClr val="1F2733"/>
                          </a:solidFill>
                          <a:latin typeface="Meiryo"/>
                        </a:rPr>
                        <a:t>5J5062/063</a:t>
                      </a:r>
                    </a:p>
                  </a:txBody>
                  <a:tcPr marL="36576" marR="36576" marT="18288" marB="18288" anchor="ctr">
                    <a:solidFill>
                      <a:srgbClr val="FFFFFF"/>
                    </a:solidFill>
                  </a:tcPr>
                </a:tc>
                <a:tc>
                  <a:txBody>
                    <a:bodyPr wrap="square"/>
                    <a:lstStyle/>
                    <a:p>
                      <a:pPr algn="ctr"/>
                      <a:r>
                        <a:rPr sz="1000" b="0">
                          <a:solidFill>
                            <a:srgbClr val="1F2733"/>
                          </a:solidFill>
                          <a:latin typeface="Meiryo"/>
                        </a:rPr>
                        <a:t>CEB</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08:55</a:t>
                      </a:r>
                    </a:p>
                  </a:txBody>
                  <a:tcPr marL="36576" marR="36576" marT="18288" marB="18288" anchor="ctr">
                    <a:solidFill>
                      <a:srgbClr val="FFFFFF"/>
                    </a:solidFill>
                  </a:tcPr>
                </a:tc>
                <a:tc>
                  <a:txBody>
                    <a:bodyPr wrap="square"/>
                    <a:lstStyle/>
                    <a:p>
                      <a:pPr algn="ctr"/>
                      <a:r>
                        <a:rPr sz="1000" b="0">
                          <a:solidFill>
                            <a:srgbClr val="1F2733"/>
                          </a:solidFill>
                          <a:latin typeface="Meiryo"/>
                        </a:rPr>
                        <a:t>05:55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UL</a:t>
                      </a:r>
                    </a:p>
                  </a:txBody>
                  <a:tcPr marL="36576" marR="36576" marT="18288" marB="18288" anchor="ctr">
                    <a:solidFill>
                      <a:srgbClr val="FFFFFF"/>
                    </a:solidFill>
                  </a:tcPr>
                </a:tc>
                <a:tc>
                  <a:txBody>
                    <a:bodyPr wrap="square"/>
                    <a:lstStyle/>
                    <a:p>
                      <a:pPr algn="ctr"/>
                      <a:r>
                        <a:rPr sz="1000" b="0">
                          <a:solidFill>
                            <a:srgbClr val="1F2733"/>
                          </a:solidFill>
                          <a:latin typeface="Meiryo"/>
                        </a:rPr>
                        <a:t>UL454/455</a:t>
                      </a:r>
                    </a:p>
                  </a:txBody>
                  <a:tcPr marL="36576" marR="36576" marT="18288" marB="18288" anchor="ctr">
                    <a:solidFill>
                      <a:srgbClr val="FFFFFF"/>
                    </a:solidFill>
                  </a:tcPr>
                </a:tc>
                <a:tc>
                  <a:txBody>
                    <a:bodyPr wrap="square"/>
                    <a:lstStyle/>
                    <a:p>
                      <a:pPr algn="ctr"/>
                      <a:r>
                        <a:rPr sz="1000" b="0">
                          <a:solidFill>
                            <a:srgbClr val="1F2733"/>
                          </a:solidFill>
                          <a:latin typeface="Meiryo"/>
                        </a:rPr>
                        <a:t>CMB</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11:15</a:t>
                      </a:r>
                    </a:p>
                  </a:txBody>
                  <a:tcPr marL="36576" marR="36576" marT="18288" marB="18288" anchor="ctr">
                    <a:solidFill>
                      <a:srgbClr val="FFFFFF"/>
                    </a:solidFill>
                  </a:tcPr>
                </a:tc>
                <a:tc>
                  <a:txBody>
                    <a:bodyPr wrap="square"/>
                    <a:lstStyle/>
                    <a:p>
                      <a:pPr algn="ctr"/>
                      <a:r>
                        <a:rPr sz="1000" b="0">
                          <a:solidFill>
                            <a:srgbClr val="1F2733"/>
                          </a:solidFill>
                          <a:latin typeface="Meiryo"/>
                        </a:rPr>
                        <a:t>08:15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VN316/317</a:t>
                      </a:r>
                    </a:p>
                  </a:txBody>
                  <a:tcPr marL="36576" marR="36576" marT="18288" marB="18288" anchor="ctr">
                    <a:solidFill>
                      <a:srgbClr val="FFFFFF"/>
                    </a:solidFill>
                  </a:tcPr>
                </a:tc>
                <a:tc>
                  <a:txBody>
                    <a:bodyPr wrap="square"/>
                    <a:lstStyle/>
                    <a:p>
                      <a:pPr algn="ctr"/>
                      <a:r>
                        <a:rPr sz="1000" b="0">
                          <a:solidFill>
                            <a:srgbClr val="1F2733"/>
                          </a:solidFill>
                          <a:latin typeface="Meiryo"/>
                        </a:rPr>
                        <a:t>DAD</a:t>
                      </a:r>
                    </a:p>
                  </a:txBody>
                  <a:tcPr marL="36576" marR="36576" marT="18288" marB="18288" anchor="ctr">
                    <a:solidFill>
                      <a:srgbClr val="FFFFFF"/>
                    </a:solidFill>
                  </a:tcPr>
                </a:tc>
                <a:tc>
                  <a:txBody>
                    <a:bodyPr wrap="square"/>
                    <a:lstStyle/>
                    <a:p>
                      <a:pPr algn="ctr"/>
                      <a:r>
                        <a:rPr sz="1000" b="0">
                          <a:solidFill>
                            <a:srgbClr val="1F2733"/>
                          </a:solidFill>
                          <a:latin typeface="Meiryo"/>
                        </a:rPr>
                        <a:t>08:30</a:t>
                      </a:r>
                    </a:p>
                  </a:txBody>
                  <a:tcPr marL="36576" marR="36576" marT="18288" marB="18288" anchor="ctr">
                    <a:solidFill>
                      <a:srgbClr val="FFFFFF"/>
                    </a:solidFill>
                  </a:tcPr>
                </a:tc>
                <a:tc>
                  <a:txBody>
                    <a:bodyPr wrap="square"/>
                    <a:lstStyle/>
                    <a:p>
                      <a:pPr algn="ctr"/>
                      <a:r>
                        <a:rPr sz="1000" b="0">
                          <a:solidFill>
                            <a:srgbClr val="1F2733"/>
                          </a:solidFill>
                          <a:latin typeface="Meiryo"/>
                        </a:rPr>
                        <a:t>10:30</a:t>
                      </a:r>
                    </a:p>
                  </a:txBody>
                  <a:tcPr marL="36576" marR="36576" marT="18288" marB="18288" anchor="ctr">
                    <a:solidFill>
                      <a:srgbClr val="FFFFFF"/>
                    </a:solidFill>
                  </a:tcPr>
                </a:tc>
                <a:tc>
                  <a:txBody>
                    <a:bodyPr wrap="square"/>
                    <a:lstStyle/>
                    <a:p>
                      <a:pPr algn="ctr"/>
                      <a:r>
                        <a:rPr sz="1000" b="0">
                          <a:solidFill>
                            <a:srgbClr val="1F2733"/>
                          </a:solidFill>
                          <a:latin typeface="Meiryo"/>
                        </a:rPr>
                        <a:t>07:30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RF</a:t>
                      </a:r>
                    </a:p>
                  </a:txBody>
                  <a:tcPr marL="36576" marR="36576" marT="18288" marB="18288" anchor="ctr">
                    <a:solidFill>
                      <a:srgbClr val="FFFFFF"/>
                    </a:solidFill>
                  </a:tcPr>
                </a:tc>
                <a:tc>
                  <a:txBody>
                    <a:bodyPr wrap="square"/>
                    <a:lstStyle/>
                    <a:p>
                      <a:pPr algn="ctr"/>
                      <a:r>
                        <a:rPr sz="1000" b="0">
                          <a:solidFill>
                            <a:srgbClr val="1F2733"/>
                          </a:solidFill>
                          <a:latin typeface="Meiryo"/>
                        </a:rPr>
                        <a:t>RF392/391</a:t>
                      </a:r>
                    </a:p>
                  </a:txBody>
                  <a:tcPr marL="36576" marR="36576" marT="18288" marB="18288" anchor="ctr">
                    <a:solidFill>
                      <a:srgbClr val="FFFFFF"/>
                    </a:solidFill>
                  </a:tcPr>
                </a:tc>
                <a:tc>
                  <a:txBody>
                    <a:bodyPr wrap="square"/>
                    <a:lstStyle/>
                    <a:p>
                      <a:pPr algn="ctr"/>
                      <a:r>
                        <a:rPr sz="1000" b="0">
                          <a:solidFill>
                            <a:srgbClr val="1F2733"/>
                          </a:solidFill>
                          <a:latin typeface="Meiryo"/>
                        </a:rPr>
                        <a:t>CJJ</a:t>
                      </a:r>
                    </a:p>
                  </a:txBody>
                  <a:tcPr marL="36576" marR="36576" marT="18288" marB="18288" anchor="ctr">
                    <a:solidFill>
                      <a:srgbClr val="FFFFFF"/>
                    </a:solidFill>
                  </a:tcPr>
                </a:tc>
                <a:tc>
                  <a:txBody>
                    <a:bodyPr wrap="square"/>
                    <a:lstStyle/>
                    <a:p>
                      <a:pPr algn="ctr"/>
                      <a:r>
                        <a:rPr sz="1000" b="0">
                          <a:solidFill>
                            <a:srgbClr val="1F2733"/>
                          </a:solidFill>
                          <a:latin typeface="Meiryo"/>
                        </a:rPr>
                        <a:t>09:40</a:t>
                      </a:r>
                    </a:p>
                  </a:txBody>
                  <a:tcPr marL="36576" marR="36576" marT="18288" marB="18288" anchor="ctr">
                    <a:solidFill>
                      <a:srgbClr val="FFFFFF"/>
                    </a:solidFill>
                  </a:tcPr>
                </a:tc>
                <a:tc>
                  <a:txBody>
                    <a:bodyPr wrap="square"/>
                    <a:lstStyle/>
                    <a:p>
                      <a:pPr algn="ctr"/>
                      <a:r>
                        <a:rPr sz="1000" b="0">
                          <a:solidFill>
                            <a:srgbClr val="1F2733"/>
                          </a:solidFill>
                          <a:latin typeface="Meiryo"/>
                        </a:rPr>
                        <a:t>10:40</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FFFFF"/>
                    </a:solidFill>
                  </a:tcPr>
                </a:tc>
                <a:tc>
                  <a:txBody>
                    <a:bodyPr wrap="square"/>
                    <a:lstStyle/>
                    <a:p>
                      <a:pPr algn="ctr"/>
                      <a:r>
                        <a:rPr sz="1000" b="0">
                          <a:solidFill>
                            <a:srgbClr val="1F2733"/>
                          </a:solidFill>
                          <a:latin typeface="Meiryo"/>
                        </a:rPr>
                        <a:t>5J5068/069</a:t>
                      </a:r>
                    </a:p>
                  </a:txBody>
                  <a:tcPr marL="36576" marR="36576" marT="18288" marB="18288" anchor="ctr">
                    <a:solidFill>
                      <a:srgbClr val="FFFFFF"/>
                    </a:solidFill>
                  </a:tcPr>
                </a:tc>
                <a:tc>
                  <a:txBody>
                    <a:bodyPr wrap="square"/>
                    <a:lstStyle/>
                    <a:p>
                      <a:pPr algn="ctr"/>
                      <a:r>
                        <a:rPr sz="1000" b="0">
                          <a:solidFill>
                            <a:srgbClr val="1F2733"/>
                          </a:solidFill>
                          <a:latin typeface="Meiryo"/>
                        </a:rPr>
                        <a:t>CRK</a:t>
                      </a:r>
                    </a:p>
                  </a:txBody>
                  <a:tcPr marL="36576" marR="36576" marT="18288" marB="18288" anchor="ctr">
                    <a:solidFill>
                      <a:srgbClr val="FFFFFF"/>
                    </a:solidFill>
                  </a:tcPr>
                </a:tc>
                <a:tc>
                  <a:txBody>
                    <a:bodyPr wrap="square"/>
                    <a:lstStyle/>
                    <a:p>
                      <a:pPr algn="ctr"/>
                      <a:r>
                        <a:rPr sz="1000" b="0">
                          <a:solidFill>
                            <a:srgbClr val="1F2733"/>
                          </a:solidFill>
                          <a:latin typeface="Meiryo"/>
                        </a:rPr>
                        <a:t>10:25</a:t>
                      </a:r>
                    </a:p>
                  </a:txBody>
                  <a:tcPr marL="36576" marR="36576" marT="18288" marB="18288" anchor="ctr">
                    <a:solidFill>
                      <a:srgbClr val="FFFFFF"/>
                    </a:solidFill>
                  </a:tcPr>
                </a:tc>
                <a:tc>
                  <a:txBody>
                    <a:bodyPr wrap="square"/>
                    <a:lstStyle/>
                    <a:p>
                      <a:pPr algn="ctr"/>
                      <a:r>
                        <a:rPr sz="1000" b="0">
                          <a:solidFill>
                            <a:srgbClr val="1F2733"/>
                          </a:solidFill>
                          <a:latin typeface="Meiryo"/>
                        </a:rPr>
                        <a:t>11:15</a:t>
                      </a:r>
                    </a:p>
                  </a:txBody>
                  <a:tcPr marL="36576" marR="36576" marT="18288" marB="18288" anchor="ctr">
                    <a:solidFill>
                      <a:srgbClr val="FFFFFF"/>
                    </a:solidFill>
                  </a:tcPr>
                </a:tc>
                <a:tc>
                  <a:txBody>
                    <a:bodyPr wrap="square"/>
                    <a:lstStyle/>
                    <a:p>
                      <a:pPr algn="ctr"/>
                      <a:r>
                        <a:rPr sz="1000" b="0">
                          <a:solidFill>
                            <a:srgbClr val="1F2733"/>
                          </a:solidFill>
                          <a:latin typeface="Meiryo"/>
                        </a:rPr>
                        <a:t>08:15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BEAD2"/>
                    </a:solidFill>
                  </a:tcPr>
                </a:tc>
                <a:tc>
                  <a:txBody>
                    <a:bodyPr wrap="square"/>
                    <a:lstStyle/>
                    <a:p>
                      <a:pPr algn="ctr"/>
                      <a:r>
                        <a:rPr sz="1000" b="0">
                          <a:solidFill>
                            <a:srgbClr val="1F2733"/>
                          </a:solidFill>
                          <a:latin typeface="Meiryo"/>
                        </a:rPr>
                        <a:t>5J5054/055</a:t>
                      </a:r>
                    </a:p>
                  </a:txBody>
                  <a:tcPr marL="36576" marR="36576" marT="18288" marB="18288" anchor="ctr">
                    <a:solidFill>
                      <a:srgbClr val="FBEAD2"/>
                    </a:solidFill>
                  </a:tcPr>
                </a:tc>
                <a:tc>
                  <a:txBody>
                    <a:bodyPr wrap="square"/>
                    <a:lstStyle/>
                    <a:p>
                      <a:pPr algn="ctr"/>
                      <a:r>
                        <a:rPr sz="1000" b="0">
                          <a:solidFill>
                            <a:srgbClr val="1F2733"/>
                          </a:solidFill>
                          <a:latin typeface="Meiryo"/>
                        </a:rPr>
                        <a:t>MNL</a:t>
                      </a:r>
                    </a:p>
                  </a:txBody>
                  <a:tcPr marL="36576" marR="36576" marT="18288" marB="18288" anchor="ctr">
                    <a:solidFill>
                      <a:srgbClr val="FBEAD2"/>
                    </a:solidFill>
                  </a:tcPr>
                </a:tc>
                <a:tc>
                  <a:txBody>
                    <a:bodyPr wrap="square"/>
                    <a:lstStyle/>
                    <a:p>
                      <a:pPr algn="ctr"/>
                      <a:r>
                        <a:rPr sz="1000" b="0">
                          <a:solidFill>
                            <a:srgbClr val="1F2733"/>
                          </a:solidFill>
                          <a:latin typeface="Meiryo"/>
                        </a:rPr>
                        <a:t>12:25</a:t>
                      </a:r>
                    </a:p>
                  </a:txBody>
                  <a:tcPr marL="36576" marR="36576" marT="18288" marB="18288" anchor="ctr">
                    <a:solidFill>
                      <a:srgbClr val="FBEAD2"/>
                    </a:solidFill>
                  </a:tcPr>
                </a:tc>
                <a:tc>
                  <a:txBody>
                    <a:bodyPr wrap="square"/>
                    <a:lstStyle/>
                    <a:p>
                      <a:pPr algn="ctr"/>
                      <a:r>
                        <a:rPr sz="1000" b="0">
                          <a:solidFill>
                            <a:srgbClr val="1F2733"/>
                          </a:solidFill>
                          <a:latin typeface="Meiryo"/>
                        </a:rPr>
                        <a:t>13:45</a:t>
                      </a:r>
                    </a:p>
                  </a:txBody>
                  <a:tcPr marL="36576" marR="36576" marT="18288" marB="18288" anchor="ctr">
                    <a:solidFill>
                      <a:srgbClr val="FBEAD2"/>
                    </a:solidFill>
                  </a:tcPr>
                </a:tc>
                <a:tc>
                  <a:txBody>
                    <a:bodyPr wrap="square"/>
                    <a:lstStyle/>
                    <a:p>
                      <a:pPr algn="ctr"/>
                      <a:r>
                        <a:rPr sz="1000" b="0">
                          <a:solidFill>
                            <a:srgbClr val="1F2733"/>
                          </a:solidFill>
                          <a:latin typeface="Meiryo"/>
                        </a:rPr>
                        <a:t>10:45</a:t>
                      </a:r>
                    </a:p>
                  </a:txBody>
                  <a:tcPr marL="36576" marR="36576" marT="18288" marB="18288" anchor="ctr">
                    <a:solidFill>
                      <a:srgbClr val="FBEAD2"/>
                    </a:solidFill>
                  </a:tcPr>
                </a:tc>
                <a:tc>
                  <a:txBody>
                    <a:bodyPr wrap="square"/>
                    <a:lstStyle/>
                    <a:p>
                      <a:pPr algn="ctr"/>
                      <a:r>
                        <a:rPr sz="1000" b="0">
                          <a:solidFill>
                            <a:srgbClr val="1F2733"/>
                          </a:solidFill>
                          <a:latin typeface="Meiryo"/>
                        </a:rPr>
                        <a:t>昼</a:t>
                      </a:r>
                    </a:p>
                  </a:txBody>
                  <a:tcPr marL="36576" marR="36576" marT="18288" marB="18288" anchor="ctr">
                    <a:solidFill>
                      <a:srgbClr val="FBEAD2"/>
                    </a:solidFill>
                  </a:tcPr>
                </a:tc>
                <a:tc>
                  <a:txBody>
                    <a:bodyPr wrap="square"/>
                    <a:lstStyle/>
                    <a:p>
                      <a:pPr algn="ctr"/>
                      <a:r>
                        <a:rPr sz="1000" b="0">
                          <a:solidFill>
                            <a:srgbClr val="1F2733"/>
                          </a:solidFill>
                          <a:latin typeface="Meiryo"/>
                        </a:rPr>
                        <a:t>△ 昼便</a:t>
                      </a:r>
                    </a:p>
                  </a:txBody>
                  <a:tcPr marL="36576" marR="36576" marT="18288" marB="18288" anchor="ctr">
                    <a:solidFill>
                      <a:srgbClr val="FBEAD2"/>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BEAD2"/>
                    </a:solidFill>
                  </a:tcPr>
                </a:tc>
                <a:tc>
                  <a:txBody>
                    <a:bodyPr wrap="square"/>
                    <a:lstStyle/>
                    <a:p>
                      <a:pPr algn="ctr"/>
                      <a:r>
                        <a:rPr sz="1000" b="0">
                          <a:solidFill>
                            <a:srgbClr val="1F2733"/>
                          </a:solidFill>
                          <a:latin typeface="Meiryo"/>
                        </a:rPr>
                        <a:t>VJ934/935</a:t>
                      </a:r>
                    </a:p>
                  </a:txBody>
                  <a:tcPr marL="36576" marR="36576" marT="18288" marB="18288" anchor="ctr">
                    <a:solidFill>
                      <a:srgbClr val="FBEAD2"/>
                    </a:solidFill>
                  </a:tcPr>
                </a:tc>
                <a:tc>
                  <a:txBody>
                    <a:bodyPr wrap="square"/>
                    <a:lstStyle/>
                    <a:p>
                      <a:pPr algn="ctr"/>
                      <a:r>
                        <a:rPr sz="1000" b="0">
                          <a:solidFill>
                            <a:srgbClr val="1F2733"/>
                          </a:solidFill>
                          <a:latin typeface="Meiryo"/>
                        </a:rPr>
                        <a:t>HAN</a:t>
                      </a:r>
                    </a:p>
                  </a:txBody>
                  <a:tcPr marL="36576" marR="36576" marT="18288" marB="18288" anchor="ctr">
                    <a:solidFill>
                      <a:srgbClr val="FBEAD2"/>
                    </a:solidFill>
                  </a:tcPr>
                </a:tc>
                <a:tc>
                  <a:txBody>
                    <a:bodyPr wrap="square"/>
                    <a:lstStyle/>
                    <a:p>
                      <a:pPr algn="ctr"/>
                      <a:r>
                        <a:rPr sz="1000" b="0">
                          <a:solidFill>
                            <a:srgbClr val="1F2733"/>
                          </a:solidFill>
                          <a:latin typeface="Meiryo"/>
                        </a:rPr>
                        <a:t>15:30</a:t>
                      </a:r>
                    </a:p>
                  </a:txBody>
                  <a:tcPr marL="36576" marR="36576" marT="18288" marB="18288" anchor="ctr">
                    <a:solidFill>
                      <a:srgbClr val="FBEAD2"/>
                    </a:solidFill>
                  </a:tcPr>
                </a:tc>
                <a:tc>
                  <a:txBody>
                    <a:bodyPr wrap="square"/>
                    <a:lstStyle/>
                    <a:p>
                      <a:pPr algn="ctr"/>
                      <a:r>
                        <a:rPr sz="1000" b="0">
                          <a:solidFill>
                            <a:srgbClr val="1F2733"/>
                          </a:solidFill>
                          <a:latin typeface="Meiryo"/>
                        </a:rPr>
                        <a:t>16:30</a:t>
                      </a:r>
                    </a:p>
                  </a:txBody>
                  <a:tcPr marL="36576" marR="36576" marT="18288" marB="18288" anchor="ctr">
                    <a:solidFill>
                      <a:srgbClr val="FBEAD2"/>
                    </a:solidFill>
                  </a:tcPr>
                </a:tc>
                <a:tc>
                  <a:txBody>
                    <a:bodyPr wrap="square"/>
                    <a:lstStyle/>
                    <a:p>
                      <a:pPr algn="ctr"/>
                      <a:r>
                        <a:rPr sz="1000" b="0">
                          <a:solidFill>
                            <a:srgbClr val="1F2733"/>
                          </a:solidFill>
                          <a:latin typeface="Meiryo"/>
                        </a:rPr>
                        <a:t>13:30</a:t>
                      </a:r>
                    </a:p>
                  </a:txBody>
                  <a:tcPr marL="36576" marR="36576" marT="18288" marB="18288" anchor="ctr">
                    <a:solidFill>
                      <a:srgbClr val="FBEAD2"/>
                    </a:solidFill>
                  </a:tcPr>
                </a:tc>
                <a:tc>
                  <a:txBody>
                    <a:bodyPr wrap="square"/>
                    <a:lstStyle/>
                    <a:p>
                      <a:pPr algn="ctr"/>
                      <a:r>
                        <a:rPr sz="1000" b="0">
                          <a:solidFill>
                            <a:srgbClr val="1F2733"/>
                          </a:solidFill>
                          <a:latin typeface="Meiryo"/>
                        </a:rPr>
                        <a:t>夕</a:t>
                      </a:r>
                    </a:p>
                  </a:txBody>
                  <a:tcPr marL="36576" marR="36576" marT="18288" marB="18288" anchor="ctr">
                    <a:solidFill>
                      <a:srgbClr val="FBEAD2"/>
                    </a:solidFill>
                  </a:tcPr>
                </a:tc>
                <a:tc>
                  <a:txBody>
                    <a:bodyPr wrap="square"/>
                    <a:lstStyle/>
                    <a:p>
                      <a:pPr algn="ctr"/>
                      <a:r>
                        <a:rPr sz="1000" b="0">
                          <a:solidFill>
                            <a:srgbClr val="1F2733"/>
                          </a:solidFill>
                          <a:latin typeface="Meiryo"/>
                        </a:rPr>
                        <a:t>△ Winter条件付</a:t>
                      </a:r>
                    </a:p>
                  </a:txBody>
                  <a:tcPr marL="36576" marR="36576" marT="18288" marB="18288" anchor="ctr">
                    <a:solidFill>
                      <a:srgbClr val="FBEAD2"/>
                    </a:solidFill>
                  </a:tcPr>
                </a:tc>
              </a:tr>
              <a:tr h="265189">
                <a:tc>
                  <a:txBody>
                    <a:bodyPr wrap="square"/>
                    <a:lstStyle/>
                    <a:p>
                      <a:pPr algn="ctr"/>
                      <a:r>
                        <a:rPr sz="1000" b="1">
                          <a:solidFill>
                            <a:srgbClr val="1F2733"/>
                          </a:solidFill>
                          <a:latin typeface="Meiryo"/>
                        </a:rPr>
                        <a:t>5J</a:t>
                      </a:r>
                    </a:p>
                  </a:txBody>
                  <a:tcPr marL="36576" marR="36576" marT="18288" marB="18288" anchor="ctr">
                    <a:solidFill>
                      <a:srgbClr val="FBEAD2"/>
                    </a:solidFill>
                  </a:tcPr>
                </a:tc>
                <a:tc>
                  <a:txBody>
                    <a:bodyPr wrap="square"/>
                    <a:lstStyle/>
                    <a:p>
                      <a:pPr algn="ctr"/>
                      <a:r>
                        <a:rPr sz="1000" b="0">
                          <a:solidFill>
                            <a:srgbClr val="1F2733"/>
                          </a:solidFill>
                          <a:latin typeface="Meiryo"/>
                        </a:rPr>
                        <a:t>5J5056/057</a:t>
                      </a:r>
                    </a:p>
                  </a:txBody>
                  <a:tcPr marL="36576" marR="36576" marT="18288" marB="18288" anchor="ctr">
                    <a:solidFill>
                      <a:srgbClr val="FBEAD2"/>
                    </a:solidFill>
                  </a:tcPr>
                </a:tc>
                <a:tc>
                  <a:txBody>
                    <a:bodyPr wrap="square"/>
                    <a:lstStyle/>
                    <a:p>
                      <a:pPr algn="ctr"/>
                      <a:r>
                        <a:rPr sz="1000" b="0">
                          <a:solidFill>
                            <a:srgbClr val="1F2733"/>
                          </a:solidFill>
                          <a:latin typeface="Meiryo"/>
                        </a:rPr>
                        <a:t>MNL</a:t>
                      </a:r>
                    </a:p>
                  </a:txBody>
                  <a:tcPr marL="36576" marR="36576" marT="18288" marB="18288" anchor="ctr">
                    <a:solidFill>
                      <a:srgbClr val="FBEAD2"/>
                    </a:solidFill>
                  </a:tcPr>
                </a:tc>
                <a:tc>
                  <a:txBody>
                    <a:bodyPr wrap="square"/>
                    <a:lstStyle/>
                    <a:p>
                      <a:pPr algn="ctr"/>
                      <a:r>
                        <a:rPr sz="1000" b="0">
                          <a:solidFill>
                            <a:srgbClr val="1F2733"/>
                          </a:solidFill>
                          <a:latin typeface="Meiryo"/>
                        </a:rPr>
                        <a:t>18:00</a:t>
                      </a:r>
                    </a:p>
                  </a:txBody>
                  <a:tcPr marL="36576" marR="36576" marT="18288" marB="18288" anchor="ctr">
                    <a:solidFill>
                      <a:srgbClr val="FBEAD2"/>
                    </a:solidFill>
                  </a:tcPr>
                </a:tc>
                <a:tc>
                  <a:txBody>
                    <a:bodyPr wrap="square"/>
                    <a:lstStyle/>
                    <a:p>
                      <a:pPr algn="ctr"/>
                      <a:r>
                        <a:rPr sz="1000" b="0">
                          <a:solidFill>
                            <a:srgbClr val="1F2733"/>
                          </a:solidFill>
                          <a:latin typeface="Meiryo"/>
                        </a:rPr>
                        <a:t>19:15</a:t>
                      </a:r>
                    </a:p>
                  </a:txBody>
                  <a:tcPr marL="36576" marR="36576" marT="18288" marB="18288" anchor="ctr">
                    <a:solidFill>
                      <a:srgbClr val="FBEAD2"/>
                    </a:solidFill>
                  </a:tcPr>
                </a:tc>
                <a:tc>
                  <a:txBody>
                    <a:bodyPr wrap="square"/>
                    <a:lstStyle/>
                    <a:p>
                      <a:pPr algn="ctr"/>
                      <a:r>
                        <a:rPr sz="1000" b="0">
                          <a:solidFill>
                            <a:srgbClr val="1F2733"/>
                          </a:solidFill>
                          <a:latin typeface="Meiryo"/>
                        </a:rPr>
                        <a:t>16:15</a:t>
                      </a:r>
                    </a:p>
                  </a:txBody>
                  <a:tcPr marL="36576" marR="36576" marT="18288" marB="18288" anchor="ctr">
                    <a:solidFill>
                      <a:srgbClr val="FBEAD2"/>
                    </a:solidFill>
                  </a:tcPr>
                </a:tc>
                <a:tc>
                  <a:txBody>
                    <a:bodyPr wrap="square"/>
                    <a:lstStyle/>
                    <a:p>
                      <a:pPr algn="ctr"/>
                      <a:r>
                        <a:rPr sz="1000" b="0">
                          <a:solidFill>
                            <a:srgbClr val="1F2733"/>
                          </a:solidFill>
                          <a:latin typeface="Meiryo"/>
                        </a:rPr>
                        <a:t>夕</a:t>
                      </a:r>
                    </a:p>
                  </a:txBody>
                  <a:tcPr marL="36576" marR="36576" marT="18288" marB="18288" anchor="ctr">
                    <a:solidFill>
                      <a:srgbClr val="FBEAD2"/>
                    </a:solidFill>
                  </a:tcPr>
                </a:tc>
                <a:tc>
                  <a:txBody>
                    <a:bodyPr wrap="square"/>
                    <a:lstStyle/>
                    <a:p>
                      <a:pPr algn="ctr"/>
                      <a:r>
                        <a:rPr sz="1000" b="0">
                          <a:solidFill>
                            <a:srgbClr val="1F2733"/>
                          </a:solidFill>
                          <a:latin typeface="Meiryo"/>
                        </a:rPr>
                        <a:t>△ 夕便</a:t>
                      </a:r>
                    </a:p>
                  </a:txBody>
                  <a:tcPr marL="36576" marR="36576" marT="18288" marB="18288" anchor="ctr">
                    <a:solidFill>
                      <a:srgbClr val="FBEAD2"/>
                    </a:solidFill>
                  </a:tcPr>
                </a:tc>
              </a:tr>
            </a:tbl>
          </a:graphicData>
        </a:graphic>
      </p:graphicFrame>
      <p:sp>
        <p:nvSpPr>
          <p:cNvPr id="6" name="Rectangle 5"/>
          <p:cNvSpPr/>
          <p:nvPr/>
        </p:nvSpPr>
        <p:spPr>
          <a:xfrm>
            <a:off x="502920" y="6053328"/>
            <a:ext cx="111556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◯＝朝ピークの配置候補（VN/AM/RF/5J/UL/VJ）。VJ934/935（夕方HAN）はWinter運休時は対象外、運航時は別途候補。時刻は線表の実データ。</a:t>
            </a:r>
          </a:p>
        </p:txBody>
      </p:sp>
      <p:sp>
        <p:nvSpPr>
          <p:cNvPr id="7" name="Rectangle 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8" name="Rectangle 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経営者目線①</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満席のレストランは、経営に成功しているのか？</a:t>
            </a:r>
          </a:p>
        </p:txBody>
      </p:sp>
      <p:sp>
        <p:nvSpPr>
          <p:cNvPr id="4" name="Rectangle 3"/>
          <p:cNvSpPr/>
          <p:nvPr/>
        </p:nvSpPr>
        <p:spPr>
          <a:xfrm>
            <a:off x="548640" y="2148840"/>
            <a:ext cx="5212080" cy="32918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5" name="Rectangle 4"/>
          <p:cNvSpPr/>
          <p:nvPr/>
        </p:nvSpPr>
        <p:spPr>
          <a:xfrm>
            <a:off x="822960" y="2331720"/>
            <a:ext cx="46634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500" b="1">
                <a:solidFill>
                  <a:srgbClr val="2C6E49"/>
                </a:solidFill>
                <a:latin typeface="Meiryo"/>
              </a:rPr>
              <a:t>見えている姿</a:t>
            </a:r>
          </a:p>
        </p:txBody>
      </p:sp>
      <p:sp>
        <p:nvSpPr>
          <p:cNvPr id="6" name="Rectangle 5"/>
          <p:cNvSpPr/>
          <p:nvPr/>
        </p:nvSpPr>
        <p:spPr>
          <a:xfrm>
            <a:off x="960120" y="2880360"/>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満席（お客様でいっぱい）</a:t>
            </a:r>
          </a:p>
        </p:txBody>
      </p:sp>
      <p:sp>
        <p:nvSpPr>
          <p:cNvPr id="7" name="Rectangle 6"/>
          <p:cNvSpPr/>
          <p:nvPr/>
        </p:nvSpPr>
        <p:spPr>
          <a:xfrm>
            <a:off x="960120" y="3447288"/>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料理も好評</a:t>
            </a:r>
          </a:p>
        </p:txBody>
      </p:sp>
      <p:sp>
        <p:nvSpPr>
          <p:cNvPr id="8" name="Rectangle 7"/>
          <p:cNvSpPr/>
          <p:nvPr/>
        </p:nvSpPr>
        <p:spPr>
          <a:xfrm>
            <a:off x="960120" y="4014215"/>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サービスも高評価</a:t>
            </a:r>
          </a:p>
        </p:txBody>
      </p:sp>
      <p:sp>
        <p:nvSpPr>
          <p:cNvPr id="9" name="Rectangle 8"/>
          <p:cNvSpPr/>
          <p:nvPr/>
        </p:nvSpPr>
        <p:spPr>
          <a:xfrm>
            <a:off x="960120" y="4581144"/>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スタッフも一生懸命</a:t>
            </a:r>
          </a:p>
        </p:txBody>
      </p:sp>
      <p:sp>
        <p:nvSpPr>
          <p:cNvPr id="10" name="Rectangle 9"/>
          <p:cNvSpPr/>
          <p:nvPr/>
        </p:nvSpPr>
        <p:spPr>
          <a:xfrm>
            <a:off x="5989320" y="3246120"/>
            <a:ext cx="8229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3000" b="1">
                <a:solidFill>
                  <a:srgbClr val="9AA6B8"/>
                </a:solidFill>
                <a:latin typeface="Meiryo"/>
              </a:rPr>
              <a:t>→</a:t>
            </a:r>
          </a:p>
        </p:txBody>
      </p:sp>
      <p:sp>
        <p:nvSpPr>
          <p:cNvPr id="11" name="Rectangle 10"/>
          <p:cNvSpPr/>
          <p:nvPr/>
        </p:nvSpPr>
        <p:spPr>
          <a:xfrm>
            <a:off x="6903720" y="2148840"/>
            <a:ext cx="4709160" cy="3291840"/>
          </a:xfrm>
          <a:prstGeom prst="rect">
            <a:avLst/>
          </a:prstGeom>
          <a:solidFill>
            <a:srgbClr val="F7E7E4"/>
          </a:solidFill>
          <a:ln w="12700">
            <a:solidFill>
              <a:srgbClr val="E4B9B2"/>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2" name="Rectangle 11"/>
          <p:cNvSpPr/>
          <p:nvPr/>
        </p:nvSpPr>
        <p:spPr>
          <a:xfrm>
            <a:off x="7178040" y="2331720"/>
            <a:ext cx="42062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500" b="1">
                <a:solidFill>
                  <a:srgbClr val="C0392B"/>
                </a:solidFill>
                <a:latin typeface="Meiryo"/>
              </a:rPr>
              <a:t>しかし――</a:t>
            </a:r>
          </a:p>
        </p:txBody>
      </p:sp>
      <p:sp>
        <p:nvSpPr>
          <p:cNvPr id="13" name="Rectangle 12"/>
          <p:cNvSpPr/>
          <p:nvPr/>
        </p:nvSpPr>
        <p:spPr>
          <a:xfrm>
            <a:off x="7178040" y="3246120"/>
            <a:ext cx="4206240" cy="10972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3400" b="1">
                <a:solidFill>
                  <a:srgbClr val="C0392B"/>
                </a:solidFill>
                <a:latin typeface="Meiryo"/>
              </a:rPr>
              <a:t>売上 ＜ 原価</a:t>
            </a:r>
          </a:p>
        </p:txBody>
      </p:sp>
      <p:sp>
        <p:nvSpPr>
          <p:cNvPr id="14" name="Rectangle 13"/>
          <p:cNvSpPr/>
          <p:nvPr/>
        </p:nvSpPr>
        <p:spPr>
          <a:xfrm>
            <a:off x="7178040" y="4434840"/>
            <a:ext cx="420624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1300" b="0">
                <a:solidFill>
                  <a:srgbClr val="1F2733"/>
                </a:solidFill>
                <a:latin typeface="Meiryo"/>
              </a:rPr>
              <a:t>良い材料・十分な人員で</a:t>
            </a:r>
          </a:p>
          <a:p>
            <a:pPr algn="ctr">
              <a:spcBef>
                <a:spcPts val="0"/>
              </a:spcBef>
              <a:spcAft>
                <a:spcPts val="200"/>
              </a:spcAft>
            </a:pPr>
            <a:r>
              <a:rPr sz="1300" b="0">
                <a:solidFill>
                  <a:srgbClr val="1F2733"/>
                </a:solidFill>
                <a:latin typeface="Meiryo"/>
              </a:rPr>
              <a:t>原価が売上を上回っていた</a:t>
            </a:r>
          </a:p>
        </p:txBody>
      </p:sp>
      <p:sp>
        <p:nvSpPr>
          <p:cNvPr id="15" name="Rounded Rectangle 14"/>
          <p:cNvSpPr/>
          <p:nvPr/>
        </p:nvSpPr>
        <p:spPr>
          <a:xfrm>
            <a:off x="548640" y="5623560"/>
            <a:ext cx="11064240" cy="68580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700" b="1">
                <a:solidFill>
                  <a:srgbClr val="FFFFFF"/>
                </a:solidFill>
                <a:latin typeface="Meiryo"/>
              </a:rPr>
              <a:t>問い：これは経営として「成功」と言えるでしょうか？</a:t>
            </a:r>
          </a:p>
        </p:txBody>
      </p:sp>
      <p:sp>
        <p:nvSpPr>
          <p:cNvPr id="16" name="Rectangle 15"/>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7" name="Rectangle 16"/>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経営者目線②</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良いサービス ≠ 良い経営</a:t>
            </a:r>
          </a:p>
        </p:txBody>
      </p:sp>
      <p:sp>
        <p:nvSpPr>
          <p:cNvPr id="4" name="Rectangle 3"/>
          <p:cNvSpPr/>
          <p:nvPr/>
        </p:nvSpPr>
        <p:spPr>
          <a:xfrm>
            <a:off x="548640" y="214884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C6E49"/>
                </a:solidFill>
                <a:latin typeface="Meiryo"/>
              </a:rPr>
              <a:t>【レストラン】</a:t>
            </a:r>
          </a:p>
        </p:txBody>
      </p:sp>
      <p:sp>
        <p:nvSpPr>
          <p:cNvPr id="5" name="Rectangle 4"/>
          <p:cNvSpPr/>
          <p:nvPr/>
        </p:nvSpPr>
        <p:spPr>
          <a:xfrm>
            <a:off x="685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満席</a:t>
            </a:r>
          </a:p>
        </p:txBody>
      </p:sp>
      <p:sp>
        <p:nvSpPr>
          <p:cNvPr id="6" name="Rectangle 5"/>
          <p:cNvSpPr/>
          <p:nvPr/>
        </p:nvSpPr>
        <p:spPr>
          <a:xfrm>
            <a:off x="685800" y="338328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料理がおいしい</a:t>
            </a:r>
          </a:p>
        </p:txBody>
      </p:sp>
      <p:sp>
        <p:nvSpPr>
          <p:cNvPr id="7" name="Rectangle 6"/>
          <p:cNvSpPr/>
          <p:nvPr/>
        </p:nvSpPr>
        <p:spPr>
          <a:xfrm>
            <a:off x="685800" y="393192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評判がいい</a:t>
            </a:r>
          </a:p>
        </p:txBody>
      </p:sp>
      <p:sp>
        <p:nvSpPr>
          <p:cNvPr id="8" name="Rectangle 7"/>
          <p:cNvSpPr/>
          <p:nvPr/>
        </p:nvSpPr>
        <p:spPr>
          <a:xfrm>
            <a:off x="685800" y="448056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十分なスタッフ</a:t>
            </a:r>
          </a:p>
        </p:txBody>
      </p:sp>
      <p:sp>
        <p:nvSpPr>
          <p:cNvPr id="9" name="Rectangle 8"/>
          <p:cNvSpPr/>
          <p:nvPr/>
        </p:nvSpPr>
        <p:spPr>
          <a:xfrm>
            <a:off x="548640" y="5074920"/>
            <a:ext cx="5349240" cy="685800"/>
          </a:xfrm>
          <a:prstGeom prst="rect">
            <a:avLst/>
          </a:prstGeom>
          <a:solidFill>
            <a:srgbClr val="F7E7E4"/>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C0392B"/>
                </a:solidFill>
                <a:latin typeface="Meiryo"/>
              </a:rPr>
              <a:t>しかし 売上 ＜ 原価</a:t>
            </a:r>
          </a:p>
        </p:txBody>
      </p:sp>
      <p:sp>
        <p:nvSpPr>
          <p:cNvPr id="10" name="Rectangle 9"/>
          <p:cNvSpPr/>
          <p:nvPr/>
        </p:nvSpPr>
        <p:spPr>
          <a:xfrm>
            <a:off x="6263640" y="214884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E5AAC"/>
                </a:solidFill>
                <a:latin typeface="Meiryo"/>
              </a:rPr>
              <a:t>【空港】</a:t>
            </a:r>
          </a:p>
        </p:txBody>
      </p:sp>
      <p:sp>
        <p:nvSpPr>
          <p:cNvPr id="11" name="Rectangle 10"/>
          <p:cNvSpPr/>
          <p:nvPr/>
        </p:nvSpPr>
        <p:spPr>
          <a:xfrm>
            <a:off x="6400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安定したオペレーション</a:t>
            </a:r>
          </a:p>
        </p:txBody>
      </p:sp>
      <p:sp>
        <p:nvSpPr>
          <p:cNvPr id="12" name="Rectangle 11"/>
          <p:cNvSpPr/>
          <p:nvPr/>
        </p:nvSpPr>
        <p:spPr>
          <a:xfrm>
            <a:off x="6400800" y="338328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十分な人員配置</a:t>
            </a:r>
          </a:p>
        </p:txBody>
      </p:sp>
      <p:sp>
        <p:nvSpPr>
          <p:cNvPr id="13" name="Rectangle 12"/>
          <p:cNvSpPr/>
          <p:nvPr/>
        </p:nvSpPr>
        <p:spPr>
          <a:xfrm>
            <a:off x="6400800" y="393192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高いサービス品質</a:t>
            </a:r>
          </a:p>
        </p:txBody>
      </p:sp>
      <p:sp>
        <p:nvSpPr>
          <p:cNvPr id="14" name="Rectangle 13"/>
          <p:cNvSpPr/>
          <p:nvPr/>
        </p:nvSpPr>
        <p:spPr>
          <a:xfrm>
            <a:off x="6400800" y="448056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現場の努力</a:t>
            </a:r>
          </a:p>
        </p:txBody>
      </p:sp>
      <p:sp>
        <p:nvSpPr>
          <p:cNvPr id="15" name="Rectangle 14"/>
          <p:cNvSpPr/>
          <p:nvPr/>
        </p:nvSpPr>
        <p:spPr>
          <a:xfrm>
            <a:off x="6263640" y="5074920"/>
            <a:ext cx="5349240" cy="685800"/>
          </a:xfrm>
          <a:prstGeom prst="rect">
            <a:avLst/>
          </a:prstGeom>
          <a:solidFill>
            <a:srgbClr val="F7E7E4"/>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C0392B"/>
                </a:solidFill>
                <a:latin typeface="Meiryo"/>
              </a:rPr>
              <a:t>しかし 収入 ＜ 原価</a:t>
            </a:r>
          </a:p>
        </p:txBody>
      </p:sp>
      <p:sp>
        <p:nvSpPr>
          <p:cNvPr id="16" name="Rectangle 15"/>
          <p:cNvSpPr/>
          <p:nvPr/>
        </p:nvSpPr>
        <p:spPr>
          <a:xfrm>
            <a:off x="548640" y="5989320"/>
            <a:ext cx="110642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1500" b="1">
                <a:solidFill>
                  <a:srgbClr val="1B2A4A"/>
                </a:solidFill>
                <a:latin typeface="Meiryo"/>
              </a:rPr>
              <a:t>良いサービスを提供しているだけでは、事業は継続できない。</a:t>
            </a:r>
          </a:p>
        </p:txBody>
      </p:sp>
      <p:sp>
        <p:nvSpPr>
          <p:cNvPr id="17" name="Rectangle 1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8" name="Rectangle 1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経営者目線③</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「売上を増やす」だけを、待つことはできない</a:t>
            </a:r>
          </a:p>
        </p:txBody>
      </p:sp>
      <p:sp>
        <p:nvSpPr>
          <p:cNvPr id="4" name="Rectangle 3"/>
          <p:cNvSpPr/>
          <p:nvPr/>
        </p:nvSpPr>
        <p:spPr>
          <a:xfrm>
            <a:off x="548640" y="2148840"/>
            <a:ext cx="5349240" cy="548640"/>
          </a:xfrm>
          <a:prstGeom prst="rect">
            <a:avLst/>
          </a:prstGeom>
          <a:solidFill>
            <a:srgbClr val="E5EC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E5AAC"/>
                </a:solidFill>
                <a:latin typeface="Meiryo"/>
              </a:rPr>
              <a:t>売上を増やす</a:t>
            </a:r>
          </a:p>
        </p:txBody>
      </p:sp>
      <p:sp>
        <p:nvSpPr>
          <p:cNvPr id="5" name="Rectangle 4"/>
          <p:cNvSpPr/>
          <p:nvPr/>
        </p:nvSpPr>
        <p:spPr>
          <a:xfrm>
            <a:off x="685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営業強化</a:t>
            </a:r>
          </a:p>
        </p:txBody>
      </p:sp>
      <p:sp>
        <p:nvSpPr>
          <p:cNvPr id="6" name="Rectangle 5"/>
          <p:cNvSpPr/>
          <p:nvPr/>
        </p:nvSpPr>
        <p:spPr>
          <a:xfrm>
            <a:off x="685800" y="3364992"/>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新規受託</a:t>
            </a:r>
          </a:p>
        </p:txBody>
      </p:sp>
      <p:sp>
        <p:nvSpPr>
          <p:cNvPr id="7" name="Rectangle 6"/>
          <p:cNvSpPr/>
          <p:nvPr/>
        </p:nvSpPr>
        <p:spPr>
          <a:xfrm>
            <a:off x="685800" y="3895344"/>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増便</a:t>
            </a:r>
          </a:p>
        </p:txBody>
      </p:sp>
      <p:sp>
        <p:nvSpPr>
          <p:cNvPr id="8" name="Rectangle 7"/>
          <p:cNvSpPr/>
          <p:nvPr/>
        </p:nvSpPr>
        <p:spPr>
          <a:xfrm>
            <a:off x="685800" y="4425696"/>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単価改善</a:t>
            </a:r>
          </a:p>
        </p:txBody>
      </p:sp>
      <p:sp>
        <p:nvSpPr>
          <p:cNvPr id="9" name="Rectangle 8"/>
          <p:cNvSpPr/>
          <p:nvPr/>
        </p:nvSpPr>
        <p:spPr>
          <a:xfrm>
            <a:off x="548640" y="502920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400" b="1">
                <a:solidFill>
                  <a:srgbClr val="1F2733"/>
                </a:solidFill>
                <a:latin typeface="Meiryo"/>
              </a:rPr>
              <a:t>→ 当然、必要（時間はかかる）</a:t>
            </a:r>
          </a:p>
        </p:txBody>
      </p:sp>
      <p:sp>
        <p:nvSpPr>
          <p:cNvPr id="10" name="Rectangle 9"/>
          <p:cNvSpPr/>
          <p:nvPr/>
        </p:nvSpPr>
        <p:spPr>
          <a:xfrm>
            <a:off x="6263640" y="2148840"/>
            <a:ext cx="5349240" cy="5486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C6E49"/>
                </a:solidFill>
                <a:latin typeface="Meiryo"/>
              </a:rPr>
              <a:t>原価を適正化する</a:t>
            </a:r>
          </a:p>
        </p:txBody>
      </p:sp>
      <p:sp>
        <p:nvSpPr>
          <p:cNvPr id="11" name="Rectangle 10"/>
          <p:cNvSpPr/>
          <p:nvPr/>
        </p:nvSpPr>
        <p:spPr>
          <a:xfrm>
            <a:off x="6400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必要人数の見直し</a:t>
            </a:r>
          </a:p>
        </p:txBody>
      </p:sp>
      <p:sp>
        <p:nvSpPr>
          <p:cNvPr id="12" name="Rectangle 11"/>
          <p:cNvSpPr/>
          <p:nvPr/>
        </p:nvSpPr>
        <p:spPr>
          <a:xfrm>
            <a:off x="6400800" y="3364992"/>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時間帯別の配置</a:t>
            </a:r>
          </a:p>
        </p:txBody>
      </p:sp>
      <p:sp>
        <p:nvSpPr>
          <p:cNvPr id="13" name="Rectangle 12"/>
          <p:cNvSpPr/>
          <p:nvPr/>
        </p:nvSpPr>
        <p:spPr>
          <a:xfrm>
            <a:off x="6400800" y="3895344"/>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雇用形態の組み合わせ</a:t>
            </a:r>
          </a:p>
        </p:txBody>
      </p:sp>
      <p:sp>
        <p:nvSpPr>
          <p:cNvPr id="14" name="Rectangle 13"/>
          <p:cNvSpPr/>
          <p:nvPr/>
        </p:nvSpPr>
        <p:spPr>
          <a:xfrm>
            <a:off x="6400800" y="4425696"/>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短時間勤務者の活用</a:t>
            </a:r>
          </a:p>
        </p:txBody>
      </p:sp>
      <p:sp>
        <p:nvSpPr>
          <p:cNvPr id="15" name="Rectangle 14"/>
          <p:cNvSpPr/>
          <p:nvPr/>
        </p:nvSpPr>
        <p:spPr>
          <a:xfrm>
            <a:off x="6263640" y="5029200"/>
            <a:ext cx="5349240" cy="5486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400" b="1">
                <a:solidFill>
                  <a:srgbClr val="2C6E49"/>
                </a:solidFill>
                <a:latin typeface="Meiryo"/>
              </a:rPr>
              <a:t>→ 今すぐ、自分たちでできる</a:t>
            </a:r>
          </a:p>
        </p:txBody>
      </p:sp>
      <p:sp>
        <p:nvSpPr>
          <p:cNvPr id="16" name="Rounded Rectangle 15"/>
          <p:cNvSpPr/>
          <p:nvPr/>
        </p:nvSpPr>
        <p:spPr>
          <a:xfrm>
            <a:off x="548640" y="5897880"/>
            <a:ext cx="11064240" cy="50292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FFFFFF"/>
                </a:solidFill>
                <a:latin typeface="Meiryo"/>
              </a:rPr>
              <a:t>営業と原価改善は、どちらか一方ではない。両方やる。</a:t>
            </a:r>
          </a:p>
        </p:txBody>
      </p:sp>
      <p:sp>
        <p:nvSpPr>
          <p:cNvPr id="17" name="Rectangle 1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8" name="Rectangle 1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人員の持ち方の転換</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「人数」ではなく「時間 × 人数」で見る</a:t>
            </a:r>
            <a:endParaRPr lang="en-US" sz="3000" dirty="0"/>
          </a:p>
        </p:txBody>
      </p:sp>
      <p:sp>
        <p:nvSpPr>
          <p:cNvPr id="4" name="Shape 2"/>
          <p:cNvSpPr/>
          <p:nvPr/>
        </p:nvSpPr>
        <p:spPr>
          <a:xfrm>
            <a:off x="548640" y="2194560"/>
            <a:ext cx="5349240" cy="3749040"/>
          </a:xfrm>
          <a:prstGeom prst="roundRect">
            <a:avLst>
              <a:gd name="adj" fmla="val 1951"/>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423160"/>
            <a:ext cx="3657600" cy="365760"/>
          </a:xfrm>
          <a:prstGeom prst="rect">
            <a:avLst/>
          </a:prstGeom>
          <a:noFill/>
          <a:ln/>
        </p:spPr>
        <p:txBody>
          <a:bodyPr wrap="square" rtlCol="0" anchor="ctr"/>
          <a:lstStyle/>
          <a:p>
            <a:pPr indent="0" marL="0">
              <a:buNone/>
            </a:pPr>
            <a:r>
              <a:rPr lang="en-US" sz="1600" b="1" dirty="0">
                <a:solidFill>
                  <a:srgbClr val="6B7686"/>
                </a:solidFill>
                <a:latin typeface="Meiryo" pitchFamily="34" charset="0"/>
                <a:ea typeface="Meiryo" pitchFamily="34" charset="-122"/>
                <a:cs typeface="Meiryo" pitchFamily="34" charset="-120"/>
              </a:rPr>
              <a:t>これまで</a:t>
            </a:r>
            <a:endParaRPr lang="en-US" sz="1600" dirty="0"/>
          </a:p>
        </p:txBody>
      </p:sp>
      <p:sp>
        <p:nvSpPr>
          <p:cNvPr id="6" name="Text 4"/>
          <p:cNvSpPr/>
          <p:nvPr/>
        </p:nvSpPr>
        <p:spPr>
          <a:xfrm>
            <a:off x="822960" y="2834640"/>
            <a:ext cx="4846320" cy="640080"/>
          </a:xfrm>
          <a:prstGeom prst="rect">
            <a:avLst/>
          </a:prstGeom>
          <a:noFill/>
          <a:ln/>
        </p:spPr>
        <p:txBody>
          <a:bodyPr wrap="square" rtlCol="0" anchor="ctr"/>
          <a:lstStyle/>
          <a:p>
            <a:pPr indent="0" marL="0">
              <a:lnSpc>
                <a:spcPct val="110000"/>
              </a:lnSpc>
              <a:buNone/>
            </a:pPr>
            <a:r>
              <a:rPr lang="en-US" sz="1800" b="1" dirty="0">
                <a:solidFill>
                  <a:srgbClr val="1F2733"/>
                </a:solidFill>
                <a:latin typeface="Meiryo" pitchFamily="34" charset="0"/>
                <a:ea typeface="Meiryo" pitchFamily="34" charset="-122"/>
                <a:cs typeface="Meiryo" pitchFamily="34" charset="-120"/>
              </a:rPr>
              <a:t>「人が足りない」→ フルタイム社員を補充</a:t>
            </a:r>
            <a:endParaRPr lang="en-US" sz="1800" dirty="0"/>
          </a:p>
        </p:txBody>
      </p:sp>
      <p:sp>
        <p:nvSpPr>
          <p:cNvPr id="7" name="Text 5"/>
          <p:cNvSpPr/>
          <p:nvPr/>
        </p:nvSpPr>
        <p:spPr>
          <a:xfrm>
            <a:off x="1051560" y="3657600"/>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便が増える・退職が出れば正社員で穴埋め</a:t>
            </a:r>
            <a:endParaRPr lang="en-US" sz="1350" dirty="0"/>
          </a:p>
        </p:txBody>
      </p:sp>
      <p:sp>
        <p:nvSpPr>
          <p:cNvPr id="8" name="Text 6"/>
          <p:cNvSpPr/>
          <p:nvPr/>
        </p:nvSpPr>
        <p:spPr>
          <a:xfrm>
            <a:off x="1051560" y="4224528"/>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朝のピークのために8時間勤務者を増やす</a:t>
            </a:r>
            <a:endParaRPr lang="en-US" sz="1350" dirty="0"/>
          </a:p>
        </p:txBody>
      </p:sp>
      <p:sp>
        <p:nvSpPr>
          <p:cNvPr id="9" name="Text 7"/>
          <p:cNvSpPr/>
          <p:nvPr/>
        </p:nvSpPr>
        <p:spPr>
          <a:xfrm>
            <a:off x="1051560" y="4791456"/>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ピーク後の時間にも人件費が発生し続ける</a:t>
            </a:r>
            <a:endParaRPr lang="en-US" sz="1350" dirty="0"/>
          </a:p>
        </p:txBody>
      </p:sp>
      <p:sp>
        <p:nvSpPr>
          <p:cNvPr id="10" name="Shape 8"/>
          <p:cNvSpPr/>
          <p:nvPr/>
        </p:nvSpPr>
        <p:spPr>
          <a:xfrm>
            <a:off x="6053328" y="3657600"/>
            <a:ext cx="777240" cy="822960"/>
          </a:xfrm>
          <a:prstGeom prst="rightArrow">
            <a:avLst/>
          </a:prstGeom>
          <a:solidFill>
            <a:srgbClr val="B8891B"/>
          </a:solidFill>
          <a:ln/>
        </p:spPr>
        <p:txBody>
          <a:bodyPr/>
          <a:p/>
        </p:txBody>
      </p:sp>
      <p:sp>
        <p:nvSpPr>
          <p:cNvPr id="11" name="Shape 9"/>
          <p:cNvSpPr/>
          <p:nvPr/>
        </p:nvSpPr>
        <p:spPr>
          <a:xfrm>
            <a:off x="6995160" y="2194560"/>
            <a:ext cx="4645152" cy="3749040"/>
          </a:xfrm>
          <a:prstGeom prst="roundRect">
            <a:avLst>
              <a:gd name="adj" fmla="val 1951"/>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2" name="Text 10"/>
          <p:cNvSpPr/>
          <p:nvPr/>
        </p:nvSpPr>
        <p:spPr>
          <a:xfrm>
            <a:off x="7269480" y="2423160"/>
            <a:ext cx="3657600" cy="365760"/>
          </a:xfrm>
          <a:prstGeom prst="rect">
            <a:avLst/>
          </a:prstGeom>
          <a:noFill/>
          <a:ln/>
        </p:spPr>
        <p:txBody>
          <a:bodyPr wrap="square" rtlCol="0" anchor="ctr"/>
          <a:lstStyle/>
          <a:p>
            <a:pPr indent="0" marL="0">
              <a:buNone/>
            </a:pPr>
            <a:r>
              <a:rPr lang="en-US" sz="1600" b="1" dirty="0">
                <a:solidFill>
                  <a:srgbClr val="1E7A5A"/>
                </a:solidFill>
                <a:latin typeface="Meiryo" pitchFamily="34" charset="0"/>
                <a:ea typeface="Meiryo" pitchFamily="34" charset="-122"/>
                <a:cs typeface="Meiryo" pitchFamily="34" charset="-120"/>
              </a:rPr>
              <a:t>これから</a:t>
            </a:r>
            <a:endParaRPr lang="en-US" sz="1600" dirty="0"/>
          </a:p>
        </p:txBody>
      </p:sp>
      <p:sp>
        <p:nvSpPr>
          <p:cNvPr id="13" name="Text 11"/>
          <p:cNvSpPr/>
          <p:nvPr/>
        </p:nvSpPr>
        <p:spPr>
          <a:xfrm>
            <a:off x="7269480" y="2834640"/>
            <a:ext cx="4114800" cy="640080"/>
          </a:xfrm>
          <a:prstGeom prst="rect">
            <a:avLst/>
          </a:prstGeom>
          <a:noFill/>
          <a:ln/>
        </p:spPr>
        <p:txBody>
          <a:bodyPr wrap="square" rtlCol="0" anchor="ctr"/>
          <a:lstStyle/>
          <a:p>
            <a:pPr indent="0" marL="0">
              <a:lnSpc>
                <a:spcPct val="110000"/>
              </a:lnSpc>
              <a:buNone/>
            </a:pPr>
            <a:r>
              <a:rPr lang="en-US" sz="1800" b="1" dirty="0">
                <a:solidFill>
                  <a:srgbClr val="1F2733"/>
                </a:solidFill>
                <a:latin typeface="Meiryo" pitchFamily="34" charset="0"/>
                <a:ea typeface="Meiryo" pitchFamily="34" charset="-122"/>
                <a:cs typeface="Meiryo" pitchFamily="34" charset="-120"/>
              </a:rPr>
              <a:t>「何時に・どこで・何人足りないか」を確認</a:t>
            </a:r>
            <a:endParaRPr lang="en-US" sz="1800" dirty="0"/>
          </a:p>
        </p:txBody>
      </p:sp>
      <p:sp>
        <p:nvSpPr>
          <p:cNvPr id="14" name="Text 12"/>
          <p:cNvSpPr/>
          <p:nvPr/>
        </p:nvSpPr>
        <p:spPr>
          <a:xfrm>
            <a:off x="7498080" y="3657600"/>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何人・何時から何時まで・どのポジションかまで分解</a:t>
            </a:r>
            <a:endParaRPr lang="en-US" sz="1350" dirty="0"/>
          </a:p>
        </p:txBody>
      </p:sp>
      <p:sp>
        <p:nvSpPr>
          <p:cNvPr id="15" name="Text 13"/>
          <p:cNvSpPr/>
          <p:nvPr/>
        </p:nvSpPr>
        <p:spPr>
          <a:xfrm>
            <a:off x="7498080" y="4224528"/>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正社員＋経験者＋短時間勤務者を組み合わせる</a:t>
            </a:r>
            <a:endParaRPr lang="en-US" sz="1350" dirty="0"/>
          </a:p>
        </p:txBody>
      </p:sp>
      <p:sp>
        <p:nvSpPr>
          <p:cNvPr id="16" name="Text 14"/>
          <p:cNvSpPr/>
          <p:nvPr/>
        </p:nvSpPr>
        <p:spPr>
          <a:xfrm>
            <a:off x="7498080" y="4791456"/>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必要な時間に、必要な出面だけを確保する</a:t>
            </a:r>
            <a:endParaRPr lang="en-US" sz="1350" dirty="0"/>
          </a:p>
        </p:txBody>
      </p:sp>
      <p:sp>
        <p:nvSpPr>
          <p:cNvPr id="17" name="Text 15"/>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8" name="Text 16"/>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考え方の具体例</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必要なのは「10人の社員」ではなく</a:t>
            </a:r>
            <a:endParaRPr lang="en-US" sz="3000" dirty="0"/>
          </a:p>
          <a:p>
            <a:pPr algn="l" indent="0" marL="0">
              <a:buNone/>
            </a:pPr>
            <a:r>
              <a:rPr lang="en-US" sz="3000" b="1" dirty="0">
                <a:solidFill>
                  <a:srgbClr val="1B2A4A"/>
                </a:solidFill>
                <a:latin typeface="Meiryo" pitchFamily="34" charset="0"/>
                <a:ea typeface="Meiryo" pitchFamily="34" charset="-122"/>
                <a:cs typeface="Meiryo" pitchFamily="34" charset="-120"/>
              </a:rPr>
              <a:t>「4時間 × 10人分の出面」</a:t>
            </a:r>
            <a:endParaRPr lang="en-US" sz="3000" dirty="0"/>
          </a:p>
        </p:txBody>
      </p:sp>
      <p:sp>
        <p:nvSpPr>
          <p:cNvPr id="4" name="Shape 2"/>
          <p:cNvSpPr/>
          <p:nvPr/>
        </p:nvSpPr>
        <p:spPr>
          <a:xfrm>
            <a:off x="548640" y="2514600"/>
            <a:ext cx="11091672" cy="1371600"/>
          </a:xfrm>
          <a:prstGeom prst="roundRect">
            <a:avLst>
              <a:gd name="adj" fmla="val 53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914400" y="2788920"/>
            <a:ext cx="10332720" cy="822960"/>
          </a:xfrm>
          <a:prstGeom prst="rect">
            <a:avLst/>
          </a:prstGeom>
          <a:noFill/>
          <a:ln/>
        </p:spPr>
        <p:txBody>
          <a:bodyPr wrap="square" rtlCol="0" anchor="ctr"/>
          <a:lstStyle/>
          <a:p>
            <a:pPr indent="0" marL="0">
              <a:buNone/>
            </a:pPr>
            <a:r>
              <a:rPr lang="en-US" sz="1800" dirty="0">
                <a:solidFill>
                  <a:srgbClr val="1F2733"/>
                </a:solidFill>
                <a:latin typeface="Meiryo" pitchFamily="34" charset="0"/>
                <a:ea typeface="Meiryo" pitchFamily="34" charset="-122"/>
                <a:cs typeface="Meiryo" pitchFamily="34" charset="-120"/>
              </a:rPr>
              <a:t>例）朝 6:00〜10:00 の 4時間 だけ、</a:t>
            </a:r>
            <a:pPr indent="0" marL="0">
              <a:buNone/>
            </a:pPr>
            <a:r>
              <a:rPr lang="en-US" sz="2000" b="1" dirty="0">
                <a:solidFill>
                  <a:srgbClr val="C0392B"/>
                </a:solidFill>
                <a:latin typeface="Meiryo" pitchFamily="34" charset="0"/>
                <a:ea typeface="Meiryo" pitchFamily="34" charset="-122"/>
                <a:cs typeface="Meiryo" pitchFamily="34" charset="-120"/>
              </a:rPr>
              <a:t>10人不足</a:t>
            </a:r>
            <a:pPr indent="0" marL="0">
              <a:buNone/>
            </a:pPr>
            <a:r>
              <a:rPr lang="en-US" sz="1800" dirty="0">
                <a:solidFill>
                  <a:srgbClr val="1F2733"/>
                </a:solidFill>
                <a:latin typeface="Meiryo" pitchFamily="34" charset="0"/>
                <a:ea typeface="Meiryo" pitchFamily="34" charset="-122"/>
                <a:cs typeface="Meiryo" pitchFamily="34" charset="-120"/>
              </a:rPr>
              <a:t> しているとする</a:t>
            </a:r>
            <a:endParaRPr lang="en-US" sz="1800" dirty="0"/>
          </a:p>
        </p:txBody>
      </p:sp>
      <p:sp>
        <p:nvSpPr>
          <p:cNvPr id="6" name="Shape 4"/>
          <p:cNvSpPr/>
          <p:nvPr/>
        </p:nvSpPr>
        <p:spPr>
          <a:xfrm>
            <a:off x="548640" y="4114800"/>
            <a:ext cx="5349240" cy="1920240"/>
          </a:xfrm>
          <a:prstGeom prst="roundRect">
            <a:avLst>
              <a:gd name="adj" fmla="val 3810"/>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Text 5"/>
          <p:cNvSpPr/>
          <p:nvPr/>
        </p:nvSpPr>
        <p:spPr>
          <a:xfrm>
            <a:off x="822960" y="4297680"/>
            <a:ext cx="3657600" cy="365760"/>
          </a:xfrm>
          <a:prstGeom prst="rect">
            <a:avLst/>
          </a:prstGeom>
          <a:noFill/>
          <a:ln/>
        </p:spPr>
        <p:txBody>
          <a:bodyPr wrap="square" rtlCol="0" anchor="ctr"/>
          <a:lstStyle/>
          <a:p>
            <a:pPr indent="0" marL="0">
              <a:buNone/>
            </a:pPr>
            <a:r>
              <a:rPr lang="en-US" sz="1400" b="1" dirty="0">
                <a:solidFill>
                  <a:srgbClr val="6B7686"/>
                </a:solidFill>
                <a:latin typeface="Meiryo" pitchFamily="34" charset="0"/>
                <a:ea typeface="Meiryo" pitchFamily="34" charset="-122"/>
                <a:cs typeface="Meiryo" pitchFamily="34" charset="-120"/>
              </a:rPr>
              <a:t>従来の発想</a:t>
            </a:r>
            <a:endParaRPr lang="en-US" sz="1400" dirty="0"/>
          </a:p>
        </p:txBody>
      </p:sp>
      <p:sp>
        <p:nvSpPr>
          <p:cNvPr id="8" name="Text 6"/>
          <p:cNvSpPr/>
          <p:nvPr/>
        </p:nvSpPr>
        <p:spPr>
          <a:xfrm>
            <a:off x="822960" y="4709160"/>
            <a:ext cx="4846320" cy="640080"/>
          </a:xfrm>
          <a:prstGeom prst="rect">
            <a:avLst/>
          </a:prstGeom>
          <a:noFill/>
          <a:ln/>
        </p:spPr>
        <p:txBody>
          <a:bodyPr wrap="square" rtlCol="0" anchor="ctr"/>
          <a:lstStyle/>
          <a:p>
            <a:pPr indent="0" marL="0">
              <a:lnSpc>
                <a:spcPct val="110000"/>
              </a:lnSpc>
              <a:buNone/>
            </a:pPr>
            <a:r>
              <a:rPr lang="en-US" sz="1600" b="1" dirty="0">
                <a:solidFill>
                  <a:srgbClr val="1F2733"/>
                </a:solidFill>
                <a:latin typeface="Meiryo" pitchFamily="34" charset="0"/>
                <a:ea typeface="Meiryo" pitchFamily="34" charset="-122"/>
                <a:cs typeface="Meiryo" pitchFamily="34" charset="-120"/>
              </a:rPr>
              <a:t>8時間勤務のフルタイム社員を10人採用</a:t>
            </a:r>
            <a:endParaRPr lang="en-US" sz="1600" dirty="0"/>
          </a:p>
        </p:txBody>
      </p:sp>
      <p:sp>
        <p:nvSpPr>
          <p:cNvPr id="9" name="Text 7"/>
          <p:cNvSpPr/>
          <p:nvPr/>
        </p:nvSpPr>
        <p:spPr>
          <a:xfrm>
            <a:off x="822960" y="5440680"/>
            <a:ext cx="4846320" cy="457200"/>
          </a:xfrm>
          <a:prstGeom prst="rect">
            <a:avLst/>
          </a:prstGeom>
          <a:noFill/>
          <a:ln/>
        </p:spPr>
        <p:txBody>
          <a:bodyPr wrap="square" rtlCol="0" anchor="ctr"/>
          <a:lstStyle/>
          <a:p>
            <a:pPr indent="0" marL="0">
              <a:buNone/>
            </a:pPr>
            <a:r>
              <a:rPr lang="en-US" sz="1300" dirty="0">
                <a:solidFill>
                  <a:srgbClr val="C0392B"/>
                </a:solidFill>
                <a:latin typeface="Meiryo" pitchFamily="34" charset="0"/>
                <a:ea typeface="Meiryo" pitchFamily="34" charset="-122"/>
                <a:cs typeface="Meiryo" pitchFamily="34" charset="-120"/>
              </a:rPr>
              <a:t>→ ピークが終わった残り時間にも人件費が発生</a:t>
            </a:r>
            <a:endParaRPr lang="en-US" sz="1300" dirty="0"/>
          </a:p>
        </p:txBody>
      </p:sp>
      <p:sp>
        <p:nvSpPr>
          <p:cNvPr id="10" name="Shape 8"/>
          <p:cNvSpPr/>
          <p:nvPr/>
        </p:nvSpPr>
        <p:spPr>
          <a:xfrm>
            <a:off x="6995160" y="4114800"/>
            <a:ext cx="4645152" cy="1920240"/>
          </a:xfrm>
          <a:prstGeom prst="roundRect">
            <a:avLst>
              <a:gd name="adj" fmla="val 3810"/>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9"/>
          <p:cNvSpPr/>
          <p:nvPr/>
        </p:nvSpPr>
        <p:spPr>
          <a:xfrm>
            <a:off x="7269480" y="4297680"/>
            <a:ext cx="3657600" cy="365760"/>
          </a:xfrm>
          <a:prstGeom prst="rect">
            <a:avLst/>
          </a:prstGeom>
          <a:noFill/>
          <a:ln/>
        </p:spPr>
        <p:txBody>
          <a:bodyPr wrap="square" rtlCol="0" anchor="ctr"/>
          <a:lstStyle/>
          <a:p>
            <a:pPr indent="0" marL="0">
              <a:buNone/>
            </a:pPr>
            <a:r>
              <a:rPr lang="en-US" sz="1400" b="1" dirty="0">
                <a:solidFill>
                  <a:srgbClr val="1E7A5A"/>
                </a:solidFill>
                <a:latin typeface="Meiryo" pitchFamily="34" charset="0"/>
                <a:ea typeface="Meiryo" pitchFamily="34" charset="-122"/>
                <a:cs typeface="Meiryo" pitchFamily="34" charset="-120"/>
              </a:rPr>
              <a:t>これからの発想</a:t>
            </a:r>
            <a:endParaRPr lang="en-US" sz="1400" dirty="0"/>
          </a:p>
        </p:txBody>
      </p:sp>
      <p:sp>
        <p:nvSpPr>
          <p:cNvPr id="12" name="Text 10"/>
          <p:cNvSpPr/>
          <p:nvPr/>
        </p:nvSpPr>
        <p:spPr>
          <a:xfrm>
            <a:off x="7269480" y="4709160"/>
            <a:ext cx="4206240" cy="640080"/>
          </a:xfrm>
          <a:prstGeom prst="rect">
            <a:avLst/>
          </a:prstGeom>
          <a:noFill/>
          <a:ln/>
        </p:spPr>
        <p:txBody>
          <a:bodyPr wrap="square" rtlCol="0" anchor="ctr"/>
          <a:lstStyle/>
          <a:p>
            <a:pPr indent="0" marL="0">
              <a:lnSpc>
                <a:spcPct val="110000"/>
              </a:lnSpc>
              <a:buNone/>
            </a:pPr>
            <a:r>
              <a:rPr lang="en-US" sz="1600" b="1" dirty="0">
                <a:solidFill>
                  <a:srgbClr val="1F2733"/>
                </a:solidFill>
                <a:latin typeface="Meiryo" pitchFamily="34" charset="0"/>
                <a:ea typeface="Meiryo" pitchFamily="34" charset="-122"/>
                <a:cs typeface="Meiryo" pitchFamily="34" charset="-120"/>
              </a:rPr>
              <a:t>ピークの4〜5時間だけ働く人を配置</a:t>
            </a:r>
            <a:endParaRPr lang="en-US" sz="1600" dirty="0"/>
          </a:p>
        </p:txBody>
      </p:sp>
      <p:sp>
        <p:nvSpPr>
          <p:cNvPr id="13" name="Text 11"/>
          <p:cNvSpPr/>
          <p:nvPr/>
        </p:nvSpPr>
        <p:spPr>
          <a:xfrm>
            <a:off x="7269480" y="5440680"/>
            <a:ext cx="4114800" cy="457200"/>
          </a:xfrm>
          <a:prstGeom prst="rect">
            <a:avLst/>
          </a:prstGeom>
          <a:noFill/>
          <a:ln/>
        </p:spPr>
        <p:txBody>
          <a:bodyPr wrap="square" rtlCol="0" anchor="ctr"/>
          <a:lstStyle/>
          <a:p>
            <a:pPr indent="0" marL="0">
              <a:buNone/>
            </a:pPr>
            <a:r>
              <a:rPr lang="en-US" sz="1300" dirty="0">
                <a:solidFill>
                  <a:srgbClr val="1E7A5A"/>
                </a:solidFill>
                <a:latin typeface="Meiryo" pitchFamily="34" charset="0"/>
                <a:ea typeface="Meiryo" pitchFamily="34" charset="-122"/>
                <a:cs typeface="Meiryo" pitchFamily="34" charset="-120"/>
              </a:rPr>
              <a:t>→ 必要な時間だけに人件費を集中でき、合理的</a:t>
            </a:r>
            <a:endParaRPr lang="en-US" sz="1300" dirty="0"/>
          </a:p>
        </p:txBody>
      </p:sp>
      <p:sp>
        <p:nvSpPr>
          <p:cNvPr id="14" name="Text 1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5" name="Text 1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短時間勤務者の基本設計</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基本イメージ ―「決定」と「検討中」を分けて進める</a:t>
            </a:r>
            <a:endParaRPr lang="en-US" sz="3000" dirty="0"/>
          </a:p>
        </p:txBody>
      </p:sp>
      <p:sp>
        <p:nvSpPr>
          <p:cNvPr id="4" name="Shape 2"/>
          <p:cNvSpPr/>
          <p:nvPr/>
        </p:nvSpPr>
        <p:spPr>
          <a:xfrm>
            <a:off x="548640" y="2194560"/>
            <a:ext cx="6309360" cy="3749040"/>
          </a:xfrm>
          <a:prstGeom prst="roundRect">
            <a:avLst>
              <a:gd name="adj" fmla="val 1951"/>
            </a:avLst>
          </a:prstGeom>
          <a:solidFill>
            <a:srgbClr val="E9EEF8"/>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377440"/>
            <a:ext cx="5486400" cy="365760"/>
          </a:xfrm>
          <a:prstGeom prst="rect">
            <a:avLst/>
          </a:prstGeom>
          <a:noFill/>
          <a:ln/>
        </p:spPr>
        <p:txBody>
          <a:bodyPr wrap="square" rtlCol="0" anchor="ctr"/>
          <a:lstStyle/>
          <a:p>
            <a:pPr indent="0" marL="0">
              <a:buNone/>
            </a:pPr>
            <a:r>
              <a:rPr lang="en-US" sz="1500" b="1" dirty="0">
                <a:solidFill>
                  <a:srgbClr val="2E5AAC"/>
                </a:solidFill>
                <a:latin typeface="Meiryo" pitchFamily="34" charset="0"/>
                <a:ea typeface="Meiryo" pitchFamily="34" charset="-122"/>
                <a:cs typeface="Meiryo" pitchFamily="34" charset="-120"/>
              </a:rPr>
              <a:t>決定・想定している方向</a:t>
            </a:r>
            <a:endParaRPr lang="en-US" sz="1500" dirty="0"/>
          </a:p>
        </p:txBody>
      </p:sp>
      <p:sp>
        <p:nvSpPr>
          <p:cNvPr id="6" name="Text 4"/>
          <p:cNvSpPr/>
          <p:nvPr/>
        </p:nvSpPr>
        <p:spPr>
          <a:xfrm>
            <a:off x="868680" y="2880360"/>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勤務時間</a:t>
            </a:r>
            <a:endParaRPr lang="en-US" sz="1350" dirty="0"/>
          </a:p>
        </p:txBody>
      </p:sp>
      <p:sp>
        <p:nvSpPr>
          <p:cNvPr id="7" name="Text 5"/>
          <p:cNvSpPr/>
          <p:nvPr/>
        </p:nvSpPr>
        <p:spPr>
          <a:xfrm>
            <a:off x="2514600" y="2880360"/>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1日 4〜5時間程度を基本</a:t>
            </a:r>
            <a:endParaRPr lang="en-US" sz="1350" dirty="0"/>
          </a:p>
        </p:txBody>
      </p:sp>
      <p:sp>
        <p:nvSpPr>
          <p:cNvPr id="8" name="Shape 6"/>
          <p:cNvSpPr/>
          <p:nvPr/>
        </p:nvSpPr>
        <p:spPr>
          <a:xfrm>
            <a:off x="868680" y="3447288"/>
            <a:ext cx="5852160" cy="0"/>
          </a:xfrm>
          <a:prstGeom prst="line">
            <a:avLst/>
          </a:prstGeom>
          <a:noFill/>
          <a:ln w="9525">
            <a:solidFill>
              <a:srgbClr val="C7D3E8"/>
            </a:solidFill>
            <a:prstDash val="solid"/>
          </a:ln>
        </p:spPr>
        <p:txBody>
          <a:bodyPr/>
          <a:p/>
        </p:txBody>
      </p:sp>
      <p:sp>
        <p:nvSpPr>
          <p:cNvPr id="9" name="Text 7"/>
          <p:cNvSpPr/>
          <p:nvPr/>
        </p:nvSpPr>
        <p:spPr>
          <a:xfrm>
            <a:off x="868680" y="3538728"/>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勤務日数</a:t>
            </a:r>
            <a:endParaRPr lang="en-US" sz="1350" dirty="0"/>
          </a:p>
        </p:txBody>
      </p:sp>
      <p:sp>
        <p:nvSpPr>
          <p:cNvPr id="10" name="Text 8"/>
          <p:cNvSpPr/>
          <p:nvPr/>
        </p:nvSpPr>
        <p:spPr>
          <a:xfrm>
            <a:off x="2514600" y="3538728"/>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週3日程度〜／原則 週20時間未満</a:t>
            </a:r>
            <a:endParaRPr lang="en-US" sz="1350" dirty="0"/>
          </a:p>
        </p:txBody>
      </p:sp>
      <p:sp>
        <p:nvSpPr>
          <p:cNvPr id="11" name="Shape 9"/>
          <p:cNvSpPr/>
          <p:nvPr/>
        </p:nvSpPr>
        <p:spPr>
          <a:xfrm>
            <a:off x="868680" y="4105656"/>
            <a:ext cx="5852160" cy="0"/>
          </a:xfrm>
          <a:prstGeom prst="line">
            <a:avLst/>
          </a:prstGeom>
          <a:noFill/>
          <a:ln w="9525">
            <a:solidFill>
              <a:srgbClr val="C7D3E8"/>
            </a:solidFill>
            <a:prstDash val="solid"/>
          </a:ln>
        </p:spPr>
        <p:txBody>
          <a:bodyPr/>
          <a:p/>
        </p:txBody>
      </p:sp>
      <p:sp>
        <p:nvSpPr>
          <p:cNvPr id="12" name="Text 10"/>
          <p:cNvSpPr/>
          <p:nvPr/>
        </p:nvSpPr>
        <p:spPr>
          <a:xfrm>
            <a:off x="868680" y="4197096"/>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配置</a:t>
            </a:r>
            <a:endParaRPr lang="en-US" sz="1350" dirty="0"/>
          </a:p>
        </p:txBody>
      </p:sp>
      <p:sp>
        <p:nvSpPr>
          <p:cNvPr id="13" name="Text 11"/>
          <p:cNvSpPr/>
          <p:nvPr/>
        </p:nvSpPr>
        <p:spPr>
          <a:xfrm>
            <a:off x="2514600" y="4197096"/>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各支店のピーク時間帯を中心に</a:t>
            </a:r>
            <a:endParaRPr lang="en-US" sz="1350" dirty="0"/>
          </a:p>
        </p:txBody>
      </p:sp>
      <p:sp>
        <p:nvSpPr>
          <p:cNvPr id="14" name="Shape 12"/>
          <p:cNvSpPr/>
          <p:nvPr/>
        </p:nvSpPr>
        <p:spPr>
          <a:xfrm>
            <a:off x="868680" y="4764024"/>
            <a:ext cx="5852160" cy="0"/>
          </a:xfrm>
          <a:prstGeom prst="line">
            <a:avLst/>
          </a:prstGeom>
          <a:noFill/>
          <a:ln w="9525">
            <a:solidFill>
              <a:srgbClr val="C7D3E8"/>
            </a:solidFill>
            <a:prstDash val="solid"/>
          </a:ln>
        </p:spPr>
        <p:txBody>
          <a:bodyPr/>
          <a:p/>
        </p:txBody>
      </p:sp>
      <p:sp>
        <p:nvSpPr>
          <p:cNvPr id="15" name="Text 13"/>
          <p:cNvSpPr/>
          <p:nvPr/>
        </p:nvSpPr>
        <p:spPr>
          <a:xfrm>
            <a:off x="868680" y="4855464"/>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対象</a:t>
            </a:r>
            <a:endParaRPr lang="en-US" sz="1350" dirty="0"/>
          </a:p>
        </p:txBody>
      </p:sp>
      <p:sp>
        <p:nvSpPr>
          <p:cNvPr id="16" name="Text 14"/>
          <p:cNvSpPr/>
          <p:nvPr/>
        </p:nvSpPr>
        <p:spPr>
          <a:xfrm>
            <a:off x="2514600" y="4855464"/>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経験者を積極採用、一部 未経験者も</a:t>
            </a:r>
            <a:endParaRPr lang="en-US" sz="1350" dirty="0"/>
          </a:p>
        </p:txBody>
      </p:sp>
      <p:sp>
        <p:nvSpPr>
          <p:cNvPr id="17" name="Shape 15"/>
          <p:cNvSpPr/>
          <p:nvPr/>
        </p:nvSpPr>
        <p:spPr>
          <a:xfrm>
            <a:off x="868680" y="5422392"/>
            <a:ext cx="5852160" cy="0"/>
          </a:xfrm>
          <a:prstGeom prst="line">
            <a:avLst/>
          </a:prstGeom>
          <a:noFill/>
          <a:ln w="9525">
            <a:solidFill>
              <a:srgbClr val="C7D3E8"/>
            </a:solidFill>
            <a:prstDash val="solid"/>
          </a:ln>
        </p:spPr>
        <p:txBody>
          <a:bodyPr/>
          <a:p/>
        </p:txBody>
      </p:sp>
      <p:sp>
        <p:nvSpPr>
          <p:cNvPr id="18" name="Shape 16"/>
          <p:cNvSpPr/>
          <p:nvPr/>
        </p:nvSpPr>
        <p:spPr>
          <a:xfrm>
            <a:off x="7040880" y="2194560"/>
            <a:ext cx="4599432" cy="3749040"/>
          </a:xfrm>
          <a:prstGeom prst="roundRect">
            <a:avLst>
              <a:gd name="adj" fmla="val 1951"/>
            </a:avLst>
          </a:prstGeom>
          <a:solidFill>
            <a:srgbClr val="F6EEDC"/>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9" name="Text 17"/>
          <p:cNvSpPr/>
          <p:nvPr/>
        </p:nvSpPr>
        <p:spPr>
          <a:xfrm>
            <a:off x="7315200" y="2377440"/>
            <a:ext cx="4114800" cy="365760"/>
          </a:xfrm>
          <a:prstGeom prst="rect">
            <a:avLst/>
          </a:prstGeom>
          <a:noFill/>
          <a:ln/>
        </p:spPr>
        <p:txBody>
          <a:bodyPr wrap="square" rtlCol="0" anchor="ctr"/>
          <a:lstStyle/>
          <a:p>
            <a:pPr indent="0" marL="0">
              <a:buNone/>
            </a:pPr>
            <a:r>
              <a:rPr lang="en-US" sz="1500" b="1" dirty="0">
                <a:solidFill>
                  <a:srgbClr val="B8891B"/>
                </a:solidFill>
                <a:latin typeface="Meiryo" pitchFamily="34" charset="0"/>
                <a:ea typeface="Meiryo" pitchFamily="34" charset="-122"/>
                <a:cs typeface="Meiryo" pitchFamily="34" charset="-120"/>
              </a:rPr>
              <a:t>検討中（整理を進めている）</a:t>
            </a:r>
            <a:endParaRPr lang="en-US" sz="1500" dirty="0"/>
          </a:p>
        </p:txBody>
      </p:sp>
      <p:sp>
        <p:nvSpPr>
          <p:cNvPr id="20" name="Text 18"/>
          <p:cNvSpPr/>
          <p:nvPr/>
        </p:nvSpPr>
        <p:spPr>
          <a:xfrm>
            <a:off x="7360920" y="2971800"/>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教育・本社研修のあり方</a:t>
            </a:r>
            <a:endParaRPr lang="en-US" sz="1400" dirty="0"/>
          </a:p>
        </p:txBody>
      </p:sp>
      <p:sp>
        <p:nvSpPr>
          <p:cNvPr id="21" name="Text 19"/>
          <p:cNvSpPr/>
          <p:nvPr/>
        </p:nvSpPr>
        <p:spPr>
          <a:xfrm>
            <a:off x="7360920" y="3630168"/>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交通費の取扱い</a:t>
            </a:r>
            <a:endParaRPr lang="en-US" sz="1400" dirty="0"/>
          </a:p>
        </p:txBody>
      </p:sp>
      <p:sp>
        <p:nvSpPr>
          <p:cNvPr id="22" name="Text 20"/>
          <p:cNvSpPr/>
          <p:nvPr/>
        </p:nvSpPr>
        <p:spPr>
          <a:xfrm>
            <a:off x="7360920" y="4288536"/>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資格付与・既存資格の確認</a:t>
            </a:r>
            <a:endParaRPr lang="en-US" sz="1400" dirty="0"/>
          </a:p>
        </p:txBody>
      </p:sp>
      <p:sp>
        <p:nvSpPr>
          <p:cNvPr id="23" name="Text 21"/>
          <p:cNvSpPr/>
          <p:nvPr/>
        </p:nvSpPr>
        <p:spPr>
          <a:xfrm>
            <a:off x="7360920" y="4946904"/>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シフトへの組込み</a:t>
            </a:r>
            <a:endParaRPr lang="en-US" sz="1400" dirty="0"/>
          </a:p>
        </p:txBody>
      </p:sp>
      <p:sp>
        <p:nvSpPr>
          <p:cNvPr id="24" name="Text 22"/>
          <p:cNvSpPr/>
          <p:nvPr/>
        </p:nvSpPr>
        <p:spPr>
          <a:xfrm>
            <a:off x="566928" y="6080760"/>
            <a:ext cx="11064240" cy="320040"/>
          </a:xfrm>
          <a:prstGeom prst="rect">
            <a:avLst/>
          </a:prstGeom>
          <a:noFill/>
          <a:ln/>
        </p:spPr>
        <p:txBody>
          <a:bodyPr wrap="square" rtlCol="0" anchor="ctr"/>
          <a:lstStyle/>
          <a:p>
            <a:pPr indent="0" marL="0">
              <a:buNone/>
            </a:pPr>
            <a:r>
              <a:rPr lang="en-US" sz="1100" i="1" dirty="0">
                <a:solidFill>
                  <a:srgbClr val="6B7686"/>
                </a:solidFill>
                <a:latin typeface="Meiryo" pitchFamily="34" charset="0"/>
                <a:ea typeface="Meiryo" pitchFamily="34" charset="-122"/>
                <a:cs typeface="Meiryo" pitchFamily="34" charset="-120"/>
              </a:rPr>
              <a:t>※ CKIN・GATE・ARR 等、資格・経験に応じた業務へ配置。制度の詳細は決定事項と検討事項を分けながら進めます。</a:t>
            </a:r>
            <a:endParaRPr lang="en-US" sz="1100" dirty="0"/>
          </a:p>
        </p:txBody>
      </p:sp>
      <p:sp>
        <p:nvSpPr>
          <p:cNvPr id="25" name="Text 23"/>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6" name="Text 24"/>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9FB0CC"/>
                </a:solidFill>
                <a:latin typeface="Meiryo" pitchFamily="34" charset="0"/>
                <a:ea typeface="Meiryo" pitchFamily="34" charset="-122"/>
                <a:cs typeface="Meiryo" pitchFamily="34" charset="-120"/>
              </a:rPr>
              <a:t>現場での活用方法</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「何人採るか」から考えない</a:t>
            </a:r>
            <a:endParaRPr lang="en-US" sz="3000" dirty="0"/>
          </a:p>
        </p:txBody>
      </p:sp>
      <p:sp>
        <p:nvSpPr>
          <p:cNvPr id="4" name="Text 2"/>
          <p:cNvSpPr/>
          <p:nvPr/>
        </p:nvSpPr>
        <p:spPr>
          <a:xfrm>
            <a:off x="548640" y="1600200"/>
            <a:ext cx="10789920" cy="365760"/>
          </a:xfrm>
          <a:prstGeom prst="rect">
            <a:avLst/>
          </a:prstGeom>
          <a:noFill/>
          <a:ln/>
        </p:spPr>
        <p:txBody>
          <a:bodyPr wrap="square" rtlCol="0" anchor="ctr"/>
          <a:lstStyle/>
          <a:p>
            <a:pPr indent="0" marL="0">
              <a:buNone/>
            </a:pPr>
            <a:r>
              <a:rPr lang="en-US" sz="1500" i="1" dirty="0">
                <a:solidFill>
                  <a:srgbClr val="CADCFC"/>
                </a:solidFill>
                <a:latin typeface="Meiryo" pitchFamily="34" charset="0"/>
                <a:ea typeface="Meiryo" pitchFamily="34" charset="-122"/>
                <a:cs typeface="Meiryo" pitchFamily="34" charset="-120"/>
              </a:rPr>
              <a:t>採用人数を先に決めず、必要な「時間 × 人数」から逆算する</a:t>
            </a:r>
            <a:endParaRPr lang="en-US" sz="1500" dirty="0"/>
          </a:p>
        </p:txBody>
      </p:sp>
      <p:sp>
        <p:nvSpPr>
          <p:cNvPr id="5" name="Shape 3"/>
          <p:cNvSpPr/>
          <p:nvPr/>
        </p:nvSpPr>
        <p:spPr>
          <a:xfrm>
            <a:off x="548640"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6" name="Shape 4"/>
          <p:cNvSpPr/>
          <p:nvPr/>
        </p:nvSpPr>
        <p:spPr>
          <a:xfrm>
            <a:off x="548640" y="2651760"/>
            <a:ext cx="1365069" cy="1554480"/>
          </a:xfrm>
          <a:prstGeom prst="rect">
            <a:avLst/>
          </a:prstGeom>
          <a:solidFill>
            <a:srgbClr val="2E4270"/>
          </a:solidFill>
          <a:ln/>
        </p:spPr>
        <p:txBody>
          <a:bodyPr/>
          <a:p/>
        </p:txBody>
      </p:sp>
      <p:sp>
        <p:nvSpPr>
          <p:cNvPr id="7" name="Text 5"/>
          <p:cNvSpPr/>
          <p:nvPr/>
        </p:nvSpPr>
        <p:spPr>
          <a:xfrm>
            <a:off x="640080"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1</a:t>
            </a:r>
            <a:endParaRPr lang="en-US" sz="1200" dirty="0"/>
          </a:p>
        </p:txBody>
      </p:sp>
      <p:sp>
        <p:nvSpPr>
          <p:cNvPr id="8" name="Text 6"/>
          <p:cNvSpPr/>
          <p:nvPr/>
        </p:nvSpPr>
        <p:spPr>
          <a:xfrm>
            <a:off x="594360"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Flight</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Schedule</a:t>
            </a:r>
            <a:endParaRPr lang="en-US" sz="1350" dirty="0"/>
          </a:p>
        </p:txBody>
      </p:sp>
      <p:sp>
        <p:nvSpPr>
          <p:cNvPr id="9" name="Text 7"/>
          <p:cNvSpPr/>
          <p:nvPr/>
        </p:nvSpPr>
        <p:spPr>
          <a:xfrm>
            <a:off x="1895421"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10" name="Shape 8"/>
          <p:cNvSpPr/>
          <p:nvPr/>
        </p:nvSpPr>
        <p:spPr>
          <a:xfrm>
            <a:off x="2169741"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Shape 9"/>
          <p:cNvSpPr/>
          <p:nvPr/>
        </p:nvSpPr>
        <p:spPr>
          <a:xfrm>
            <a:off x="2169741" y="2651760"/>
            <a:ext cx="1365069" cy="1554480"/>
          </a:xfrm>
          <a:prstGeom prst="rect">
            <a:avLst/>
          </a:prstGeom>
          <a:solidFill>
            <a:srgbClr val="2E4270"/>
          </a:solidFill>
          <a:ln/>
        </p:spPr>
        <p:txBody>
          <a:bodyPr/>
          <a:p/>
        </p:txBody>
      </p:sp>
      <p:sp>
        <p:nvSpPr>
          <p:cNvPr id="12" name="Text 10"/>
          <p:cNvSpPr/>
          <p:nvPr/>
        </p:nvSpPr>
        <p:spPr>
          <a:xfrm>
            <a:off x="2261181"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2</a:t>
            </a:r>
            <a:endParaRPr lang="en-US" sz="1200" dirty="0"/>
          </a:p>
        </p:txBody>
      </p:sp>
      <p:sp>
        <p:nvSpPr>
          <p:cNvPr id="13" name="Text 11"/>
          <p:cNvSpPr/>
          <p:nvPr/>
        </p:nvSpPr>
        <p:spPr>
          <a:xfrm>
            <a:off x="2215461"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ポジション</a:t>
            </a:r>
            <a:endParaRPr lang="en-US" sz="1350" dirty="0"/>
          </a:p>
        </p:txBody>
      </p:sp>
      <p:sp>
        <p:nvSpPr>
          <p:cNvPr id="14" name="Text 12"/>
          <p:cNvSpPr/>
          <p:nvPr/>
        </p:nvSpPr>
        <p:spPr>
          <a:xfrm>
            <a:off x="3516521"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15" name="Shape 13"/>
          <p:cNvSpPr/>
          <p:nvPr/>
        </p:nvSpPr>
        <p:spPr>
          <a:xfrm>
            <a:off x="3790841"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6" name="Shape 14"/>
          <p:cNvSpPr/>
          <p:nvPr/>
        </p:nvSpPr>
        <p:spPr>
          <a:xfrm>
            <a:off x="3790841" y="2651760"/>
            <a:ext cx="1365069" cy="1554480"/>
          </a:xfrm>
          <a:prstGeom prst="rect">
            <a:avLst/>
          </a:prstGeom>
          <a:solidFill>
            <a:srgbClr val="2E4270"/>
          </a:solidFill>
          <a:ln/>
        </p:spPr>
        <p:txBody>
          <a:bodyPr/>
          <a:p/>
        </p:txBody>
      </p:sp>
      <p:sp>
        <p:nvSpPr>
          <p:cNvPr id="17" name="Text 15"/>
          <p:cNvSpPr/>
          <p:nvPr/>
        </p:nvSpPr>
        <p:spPr>
          <a:xfrm>
            <a:off x="3882281"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3</a:t>
            </a:r>
            <a:endParaRPr lang="en-US" sz="1200" dirty="0"/>
          </a:p>
        </p:txBody>
      </p:sp>
      <p:sp>
        <p:nvSpPr>
          <p:cNvPr id="18" name="Text 16"/>
          <p:cNvSpPr/>
          <p:nvPr/>
        </p:nvSpPr>
        <p:spPr>
          <a:xfrm>
            <a:off x="3836561"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必要人数</a:t>
            </a:r>
            <a:endParaRPr lang="en-US" sz="1350" dirty="0"/>
          </a:p>
        </p:txBody>
      </p:sp>
      <p:sp>
        <p:nvSpPr>
          <p:cNvPr id="19" name="Text 17"/>
          <p:cNvSpPr/>
          <p:nvPr/>
        </p:nvSpPr>
        <p:spPr>
          <a:xfrm>
            <a:off x="5137622"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20" name="Shape 18"/>
          <p:cNvSpPr/>
          <p:nvPr/>
        </p:nvSpPr>
        <p:spPr>
          <a:xfrm>
            <a:off x="5411942"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1" name="Shape 19"/>
          <p:cNvSpPr/>
          <p:nvPr/>
        </p:nvSpPr>
        <p:spPr>
          <a:xfrm>
            <a:off x="5411942" y="2651760"/>
            <a:ext cx="1365069" cy="1554480"/>
          </a:xfrm>
          <a:prstGeom prst="rect">
            <a:avLst/>
          </a:prstGeom>
          <a:solidFill>
            <a:srgbClr val="2E4270"/>
          </a:solidFill>
          <a:ln/>
        </p:spPr>
        <p:txBody>
          <a:bodyPr/>
          <a:p/>
        </p:txBody>
      </p:sp>
      <p:sp>
        <p:nvSpPr>
          <p:cNvPr id="22" name="Text 20"/>
          <p:cNvSpPr/>
          <p:nvPr/>
        </p:nvSpPr>
        <p:spPr>
          <a:xfrm>
            <a:off x="5503382"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4</a:t>
            </a:r>
            <a:endParaRPr lang="en-US" sz="1200" dirty="0"/>
          </a:p>
        </p:txBody>
      </p:sp>
      <p:sp>
        <p:nvSpPr>
          <p:cNvPr id="23" name="Text 21"/>
          <p:cNvSpPr/>
          <p:nvPr/>
        </p:nvSpPr>
        <p:spPr>
          <a:xfrm>
            <a:off x="5457662"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時間帯</a:t>
            </a:r>
            <a:endParaRPr lang="en-US" sz="1350" dirty="0"/>
          </a:p>
        </p:txBody>
      </p:sp>
      <p:sp>
        <p:nvSpPr>
          <p:cNvPr id="24" name="Text 22"/>
          <p:cNvSpPr/>
          <p:nvPr/>
        </p:nvSpPr>
        <p:spPr>
          <a:xfrm>
            <a:off x="6758722"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25" name="Shape 23"/>
          <p:cNvSpPr/>
          <p:nvPr/>
        </p:nvSpPr>
        <p:spPr>
          <a:xfrm>
            <a:off x="7033042"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6" name="Shape 24"/>
          <p:cNvSpPr/>
          <p:nvPr/>
        </p:nvSpPr>
        <p:spPr>
          <a:xfrm>
            <a:off x="7033042" y="2651760"/>
            <a:ext cx="1365069" cy="1554480"/>
          </a:xfrm>
          <a:prstGeom prst="rect">
            <a:avLst/>
          </a:prstGeom>
          <a:solidFill>
            <a:srgbClr val="2E4270"/>
          </a:solidFill>
          <a:ln/>
        </p:spPr>
        <p:txBody>
          <a:bodyPr/>
          <a:p/>
        </p:txBody>
      </p:sp>
      <p:sp>
        <p:nvSpPr>
          <p:cNvPr id="27" name="Text 25"/>
          <p:cNvSpPr/>
          <p:nvPr/>
        </p:nvSpPr>
        <p:spPr>
          <a:xfrm>
            <a:off x="7124482"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5</a:t>
            </a:r>
            <a:endParaRPr lang="en-US" sz="1200" dirty="0"/>
          </a:p>
        </p:txBody>
      </p:sp>
      <p:sp>
        <p:nvSpPr>
          <p:cNvPr id="28" name="Text 26"/>
          <p:cNvSpPr/>
          <p:nvPr/>
        </p:nvSpPr>
        <p:spPr>
          <a:xfrm>
            <a:off x="7078762"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既存在籍で</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カバー</a:t>
            </a:r>
            <a:endParaRPr lang="en-US" sz="1350" dirty="0"/>
          </a:p>
        </p:txBody>
      </p:sp>
      <p:sp>
        <p:nvSpPr>
          <p:cNvPr id="29" name="Text 27"/>
          <p:cNvSpPr/>
          <p:nvPr/>
        </p:nvSpPr>
        <p:spPr>
          <a:xfrm>
            <a:off x="8379823"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30" name="Shape 28"/>
          <p:cNvSpPr/>
          <p:nvPr/>
        </p:nvSpPr>
        <p:spPr>
          <a:xfrm>
            <a:off x="8654143"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1" name="Shape 29"/>
          <p:cNvSpPr/>
          <p:nvPr/>
        </p:nvSpPr>
        <p:spPr>
          <a:xfrm>
            <a:off x="8654143" y="2651760"/>
            <a:ext cx="1365069" cy="1554480"/>
          </a:xfrm>
          <a:prstGeom prst="rect">
            <a:avLst/>
          </a:prstGeom>
          <a:solidFill>
            <a:srgbClr val="2E4270"/>
          </a:solidFill>
          <a:ln/>
        </p:spPr>
        <p:txBody>
          <a:bodyPr/>
          <a:p/>
        </p:txBody>
      </p:sp>
      <p:sp>
        <p:nvSpPr>
          <p:cNvPr id="32" name="Text 30"/>
          <p:cNvSpPr/>
          <p:nvPr/>
        </p:nvSpPr>
        <p:spPr>
          <a:xfrm>
            <a:off x="8745583"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6</a:t>
            </a:r>
            <a:endParaRPr lang="en-US" sz="1200" dirty="0"/>
          </a:p>
        </p:txBody>
      </p:sp>
      <p:sp>
        <p:nvSpPr>
          <p:cNvPr id="33" name="Text 31"/>
          <p:cNvSpPr/>
          <p:nvPr/>
        </p:nvSpPr>
        <p:spPr>
          <a:xfrm>
            <a:off x="8699863"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不足する</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出面</a:t>
            </a:r>
            <a:endParaRPr lang="en-US" sz="1350" dirty="0"/>
          </a:p>
        </p:txBody>
      </p:sp>
      <p:sp>
        <p:nvSpPr>
          <p:cNvPr id="34" name="Text 32"/>
          <p:cNvSpPr/>
          <p:nvPr/>
        </p:nvSpPr>
        <p:spPr>
          <a:xfrm>
            <a:off x="10000923"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35" name="Shape 33"/>
          <p:cNvSpPr/>
          <p:nvPr/>
        </p:nvSpPr>
        <p:spPr>
          <a:xfrm>
            <a:off x="10275243" y="2651760"/>
            <a:ext cx="1365069" cy="1554480"/>
          </a:xfrm>
          <a:prstGeom prst="roundRect">
            <a:avLst>
              <a:gd name="adj" fmla="val 5359"/>
            </a:avLst>
          </a:prstGeom>
          <a:solidFill>
            <a:srgbClr val="B8891B"/>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6" name="Shape 34"/>
          <p:cNvSpPr/>
          <p:nvPr/>
        </p:nvSpPr>
        <p:spPr>
          <a:xfrm>
            <a:off x="10275243" y="2651760"/>
            <a:ext cx="1365069" cy="1554480"/>
          </a:xfrm>
          <a:prstGeom prst="rect">
            <a:avLst/>
          </a:prstGeom>
          <a:solidFill>
            <a:srgbClr val="B8891B"/>
          </a:solidFill>
          <a:ln/>
        </p:spPr>
        <p:txBody>
          <a:bodyPr/>
          <a:p/>
        </p:txBody>
      </p:sp>
      <p:sp>
        <p:nvSpPr>
          <p:cNvPr id="37" name="Text 35"/>
          <p:cNvSpPr/>
          <p:nvPr/>
        </p:nvSpPr>
        <p:spPr>
          <a:xfrm>
            <a:off x="10366683" y="2761488"/>
            <a:ext cx="1182189" cy="320040"/>
          </a:xfrm>
          <a:prstGeom prst="rect">
            <a:avLst/>
          </a:prstGeom>
          <a:noFill/>
          <a:ln/>
        </p:spPr>
        <p:txBody>
          <a:bodyPr wrap="square" rtlCol="0" anchor="ctr"/>
          <a:lstStyle/>
          <a:p>
            <a:pPr algn="ctr" indent="0" marL="0">
              <a:buNone/>
            </a:pPr>
            <a:r>
              <a:rPr lang="en-US" sz="1200" b="1" dirty="0">
                <a:solidFill>
                  <a:srgbClr val="5A430A"/>
                </a:solidFill>
                <a:latin typeface="Meiryo" pitchFamily="34" charset="0"/>
                <a:ea typeface="Meiryo" pitchFamily="34" charset="-122"/>
                <a:cs typeface="Meiryo" pitchFamily="34" charset="-120"/>
              </a:rPr>
              <a:t>13</a:t>
            </a:r>
            <a:endParaRPr lang="en-US" sz="1200" dirty="0"/>
          </a:p>
        </p:txBody>
      </p:sp>
      <p:sp>
        <p:nvSpPr>
          <p:cNvPr id="38" name="Text 36"/>
          <p:cNvSpPr/>
          <p:nvPr/>
        </p:nvSpPr>
        <p:spPr>
          <a:xfrm>
            <a:off x="10320963"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1B2A4A"/>
                </a:solidFill>
                <a:latin typeface="Meiryo" pitchFamily="34" charset="0"/>
                <a:ea typeface="Meiryo" pitchFamily="34" charset="-122"/>
                <a:cs typeface="Meiryo" pitchFamily="34" charset="-120"/>
              </a:rPr>
              <a:t>採用人数</a:t>
            </a:r>
            <a:endParaRPr lang="en-US" sz="1350" dirty="0"/>
          </a:p>
        </p:txBody>
      </p:sp>
      <p:sp>
        <p:nvSpPr>
          <p:cNvPr id="39" name="Shape 37"/>
          <p:cNvSpPr/>
          <p:nvPr/>
        </p:nvSpPr>
        <p:spPr>
          <a:xfrm>
            <a:off x="548640" y="4754880"/>
            <a:ext cx="11091672" cy="1280160"/>
          </a:xfrm>
          <a:prstGeom prst="roundRect">
            <a:avLst>
              <a:gd name="adj" fmla="val 5714"/>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40" name="Shape 38"/>
          <p:cNvSpPr/>
          <p:nvPr/>
        </p:nvSpPr>
        <p:spPr>
          <a:xfrm>
            <a:off x="548640" y="4754880"/>
            <a:ext cx="11091672" cy="1280160"/>
          </a:xfrm>
          <a:prstGeom prst="rect">
            <a:avLst/>
          </a:prstGeom>
          <a:solidFill>
            <a:srgbClr val="22345B"/>
          </a:solidFill>
          <a:ln/>
        </p:spPr>
        <p:txBody>
          <a:bodyPr/>
          <a:p/>
        </p:txBody>
      </p:sp>
      <p:sp>
        <p:nvSpPr>
          <p:cNvPr id="41" name="Text 39"/>
          <p:cNvSpPr/>
          <p:nvPr/>
        </p:nvSpPr>
        <p:spPr>
          <a:xfrm>
            <a:off x="868680" y="4937760"/>
            <a:ext cx="10515600" cy="502920"/>
          </a:xfrm>
          <a:prstGeom prst="rect">
            <a:avLst/>
          </a:prstGeom>
          <a:noFill/>
          <a:ln/>
        </p:spPr>
        <p:txBody>
          <a:bodyPr wrap="square" rtlCol="0" anchor="ctr"/>
          <a:lstStyle/>
          <a:p>
            <a:pPr indent="0" marL="0">
              <a:buNone/>
            </a:pPr>
            <a:r>
              <a:rPr lang="en-US" sz="1700" b="1" dirty="0">
                <a:solidFill>
                  <a:srgbClr val="FF9E93"/>
                </a:solidFill>
                <a:latin typeface="Meiryo" pitchFamily="34" charset="0"/>
                <a:ea typeface="Meiryo" pitchFamily="34" charset="-122"/>
                <a:cs typeface="Meiryo" pitchFamily="34" charset="-120"/>
              </a:rPr>
              <a:t>× 「うちは5人ほしい」   </a:t>
            </a:r>
            <a:pPr indent="0" marL="0">
              <a:buNone/>
            </a:pPr>
            <a:r>
              <a:rPr lang="en-US" sz="1600" dirty="0">
                <a:solidFill>
                  <a:srgbClr val="CADCFC"/>
                </a:solidFill>
                <a:latin typeface="Meiryo" pitchFamily="34" charset="0"/>
                <a:ea typeface="Meiryo" pitchFamily="34" charset="-122"/>
                <a:cs typeface="Meiryo" pitchFamily="34" charset="-120"/>
              </a:rPr>
              <a:t>→   </a:t>
            </a:r>
            <a:pPr indent="0" marL="0">
              <a:buNone/>
            </a:pPr>
            <a:r>
              <a:rPr lang="en-US" sz="1700" b="1" dirty="0">
                <a:solidFill>
                  <a:srgbClr val="9FE3C4"/>
                </a:solidFill>
                <a:latin typeface="Meiryo" pitchFamily="34" charset="0"/>
                <a:ea typeface="Meiryo" pitchFamily="34" charset="-122"/>
                <a:cs typeface="Meiryo" pitchFamily="34" charset="-120"/>
              </a:rPr>
              <a:t>○ 「6〜10時に3人、7〜12時に2人 不足」</a:t>
            </a:r>
            <a:endParaRPr lang="en-US" sz="1700" dirty="0"/>
          </a:p>
        </p:txBody>
      </p:sp>
      <p:sp>
        <p:nvSpPr>
          <p:cNvPr id="42" name="Text 40"/>
          <p:cNvSpPr/>
          <p:nvPr/>
        </p:nvSpPr>
        <p:spPr>
          <a:xfrm>
            <a:off x="868680" y="5440680"/>
            <a:ext cx="10424160" cy="457200"/>
          </a:xfrm>
          <a:prstGeom prst="rect">
            <a:avLst/>
          </a:prstGeom>
          <a:noFill/>
          <a:ln/>
        </p:spPr>
        <p:txBody>
          <a:bodyPr wrap="square" rtlCol="0" anchor="ctr"/>
          <a:lstStyle/>
          <a:p>
            <a:pPr indent="0" marL="0">
              <a:buNone/>
            </a:pPr>
            <a:r>
              <a:rPr lang="en-US" sz="1300" dirty="0">
                <a:solidFill>
                  <a:srgbClr val="E5ECF7"/>
                </a:solidFill>
                <a:latin typeface="Meiryo" pitchFamily="34" charset="0"/>
                <a:ea typeface="Meiryo" pitchFamily="34" charset="-122"/>
                <a:cs typeface="Meiryo" pitchFamily="34" charset="-120"/>
              </a:rPr>
              <a:t>この形で見ていただかないと、人件費が全く変わります。現場と人事が一緒に作らないと、この施策は成功しません。</a:t>
            </a:r>
            <a:endParaRPr lang="en-US" sz="1300" dirty="0"/>
          </a:p>
        </p:txBody>
      </p:sp>
      <p:sp>
        <p:nvSpPr>
          <p:cNvPr id="43" name="Text 41"/>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9FB0CC"/>
                </a:solidFill>
                <a:latin typeface="Meiryo" pitchFamily="34" charset="0"/>
                <a:ea typeface="Meiryo" pitchFamily="34" charset="-122"/>
                <a:cs typeface="Meiryo" pitchFamily="34" charset="-120"/>
              </a:rPr>
              <a:t>短時間勤務者採用 説明会</a:t>
            </a:r>
            <a:endParaRPr lang="en-US" sz="900" dirty="0"/>
          </a:p>
        </p:txBody>
      </p:sp>
      <p:sp>
        <p:nvSpPr>
          <p:cNvPr id="44" name="Text 42"/>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9FB0CC"/>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正社員採用との関係</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正社員を否定しない。役割を分けて組み合わせる</a:t>
            </a:r>
            <a:endParaRPr lang="en-US" sz="3000" dirty="0"/>
          </a:p>
        </p:txBody>
      </p:sp>
      <p:sp>
        <p:nvSpPr>
          <p:cNvPr id="4" name="Shape 2"/>
          <p:cNvSpPr/>
          <p:nvPr/>
        </p:nvSpPr>
        <p:spPr>
          <a:xfrm>
            <a:off x="548640" y="2240280"/>
            <a:ext cx="5486400" cy="3657600"/>
          </a:xfrm>
          <a:prstGeom prst="roundRect">
            <a:avLst>
              <a:gd name="adj" fmla="val 2000"/>
            </a:avLst>
          </a:prstGeom>
          <a:solidFill>
            <a:srgbClr val="E9EEF8"/>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22960" y="2514600"/>
            <a:ext cx="457200" cy="457200"/>
          </a:xfrm>
          <a:prstGeom prst="roundRect">
            <a:avLst>
              <a:gd name="adj" fmla="val 50000"/>
            </a:avLst>
          </a:prstGeom>
          <a:solidFill>
            <a:srgbClr val="2E5AAC"/>
          </a:solidFill>
          <a:ln/>
        </p:spPr>
        <p:txBody>
          <a:bodyPr/>
          <a:p/>
        </p:txBody>
      </p:sp>
      <p:sp>
        <p:nvSpPr>
          <p:cNvPr id="6" name="Text 4"/>
          <p:cNvSpPr/>
          <p:nvPr/>
        </p:nvSpPr>
        <p:spPr>
          <a:xfrm>
            <a:off x="822960" y="2514600"/>
            <a:ext cx="457200" cy="457200"/>
          </a:xfrm>
          <a:prstGeom prst="rect">
            <a:avLst/>
          </a:prstGeom>
          <a:noFill/>
          <a:ln/>
        </p:spPr>
        <p:txBody>
          <a:bodyPr wrap="square"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正</a:t>
            </a:r>
            <a:endParaRPr lang="en-US" sz="1600" dirty="0"/>
          </a:p>
        </p:txBody>
      </p:sp>
      <p:sp>
        <p:nvSpPr>
          <p:cNvPr id="7" name="Text 5"/>
          <p:cNvSpPr/>
          <p:nvPr/>
        </p:nvSpPr>
        <p:spPr>
          <a:xfrm>
            <a:off x="1417320" y="2514600"/>
            <a:ext cx="4297680" cy="45720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フルタイム社員</a:t>
            </a:r>
            <a:endParaRPr lang="en-US" sz="1900" dirty="0"/>
          </a:p>
        </p:txBody>
      </p:sp>
      <p:sp>
        <p:nvSpPr>
          <p:cNvPr id="8" name="Text 6"/>
          <p:cNvSpPr/>
          <p:nvPr/>
        </p:nvSpPr>
        <p:spPr>
          <a:xfrm>
            <a:off x="914400" y="3200400"/>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コア業務・安定運営の中心</a:t>
            </a:r>
            <a:endParaRPr lang="en-US" sz="1400" dirty="0"/>
          </a:p>
        </p:txBody>
      </p:sp>
      <p:sp>
        <p:nvSpPr>
          <p:cNvPr id="9" name="Text 7"/>
          <p:cNvSpPr/>
          <p:nvPr/>
        </p:nvSpPr>
        <p:spPr>
          <a:xfrm>
            <a:off x="914400" y="3822192"/>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資格保有者・責任者</a:t>
            </a:r>
            <a:endParaRPr lang="en-US" sz="1400" dirty="0"/>
          </a:p>
        </p:txBody>
      </p:sp>
      <p:sp>
        <p:nvSpPr>
          <p:cNvPr id="10" name="Text 8"/>
          <p:cNvSpPr/>
          <p:nvPr/>
        </p:nvSpPr>
        <p:spPr>
          <a:xfrm>
            <a:off x="914400" y="4443984"/>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イレギュラー時に対応できる体制</a:t>
            </a:r>
            <a:endParaRPr lang="en-US" sz="1400" dirty="0"/>
          </a:p>
        </p:txBody>
      </p:sp>
      <p:sp>
        <p:nvSpPr>
          <p:cNvPr id="11" name="Text 9"/>
          <p:cNvSpPr/>
          <p:nvPr/>
        </p:nvSpPr>
        <p:spPr>
          <a:xfrm>
            <a:off x="914400" y="5065776"/>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中途採用は原則抑制、即戦力は個別判断</a:t>
            </a:r>
            <a:endParaRPr lang="en-US" sz="1400" dirty="0"/>
          </a:p>
        </p:txBody>
      </p:sp>
      <p:sp>
        <p:nvSpPr>
          <p:cNvPr id="12" name="Shape 10"/>
          <p:cNvSpPr/>
          <p:nvPr/>
        </p:nvSpPr>
        <p:spPr>
          <a:xfrm>
            <a:off x="6172200" y="2240280"/>
            <a:ext cx="5468112" cy="3657600"/>
          </a:xfrm>
          <a:prstGeom prst="roundRect">
            <a:avLst>
              <a:gd name="adj" fmla="val 2000"/>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Shape 11"/>
          <p:cNvSpPr/>
          <p:nvPr/>
        </p:nvSpPr>
        <p:spPr>
          <a:xfrm>
            <a:off x="6446520" y="2514600"/>
            <a:ext cx="457200" cy="457200"/>
          </a:xfrm>
          <a:prstGeom prst="roundRect">
            <a:avLst>
              <a:gd name="adj" fmla="val 50000"/>
            </a:avLst>
          </a:prstGeom>
          <a:solidFill>
            <a:srgbClr val="1E7A5A"/>
          </a:solidFill>
          <a:ln/>
        </p:spPr>
        <p:txBody>
          <a:bodyPr/>
          <a:p/>
        </p:txBody>
      </p:sp>
      <p:sp>
        <p:nvSpPr>
          <p:cNvPr id="14" name="Text 12"/>
          <p:cNvSpPr/>
          <p:nvPr/>
        </p:nvSpPr>
        <p:spPr>
          <a:xfrm>
            <a:off x="6446520" y="2514600"/>
            <a:ext cx="457200" cy="457200"/>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時</a:t>
            </a:r>
            <a:endParaRPr lang="en-US" sz="1500" dirty="0"/>
          </a:p>
        </p:txBody>
      </p:sp>
      <p:sp>
        <p:nvSpPr>
          <p:cNvPr id="15" name="Text 13"/>
          <p:cNvSpPr/>
          <p:nvPr/>
        </p:nvSpPr>
        <p:spPr>
          <a:xfrm>
            <a:off x="7040880" y="2514600"/>
            <a:ext cx="4297680" cy="45720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短時間勤務者</a:t>
            </a:r>
            <a:endParaRPr lang="en-US" sz="1900" dirty="0"/>
          </a:p>
        </p:txBody>
      </p:sp>
      <p:sp>
        <p:nvSpPr>
          <p:cNvPr id="16" name="Text 14"/>
          <p:cNvSpPr/>
          <p:nvPr/>
        </p:nvSpPr>
        <p:spPr>
          <a:xfrm>
            <a:off x="6537960" y="3200400"/>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ピーク時間帯の補完</a:t>
            </a:r>
            <a:endParaRPr lang="en-US" sz="1400" dirty="0"/>
          </a:p>
        </p:txBody>
      </p:sp>
      <p:sp>
        <p:nvSpPr>
          <p:cNvPr id="17" name="Text 15"/>
          <p:cNvSpPr/>
          <p:nvPr/>
        </p:nvSpPr>
        <p:spPr>
          <a:xfrm>
            <a:off x="6537960" y="3822192"/>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定型業務・資格に応じたライン配置</a:t>
            </a:r>
            <a:endParaRPr lang="en-US" sz="1400" dirty="0"/>
          </a:p>
        </p:txBody>
      </p:sp>
      <p:sp>
        <p:nvSpPr>
          <p:cNvPr id="18" name="Text 16"/>
          <p:cNvSpPr/>
          <p:nvPr/>
        </p:nvSpPr>
        <p:spPr>
          <a:xfrm>
            <a:off x="6537960" y="4443984"/>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朝の数時間だけの不足をカバー</a:t>
            </a:r>
            <a:endParaRPr lang="en-US" sz="1400" dirty="0"/>
          </a:p>
        </p:txBody>
      </p:sp>
      <p:sp>
        <p:nvSpPr>
          <p:cNvPr id="19" name="Text 17"/>
          <p:cNvSpPr/>
          <p:nvPr/>
        </p:nvSpPr>
        <p:spPr>
          <a:xfrm>
            <a:off x="6537960" y="5065776"/>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フルタイム採用の代わりに機動的に配置</a:t>
            </a:r>
            <a:endParaRPr lang="en-US" sz="1400" dirty="0"/>
          </a:p>
        </p:txBody>
      </p:sp>
      <p:sp>
        <p:nvSpPr>
          <p:cNvPr id="20" name="Text 18"/>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1" name="Text 19"/>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現在の採用状況</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成田・新千歳から先行して募集開始</a:t>
            </a:r>
            <a:endParaRPr lang="en-US" sz="3000" dirty="0"/>
          </a:p>
        </p:txBody>
      </p:sp>
      <p:sp>
        <p:nvSpPr>
          <p:cNvPr id="4" name="Shape 2"/>
          <p:cNvSpPr/>
          <p:nvPr/>
        </p:nvSpPr>
        <p:spPr>
          <a:xfrm>
            <a:off x="54864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成田</a:t>
            </a:r>
            <a:endParaRPr lang="en-US" sz="1500" dirty="0"/>
          </a:p>
        </p:txBody>
      </p:sp>
      <p:sp>
        <p:nvSpPr>
          <p:cNvPr id="6" name="Text 4"/>
          <p:cNvSpPr/>
          <p:nvPr/>
        </p:nvSpPr>
        <p:spPr>
          <a:xfrm>
            <a:off x="822960" y="2971800"/>
            <a:ext cx="3108960" cy="777240"/>
          </a:xfrm>
          <a:prstGeom prst="rect">
            <a:avLst/>
          </a:prstGeom>
          <a:noFill/>
          <a:ln/>
        </p:spPr>
        <p:txBody>
          <a:bodyPr wrap="square" rtlCol="0" anchor="ctr"/>
          <a:lstStyle/>
          <a:p>
            <a:pPr indent="0" marL="0">
              <a:buNone/>
            </a:pPr>
            <a:r>
              <a:rPr lang="en-US" sz="4400" b="1" dirty="0">
                <a:solidFill>
                  <a:srgbClr val="1B2A4A"/>
                </a:solidFill>
                <a:latin typeface="Meiryo" pitchFamily="34" charset="0"/>
                <a:ea typeface="Meiryo" pitchFamily="34" charset="-122"/>
                <a:cs typeface="Meiryo" pitchFamily="34" charset="-120"/>
              </a:rPr>
              <a:t>10名</a:t>
            </a:r>
            <a:endParaRPr lang="en-US" sz="4400" dirty="0"/>
          </a:p>
        </p:txBody>
      </p:sp>
      <p:sp>
        <p:nvSpPr>
          <p:cNvPr id="7" name="Text 5"/>
          <p:cNvSpPr/>
          <p:nvPr/>
        </p:nvSpPr>
        <p:spPr>
          <a:xfrm>
            <a:off x="82296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採用目標（当面）</a:t>
            </a:r>
            <a:endParaRPr lang="en-US" sz="1200" dirty="0"/>
          </a:p>
        </p:txBody>
      </p:sp>
      <p:sp>
        <p:nvSpPr>
          <p:cNvPr id="8" name="Shape 6"/>
          <p:cNvSpPr/>
          <p:nvPr/>
        </p:nvSpPr>
        <p:spPr>
          <a:xfrm>
            <a:off x="452628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480060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新千歳</a:t>
            </a:r>
            <a:endParaRPr lang="en-US" sz="1500" dirty="0"/>
          </a:p>
        </p:txBody>
      </p:sp>
      <p:sp>
        <p:nvSpPr>
          <p:cNvPr id="10" name="Text 8"/>
          <p:cNvSpPr/>
          <p:nvPr/>
        </p:nvSpPr>
        <p:spPr>
          <a:xfrm>
            <a:off x="4800600" y="2971800"/>
            <a:ext cx="3108960" cy="777240"/>
          </a:xfrm>
          <a:prstGeom prst="rect">
            <a:avLst/>
          </a:prstGeom>
          <a:noFill/>
          <a:ln/>
        </p:spPr>
        <p:txBody>
          <a:bodyPr wrap="square" rtlCol="0" anchor="ctr"/>
          <a:lstStyle/>
          <a:p>
            <a:pPr indent="0" marL="0">
              <a:buNone/>
            </a:pPr>
            <a:r>
              <a:rPr lang="en-US" sz="4400" b="1" dirty="0">
                <a:solidFill>
                  <a:srgbClr val="1B2A4A"/>
                </a:solidFill>
                <a:latin typeface="Meiryo" pitchFamily="34" charset="0"/>
                <a:ea typeface="Meiryo" pitchFamily="34" charset="-122"/>
                <a:cs typeface="Meiryo" pitchFamily="34" charset="-120"/>
              </a:rPr>
              <a:t>10名</a:t>
            </a:r>
            <a:endParaRPr lang="en-US" sz="4400" dirty="0"/>
          </a:p>
        </p:txBody>
      </p:sp>
      <p:sp>
        <p:nvSpPr>
          <p:cNvPr id="11" name="Text 9"/>
          <p:cNvSpPr/>
          <p:nvPr/>
        </p:nvSpPr>
        <p:spPr>
          <a:xfrm>
            <a:off x="480060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採用目標（当面）</a:t>
            </a:r>
            <a:endParaRPr lang="en-US" sz="1200" dirty="0"/>
          </a:p>
        </p:txBody>
      </p:sp>
      <p:sp>
        <p:nvSpPr>
          <p:cNvPr id="12" name="Shape 10"/>
          <p:cNvSpPr/>
          <p:nvPr/>
        </p:nvSpPr>
        <p:spPr>
          <a:xfrm>
            <a:off x="850392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Text 11"/>
          <p:cNvSpPr/>
          <p:nvPr/>
        </p:nvSpPr>
        <p:spPr>
          <a:xfrm>
            <a:off x="877824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成田・経験者</a:t>
            </a:r>
            <a:endParaRPr lang="en-US" sz="1500" dirty="0"/>
          </a:p>
        </p:txBody>
      </p:sp>
      <p:sp>
        <p:nvSpPr>
          <p:cNvPr id="14" name="Text 12"/>
          <p:cNvSpPr/>
          <p:nvPr/>
        </p:nvSpPr>
        <p:spPr>
          <a:xfrm>
            <a:off x="8778240" y="2971800"/>
            <a:ext cx="3108960" cy="777240"/>
          </a:xfrm>
          <a:prstGeom prst="rect">
            <a:avLst/>
          </a:prstGeom>
          <a:noFill/>
          <a:ln/>
        </p:spPr>
        <p:txBody>
          <a:bodyPr wrap="square" rtlCol="0" anchor="ctr"/>
          <a:lstStyle/>
          <a:p>
            <a:pPr indent="0" marL="0">
              <a:buNone/>
            </a:pPr>
            <a:r>
              <a:rPr lang="en-US" sz="2600" b="1" dirty="0">
                <a:solidFill>
                  <a:srgbClr val="B8891B"/>
                </a:solidFill>
                <a:latin typeface="Meiryo" pitchFamily="34" charset="0"/>
                <a:ea typeface="Meiryo" pitchFamily="34" charset="-122"/>
                <a:cs typeface="Meiryo" pitchFamily="34" charset="-120"/>
              </a:rPr>
              <a:t>1,800〜2,100円</a:t>
            </a:r>
            <a:endParaRPr lang="en-US" sz="2600" dirty="0"/>
          </a:p>
        </p:txBody>
      </p:sp>
      <p:sp>
        <p:nvSpPr>
          <p:cNvPr id="15" name="Text 13"/>
          <p:cNvSpPr/>
          <p:nvPr/>
        </p:nvSpPr>
        <p:spPr>
          <a:xfrm>
            <a:off x="877824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想定時給（経験・資格に応じ設定）</a:t>
            </a:r>
            <a:endParaRPr lang="en-US" sz="1200" dirty="0"/>
          </a:p>
        </p:txBody>
      </p:sp>
      <p:sp>
        <p:nvSpPr>
          <p:cNvPr id="16" name="Shape 14"/>
          <p:cNvSpPr/>
          <p:nvPr/>
        </p:nvSpPr>
        <p:spPr>
          <a:xfrm>
            <a:off x="548640" y="4709160"/>
            <a:ext cx="11091672" cy="1325880"/>
          </a:xfrm>
          <a:prstGeom prst="roundRect">
            <a:avLst>
              <a:gd name="adj" fmla="val 5517"/>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7" name="Text 15"/>
          <p:cNvSpPr/>
          <p:nvPr/>
        </p:nvSpPr>
        <p:spPr>
          <a:xfrm>
            <a:off x="868680" y="4892040"/>
            <a:ext cx="10424160" cy="411480"/>
          </a:xfrm>
          <a:prstGeom prst="rect">
            <a:avLst/>
          </a:prstGeom>
          <a:noFill/>
          <a:ln/>
        </p:spPr>
        <p:txBody>
          <a:bodyPr wrap="square" rtlCol="0" anchor="ctr"/>
          <a:lstStyle/>
          <a:p>
            <a:pPr indent="0" marL="0">
              <a:buNone/>
            </a:pPr>
            <a:r>
              <a:rPr lang="en-US" sz="1600" b="1" dirty="0">
                <a:solidFill>
                  <a:srgbClr val="1F2733"/>
                </a:solidFill>
                <a:latin typeface="Meiryo" pitchFamily="34" charset="0"/>
                <a:ea typeface="Meiryo" pitchFamily="34" charset="-122"/>
                <a:cs typeface="Meiryo" pitchFamily="34" charset="-120"/>
              </a:rPr>
              <a:t>この「10名」は固定ではありません</a:t>
            </a:r>
            <a:endParaRPr lang="en-US" sz="1600" dirty="0"/>
          </a:p>
        </p:txBody>
      </p:sp>
      <p:sp>
        <p:nvSpPr>
          <p:cNvPr id="18" name="Text 16"/>
          <p:cNvSpPr/>
          <p:nvPr/>
        </p:nvSpPr>
        <p:spPr>
          <a:xfrm>
            <a:off x="868680" y="5303520"/>
            <a:ext cx="10515600" cy="64008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最終的には Winter Schedule を見ながら、各支店で実際に「何時に何人不足するか」を確認して必要人数を決めます。経験者は経験・資格に応じた時給で即戦力層の採用を強化します。</a:t>
            </a:r>
            <a:endParaRPr lang="en-US" sz="1350" dirty="0"/>
          </a:p>
        </p:txBody>
      </p:sp>
      <p:sp>
        <p:nvSpPr>
          <p:cNvPr id="19" name="Text 17"/>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8"/>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現在整理している課題</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「採って終わり」にしない ― 整理中の論点</a:t>
            </a:r>
            <a:endParaRPr lang="en-US" sz="3000" dirty="0"/>
          </a:p>
        </p:txBody>
      </p:sp>
      <p:sp>
        <p:nvSpPr>
          <p:cNvPr id="4" name="Shape 2"/>
          <p:cNvSpPr/>
          <p:nvPr/>
        </p:nvSpPr>
        <p:spPr>
          <a:xfrm>
            <a:off x="548640"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04672" y="2542032"/>
            <a:ext cx="411480" cy="411480"/>
          </a:xfrm>
          <a:prstGeom prst="roundRect">
            <a:avLst>
              <a:gd name="adj" fmla="val 22222"/>
            </a:avLst>
          </a:prstGeom>
          <a:solidFill>
            <a:srgbClr val="E9EEF8"/>
          </a:solidFill>
          <a:ln/>
        </p:spPr>
        <p:txBody>
          <a:bodyPr/>
          <a:p/>
        </p:txBody>
      </p:sp>
      <p:sp>
        <p:nvSpPr>
          <p:cNvPr id="6" name="Text 4"/>
          <p:cNvSpPr/>
          <p:nvPr/>
        </p:nvSpPr>
        <p:spPr>
          <a:xfrm>
            <a:off x="804672"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1</a:t>
            </a:r>
            <a:endParaRPr lang="en-US" sz="1400" dirty="0"/>
          </a:p>
        </p:txBody>
      </p:sp>
      <p:sp>
        <p:nvSpPr>
          <p:cNvPr id="7" name="Text 5"/>
          <p:cNvSpPr/>
          <p:nvPr/>
        </p:nvSpPr>
        <p:spPr>
          <a:xfrm>
            <a:off x="1325880"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教育・本社研修</a:t>
            </a:r>
            <a:endParaRPr lang="en-US" sz="1500" dirty="0"/>
          </a:p>
        </p:txBody>
      </p:sp>
      <p:sp>
        <p:nvSpPr>
          <p:cNvPr id="8" name="Text 6"/>
          <p:cNvSpPr/>
          <p:nvPr/>
        </p:nvSpPr>
        <p:spPr>
          <a:xfrm>
            <a:off x="822960"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短時間勤務者に合った教育・研修のあり方</a:t>
            </a:r>
            <a:endParaRPr lang="en-US" sz="1250" dirty="0"/>
          </a:p>
        </p:txBody>
      </p:sp>
      <p:sp>
        <p:nvSpPr>
          <p:cNvPr id="9" name="Shape 7"/>
          <p:cNvSpPr/>
          <p:nvPr/>
        </p:nvSpPr>
        <p:spPr>
          <a:xfrm>
            <a:off x="4407408"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Shape 8"/>
          <p:cNvSpPr/>
          <p:nvPr/>
        </p:nvSpPr>
        <p:spPr>
          <a:xfrm>
            <a:off x="4663440" y="2542032"/>
            <a:ext cx="411480" cy="411480"/>
          </a:xfrm>
          <a:prstGeom prst="roundRect">
            <a:avLst>
              <a:gd name="adj" fmla="val 22222"/>
            </a:avLst>
          </a:prstGeom>
          <a:solidFill>
            <a:srgbClr val="E9EEF8"/>
          </a:solidFill>
          <a:ln/>
        </p:spPr>
        <p:txBody>
          <a:bodyPr/>
          <a:p/>
        </p:txBody>
      </p:sp>
      <p:sp>
        <p:nvSpPr>
          <p:cNvPr id="11" name="Text 9"/>
          <p:cNvSpPr/>
          <p:nvPr/>
        </p:nvSpPr>
        <p:spPr>
          <a:xfrm>
            <a:off x="4663440"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2</a:t>
            </a:r>
            <a:endParaRPr lang="en-US" sz="1400" dirty="0"/>
          </a:p>
        </p:txBody>
      </p:sp>
      <p:sp>
        <p:nvSpPr>
          <p:cNvPr id="12" name="Text 10"/>
          <p:cNvSpPr/>
          <p:nvPr/>
        </p:nvSpPr>
        <p:spPr>
          <a:xfrm>
            <a:off x="5184648"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交通費の取扱い</a:t>
            </a:r>
            <a:endParaRPr lang="en-US" sz="1500" dirty="0"/>
          </a:p>
        </p:txBody>
      </p:sp>
      <p:sp>
        <p:nvSpPr>
          <p:cNvPr id="13" name="Text 11"/>
          <p:cNvSpPr/>
          <p:nvPr/>
        </p:nvSpPr>
        <p:spPr>
          <a:xfrm>
            <a:off x="4681728"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短時間勤務に応じた交通費の考え方</a:t>
            </a:r>
            <a:endParaRPr lang="en-US" sz="1250" dirty="0"/>
          </a:p>
        </p:txBody>
      </p:sp>
      <p:sp>
        <p:nvSpPr>
          <p:cNvPr id="14" name="Shape 12"/>
          <p:cNvSpPr/>
          <p:nvPr/>
        </p:nvSpPr>
        <p:spPr>
          <a:xfrm>
            <a:off x="8266176"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Shape 13"/>
          <p:cNvSpPr/>
          <p:nvPr/>
        </p:nvSpPr>
        <p:spPr>
          <a:xfrm>
            <a:off x="8522208" y="2542032"/>
            <a:ext cx="411480" cy="411480"/>
          </a:xfrm>
          <a:prstGeom prst="roundRect">
            <a:avLst>
              <a:gd name="adj" fmla="val 22222"/>
            </a:avLst>
          </a:prstGeom>
          <a:solidFill>
            <a:srgbClr val="E9EEF8"/>
          </a:solidFill>
          <a:ln/>
        </p:spPr>
        <p:txBody>
          <a:bodyPr/>
          <a:p/>
        </p:txBody>
      </p:sp>
      <p:sp>
        <p:nvSpPr>
          <p:cNvPr id="16" name="Text 14"/>
          <p:cNvSpPr/>
          <p:nvPr/>
        </p:nvSpPr>
        <p:spPr>
          <a:xfrm>
            <a:off x="8522208"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3</a:t>
            </a:r>
            <a:endParaRPr lang="en-US" sz="1400" dirty="0"/>
          </a:p>
        </p:txBody>
      </p:sp>
      <p:sp>
        <p:nvSpPr>
          <p:cNvPr id="17" name="Text 15"/>
          <p:cNvSpPr/>
          <p:nvPr/>
        </p:nvSpPr>
        <p:spPr>
          <a:xfrm>
            <a:off x="9043416"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OJT・現場受入</a:t>
            </a:r>
            <a:endParaRPr lang="en-US" sz="1500" dirty="0"/>
          </a:p>
        </p:txBody>
      </p:sp>
      <p:sp>
        <p:nvSpPr>
          <p:cNvPr id="18" name="Text 16"/>
          <p:cNvSpPr/>
          <p:nvPr/>
        </p:nvSpPr>
        <p:spPr>
          <a:xfrm>
            <a:off x="8540496"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現場でのOJTと受入体制の整理</a:t>
            </a:r>
            <a:endParaRPr lang="en-US" sz="1250" dirty="0"/>
          </a:p>
        </p:txBody>
      </p:sp>
      <p:sp>
        <p:nvSpPr>
          <p:cNvPr id="19" name="Shape 17"/>
          <p:cNvSpPr/>
          <p:nvPr/>
        </p:nvSpPr>
        <p:spPr>
          <a:xfrm>
            <a:off x="548640"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0" name="Shape 18"/>
          <p:cNvSpPr/>
          <p:nvPr/>
        </p:nvSpPr>
        <p:spPr>
          <a:xfrm>
            <a:off x="804672" y="4462272"/>
            <a:ext cx="411480" cy="411480"/>
          </a:xfrm>
          <a:prstGeom prst="roundRect">
            <a:avLst>
              <a:gd name="adj" fmla="val 22222"/>
            </a:avLst>
          </a:prstGeom>
          <a:solidFill>
            <a:srgbClr val="E9EEF8"/>
          </a:solidFill>
          <a:ln/>
        </p:spPr>
        <p:txBody>
          <a:bodyPr/>
          <a:p/>
        </p:txBody>
      </p:sp>
      <p:sp>
        <p:nvSpPr>
          <p:cNvPr id="21" name="Text 19"/>
          <p:cNvSpPr/>
          <p:nvPr/>
        </p:nvSpPr>
        <p:spPr>
          <a:xfrm>
            <a:off x="804672"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4</a:t>
            </a:r>
            <a:endParaRPr lang="en-US" sz="1400" dirty="0"/>
          </a:p>
        </p:txBody>
      </p:sp>
      <p:sp>
        <p:nvSpPr>
          <p:cNvPr id="22" name="Text 20"/>
          <p:cNvSpPr/>
          <p:nvPr/>
        </p:nvSpPr>
        <p:spPr>
          <a:xfrm>
            <a:off x="1325880"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資格付与・確認</a:t>
            </a:r>
            <a:endParaRPr lang="en-US" sz="1500" dirty="0"/>
          </a:p>
        </p:txBody>
      </p:sp>
      <p:sp>
        <p:nvSpPr>
          <p:cNvPr id="23" name="Text 21"/>
          <p:cNvSpPr/>
          <p:nvPr/>
        </p:nvSpPr>
        <p:spPr>
          <a:xfrm>
            <a:off x="822960"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資格付与と既存資格の確認</a:t>
            </a:r>
            <a:endParaRPr lang="en-US" sz="1250" dirty="0"/>
          </a:p>
        </p:txBody>
      </p:sp>
      <p:sp>
        <p:nvSpPr>
          <p:cNvPr id="24" name="Shape 22"/>
          <p:cNvSpPr/>
          <p:nvPr/>
        </p:nvSpPr>
        <p:spPr>
          <a:xfrm>
            <a:off x="4407408"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5" name="Shape 23"/>
          <p:cNvSpPr/>
          <p:nvPr/>
        </p:nvSpPr>
        <p:spPr>
          <a:xfrm>
            <a:off x="4663440" y="4462272"/>
            <a:ext cx="411480" cy="411480"/>
          </a:xfrm>
          <a:prstGeom prst="roundRect">
            <a:avLst>
              <a:gd name="adj" fmla="val 22222"/>
            </a:avLst>
          </a:prstGeom>
          <a:solidFill>
            <a:srgbClr val="E9EEF8"/>
          </a:solidFill>
          <a:ln/>
        </p:spPr>
        <p:txBody>
          <a:bodyPr/>
          <a:p/>
        </p:txBody>
      </p:sp>
      <p:sp>
        <p:nvSpPr>
          <p:cNvPr id="26" name="Text 24"/>
          <p:cNvSpPr/>
          <p:nvPr/>
        </p:nvSpPr>
        <p:spPr>
          <a:xfrm>
            <a:off x="4663440"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5</a:t>
            </a:r>
            <a:endParaRPr lang="en-US" sz="1400" dirty="0"/>
          </a:p>
        </p:txBody>
      </p:sp>
      <p:sp>
        <p:nvSpPr>
          <p:cNvPr id="27" name="Text 25"/>
          <p:cNvSpPr/>
          <p:nvPr/>
        </p:nvSpPr>
        <p:spPr>
          <a:xfrm>
            <a:off x="5184648"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シフトへの組込み</a:t>
            </a:r>
            <a:endParaRPr lang="en-US" sz="1500" dirty="0"/>
          </a:p>
        </p:txBody>
      </p:sp>
      <p:sp>
        <p:nvSpPr>
          <p:cNvPr id="28" name="Text 26"/>
          <p:cNvSpPr/>
          <p:nvPr/>
        </p:nvSpPr>
        <p:spPr>
          <a:xfrm>
            <a:off x="4681728"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勤務時間・シフトへの落とし込み</a:t>
            </a:r>
            <a:endParaRPr lang="en-US" sz="1250" dirty="0"/>
          </a:p>
        </p:txBody>
      </p:sp>
      <p:sp>
        <p:nvSpPr>
          <p:cNvPr id="29" name="Shape 27"/>
          <p:cNvSpPr/>
          <p:nvPr/>
        </p:nvSpPr>
        <p:spPr>
          <a:xfrm>
            <a:off x="8266176"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0" name="Shape 28"/>
          <p:cNvSpPr/>
          <p:nvPr/>
        </p:nvSpPr>
        <p:spPr>
          <a:xfrm>
            <a:off x="8522208" y="4462272"/>
            <a:ext cx="411480" cy="411480"/>
          </a:xfrm>
          <a:prstGeom prst="roundRect">
            <a:avLst>
              <a:gd name="adj" fmla="val 22222"/>
            </a:avLst>
          </a:prstGeom>
          <a:solidFill>
            <a:srgbClr val="E9EEF8"/>
          </a:solidFill>
          <a:ln/>
        </p:spPr>
        <p:txBody>
          <a:bodyPr/>
          <a:p/>
        </p:txBody>
      </p:sp>
      <p:sp>
        <p:nvSpPr>
          <p:cNvPr id="31" name="Text 29"/>
          <p:cNvSpPr/>
          <p:nvPr/>
        </p:nvSpPr>
        <p:spPr>
          <a:xfrm>
            <a:off x="8522208"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6</a:t>
            </a:r>
            <a:endParaRPr lang="en-US" sz="1400" dirty="0"/>
          </a:p>
        </p:txBody>
      </p:sp>
      <p:sp>
        <p:nvSpPr>
          <p:cNvPr id="32" name="Text 30"/>
          <p:cNvSpPr/>
          <p:nvPr/>
        </p:nvSpPr>
        <p:spPr>
          <a:xfrm>
            <a:off x="9043416"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配置効果の検証</a:t>
            </a:r>
            <a:endParaRPr lang="en-US" sz="1500" dirty="0"/>
          </a:p>
        </p:txBody>
      </p:sp>
      <p:sp>
        <p:nvSpPr>
          <p:cNvPr id="33" name="Text 31"/>
          <p:cNvSpPr/>
          <p:nvPr/>
        </p:nvSpPr>
        <p:spPr>
          <a:xfrm>
            <a:off x="8540496"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採用後の配置効果を検証する仕組み</a:t>
            </a:r>
            <a:endParaRPr lang="en-US" sz="1250" dirty="0"/>
          </a:p>
        </p:txBody>
      </p:sp>
      <p:sp>
        <p:nvSpPr>
          <p:cNvPr id="34" name="Text 3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35" name="Text 3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9FB0CC"/>
                </a:solidFill>
                <a:latin typeface="Meiryo" pitchFamily="34" charset="0"/>
                <a:ea typeface="Meiryo" pitchFamily="34" charset="-122"/>
                <a:cs typeface="Meiryo" pitchFamily="34" charset="-120"/>
              </a:rPr>
              <a:t>支店長・所属長の皆さんへ</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お願いしたいこと</a:t>
            </a:r>
            <a:endParaRPr lang="en-US" sz="3000" dirty="0"/>
          </a:p>
        </p:txBody>
      </p:sp>
      <p:sp>
        <p:nvSpPr>
          <p:cNvPr id="4" name="Shape 2"/>
          <p:cNvSpPr/>
          <p:nvPr/>
        </p:nvSpPr>
        <p:spPr>
          <a:xfrm>
            <a:off x="548640" y="224028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5" name="Shape 3"/>
          <p:cNvSpPr/>
          <p:nvPr/>
        </p:nvSpPr>
        <p:spPr>
          <a:xfrm>
            <a:off x="777240" y="2532888"/>
            <a:ext cx="457200" cy="457200"/>
          </a:xfrm>
          <a:prstGeom prst="roundRect">
            <a:avLst>
              <a:gd name="adj" fmla="val 20000"/>
            </a:avLst>
          </a:prstGeom>
          <a:solidFill>
            <a:srgbClr val="B8891B"/>
          </a:solidFill>
          <a:ln/>
        </p:spPr>
        <p:txBody>
          <a:bodyPr/>
          <a:p/>
        </p:txBody>
      </p:sp>
      <p:sp>
        <p:nvSpPr>
          <p:cNvPr id="6" name="Text 4"/>
          <p:cNvSpPr/>
          <p:nvPr/>
        </p:nvSpPr>
        <p:spPr>
          <a:xfrm>
            <a:off x="777240" y="253288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1</a:t>
            </a:r>
            <a:endParaRPr lang="en-US" sz="1600" dirty="0"/>
          </a:p>
        </p:txBody>
      </p:sp>
      <p:sp>
        <p:nvSpPr>
          <p:cNvPr id="7" name="Text 5"/>
          <p:cNvSpPr/>
          <p:nvPr/>
        </p:nvSpPr>
        <p:spPr>
          <a:xfrm>
            <a:off x="1371600" y="240487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Winter Schedule を基準に必要出面を確認</a:t>
            </a:r>
            <a:endParaRPr lang="en-US" sz="1450" dirty="0"/>
          </a:p>
        </p:txBody>
      </p:sp>
      <p:sp>
        <p:nvSpPr>
          <p:cNvPr id="8" name="Text 6"/>
          <p:cNvSpPr/>
          <p:nvPr/>
        </p:nvSpPr>
        <p:spPr>
          <a:xfrm>
            <a:off x="1371600" y="280720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26W を基準に、まず必要な出面を洗い出す</a:t>
            </a:r>
            <a:endParaRPr lang="en-US" sz="1150" dirty="0"/>
          </a:p>
        </p:txBody>
      </p:sp>
      <p:sp>
        <p:nvSpPr>
          <p:cNvPr id="9" name="Shape 7"/>
          <p:cNvSpPr/>
          <p:nvPr/>
        </p:nvSpPr>
        <p:spPr>
          <a:xfrm>
            <a:off x="6153912" y="224028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0" name="Shape 8"/>
          <p:cNvSpPr/>
          <p:nvPr/>
        </p:nvSpPr>
        <p:spPr>
          <a:xfrm>
            <a:off x="6382512" y="2532888"/>
            <a:ext cx="457200" cy="457200"/>
          </a:xfrm>
          <a:prstGeom prst="roundRect">
            <a:avLst>
              <a:gd name="adj" fmla="val 20000"/>
            </a:avLst>
          </a:prstGeom>
          <a:solidFill>
            <a:srgbClr val="B8891B"/>
          </a:solidFill>
          <a:ln/>
        </p:spPr>
        <p:txBody>
          <a:bodyPr/>
          <a:p/>
        </p:txBody>
      </p:sp>
      <p:sp>
        <p:nvSpPr>
          <p:cNvPr id="11" name="Text 9"/>
          <p:cNvSpPr/>
          <p:nvPr/>
        </p:nvSpPr>
        <p:spPr>
          <a:xfrm>
            <a:off x="6382512" y="253288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2</a:t>
            </a:r>
            <a:endParaRPr lang="en-US" sz="1600" dirty="0"/>
          </a:p>
        </p:txBody>
      </p:sp>
      <p:sp>
        <p:nvSpPr>
          <p:cNvPr id="12" name="Text 10"/>
          <p:cNvSpPr/>
          <p:nvPr/>
        </p:nvSpPr>
        <p:spPr>
          <a:xfrm>
            <a:off x="6976872" y="240487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時間帯別の不足人数を算出</a:t>
            </a:r>
            <a:endParaRPr lang="en-US" sz="1450" dirty="0"/>
          </a:p>
        </p:txBody>
      </p:sp>
      <p:sp>
        <p:nvSpPr>
          <p:cNvPr id="13" name="Text 11"/>
          <p:cNvSpPr/>
          <p:nvPr/>
        </p:nvSpPr>
        <p:spPr>
          <a:xfrm>
            <a:off x="6976872" y="280720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既存社員でカバーできる分と、不足する時間帯を分ける</a:t>
            </a:r>
            <a:endParaRPr lang="en-US" sz="1150" dirty="0"/>
          </a:p>
        </p:txBody>
      </p:sp>
      <p:sp>
        <p:nvSpPr>
          <p:cNvPr id="14" name="Shape 12"/>
          <p:cNvSpPr/>
          <p:nvPr/>
        </p:nvSpPr>
        <p:spPr>
          <a:xfrm>
            <a:off x="548640" y="347472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5" name="Shape 13"/>
          <p:cNvSpPr/>
          <p:nvPr/>
        </p:nvSpPr>
        <p:spPr>
          <a:xfrm>
            <a:off x="777240" y="3767328"/>
            <a:ext cx="457200" cy="457200"/>
          </a:xfrm>
          <a:prstGeom prst="roundRect">
            <a:avLst>
              <a:gd name="adj" fmla="val 20000"/>
            </a:avLst>
          </a:prstGeom>
          <a:solidFill>
            <a:srgbClr val="B8891B"/>
          </a:solidFill>
          <a:ln/>
        </p:spPr>
        <p:txBody>
          <a:bodyPr/>
          <a:p/>
        </p:txBody>
      </p:sp>
      <p:sp>
        <p:nvSpPr>
          <p:cNvPr id="16" name="Text 14"/>
          <p:cNvSpPr/>
          <p:nvPr/>
        </p:nvSpPr>
        <p:spPr>
          <a:xfrm>
            <a:off x="777240" y="376732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3</a:t>
            </a:r>
            <a:endParaRPr lang="en-US" sz="1600" dirty="0"/>
          </a:p>
        </p:txBody>
      </p:sp>
      <p:sp>
        <p:nvSpPr>
          <p:cNvPr id="17" name="Text 15"/>
          <p:cNvSpPr/>
          <p:nvPr/>
        </p:nvSpPr>
        <p:spPr>
          <a:xfrm>
            <a:off x="1371600" y="363931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短時間勤務者を配置できるポジションを選定</a:t>
            </a:r>
            <a:endParaRPr lang="en-US" sz="1450" dirty="0"/>
          </a:p>
        </p:txBody>
      </p:sp>
      <p:sp>
        <p:nvSpPr>
          <p:cNvPr id="18" name="Text 16"/>
          <p:cNvSpPr/>
          <p:nvPr/>
        </p:nvSpPr>
        <p:spPr>
          <a:xfrm>
            <a:off x="1371600" y="404164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不足のうち短時間で対応できる仕事を一緒に選ぶ</a:t>
            </a:r>
            <a:endParaRPr lang="en-US" sz="1150" dirty="0"/>
          </a:p>
        </p:txBody>
      </p:sp>
      <p:sp>
        <p:nvSpPr>
          <p:cNvPr id="19" name="Shape 17"/>
          <p:cNvSpPr/>
          <p:nvPr/>
        </p:nvSpPr>
        <p:spPr>
          <a:xfrm>
            <a:off x="6153912" y="347472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0" name="Shape 18"/>
          <p:cNvSpPr/>
          <p:nvPr/>
        </p:nvSpPr>
        <p:spPr>
          <a:xfrm>
            <a:off x="6382512" y="3767328"/>
            <a:ext cx="457200" cy="457200"/>
          </a:xfrm>
          <a:prstGeom prst="roundRect">
            <a:avLst>
              <a:gd name="adj" fmla="val 20000"/>
            </a:avLst>
          </a:prstGeom>
          <a:solidFill>
            <a:srgbClr val="B8891B"/>
          </a:solidFill>
          <a:ln/>
        </p:spPr>
        <p:txBody>
          <a:bodyPr/>
          <a:p/>
        </p:txBody>
      </p:sp>
      <p:sp>
        <p:nvSpPr>
          <p:cNvPr id="21" name="Text 19"/>
          <p:cNvSpPr/>
          <p:nvPr/>
        </p:nvSpPr>
        <p:spPr>
          <a:xfrm>
            <a:off x="6382512" y="376732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4</a:t>
            </a:r>
            <a:endParaRPr lang="en-US" sz="1600" dirty="0"/>
          </a:p>
        </p:txBody>
      </p:sp>
      <p:sp>
        <p:nvSpPr>
          <p:cNvPr id="22" name="Text 20"/>
          <p:cNvSpPr/>
          <p:nvPr/>
        </p:nvSpPr>
        <p:spPr>
          <a:xfrm>
            <a:off x="6976872" y="363931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教育・OJT の受入体制を整理</a:t>
            </a:r>
            <a:endParaRPr lang="en-US" sz="1450" dirty="0"/>
          </a:p>
        </p:txBody>
      </p:sp>
      <p:sp>
        <p:nvSpPr>
          <p:cNvPr id="23" name="Text 21"/>
          <p:cNvSpPr/>
          <p:nvPr/>
        </p:nvSpPr>
        <p:spPr>
          <a:xfrm>
            <a:off x="6976872" y="404164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現場での受入とOJTの体制を整える</a:t>
            </a:r>
            <a:endParaRPr lang="en-US" sz="1150" dirty="0"/>
          </a:p>
        </p:txBody>
      </p:sp>
      <p:sp>
        <p:nvSpPr>
          <p:cNvPr id="24" name="Shape 22"/>
          <p:cNvSpPr/>
          <p:nvPr/>
        </p:nvSpPr>
        <p:spPr>
          <a:xfrm>
            <a:off x="548640" y="4709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5" name="Shape 23"/>
          <p:cNvSpPr/>
          <p:nvPr/>
        </p:nvSpPr>
        <p:spPr>
          <a:xfrm>
            <a:off x="777240" y="5001768"/>
            <a:ext cx="457200" cy="457200"/>
          </a:xfrm>
          <a:prstGeom prst="roundRect">
            <a:avLst>
              <a:gd name="adj" fmla="val 20000"/>
            </a:avLst>
          </a:prstGeom>
          <a:solidFill>
            <a:srgbClr val="B8891B"/>
          </a:solidFill>
          <a:ln/>
        </p:spPr>
        <p:txBody>
          <a:bodyPr/>
          <a:p/>
        </p:txBody>
      </p:sp>
      <p:sp>
        <p:nvSpPr>
          <p:cNvPr id="26" name="Text 24"/>
          <p:cNvSpPr/>
          <p:nvPr/>
        </p:nvSpPr>
        <p:spPr>
          <a:xfrm>
            <a:off x="777240" y="5001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5</a:t>
            </a:r>
            <a:endParaRPr lang="en-US" sz="1600" dirty="0"/>
          </a:p>
        </p:txBody>
      </p:sp>
      <p:sp>
        <p:nvSpPr>
          <p:cNvPr id="27" name="Text 25"/>
          <p:cNvSpPr/>
          <p:nvPr/>
        </p:nvSpPr>
        <p:spPr>
          <a:xfrm>
            <a:off x="1371600" y="487375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採用面接へ現場管理職が参加</a:t>
            </a:r>
            <a:endParaRPr lang="en-US" sz="1450" dirty="0"/>
          </a:p>
        </p:txBody>
      </p:sp>
      <p:sp>
        <p:nvSpPr>
          <p:cNvPr id="28" name="Text 26"/>
          <p:cNvSpPr/>
          <p:nvPr/>
        </p:nvSpPr>
        <p:spPr>
          <a:xfrm>
            <a:off x="1371600" y="527608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現場の目で見極める</a:t>
            </a:r>
            <a:endParaRPr lang="en-US" sz="1150" dirty="0"/>
          </a:p>
        </p:txBody>
      </p:sp>
      <p:sp>
        <p:nvSpPr>
          <p:cNvPr id="29" name="Shape 27"/>
          <p:cNvSpPr/>
          <p:nvPr/>
        </p:nvSpPr>
        <p:spPr>
          <a:xfrm>
            <a:off x="6153912" y="4709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30" name="Shape 28"/>
          <p:cNvSpPr/>
          <p:nvPr/>
        </p:nvSpPr>
        <p:spPr>
          <a:xfrm>
            <a:off x="6382512" y="5001768"/>
            <a:ext cx="457200" cy="457200"/>
          </a:xfrm>
          <a:prstGeom prst="roundRect">
            <a:avLst>
              <a:gd name="adj" fmla="val 20000"/>
            </a:avLst>
          </a:prstGeom>
          <a:solidFill>
            <a:srgbClr val="B8891B"/>
          </a:solidFill>
          <a:ln/>
        </p:spPr>
        <p:txBody>
          <a:bodyPr/>
          <a:p/>
        </p:txBody>
      </p:sp>
      <p:sp>
        <p:nvSpPr>
          <p:cNvPr id="31" name="Text 29"/>
          <p:cNvSpPr/>
          <p:nvPr/>
        </p:nvSpPr>
        <p:spPr>
          <a:xfrm>
            <a:off x="6382512" y="5001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6</a:t>
            </a:r>
            <a:endParaRPr lang="en-US" sz="1600" dirty="0"/>
          </a:p>
        </p:txBody>
      </p:sp>
      <p:sp>
        <p:nvSpPr>
          <p:cNvPr id="32" name="Text 30"/>
          <p:cNvSpPr/>
          <p:nvPr/>
        </p:nvSpPr>
        <p:spPr>
          <a:xfrm>
            <a:off x="6976872" y="487375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採用後の配置効果を検証</a:t>
            </a:r>
            <a:endParaRPr lang="en-US" sz="1450" dirty="0"/>
          </a:p>
        </p:txBody>
      </p:sp>
      <p:sp>
        <p:nvSpPr>
          <p:cNvPr id="33" name="Text 31"/>
          <p:cNvSpPr/>
          <p:nvPr/>
        </p:nvSpPr>
        <p:spPr>
          <a:xfrm>
            <a:off x="6976872" y="527608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必要出面をどれだけ補完できたかで見る</a:t>
            </a:r>
            <a:endParaRPr lang="en-US" sz="1150" dirty="0"/>
          </a:p>
        </p:txBody>
      </p:sp>
      <p:sp>
        <p:nvSpPr>
          <p:cNvPr id="34" name="Text 3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9FB0CC"/>
                </a:solidFill>
                <a:latin typeface="Meiryo" pitchFamily="34" charset="0"/>
                <a:ea typeface="Meiryo" pitchFamily="34" charset="-122"/>
                <a:cs typeface="Meiryo" pitchFamily="34" charset="-120"/>
              </a:rPr>
              <a:t>短時間勤務者採用 説明会</a:t>
            </a:r>
            <a:endParaRPr lang="en-US" sz="900" dirty="0"/>
          </a:p>
        </p:txBody>
      </p:sp>
      <p:sp>
        <p:nvSpPr>
          <p:cNvPr id="35" name="Text 3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9FB0CC"/>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目指す状態</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必要な時間に、必要な人員を、必要なだけ。</a:t>
            </a:r>
            <a:endParaRPr lang="en-US" sz="3000" dirty="0"/>
          </a:p>
        </p:txBody>
      </p:sp>
      <p:sp>
        <p:nvSpPr>
          <p:cNvPr id="4" name="Shape 2"/>
          <p:cNvSpPr/>
          <p:nvPr/>
        </p:nvSpPr>
        <p:spPr>
          <a:xfrm>
            <a:off x="548640" y="2194560"/>
            <a:ext cx="5349240" cy="1280160"/>
          </a:xfrm>
          <a:prstGeom prst="roundRect">
            <a:avLst>
              <a:gd name="adj" fmla="val 5714"/>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331720"/>
            <a:ext cx="3657600" cy="320040"/>
          </a:xfrm>
          <a:prstGeom prst="rect">
            <a:avLst/>
          </a:prstGeom>
          <a:noFill/>
          <a:ln/>
        </p:spPr>
        <p:txBody>
          <a:bodyPr wrap="square" rtlCol="0" anchor="ctr"/>
          <a:lstStyle/>
          <a:p>
            <a:pPr indent="0" marL="0">
              <a:buNone/>
            </a:pPr>
            <a:r>
              <a:rPr lang="en-US" sz="1300" b="1" dirty="0">
                <a:solidFill>
                  <a:srgbClr val="6B7686"/>
                </a:solidFill>
                <a:latin typeface="Meiryo" pitchFamily="34" charset="0"/>
                <a:ea typeface="Meiryo" pitchFamily="34" charset="-122"/>
                <a:cs typeface="Meiryo" pitchFamily="34" charset="-120"/>
              </a:rPr>
              <a:t>これまで</a:t>
            </a:r>
            <a:endParaRPr lang="en-US" sz="1300" dirty="0"/>
          </a:p>
        </p:txBody>
      </p:sp>
      <p:sp>
        <p:nvSpPr>
          <p:cNvPr id="6" name="Text 4"/>
          <p:cNvSpPr/>
          <p:nvPr/>
        </p:nvSpPr>
        <p:spPr>
          <a:xfrm>
            <a:off x="822960" y="2697480"/>
            <a:ext cx="4846320" cy="640080"/>
          </a:xfrm>
          <a:prstGeom prst="rect">
            <a:avLst/>
          </a:prstGeom>
          <a:noFill/>
          <a:ln/>
        </p:spPr>
        <p:txBody>
          <a:bodyPr wrap="square" rtlCol="0" anchor="ctr"/>
          <a:lstStyle/>
          <a:p>
            <a:pPr indent="0" marL="0">
              <a:lnSpc>
                <a:spcPct val="110000"/>
              </a:lnSpc>
              <a:buNone/>
            </a:pPr>
            <a:r>
              <a:rPr lang="en-US" sz="1500" b="1" dirty="0">
                <a:solidFill>
                  <a:srgbClr val="1F2733"/>
                </a:solidFill>
                <a:latin typeface="Meiryo" pitchFamily="34" charset="0"/>
                <a:ea typeface="Meiryo" pitchFamily="34" charset="-122"/>
                <a:cs typeface="Meiryo" pitchFamily="34" charset="-120"/>
              </a:rPr>
              <a:t>便が増える → 人が足りない → 正社員を採用</a:t>
            </a:r>
            <a:endParaRPr lang="en-US" sz="1500" dirty="0"/>
          </a:p>
        </p:txBody>
      </p:sp>
      <p:sp>
        <p:nvSpPr>
          <p:cNvPr id="7" name="Shape 5"/>
          <p:cNvSpPr/>
          <p:nvPr/>
        </p:nvSpPr>
        <p:spPr>
          <a:xfrm>
            <a:off x="6035040" y="2514600"/>
            <a:ext cx="822960" cy="640080"/>
          </a:xfrm>
          <a:prstGeom prst="rightArrow">
            <a:avLst/>
          </a:prstGeom>
          <a:solidFill>
            <a:srgbClr val="B8891B"/>
          </a:solidFill>
          <a:ln/>
        </p:spPr>
        <p:txBody>
          <a:bodyPr/>
          <a:p/>
        </p:txBody>
      </p:sp>
      <p:sp>
        <p:nvSpPr>
          <p:cNvPr id="8" name="Shape 6"/>
          <p:cNvSpPr/>
          <p:nvPr/>
        </p:nvSpPr>
        <p:spPr>
          <a:xfrm>
            <a:off x="6995160" y="2194560"/>
            <a:ext cx="4645152" cy="1280160"/>
          </a:xfrm>
          <a:prstGeom prst="roundRect">
            <a:avLst>
              <a:gd name="adj" fmla="val 5714"/>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7269480" y="2331720"/>
            <a:ext cx="3657600" cy="320040"/>
          </a:xfrm>
          <a:prstGeom prst="rect">
            <a:avLst/>
          </a:prstGeom>
          <a:noFill/>
          <a:ln/>
        </p:spPr>
        <p:txBody>
          <a:bodyPr wrap="square" rtlCol="0" anchor="ctr"/>
          <a:lstStyle/>
          <a:p>
            <a:pPr indent="0" marL="0">
              <a:buNone/>
            </a:pPr>
            <a:r>
              <a:rPr lang="en-US" sz="1300" b="1" dirty="0">
                <a:solidFill>
                  <a:srgbClr val="1E7A5A"/>
                </a:solidFill>
                <a:latin typeface="Meiryo" pitchFamily="34" charset="0"/>
                <a:ea typeface="Meiryo" pitchFamily="34" charset="-122"/>
                <a:cs typeface="Meiryo" pitchFamily="34" charset="-120"/>
              </a:rPr>
              <a:t>これから</a:t>
            </a:r>
            <a:endParaRPr lang="en-US" sz="1300" dirty="0"/>
          </a:p>
        </p:txBody>
      </p:sp>
      <p:sp>
        <p:nvSpPr>
          <p:cNvPr id="10" name="Text 8"/>
          <p:cNvSpPr/>
          <p:nvPr/>
        </p:nvSpPr>
        <p:spPr>
          <a:xfrm>
            <a:off x="7269480" y="2697480"/>
            <a:ext cx="4206240" cy="731520"/>
          </a:xfrm>
          <a:prstGeom prst="rect">
            <a:avLst/>
          </a:prstGeom>
          <a:noFill/>
          <a:ln/>
        </p:spPr>
        <p:txBody>
          <a:bodyPr wrap="square" rtlCol="0" anchor="ctr"/>
          <a:lstStyle/>
          <a:p>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Flight Schedule → 必要時間・人数を算出 → 最適配置 → 不足のみ補完</a:t>
            </a:r>
            <a:endParaRPr lang="en-US" sz="1350" dirty="0"/>
          </a:p>
        </p:txBody>
      </p:sp>
      <p:sp>
        <p:nvSpPr>
          <p:cNvPr id="11" name="Shape 9"/>
          <p:cNvSpPr/>
          <p:nvPr/>
        </p:nvSpPr>
        <p:spPr>
          <a:xfrm>
            <a:off x="548640" y="3794760"/>
            <a:ext cx="11091672" cy="1417320"/>
          </a:xfrm>
          <a:prstGeom prst="roundRect">
            <a:avLst>
              <a:gd name="adj" fmla="val 5161"/>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2" name="Shape 10"/>
          <p:cNvSpPr/>
          <p:nvPr/>
        </p:nvSpPr>
        <p:spPr>
          <a:xfrm>
            <a:off x="548640" y="3794760"/>
            <a:ext cx="11091672" cy="1417320"/>
          </a:xfrm>
          <a:prstGeom prst="rect">
            <a:avLst/>
          </a:prstGeom>
          <a:solidFill>
            <a:srgbClr val="1B2A4A"/>
          </a:solidFill>
          <a:ln/>
        </p:spPr>
        <p:txBody>
          <a:bodyPr/>
          <a:p/>
        </p:txBody>
      </p:sp>
      <p:sp>
        <p:nvSpPr>
          <p:cNvPr id="13" name="Text 11"/>
          <p:cNvSpPr/>
          <p:nvPr/>
        </p:nvSpPr>
        <p:spPr>
          <a:xfrm>
            <a:off x="868680" y="3977640"/>
            <a:ext cx="10424160" cy="457200"/>
          </a:xfrm>
          <a:prstGeom prst="rect">
            <a:avLst/>
          </a:prstGeom>
          <a:noFill/>
          <a:ln/>
        </p:spPr>
        <p:txBody>
          <a:bodyPr wrap="square" rtlCol="0" anchor="ctr"/>
          <a:lstStyle/>
          <a:p>
            <a:pPr indent="0" marL="0">
              <a:buNone/>
            </a:pPr>
            <a:r>
              <a:rPr lang="en-US" sz="1600" dirty="0">
                <a:solidFill>
                  <a:srgbClr val="CADCFC"/>
                </a:solidFill>
                <a:latin typeface="Meiryo" pitchFamily="34" charset="0"/>
                <a:ea typeface="Meiryo" pitchFamily="34" charset="-122"/>
                <a:cs typeface="Meiryo" pitchFamily="34" charset="-120"/>
              </a:rPr>
              <a:t>正社員・経験者・短時間勤務者を組み合わせる</a:t>
            </a:r>
            <a:endParaRPr lang="en-US" sz="1600" dirty="0"/>
          </a:p>
        </p:txBody>
      </p:sp>
      <p:sp>
        <p:nvSpPr>
          <p:cNvPr id="14" name="Text 12"/>
          <p:cNvSpPr/>
          <p:nvPr/>
        </p:nvSpPr>
        <p:spPr>
          <a:xfrm>
            <a:off x="868680" y="4480560"/>
            <a:ext cx="10424160" cy="640080"/>
          </a:xfrm>
          <a:prstGeom prst="rect">
            <a:avLst/>
          </a:prstGeom>
          <a:noFill/>
          <a:ln/>
        </p:spPr>
        <p:txBody>
          <a:bodyPr wrap="square" rtlCol="0" anchor="ctr"/>
          <a:lstStyle/>
          <a:p>
            <a:pPr indent="0" marL="0">
              <a:buNone/>
            </a:pPr>
            <a:r>
              <a:rPr lang="en-US" sz="2600" b="1" dirty="0">
                <a:solidFill>
                  <a:srgbClr val="FFFFFF"/>
                </a:solidFill>
                <a:latin typeface="Meiryo" pitchFamily="34" charset="0"/>
                <a:ea typeface="Meiryo" pitchFamily="34" charset="-122"/>
                <a:cs typeface="Meiryo" pitchFamily="34" charset="-120"/>
              </a:rPr>
              <a:t>『必要な時間に、必要な人員を、必要なだけ。』</a:t>
            </a:r>
            <a:endParaRPr lang="en-US" sz="2600" dirty="0"/>
          </a:p>
        </p:txBody>
      </p:sp>
      <p:sp>
        <p:nvSpPr>
          <p:cNvPr id="15" name="Text 13"/>
          <p:cNvSpPr/>
          <p:nvPr/>
        </p:nvSpPr>
        <p:spPr>
          <a:xfrm>
            <a:off x="566928" y="5486400"/>
            <a:ext cx="11064240" cy="457200"/>
          </a:xfrm>
          <a:prstGeom prst="rect">
            <a:avLst/>
          </a:prstGeom>
          <a:noFill/>
          <a:ln/>
        </p:spPr>
        <p:txBody>
          <a:bodyPr wrap="square" rtlCol="0" anchor="ctr"/>
          <a:lstStyle/>
          <a:p>
            <a:pPr indent="0" marL="0">
              <a:buNone/>
            </a:pPr>
            <a:r>
              <a:rPr lang="en-US" sz="1400" i="1" dirty="0">
                <a:solidFill>
                  <a:srgbClr val="6B7686"/>
                </a:solidFill>
                <a:latin typeface="Meiryo" pitchFamily="34" charset="0"/>
                <a:ea typeface="Meiryo" pitchFamily="34" charset="-122"/>
                <a:cs typeface="Meiryo" pitchFamily="34" charset="-120"/>
              </a:rPr>
              <a:t>会社の収支改善と、現場が無理なく運営できること ― この両立を目指す施策です。</a:t>
            </a:r>
            <a:endParaRPr lang="en-US" sz="1400" dirty="0"/>
          </a:p>
        </p:txBody>
      </p:sp>
      <p:sp>
        <p:nvSpPr>
          <p:cNvPr id="16" name="Text 14"/>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7" name="Text 15"/>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想定される質問</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Q &amp; A</a:t>
            </a:r>
            <a:endParaRPr lang="en-US" sz="3000" dirty="0"/>
          </a:p>
        </p:txBody>
      </p:sp>
      <p:sp>
        <p:nvSpPr>
          <p:cNvPr id="4" name="Shape 2"/>
          <p:cNvSpPr/>
          <p:nvPr/>
        </p:nvSpPr>
        <p:spPr>
          <a:xfrm>
            <a:off x="548640"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04672"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正社員はもう採用しない？</a:t>
            </a:r>
            <a:endParaRPr lang="en-US" sz="1400" dirty="0"/>
          </a:p>
        </p:txBody>
      </p:sp>
      <p:sp>
        <p:nvSpPr>
          <p:cNvPr id="6" name="Text 4"/>
          <p:cNvSpPr/>
          <p:nvPr/>
        </p:nvSpPr>
        <p:spPr>
          <a:xfrm>
            <a:off x="804672"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一切やめる訳ではない。中途は抑制方針だが、即戦力の経験者は個別判断。特定時間帯だけの不足をフルタイムで埋める採り方を見直す。</a:t>
            </a:r>
            <a:endParaRPr lang="en-US" sz="1200" dirty="0"/>
          </a:p>
        </p:txBody>
      </p:sp>
      <p:sp>
        <p:nvSpPr>
          <p:cNvPr id="7" name="Shape 5"/>
          <p:cNvSpPr/>
          <p:nvPr/>
        </p:nvSpPr>
        <p:spPr>
          <a:xfrm>
            <a:off x="4407408"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8" name="Text 6"/>
          <p:cNvSpPr/>
          <p:nvPr/>
        </p:nvSpPr>
        <p:spPr>
          <a:xfrm>
            <a:off x="4663440"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短時間勤務者では教育が大変では？</a:t>
            </a:r>
            <a:endParaRPr lang="en-US" sz="1400" dirty="0"/>
          </a:p>
        </p:txBody>
      </p:sp>
      <p:sp>
        <p:nvSpPr>
          <p:cNvPr id="9" name="Text 7"/>
          <p:cNvSpPr/>
          <p:nvPr/>
        </p:nvSpPr>
        <p:spPr>
          <a:xfrm>
            <a:off x="4663440"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大きな課題として認識。従来のフルタイム向けをそのまま当てず、短時間に合わせた教育・OJTを教育担当と整理中。</a:t>
            </a:r>
            <a:endParaRPr lang="en-US" sz="1200" dirty="0"/>
          </a:p>
        </p:txBody>
      </p:sp>
      <p:sp>
        <p:nvSpPr>
          <p:cNvPr id="10" name="Shape 8"/>
          <p:cNvSpPr/>
          <p:nvPr/>
        </p:nvSpPr>
        <p:spPr>
          <a:xfrm>
            <a:off x="8266176"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9"/>
          <p:cNvSpPr/>
          <p:nvPr/>
        </p:nvSpPr>
        <p:spPr>
          <a:xfrm>
            <a:off x="8522208"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結局、現場の負担が増えるのでは？</a:t>
            </a:r>
            <a:endParaRPr lang="en-US" sz="1400" dirty="0"/>
          </a:p>
        </p:txBody>
      </p:sp>
      <p:sp>
        <p:nvSpPr>
          <p:cNvPr id="12" name="Text 10"/>
          <p:cNvSpPr/>
          <p:nvPr/>
        </p:nvSpPr>
        <p:spPr>
          <a:xfrm>
            <a:off x="8522208"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採って終わりにせず、ラインへ投入できるまでをプロジェクトで管理。教育・配置は人事・教育・現場で役割分担する。</a:t>
            </a:r>
            <a:endParaRPr lang="en-US" sz="1200" dirty="0"/>
          </a:p>
        </p:txBody>
      </p:sp>
      <p:sp>
        <p:nvSpPr>
          <p:cNvPr id="13" name="Shape 11"/>
          <p:cNvSpPr/>
          <p:nvPr/>
        </p:nvSpPr>
        <p:spPr>
          <a:xfrm>
            <a:off x="548640"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4" name="Text 12"/>
          <p:cNvSpPr/>
          <p:nvPr/>
        </p:nvSpPr>
        <p:spPr>
          <a:xfrm>
            <a:off x="804672"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何人採用してもらえる？</a:t>
            </a:r>
            <a:endParaRPr lang="en-US" sz="1400" dirty="0"/>
          </a:p>
        </p:txBody>
      </p:sp>
      <p:sp>
        <p:nvSpPr>
          <p:cNvPr id="15" name="Text 13"/>
          <p:cNvSpPr/>
          <p:nvPr/>
        </p:nvSpPr>
        <p:spPr>
          <a:xfrm>
            <a:off x="804672"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人数を先に決めない。Winter Schedule を基に『何時に・どのポジションで・何人不足するか』を確認して決める。</a:t>
            </a:r>
            <a:endParaRPr lang="en-US" sz="1200" dirty="0"/>
          </a:p>
        </p:txBody>
      </p:sp>
      <p:sp>
        <p:nvSpPr>
          <p:cNvPr id="16" name="Shape 14"/>
          <p:cNvSpPr/>
          <p:nvPr/>
        </p:nvSpPr>
        <p:spPr>
          <a:xfrm>
            <a:off x="4407408"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7" name="Text 15"/>
          <p:cNvSpPr/>
          <p:nvPr/>
        </p:nvSpPr>
        <p:spPr>
          <a:xfrm>
            <a:off x="4663440"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短時間だけで本当に運営できる？</a:t>
            </a:r>
            <a:endParaRPr lang="en-US" sz="1400" dirty="0"/>
          </a:p>
        </p:txBody>
      </p:sp>
      <p:sp>
        <p:nvSpPr>
          <p:cNvPr id="18" name="Text 16"/>
          <p:cNvSpPr/>
          <p:nvPr/>
        </p:nvSpPr>
        <p:spPr>
          <a:xfrm>
            <a:off x="4663440"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短時間だけで運営する考えではない。フルタイムをコアに、ピーク部分を短時間で補完する組み合わせ。</a:t>
            </a:r>
            <a:endParaRPr lang="en-US" sz="1200" dirty="0"/>
          </a:p>
        </p:txBody>
      </p:sp>
      <p:sp>
        <p:nvSpPr>
          <p:cNvPr id="19" name="Shape 17"/>
          <p:cNvSpPr/>
          <p:nvPr/>
        </p:nvSpPr>
        <p:spPr>
          <a:xfrm>
            <a:off x="8266176"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0" name="Text 18"/>
          <p:cNvSpPr/>
          <p:nvPr/>
        </p:nvSpPr>
        <p:spPr>
          <a:xfrm>
            <a:off x="8522208"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欠員が出たらどうする？</a:t>
            </a:r>
            <a:endParaRPr lang="en-US" sz="1400" dirty="0"/>
          </a:p>
        </p:txBody>
      </p:sp>
      <p:sp>
        <p:nvSpPr>
          <p:cNvPr id="21" name="Text 19"/>
          <p:cNvSpPr/>
          <p:nvPr/>
        </p:nvSpPr>
        <p:spPr>
          <a:xfrm>
            <a:off x="8522208"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一定の運用余力は必要。それをフルタイムだけで持たず、雇用形態を組み合わせて必要な安定性を確保する。</a:t>
            </a:r>
            <a:endParaRPr lang="en-US" sz="1200" dirty="0"/>
          </a:p>
        </p:txBody>
      </p:sp>
      <p:sp>
        <p:nvSpPr>
          <p:cNvPr id="22" name="Text 20"/>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3" name="Text 21"/>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説明会後のアクション</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次に動くこと（担当別）</a:t>
            </a:r>
            <a:endParaRPr lang="en-US" sz="3000" dirty="0"/>
          </a:p>
        </p:txBody>
      </p:sp>
      <p:sp>
        <p:nvSpPr>
          <p:cNvPr id="4" name="Shape 2"/>
          <p:cNvSpPr/>
          <p:nvPr/>
        </p:nvSpPr>
        <p:spPr>
          <a:xfrm>
            <a:off x="548640" y="2194560"/>
            <a:ext cx="11091672" cy="530352"/>
          </a:xfrm>
          <a:prstGeom prst="rect">
            <a:avLst/>
          </a:prstGeom>
          <a:solidFill>
            <a:srgbClr val="F4F6FA"/>
          </a:solidFill>
          <a:ln/>
        </p:spPr>
        <p:txBody>
          <a:bodyPr/>
          <a:p/>
        </p:txBody>
      </p:sp>
      <p:sp>
        <p:nvSpPr>
          <p:cNvPr id="5" name="Shape 3"/>
          <p:cNvSpPr/>
          <p:nvPr/>
        </p:nvSpPr>
        <p:spPr>
          <a:xfrm>
            <a:off x="713232" y="2295144"/>
            <a:ext cx="2103120" cy="329184"/>
          </a:xfrm>
          <a:prstGeom prst="roundRect">
            <a:avLst>
              <a:gd name="adj" fmla="val 50000"/>
            </a:avLst>
          </a:prstGeom>
          <a:solidFill>
            <a:srgbClr val="1B2A4A"/>
          </a:solidFill>
          <a:ln/>
        </p:spPr>
        <p:txBody>
          <a:bodyPr/>
          <a:p/>
        </p:txBody>
      </p:sp>
      <p:sp>
        <p:nvSpPr>
          <p:cNvPr id="6" name="Text 4"/>
          <p:cNvSpPr/>
          <p:nvPr/>
        </p:nvSpPr>
        <p:spPr>
          <a:xfrm>
            <a:off x="713232" y="2295144"/>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各支店・所属</a:t>
            </a:r>
            <a:endParaRPr lang="en-US" sz="1150" dirty="0"/>
          </a:p>
        </p:txBody>
      </p:sp>
      <p:sp>
        <p:nvSpPr>
          <p:cNvPr id="7" name="Text 5"/>
          <p:cNvSpPr/>
          <p:nvPr/>
        </p:nvSpPr>
        <p:spPr>
          <a:xfrm>
            <a:off x="3017520" y="2194560"/>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26W Flight Schedule を基に、時間帯別の必要人数を整理</a:t>
            </a:r>
            <a:endParaRPr lang="en-US" sz="1350" dirty="0"/>
          </a:p>
        </p:txBody>
      </p:sp>
      <p:sp>
        <p:nvSpPr>
          <p:cNvPr id="8" name="Shape 6"/>
          <p:cNvSpPr/>
          <p:nvPr/>
        </p:nvSpPr>
        <p:spPr>
          <a:xfrm>
            <a:off x="713232" y="2825496"/>
            <a:ext cx="2103120" cy="329184"/>
          </a:xfrm>
          <a:prstGeom prst="roundRect">
            <a:avLst>
              <a:gd name="adj" fmla="val 50000"/>
            </a:avLst>
          </a:prstGeom>
          <a:solidFill>
            <a:srgbClr val="1B2A4A"/>
          </a:solidFill>
          <a:ln/>
        </p:spPr>
        <p:txBody>
          <a:bodyPr/>
          <a:p/>
        </p:txBody>
      </p:sp>
      <p:sp>
        <p:nvSpPr>
          <p:cNvPr id="9" name="Text 7"/>
          <p:cNvSpPr/>
          <p:nvPr/>
        </p:nvSpPr>
        <p:spPr>
          <a:xfrm>
            <a:off x="713232" y="2825496"/>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各支店・所属</a:t>
            </a:r>
            <a:endParaRPr lang="en-US" sz="1150" dirty="0"/>
          </a:p>
        </p:txBody>
      </p:sp>
      <p:sp>
        <p:nvSpPr>
          <p:cNvPr id="10" name="Text 8"/>
          <p:cNvSpPr/>
          <p:nvPr/>
        </p:nvSpPr>
        <p:spPr>
          <a:xfrm>
            <a:off x="3017520" y="2724912"/>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既存在籍でカバーできる出面と、不足出面を分離</a:t>
            </a:r>
            <a:endParaRPr lang="en-US" sz="1350" dirty="0"/>
          </a:p>
        </p:txBody>
      </p:sp>
      <p:sp>
        <p:nvSpPr>
          <p:cNvPr id="11" name="Shape 9"/>
          <p:cNvSpPr/>
          <p:nvPr/>
        </p:nvSpPr>
        <p:spPr>
          <a:xfrm>
            <a:off x="548640" y="3255264"/>
            <a:ext cx="11091672" cy="530352"/>
          </a:xfrm>
          <a:prstGeom prst="rect">
            <a:avLst/>
          </a:prstGeom>
          <a:solidFill>
            <a:srgbClr val="F4F6FA"/>
          </a:solidFill>
          <a:ln/>
        </p:spPr>
        <p:txBody>
          <a:bodyPr/>
          <a:p/>
        </p:txBody>
      </p:sp>
      <p:sp>
        <p:nvSpPr>
          <p:cNvPr id="12" name="Shape 10"/>
          <p:cNvSpPr/>
          <p:nvPr/>
        </p:nvSpPr>
        <p:spPr>
          <a:xfrm>
            <a:off x="713232" y="3355848"/>
            <a:ext cx="2103120" cy="329184"/>
          </a:xfrm>
          <a:prstGeom prst="roundRect">
            <a:avLst>
              <a:gd name="adj" fmla="val 50000"/>
            </a:avLst>
          </a:prstGeom>
          <a:solidFill>
            <a:srgbClr val="1B2A4A"/>
          </a:solidFill>
          <a:ln/>
        </p:spPr>
        <p:txBody>
          <a:bodyPr/>
          <a:p/>
        </p:txBody>
      </p:sp>
      <p:sp>
        <p:nvSpPr>
          <p:cNvPr id="13" name="Text 11"/>
          <p:cNvSpPr/>
          <p:nvPr/>
        </p:nvSpPr>
        <p:spPr>
          <a:xfrm>
            <a:off x="713232" y="3355848"/>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人事</a:t>
            </a:r>
            <a:endParaRPr lang="en-US" sz="1150" dirty="0"/>
          </a:p>
        </p:txBody>
      </p:sp>
      <p:sp>
        <p:nvSpPr>
          <p:cNvPr id="14" name="Text 12"/>
          <p:cNvSpPr/>
          <p:nvPr/>
        </p:nvSpPr>
        <p:spPr>
          <a:xfrm>
            <a:off x="3017520" y="3255264"/>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不足出面を集約し、短時間勤務者の採用時間帯・人数を再設定</a:t>
            </a:r>
            <a:endParaRPr lang="en-US" sz="1350" dirty="0"/>
          </a:p>
        </p:txBody>
      </p:sp>
      <p:sp>
        <p:nvSpPr>
          <p:cNvPr id="15" name="Shape 13"/>
          <p:cNvSpPr/>
          <p:nvPr/>
        </p:nvSpPr>
        <p:spPr>
          <a:xfrm>
            <a:off x="713232" y="3886200"/>
            <a:ext cx="2103120" cy="329184"/>
          </a:xfrm>
          <a:prstGeom prst="roundRect">
            <a:avLst>
              <a:gd name="adj" fmla="val 50000"/>
            </a:avLst>
          </a:prstGeom>
          <a:solidFill>
            <a:srgbClr val="1B2A4A"/>
          </a:solidFill>
          <a:ln/>
        </p:spPr>
        <p:txBody>
          <a:bodyPr/>
          <a:p/>
        </p:txBody>
      </p:sp>
      <p:sp>
        <p:nvSpPr>
          <p:cNvPr id="16" name="Text 14"/>
          <p:cNvSpPr/>
          <p:nvPr/>
        </p:nvSpPr>
        <p:spPr>
          <a:xfrm>
            <a:off x="713232" y="3886200"/>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現場＋人事</a:t>
            </a:r>
            <a:endParaRPr lang="en-US" sz="1150" dirty="0"/>
          </a:p>
        </p:txBody>
      </p:sp>
      <p:sp>
        <p:nvSpPr>
          <p:cNvPr id="17" name="Text 15"/>
          <p:cNvSpPr/>
          <p:nvPr/>
        </p:nvSpPr>
        <p:spPr>
          <a:xfrm>
            <a:off x="3017520" y="3785616"/>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配置可能なポジション・必要資格を整理</a:t>
            </a:r>
            <a:endParaRPr lang="en-US" sz="1350" dirty="0"/>
          </a:p>
        </p:txBody>
      </p:sp>
      <p:sp>
        <p:nvSpPr>
          <p:cNvPr id="18" name="Shape 16"/>
          <p:cNvSpPr/>
          <p:nvPr/>
        </p:nvSpPr>
        <p:spPr>
          <a:xfrm>
            <a:off x="548640" y="4315968"/>
            <a:ext cx="11091672" cy="530352"/>
          </a:xfrm>
          <a:prstGeom prst="rect">
            <a:avLst/>
          </a:prstGeom>
          <a:solidFill>
            <a:srgbClr val="F4F6FA"/>
          </a:solidFill>
          <a:ln/>
        </p:spPr>
        <p:txBody>
          <a:bodyPr/>
          <a:p/>
        </p:txBody>
      </p:sp>
      <p:sp>
        <p:nvSpPr>
          <p:cNvPr id="19" name="Shape 17"/>
          <p:cNvSpPr/>
          <p:nvPr/>
        </p:nvSpPr>
        <p:spPr>
          <a:xfrm>
            <a:off x="713232" y="4416552"/>
            <a:ext cx="2103120" cy="329184"/>
          </a:xfrm>
          <a:prstGeom prst="roundRect">
            <a:avLst>
              <a:gd name="adj" fmla="val 50000"/>
            </a:avLst>
          </a:prstGeom>
          <a:solidFill>
            <a:srgbClr val="1B2A4A"/>
          </a:solidFill>
          <a:ln/>
        </p:spPr>
        <p:txBody>
          <a:bodyPr/>
          <a:p/>
        </p:txBody>
      </p:sp>
      <p:sp>
        <p:nvSpPr>
          <p:cNvPr id="20" name="Text 18"/>
          <p:cNvSpPr/>
          <p:nvPr/>
        </p:nvSpPr>
        <p:spPr>
          <a:xfrm>
            <a:off x="713232" y="4416552"/>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教育担当</a:t>
            </a:r>
            <a:endParaRPr lang="en-US" sz="1150" dirty="0"/>
          </a:p>
        </p:txBody>
      </p:sp>
      <p:sp>
        <p:nvSpPr>
          <p:cNvPr id="21" name="Text 19"/>
          <p:cNvSpPr/>
          <p:nvPr/>
        </p:nvSpPr>
        <p:spPr>
          <a:xfrm>
            <a:off x="3017520" y="4315968"/>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短時間勤務者向けの教育・OJT 方法を確定</a:t>
            </a:r>
            <a:endParaRPr lang="en-US" sz="1350" dirty="0"/>
          </a:p>
        </p:txBody>
      </p:sp>
      <p:sp>
        <p:nvSpPr>
          <p:cNvPr id="22" name="Shape 20"/>
          <p:cNvSpPr/>
          <p:nvPr/>
        </p:nvSpPr>
        <p:spPr>
          <a:xfrm>
            <a:off x="713232" y="4946904"/>
            <a:ext cx="2103120" cy="329184"/>
          </a:xfrm>
          <a:prstGeom prst="roundRect">
            <a:avLst>
              <a:gd name="adj" fmla="val 50000"/>
            </a:avLst>
          </a:prstGeom>
          <a:solidFill>
            <a:srgbClr val="1B2A4A"/>
          </a:solidFill>
          <a:ln/>
        </p:spPr>
        <p:txBody>
          <a:bodyPr/>
          <a:p/>
        </p:txBody>
      </p:sp>
      <p:sp>
        <p:nvSpPr>
          <p:cNvPr id="23" name="Text 21"/>
          <p:cNvSpPr/>
          <p:nvPr/>
        </p:nvSpPr>
        <p:spPr>
          <a:xfrm>
            <a:off x="713232" y="4946904"/>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採用担当</a:t>
            </a:r>
            <a:endParaRPr lang="en-US" sz="1150" dirty="0"/>
          </a:p>
        </p:txBody>
      </p:sp>
      <p:sp>
        <p:nvSpPr>
          <p:cNvPr id="24" name="Text 22"/>
          <p:cNvSpPr/>
          <p:nvPr/>
        </p:nvSpPr>
        <p:spPr>
          <a:xfrm>
            <a:off x="3017520" y="4846320"/>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媒体・経験者採用ルートを、不足時間帯に合わせて修正</a:t>
            </a:r>
            <a:endParaRPr lang="en-US" sz="1350" dirty="0"/>
          </a:p>
        </p:txBody>
      </p:sp>
      <p:sp>
        <p:nvSpPr>
          <p:cNvPr id="25" name="Shape 23"/>
          <p:cNvSpPr/>
          <p:nvPr/>
        </p:nvSpPr>
        <p:spPr>
          <a:xfrm>
            <a:off x="548640" y="5376672"/>
            <a:ext cx="11091672" cy="530352"/>
          </a:xfrm>
          <a:prstGeom prst="rect">
            <a:avLst/>
          </a:prstGeom>
          <a:solidFill>
            <a:srgbClr val="F4F6FA"/>
          </a:solidFill>
          <a:ln/>
        </p:spPr>
        <p:txBody>
          <a:bodyPr/>
          <a:p/>
        </p:txBody>
      </p:sp>
      <p:sp>
        <p:nvSpPr>
          <p:cNvPr id="26" name="Shape 24"/>
          <p:cNvSpPr/>
          <p:nvPr/>
        </p:nvSpPr>
        <p:spPr>
          <a:xfrm>
            <a:off x="713232" y="5477256"/>
            <a:ext cx="2103120" cy="329184"/>
          </a:xfrm>
          <a:prstGeom prst="roundRect">
            <a:avLst>
              <a:gd name="adj" fmla="val 50000"/>
            </a:avLst>
          </a:prstGeom>
          <a:solidFill>
            <a:srgbClr val="1B2A4A"/>
          </a:solidFill>
          <a:ln/>
        </p:spPr>
        <p:txBody>
          <a:bodyPr/>
          <a:p/>
        </p:txBody>
      </p:sp>
      <p:sp>
        <p:nvSpPr>
          <p:cNvPr id="27" name="Text 25"/>
          <p:cNvSpPr/>
          <p:nvPr/>
        </p:nvSpPr>
        <p:spPr>
          <a:xfrm>
            <a:off x="713232" y="5477256"/>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採用後</a:t>
            </a:r>
            <a:endParaRPr lang="en-US" sz="1150" dirty="0"/>
          </a:p>
        </p:txBody>
      </p:sp>
      <p:sp>
        <p:nvSpPr>
          <p:cNvPr id="28" name="Text 26"/>
          <p:cNvSpPr/>
          <p:nvPr/>
        </p:nvSpPr>
        <p:spPr>
          <a:xfrm>
            <a:off x="3017520" y="5376672"/>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人数ではなく「必要出面を何時間補完できたか」で効果検証</a:t>
            </a:r>
            <a:endParaRPr lang="en-US" sz="1350" dirty="0"/>
          </a:p>
        </p:txBody>
      </p:sp>
      <p:sp>
        <p:nvSpPr>
          <p:cNvPr id="29" name="Text 27"/>
          <p:cNvSpPr/>
          <p:nvPr/>
        </p:nvSpPr>
        <p:spPr>
          <a:xfrm>
            <a:off x="566928" y="6044184"/>
            <a:ext cx="11064240" cy="365760"/>
          </a:xfrm>
          <a:prstGeom prst="rect">
            <a:avLst/>
          </a:prstGeom>
          <a:noFill/>
          <a:ln/>
        </p:spPr>
        <p:txBody>
          <a:bodyPr wrap="square" rtlCol="0" anchor="ctr"/>
          <a:lstStyle/>
          <a:p>
            <a:pPr indent="0" marL="0">
              <a:buNone/>
            </a:pPr>
            <a:r>
              <a:rPr lang="en-US" sz="1150" i="1" dirty="0">
                <a:solidFill>
                  <a:srgbClr val="B8891B"/>
                </a:solidFill>
                <a:latin typeface="Meiryo" pitchFamily="34" charset="0"/>
                <a:ea typeface="Meiryo" pitchFamily="34" charset="-122"/>
                <a:cs typeface="Meiryo" pitchFamily="34" charset="-120"/>
              </a:rPr>
              <a:t>※ 各アクションは Winter Schedule 稼働からの逆算で、提出期限を別途設定します。</a:t>
            </a:r>
            <a:endParaRPr lang="en-US" sz="1150" dirty="0"/>
          </a:p>
        </p:txBody>
      </p:sp>
      <p:sp>
        <p:nvSpPr>
          <p:cNvPr id="30" name="Text 28"/>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31" name="Text 29"/>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685800" y="640080"/>
            <a:ext cx="10058400" cy="457200"/>
          </a:xfrm>
          <a:prstGeom prst="rect">
            <a:avLst/>
          </a:prstGeom>
          <a:noFill/>
          <a:ln/>
        </p:spPr>
        <p:txBody>
          <a:bodyPr wrap="square" rtlCol="0" anchor="ctr"/>
          <a:lstStyle/>
          <a:p>
            <a:pPr indent="0" marL="0">
              <a:buNone/>
            </a:pPr>
            <a:r>
              <a:rPr lang="en-US" sz="1600" b="1" dirty="0">
                <a:solidFill>
                  <a:srgbClr val="7C93C6"/>
                </a:solidFill>
                <a:latin typeface="Meiryo" pitchFamily="34" charset="0"/>
                <a:ea typeface="Meiryo" pitchFamily="34" charset="-122"/>
                <a:cs typeface="Meiryo" pitchFamily="34" charset="-120"/>
              </a:rPr>
              <a:t>軸をぶらさないための6つのキーワード</a:t>
            </a:r>
            <a:endParaRPr lang="en-US" sz="1600" dirty="0"/>
          </a:p>
        </p:txBody>
      </p:sp>
      <p:sp>
        <p:nvSpPr>
          <p:cNvPr id="3" name="Shape 1"/>
          <p:cNvSpPr/>
          <p:nvPr/>
        </p:nvSpPr>
        <p:spPr>
          <a:xfrm>
            <a:off x="548640" y="1280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4" name="Shape 2"/>
          <p:cNvSpPr/>
          <p:nvPr/>
        </p:nvSpPr>
        <p:spPr>
          <a:xfrm>
            <a:off x="777240" y="1572768"/>
            <a:ext cx="457200" cy="457200"/>
          </a:xfrm>
          <a:prstGeom prst="roundRect">
            <a:avLst>
              <a:gd name="adj" fmla="val 50000"/>
            </a:avLst>
          </a:prstGeom>
          <a:solidFill>
            <a:srgbClr val="B8891B"/>
          </a:solidFill>
          <a:ln/>
        </p:spPr>
        <p:txBody>
          <a:bodyPr/>
          <a:p/>
        </p:txBody>
      </p:sp>
      <p:sp>
        <p:nvSpPr>
          <p:cNvPr id="5" name="Text 3"/>
          <p:cNvSpPr/>
          <p:nvPr/>
        </p:nvSpPr>
        <p:spPr>
          <a:xfrm>
            <a:off x="777240" y="1572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1</a:t>
            </a:r>
            <a:endParaRPr lang="en-US" sz="1600" dirty="0"/>
          </a:p>
        </p:txBody>
      </p:sp>
      <p:sp>
        <p:nvSpPr>
          <p:cNvPr id="6" name="Text 4"/>
          <p:cNvSpPr/>
          <p:nvPr/>
        </p:nvSpPr>
        <p:spPr>
          <a:xfrm>
            <a:off x="1371600" y="1389888"/>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主語は「パート採用」ではなく「人員の持ち方の転換」</a:t>
            </a:r>
            <a:endParaRPr lang="en-US" sz="1300" dirty="0"/>
          </a:p>
        </p:txBody>
      </p:sp>
      <p:sp>
        <p:nvSpPr>
          <p:cNvPr id="7" name="Shape 5"/>
          <p:cNvSpPr/>
          <p:nvPr/>
        </p:nvSpPr>
        <p:spPr>
          <a:xfrm>
            <a:off x="6153912" y="1280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8" name="Shape 6"/>
          <p:cNvSpPr/>
          <p:nvPr/>
        </p:nvSpPr>
        <p:spPr>
          <a:xfrm>
            <a:off x="6382512" y="1572768"/>
            <a:ext cx="457200" cy="457200"/>
          </a:xfrm>
          <a:prstGeom prst="roundRect">
            <a:avLst>
              <a:gd name="adj" fmla="val 50000"/>
            </a:avLst>
          </a:prstGeom>
          <a:solidFill>
            <a:srgbClr val="B8891B"/>
          </a:solidFill>
          <a:ln/>
        </p:spPr>
        <p:txBody>
          <a:bodyPr/>
          <a:p/>
        </p:txBody>
      </p:sp>
      <p:sp>
        <p:nvSpPr>
          <p:cNvPr id="9" name="Text 7"/>
          <p:cNvSpPr/>
          <p:nvPr/>
        </p:nvSpPr>
        <p:spPr>
          <a:xfrm>
            <a:off x="6382512" y="1572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2</a:t>
            </a:r>
            <a:endParaRPr lang="en-US" sz="1600" dirty="0"/>
          </a:p>
        </p:txBody>
      </p:sp>
      <p:sp>
        <p:nvSpPr>
          <p:cNvPr id="10" name="Text 8"/>
          <p:cNvSpPr/>
          <p:nvPr/>
        </p:nvSpPr>
        <p:spPr>
          <a:xfrm>
            <a:off x="6976872" y="1389888"/>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「人が足りない」で終わらせず、何時に・何人・どのポジションを確認</a:t>
            </a:r>
            <a:endParaRPr lang="en-US" sz="1300" dirty="0"/>
          </a:p>
        </p:txBody>
      </p:sp>
      <p:sp>
        <p:nvSpPr>
          <p:cNvPr id="11" name="Shape 9"/>
          <p:cNvSpPr/>
          <p:nvPr/>
        </p:nvSpPr>
        <p:spPr>
          <a:xfrm>
            <a:off x="548640" y="2478024"/>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2" name="Shape 10"/>
          <p:cNvSpPr/>
          <p:nvPr/>
        </p:nvSpPr>
        <p:spPr>
          <a:xfrm>
            <a:off x="777240" y="2770632"/>
            <a:ext cx="457200" cy="457200"/>
          </a:xfrm>
          <a:prstGeom prst="roundRect">
            <a:avLst>
              <a:gd name="adj" fmla="val 50000"/>
            </a:avLst>
          </a:prstGeom>
          <a:solidFill>
            <a:srgbClr val="B8891B"/>
          </a:solidFill>
          <a:ln/>
        </p:spPr>
        <p:txBody>
          <a:bodyPr/>
          <a:p/>
        </p:txBody>
      </p:sp>
      <p:sp>
        <p:nvSpPr>
          <p:cNvPr id="13" name="Text 11"/>
          <p:cNvSpPr/>
          <p:nvPr/>
        </p:nvSpPr>
        <p:spPr>
          <a:xfrm>
            <a:off x="777240" y="2770632"/>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3</a:t>
            </a:r>
            <a:endParaRPr lang="en-US" sz="1600" dirty="0"/>
          </a:p>
        </p:txBody>
      </p:sp>
      <p:sp>
        <p:nvSpPr>
          <p:cNvPr id="14" name="Text 12"/>
          <p:cNvSpPr/>
          <p:nvPr/>
        </p:nvSpPr>
        <p:spPr>
          <a:xfrm>
            <a:off x="1371600" y="2587752"/>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採用人数を先に決めない。不足出面から逆算する</a:t>
            </a:r>
            <a:endParaRPr lang="en-US" sz="1300" dirty="0"/>
          </a:p>
        </p:txBody>
      </p:sp>
      <p:sp>
        <p:nvSpPr>
          <p:cNvPr id="15" name="Shape 13"/>
          <p:cNvSpPr/>
          <p:nvPr/>
        </p:nvSpPr>
        <p:spPr>
          <a:xfrm>
            <a:off x="6153912" y="2478024"/>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6" name="Shape 14"/>
          <p:cNvSpPr/>
          <p:nvPr/>
        </p:nvSpPr>
        <p:spPr>
          <a:xfrm>
            <a:off x="6382512" y="2770632"/>
            <a:ext cx="457200" cy="457200"/>
          </a:xfrm>
          <a:prstGeom prst="roundRect">
            <a:avLst>
              <a:gd name="adj" fmla="val 50000"/>
            </a:avLst>
          </a:prstGeom>
          <a:solidFill>
            <a:srgbClr val="B8891B"/>
          </a:solidFill>
          <a:ln/>
        </p:spPr>
        <p:txBody>
          <a:bodyPr/>
          <a:p/>
        </p:txBody>
      </p:sp>
      <p:sp>
        <p:nvSpPr>
          <p:cNvPr id="17" name="Text 15"/>
          <p:cNvSpPr/>
          <p:nvPr/>
        </p:nvSpPr>
        <p:spPr>
          <a:xfrm>
            <a:off x="6382512" y="2770632"/>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4</a:t>
            </a:r>
            <a:endParaRPr lang="en-US" sz="1600" dirty="0"/>
          </a:p>
        </p:txBody>
      </p:sp>
      <p:sp>
        <p:nvSpPr>
          <p:cNvPr id="18" name="Text 16"/>
          <p:cNvSpPr/>
          <p:nvPr/>
        </p:nvSpPr>
        <p:spPr>
          <a:xfrm>
            <a:off x="6976872" y="2587752"/>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正社員を否定しない。正社員が必要な仕事と補完できる仕事を分ける</a:t>
            </a:r>
            <a:endParaRPr lang="en-US" sz="1300" dirty="0"/>
          </a:p>
        </p:txBody>
      </p:sp>
      <p:sp>
        <p:nvSpPr>
          <p:cNvPr id="19" name="Shape 17"/>
          <p:cNvSpPr/>
          <p:nvPr/>
        </p:nvSpPr>
        <p:spPr>
          <a:xfrm>
            <a:off x="548640" y="3675888"/>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0" name="Shape 18"/>
          <p:cNvSpPr/>
          <p:nvPr/>
        </p:nvSpPr>
        <p:spPr>
          <a:xfrm>
            <a:off x="777240" y="3968496"/>
            <a:ext cx="457200" cy="457200"/>
          </a:xfrm>
          <a:prstGeom prst="roundRect">
            <a:avLst>
              <a:gd name="adj" fmla="val 50000"/>
            </a:avLst>
          </a:prstGeom>
          <a:solidFill>
            <a:srgbClr val="B8891B"/>
          </a:solidFill>
          <a:ln/>
        </p:spPr>
        <p:txBody>
          <a:bodyPr/>
          <a:p/>
        </p:txBody>
      </p:sp>
      <p:sp>
        <p:nvSpPr>
          <p:cNvPr id="21" name="Text 19"/>
          <p:cNvSpPr/>
          <p:nvPr/>
        </p:nvSpPr>
        <p:spPr>
          <a:xfrm>
            <a:off x="777240" y="3968496"/>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5</a:t>
            </a:r>
            <a:endParaRPr lang="en-US" sz="1600" dirty="0"/>
          </a:p>
        </p:txBody>
      </p:sp>
      <p:sp>
        <p:nvSpPr>
          <p:cNvPr id="22" name="Text 20"/>
          <p:cNvSpPr/>
          <p:nvPr/>
        </p:nvSpPr>
        <p:spPr>
          <a:xfrm>
            <a:off x="1371600" y="3785616"/>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目的は人件費削減だけでなく、現場運営を維持しながら原価を適正化</a:t>
            </a:r>
            <a:endParaRPr lang="en-US" sz="1300" dirty="0"/>
          </a:p>
        </p:txBody>
      </p:sp>
      <p:sp>
        <p:nvSpPr>
          <p:cNvPr id="23" name="Shape 21"/>
          <p:cNvSpPr/>
          <p:nvPr/>
        </p:nvSpPr>
        <p:spPr>
          <a:xfrm>
            <a:off x="6153912" y="3675888"/>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4" name="Shape 22"/>
          <p:cNvSpPr/>
          <p:nvPr/>
        </p:nvSpPr>
        <p:spPr>
          <a:xfrm>
            <a:off x="6382512" y="3968496"/>
            <a:ext cx="457200" cy="457200"/>
          </a:xfrm>
          <a:prstGeom prst="roundRect">
            <a:avLst>
              <a:gd name="adj" fmla="val 50000"/>
            </a:avLst>
          </a:prstGeom>
          <a:solidFill>
            <a:srgbClr val="B8891B"/>
          </a:solidFill>
          <a:ln/>
        </p:spPr>
        <p:txBody>
          <a:bodyPr/>
          <a:p/>
        </p:txBody>
      </p:sp>
      <p:sp>
        <p:nvSpPr>
          <p:cNvPr id="25" name="Text 23"/>
          <p:cNvSpPr/>
          <p:nvPr/>
        </p:nvSpPr>
        <p:spPr>
          <a:xfrm>
            <a:off x="6382512" y="3968496"/>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6</a:t>
            </a:r>
            <a:endParaRPr lang="en-US" sz="1600" dirty="0"/>
          </a:p>
        </p:txBody>
      </p:sp>
      <p:sp>
        <p:nvSpPr>
          <p:cNvPr id="26" name="Text 24"/>
          <p:cNvSpPr/>
          <p:nvPr/>
        </p:nvSpPr>
        <p:spPr>
          <a:xfrm>
            <a:off x="6976872" y="3785616"/>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現場に丸投げしない。人事・教育・現場の共同プロジェクト</a:t>
            </a:r>
            <a:endParaRPr lang="en-US" sz="1300" dirty="0"/>
          </a:p>
        </p:txBody>
      </p:sp>
      <p:sp>
        <p:nvSpPr>
          <p:cNvPr id="27" name="Shape 25"/>
          <p:cNvSpPr/>
          <p:nvPr/>
        </p:nvSpPr>
        <p:spPr>
          <a:xfrm>
            <a:off x="685800" y="5029200"/>
            <a:ext cx="10789920" cy="0"/>
          </a:xfrm>
          <a:prstGeom prst="line">
            <a:avLst/>
          </a:prstGeom>
          <a:noFill/>
          <a:ln w="12700">
            <a:solidFill>
              <a:srgbClr val="33476F"/>
            </a:solidFill>
            <a:prstDash val="solid"/>
          </a:ln>
        </p:spPr>
        <p:txBody>
          <a:bodyPr/>
          <a:p/>
        </p:txBody>
      </p:sp>
      <p:sp>
        <p:nvSpPr>
          <p:cNvPr id="28" name="Text 26"/>
          <p:cNvSpPr/>
          <p:nvPr/>
        </p:nvSpPr>
        <p:spPr>
          <a:xfrm>
            <a:off x="685800" y="5257800"/>
            <a:ext cx="10789920" cy="731520"/>
          </a:xfrm>
          <a:prstGeom prst="rect">
            <a:avLst/>
          </a:prstGeom>
          <a:noFill/>
          <a:ln/>
        </p:spPr>
        <p:txBody>
          <a:bodyPr wrap="square" rtlCol="0" anchor="ctr"/>
          <a:lstStyle/>
          <a:p>
            <a:pPr algn="ctr" indent="0" marL="0">
              <a:buNone/>
            </a:pPr>
            <a:r>
              <a:rPr lang="en-US" sz="2800" b="1" dirty="0">
                <a:solidFill>
                  <a:srgbClr val="FFFFFF"/>
                </a:solidFill>
                <a:latin typeface="Meiryo" pitchFamily="34" charset="0"/>
                <a:ea typeface="Meiryo" pitchFamily="34" charset="-122"/>
                <a:cs typeface="Meiryo" pitchFamily="34" charset="-120"/>
              </a:rPr>
              <a:t>『必要な時間に、必要な人員を、必要なだけ。』</a:t>
            </a:r>
            <a:endParaRPr lang="en-US" sz="2800" dirty="0"/>
          </a:p>
        </p:txBody>
      </p:sp>
      <p:sp>
        <p:nvSpPr>
          <p:cNvPr id="29" name="Text 27"/>
          <p:cNvSpPr/>
          <p:nvPr/>
        </p:nvSpPr>
        <p:spPr>
          <a:xfrm>
            <a:off x="685800" y="6035040"/>
            <a:ext cx="10789920" cy="365760"/>
          </a:xfrm>
          <a:prstGeom prst="rect">
            <a:avLst/>
          </a:prstGeom>
          <a:noFill/>
          <a:ln/>
        </p:spPr>
        <p:txBody>
          <a:bodyPr wrap="square" rtlCol="0" anchor="ctr"/>
          <a:lstStyle/>
          <a:p>
            <a:pPr algn="ctr" indent="0" marL="0">
              <a:buNone/>
            </a:pPr>
            <a:r>
              <a:rPr lang="en-US" sz="1400" i="1" dirty="0">
                <a:solidFill>
                  <a:srgbClr val="CADCFC"/>
                </a:solidFill>
                <a:latin typeface="Meiryo" pitchFamily="34" charset="0"/>
                <a:ea typeface="Meiryo" pitchFamily="34" charset="-122"/>
                <a:cs typeface="Meiryo" pitchFamily="34" charset="-120"/>
              </a:rPr>
              <a:t>会社の収支改善と、現場の無理のない運営の両立へ ― ご協力をお願いします。</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2026-08-07T00:41:47Z</dcterms:created>
  <dcterms:modified xsi:type="dcterms:W3CDTF">2026-08-07T00:41:47Z</dcterms:modified>
</cp:coreProperties>
</file>