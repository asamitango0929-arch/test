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直接人件費［原価］</c:v>
                </c:pt>
              </c:strCache>
            </c:strRef>
          </c:tx>
          <c:spPr>
            <a:solidFill>
              <a:srgbClr val="1B2A4A"/>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Sheet1!$B$2:$B$2</c:f>
              <c:numCache>
                <c:formatCode>General</c:formatCode>
                <c:ptCount val="1"/>
                <c:pt idx="0">
                  <c:v>60.3</c:v>
                </c:pt>
              </c:numCache>
            </c:numRef>
          </c:val>
        </c:ser>
        <c:ser>
          <c:idx val="1"/>
          <c:order val="1"/>
          <c:tx>
            <c:strRef>
              <c:f>Sheet1!$C$1</c:f>
              <c:strCache>
                <c:ptCount val="1"/>
                <c:pt idx="0">
                  <c:v>派遣・業務委託費</c:v>
                </c:pt>
              </c:strCache>
            </c:strRef>
          </c:tx>
          <c:spPr>
            <a:solidFill>
              <a:srgbClr val="2E5AAC"/>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Sheet1!$C$2:$C$2</c:f>
              <c:numCache>
                <c:formatCode>General</c:formatCode>
                <c:ptCount val="1"/>
                <c:pt idx="0">
                  <c:v>30.7</c:v>
                </c:pt>
              </c:numCache>
            </c:numRef>
          </c:val>
        </c:ser>
        <c:ser>
          <c:idx val="2"/>
          <c:order val="2"/>
          <c:tx>
            <c:strRef>
              <c:f>Sheet1!$D$1</c:f>
              <c:strCache>
                <c:ptCount val="1"/>
                <c:pt idx="0">
                  <c:v>その他原価・販管費</c:v>
                </c:pt>
              </c:strCache>
            </c:strRef>
          </c:tx>
          <c:spPr>
            <a:solidFill>
              <a:srgbClr val="C9D3E4"/>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Sheet1!$D$2:$D$2</c:f>
              <c:numCache>
                <c:formatCode>General</c:formatCode>
                <c:ptCount val="1"/>
                <c:pt idx="0">
                  <c:v>16.7</c:v>
                </c:pt>
              </c:numCache>
            </c:numRef>
          </c:val>
        </c:ser>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7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旅客 営業損益</c:v>
                </c:pt>
              </c:strCache>
            </c:strRef>
          </c:tx>
          <c:spPr>
            <a:solidFill>
              <a:srgbClr val="1E7A5A">
                <a:alpha val="100000"/>
              </a:srgbClr>
            </a:solidFill>
            <a:effectLst/>
          </c:spPr>
          <c:invertIfNegative val="0"/>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cat>
            <c:multiLvlStrRef>
              <c:f>Sheet1!$A$2:$A$7</c:f>
              <c:multiLvlStrCache>
                <c:ptCount val="6"/>
                <c:lvl>
                  <c:pt idx="0">
                    <c:v>那覇</c:v>
                  </c:pt>
                  <c:pt idx="1">
                    <c:v>羽田</c:v>
                  </c:pt>
                  <c:pt idx="2">
                    <c:v>千歳</c:v>
                  </c:pt>
                  <c:pt idx="3">
                    <c:v>北九州</c:v>
                  </c:pt>
                  <c:pt idx="4">
                    <c:v>関空</c:v>
                  </c:pt>
                  <c:pt idx="5">
                    <c:v>成田</c:v>
                  </c:pt>
                </c:lvl>
              </c:multiLvlStrCache>
            </c:multiLvlStrRef>
          </c:cat>
          <c:val>
            <c:numRef>
              <c:f>Sheet1!$B$2:$B$7</c:f>
              <c:numCache>
                <c:formatCode>General</c:formatCode>
                <c:ptCount val="6"/>
                <c:pt idx="0">
                  <c:v>7586</c:v>
                </c:pt>
                <c:pt idx="1">
                  <c:v>3258</c:v>
                </c:pt>
                <c:pt idx="2">
                  <c:v>1310</c:v>
                </c:pt>
                <c:pt idx="3">
                  <c:v>0</c:v>
                </c:pt>
                <c:pt idx="4">
                  <c:v>-7676</c:v>
                </c:pt>
                <c:pt idx="5">
                  <c:v>-17310</c:v>
                </c:pt>
              </c:numCache>
            </c:numRef>
          </c:val>
        </c:ser>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733"/>
                </a:solidFill>
                <a:latin typeface="Meiryo"/>
              </a:defRPr>
            </a:pPr>
            <a:endParaRPr lang="en-US"/>
          </a:p>
        </c:txPr>
        <c:crossAx val="2094734552"/>
        <c:crosses val="autoZero"/>
        <c:auto val="1"/>
        <c:lblAlgn val="ctr"/>
        <c:noMultiLvlLbl val="1"/>
      </c:catAx>
      <c:valAx>
        <c:axId val="2094734552"/>
        <c:scaling>
          <c:orientation val="minMax"/>
          <c:max val="10000"/>
          <c:min val="-2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忙しい中、急なご案内にもかかわらずお集まりいただきありがとうございます。本日は、会社として進めている短時間勤務者（パート・アルバイト）の採用について、背景も含めてご説明します。最初に申し上げたいのは、これは単に『人が足りないからアルバイトを採る』という話ではな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お話しするのは、単純な採用の話ではありません。旅客部門の多くの支店で、収入に対して人件費が上回る『原価割れ』が起きています。これまでは便が増える・人が足りない・退職者が出るとなればフルタイム正社員を補充する、という考え方が中心でした。しかし同じ持ち方で本当に収支を改善できるのか。ここを見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まず、なぜ今この取り組みが必要なのか。旅客部門だけの実際の収支を見ていただきます。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を抜き出すと、売上178百万に対して売上原価が182百万。販管費を引く前、原価だけで売上を超えています。これが原価割れです。営業損益では月17百万円の赤字、年に直すと約2.1億円の赤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字の中身を見ると、そのほとんどが人件費です。直接人件費が売上の6割、派遣・委託を足すと9割。ピークに合わせてフルタイム社員を持てば、ピークが終わった後の時間にも人件費が発生し続けます。ここを変えたいというのが今回の主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旅客部門だけで基地を並べると、羽田・千歳・那覇は黒字です。決して旅客事業そのものが赤字なのではありません。成田だけが突出して赤く、その額は他基地の黒字を単月で食いつぶすほどです。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全社で見ると、営業赤字はおよそ月58百万円。そのうち成田の旅客部門だけで約3割、成田全部門では約6割を占めます。つまり、成田を直さなければ全社の収支は直らない、というのが今の姿です。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人が足りません』で止めないようにしたい。何人足りないのか、一日のうち何時から何時まで、どのポジションで必要なのか。ここまで分解して初めて本当に必要な採用数が見えます。フルタイムが必要な仕事と、ピークだけ人が要る仕事を、同じ採用方法で埋めない、という考え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当に必要なのは10人の『社員』でしょうか。違います。必要なのはこの4時間の『10人分の出面』です。ピークのために8時間勤務者を10人増やせば、ピーク後の時間にも人件費が出ます。であれば、その時間だけ働ける方を配置する方が会社として合理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時点で1日4〜5時間、週3日程度、原則週20時間未満を基本に考えています。重要なのは、単に勤務時間の短い社員を増やすことではなく、各支店のピークに合わせて必要な時間帯に入っていただくこと。特に成田では経験者を積極採用し、資格・経験を活かして早くラインに入っていただくことも想定しています。制度・教育・交通費は整理中の部分もあり、決定と検討を分けて進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今日いちばんお願いしたいところです。『5人ほしい』ではなく、『6時から10時まで3人不足』『7時から12時まで2人不足』という形で見ていただきたい。5人足りないからフルタイムを5人採るのと、必要な時間に短時間勤務者を配置するのとでは人件費が全く違います。人事から確認する際は、何人ではなく『何時に・どのポジションで・何人』まで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解のないようお伝えしますが、『今後正社員を一切採らない』という意味ではありません。中途正社員採用は抑制方向ですが、即戦力の経験者など本当に必要な人材は個別判断します。一方で、朝の4時間だけ不足しているから正社員を一人採る、という採り方は見直します。フルタイムが担う部分と短時間勤務者で担える部分を整理し、組み合わせて運営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現在、成田と新千歳から先行して募集を始めています。まずそれぞれ10名を目標に動いていますが、この数字を固定的に考えているわけではありません。最終的にはWinter Scheduleを見ながら、各支店で何時に何人不足するかを確認して必要人数を決めます。経験者は経験・資格に応じた時給を設定し、即戦力採用を強化します。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採用広告を出せば終わりではありません。短時間勤務者に従来のフルタイム向け教育をそのまま当てると、勤務希望と合わない可能性があります。本社研修・OJT・交通費・資格者の配置。こうした課題を人事・教育・現場で役割分担しながら整理しています。このプロジェクトでは『採用した人数』ではなく『実際に必要なラインへ投入できた人数』まで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ここからが皆さんへのお願いです。人事だけで『この支店は10人』と決めても、現場で必要な時間と合わなければ意味がありません。Winter Scheduleを基準に必要出面を確認し、既存社員でどこまでカバーできるか、それでも不足する時間帯はどこかを出してください。その不足のうち短時間勤務者で対応できるポジションを一緒に選定したい。『何人ほしいか』ではなく『何時に・何人・どの仕事で必要か』でご共有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取り組みは単なる採用手法の変更ではなく、当たり前だと思っていた『人員の持ち方』を変える取り組みです。だからこそ人事だけではできません。現場を一番知る皆さんに、『何人ほしいか』ではなく『何時に・何人・本当に必要か』を一緒に考えていただきたい。会社の収支改善と、現場が無理なく運営できること、この二つの両立を目指します。ご協力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sp>
      <p:sp>
        <p:nvSpPr>
          <p:cNvPr id="3" name="Shape 1"/>
          <p:cNvSpPr/>
          <p:nvPr/>
        </p:nvSpPr>
        <p:spPr>
          <a:xfrm>
            <a:off x="685800" y="640080"/>
            <a:ext cx="1920240" cy="457200"/>
          </a:xfrm>
          <a:prstGeom prst="roundRect">
            <a:avLst>
              <a:gd name="adj" fmla="val 50000"/>
            </a:avLst>
          </a:prstGeom>
          <a:solidFill>
            <a:srgbClr val="2E4270"/>
          </a:solidFill>
          <a:ln/>
        </p:spPr>
      </p:sp>
      <p:sp>
        <p:nvSpPr>
          <p:cNvPr id="4" name="Text 2"/>
          <p:cNvSpPr/>
          <p:nvPr/>
        </p:nvSpPr>
        <p:spPr>
          <a:xfrm>
            <a:off x="685800" y="640080"/>
            <a:ext cx="1920240" cy="457200"/>
          </a:xfrm>
          <a:prstGeom prst="rect">
            <a:avLst/>
          </a:prstGeom>
          <a:noFill/>
          <a:ln/>
        </p:spPr>
        <p:txBody>
          <a:bodyPr wrap="square" rtlCol="0" anchor="ctr"/>
          <a:lstStyle/>
          <a:p>
            <a:pPr algn="ctr" indent="0" marL="0">
              <a:buNone/>
            </a:pPr>
            <a:r>
              <a:rPr lang="en-US" sz="1200" b="1" dirty="0">
                <a:solidFill>
                  <a:srgbClr val="CFE0FF"/>
                </a:solidFill>
                <a:latin typeface="Meiryo" pitchFamily="34" charset="0"/>
                <a:ea typeface="Meiryo" pitchFamily="34" charset="-122"/>
                <a:cs typeface="Meiryo" pitchFamily="34" charset="-120"/>
              </a:rPr>
              <a:t>旅客部門 収支改善</a:t>
            </a:r>
            <a:endParaRPr lang="en-US" sz="1200" dirty="0"/>
          </a:p>
        </p:txBody>
      </p:sp>
      <p:sp>
        <p:nvSpPr>
          <p:cNvPr id="5" name="Text 3"/>
          <p:cNvSpPr/>
          <p:nvPr/>
        </p:nvSpPr>
        <p:spPr>
          <a:xfrm>
            <a:off x="685800" y="1737360"/>
            <a:ext cx="10789920" cy="1828800"/>
          </a:xfrm>
          <a:prstGeom prst="rect">
            <a:avLst/>
          </a:prstGeom>
          <a:noFill/>
          <a:ln/>
        </p:spPr>
        <p:txBody>
          <a:bodyPr wrap="square"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短時間勤務者（パート・アルバイト）採用</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説明会</a:t>
            </a:r>
            <a:endParaRPr lang="en-US" sz="4000" dirty="0"/>
          </a:p>
        </p:txBody>
      </p:sp>
      <p:sp>
        <p:nvSpPr>
          <p:cNvPr id="6" name="Text 4"/>
          <p:cNvSpPr/>
          <p:nvPr/>
        </p:nvSpPr>
        <p:spPr>
          <a:xfrm>
            <a:off x="713232" y="3703320"/>
            <a:ext cx="10789920" cy="548640"/>
          </a:xfrm>
          <a:prstGeom prst="rect">
            <a:avLst/>
          </a:prstGeom>
          <a:noFill/>
          <a:ln/>
        </p:spPr>
        <p:txBody>
          <a:bodyPr wrap="square" rtlCol="0" anchor="ctr"/>
          <a:lstStyle/>
          <a:p>
            <a:pPr indent="0" marL="0">
              <a:buNone/>
            </a:pPr>
            <a:r>
              <a:rPr lang="en-US" sz="1800" i="1" dirty="0">
                <a:solidFill>
                  <a:srgbClr val="CADCFC"/>
                </a:solidFill>
                <a:latin typeface="Meiryo" pitchFamily="34" charset="0"/>
                <a:ea typeface="Meiryo" pitchFamily="34" charset="-122"/>
                <a:cs typeface="Meiryo" pitchFamily="34" charset="-120"/>
              </a:rPr>
              <a:t>―『必要な時間に、必要な人員を配置する』体制への転換 ―</a:t>
            </a:r>
            <a:endParaRPr lang="en-US" sz="1800" dirty="0"/>
          </a:p>
        </p:txBody>
      </p:sp>
      <p:sp>
        <p:nvSpPr>
          <p:cNvPr id="7" name="Shape 5"/>
          <p:cNvSpPr/>
          <p:nvPr/>
        </p:nvSpPr>
        <p:spPr>
          <a:xfrm>
            <a:off x="731520" y="4526280"/>
            <a:ext cx="3840480" cy="0"/>
          </a:xfrm>
          <a:prstGeom prst="line">
            <a:avLst/>
          </a:prstGeom>
          <a:noFill/>
          <a:ln w="19050">
            <a:solidFill>
              <a:srgbClr val="3C5488"/>
            </a:solidFill>
            <a:prstDash val="solid"/>
          </a:ln>
        </p:spPr>
      </p:sp>
      <p:sp>
        <p:nvSpPr>
          <p:cNvPr id="8" name="Text 6"/>
          <p:cNvSpPr/>
          <p:nvPr/>
        </p:nvSpPr>
        <p:spPr>
          <a:xfrm>
            <a:off x="731520" y="4800600"/>
            <a:ext cx="10058400" cy="365760"/>
          </a:xfrm>
          <a:prstGeom prst="rect">
            <a:avLst/>
          </a:prstGeom>
          <a:noFill/>
          <a:ln/>
        </p:spPr>
        <p:txBody>
          <a:bodyPr wrap="square" rtlCol="0" anchor="ctr"/>
          <a:lstStyle/>
          <a:p>
            <a:pPr indent="0" marL="0">
              <a:buNone/>
            </a:pPr>
            <a:r>
              <a:rPr lang="en-US" sz="1500" b="1" dirty="0">
                <a:solidFill>
                  <a:srgbClr val="9FB0CC"/>
                </a:solidFill>
                <a:latin typeface="Meiryo" pitchFamily="34" charset="0"/>
                <a:ea typeface="Meiryo" pitchFamily="34" charset="-122"/>
                <a:cs typeface="Meiryo" pitchFamily="34" charset="-120"/>
              </a:rPr>
              <a:t>対象：</a:t>
            </a:r>
            <a:pPr indent="0" marL="0">
              <a:buNone/>
            </a:pPr>
            <a:r>
              <a:rPr lang="en-US" sz="1500" dirty="0">
                <a:solidFill>
                  <a:srgbClr val="FFFFFF"/>
                </a:solidFill>
                <a:latin typeface="Meiryo" pitchFamily="34" charset="0"/>
                <a:ea typeface="Meiryo" pitchFamily="34" charset="-122"/>
                <a:cs typeface="Meiryo" pitchFamily="34" charset="-120"/>
              </a:rPr>
              <a:t>部長・支店長・所属長クラス</a:t>
            </a:r>
            <a:endParaRPr lang="en-US" sz="1500" dirty="0"/>
          </a:p>
        </p:txBody>
      </p:sp>
      <p:sp>
        <p:nvSpPr>
          <p:cNvPr id="9" name="Text 7"/>
          <p:cNvSpPr/>
          <p:nvPr/>
        </p:nvSpPr>
        <p:spPr>
          <a:xfrm>
            <a:off x="731520" y="5257800"/>
            <a:ext cx="10607040" cy="640080"/>
          </a:xfrm>
          <a:prstGeom prst="rect">
            <a:avLst/>
          </a:prstGeom>
          <a:noFill/>
          <a:ln/>
        </p:spPr>
        <p:txBody>
          <a:bodyPr wrap="square" rtlCol="0" anchor="ctr"/>
          <a:lstStyle/>
          <a:p>
            <a:pPr indent="0" marL="0">
              <a:buNone/>
            </a:pPr>
            <a:r>
              <a:rPr lang="en-US" sz="1400" b="1" dirty="0">
                <a:solidFill>
                  <a:srgbClr val="9FB0CC"/>
                </a:solidFill>
                <a:latin typeface="Meiryo" pitchFamily="34" charset="0"/>
                <a:ea typeface="Meiryo" pitchFamily="34" charset="-122"/>
                <a:cs typeface="Meiryo" pitchFamily="34" charset="-120"/>
              </a:rPr>
              <a:t>目的：</a:t>
            </a:r>
            <a:pPr indent="0" marL="0">
              <a:buNone/>
            </a:pPr>
            <a:r>
              <a:rPr lang="en-US" sz="1400" dirty="0">
                <a:solidFill>
                  <a:srgbClr val="E5ECF7"/>
                </a:solidFill>
                <a:latin typeface="Meiryo" pitchFamily="34" charset="0"/>
                <a:ea typeface="Meiryo" pitchFamily="34" charset="-122"/>
                <a:cs typeface="Meiryo" pitchFamily="34" charset="-120"/>
              </a:rPr>
              <a:t>背景・会社方針・現場での活用方法・進め方を共有し、各所属で「必要な時間 × 必要人数」を具体化する</a:t>
            </a:r>
            <a:endParaRPr lang="en-US" sz="1400" dirty="0"/>
          </a:p>
        </p:txBody>
      </p:sp>
      <p:sp>
        <p:nvSpPr>
          <p:cNvPr id="10" name="Text 8"/>
          <p:cNvSpPr/>
          <p:nvPr/>
        </p:nvSpPr>
        <p:spPr>
          <a:xfrm>
            <a:off x="731520" y="6035040"/>
            <a:ext cx="4572000" cy="365760"/>
          </a:xfrm>
          <a:prstGeom prst="rect">
            <a:avLst/>
          </a:prstGeom>
          <a:noFill/>
          <a:ln/>
        </p:spPr>
        <p:txBody>
          <a:bodyPr wrap="square" rtlCol="0" anchor="ctr"/>
          <a:lstStyle/>
          <a:p>
            <a:pPr indent="0" marL="0">
              <a:buNone/>
            </a:pPr>
            <a:r>
              <a:rPr lang="en-US" sz="1300" dirty="0">
                <a:solidFill>
                  <a:srgbClr val="9FB0CC"/>
                </a:solidFill>
                <a:latin typeface="Meiryo" pitchFamily="34" charset="0"/>
                <a:ea typeface="Meiryo" pitchFamily="34" charset="-122"/>
                <a:cs typeface="Meiryo" pitchFamily="34" charset="-120"/>
              </a:rPr>
              <a:t>2026年8月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本日いちばん伝えたいこと</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これは「採用施策」ではなく、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人員の持ち方を変える取り組みです</a:t>
            </a:r>
            <a:endParaRPr lang="en-US" sz="3000" dirty="0"/>
          </a:p>
        </p:txBody>
      </p:sp>
      <p:sp>
        <p:nvSpPr>
          <p:cNvPr id="4" name="Shape 2"/>
          <p:cNvSpPr/>
          <p:nvPr/>
        </p:nvSpPr>
        <p:spPr>
          <a:xfrm>
            <a:off x="54864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Shape 3"/>
          <p:cNvSpPr/>
          <p:nvPr/>
        </p:nvSpPr>
        <p:spPr>
          <a:xfrm>
            <a:off x="868680" y="2651760"/>
            <a:ext cx="914400" cy="914400"/>
          </a:xfrm>
          <a:prstGeom prst="roundRect">
            <a:avLst>
              <a:gd name="adj" fmla="val 50000"/>
            </a:avLst>
          </a:prstGeom>
          <a:solidFill>
            <a:srgbClr val="E9EEF8"/>
          </a:solidFill>
          <a:ln/>
        </p:spPr>
      </p:sp>
      <p:sp>
        <p:nvSpPr>
          <p:cNvPr id="6" name="Text 4"/>
          <p:cNvSpPr/>
          <p:nvPr/>
        </p:nvSpPr>
        <p:spPr>
          <a:xfrm>
            <a:off x="868680" y="2651760"/>
            <a:ext cx="914400" cy="914400"/>
          </a:xfrm>
          <a:prstGeom prst="rect">
            <a:avLst/>
          </a:prstGeom>
          <a:noFill/>
          <a:ln/>
        </p:spPr>
        <p:txBody>
          <a:bodyPr wrap="square" rtlCol="0" anchor="ctr"/>
          <a:lstStyle/>
          <a:p>
            <a:pPr algn="ctr" indent="0" marL="0">
              <a:buNone/>
            </a:pPr>
            <a:r>
              <a:rPr lang="en-US" sz="2600" b="1" dirty="0">
                <a:solidFill>
                  <a:srgbClr val="2E5AAC"/>
                </a:solidFill>
                <a:latin typeface="Meiryo" pitchFamily="34" charset="0"/>
                <a:ea typeface="Meiryo" pitchFamily="34" charset="-122"/>
                <a:cs typeface="Meiryo" pitchFamily="34" charset="-120"/>
              </a:rPr>
              <a:t>01</a:t>
            </a:r>
            <a:endParaRPr lang="en-US" sz="2600" dirty="0"/>
          </a:p>
        </p:txBody>
      </p:sp>
      <p:sp>
        <p:nvSpPr>
          <p:cNvPr id="7" name="Text 5"/>
          <p:cNvSpPr/>
          <p:nvPr/>
        </p:nvSpPr>
        <p:spPr>
          <a:xfrm>
            <a:off x="84124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採用の話ではない</a:t>
            </a:r>
            <a:endParaRPr lang="en-US" sz="1900" dirty="0"/>
          </a:p>
        </p:txBody>
      </p:sp>
      <p:sp>
        <p:nvSpPr>
          <p:cNvPr id="8" name="Text 6"/>
          <p:cNvSpPr/>
          <p:nvPr/>
        </p:nvSpPr>
        <p:spPr>
          <a:xfrm>
            <a:off x="84124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人が足りないからパートを採る、ではない。旅客部門の収支改善に向けた「人員の持ち方」そのものの見直し。</a:t>
            </a:r>
            <a:endParaRPr lang="en-US" sz="1350" dirty="0"/>
          </a:p>
        </p:txBody>
      </p:sp>
      <p:sp>
        <p:nvSpPr>
          <p:cNvPr id="9" name="Shape 7"/>
          <p:cNvSpPr/>
          <p:nvPr/>
        </p:nvSpPr>
        <p:spPr>
          <a:xfrm>
            <a:off x="429768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0" name="Shape 8"/>
          <p:cNvSpPr/>
          <p:nvPr/>
        </p:nvSpPr>
        <p:spPr>
          <a:xfrm>
            <a:off x="4617720" y="2651760"/>
            <a:ext cx="914400" cy="914400"/>
          </a:xfrm>
          <a:prstGeom prst="roundRect">
            <a:avLst>
              <a:gd name="adj" fmla="val 50000"/>
            </a:avLst>
          </a:prstGeom>
          <a:solidFill>
            <a:srgbClr val="F6EEDC"/>
          </a:solidFill>
          <a:ln/>
        </p:spPr>
      </p:sp>
      <p:sp>
        <p:nvSpPr>
          <p:cNvPr id="11" name="Text 9"/>
          <p:cNvSpPr/>
          <p:nvPr/>
        </p:nvSpPr>
        <p:spPr>
          <a:xfrm>
            <a:off x="4617720" y="2651760"/>
            <a:ext cx="914400" cy="914400"/>
          </a:xfrm>
          <a:prstGeom prst="rect">
            <a:avLst/>
          </a:prstGeom>
          <a:noFill/>
          <a:ln/>
        </p:spPr>
        <p:txBody>
          <a:bodyPr wrap="square" rtlCol="0" anchor="ctr"/>
          <a:lstStyle/>
          <a:p>
            <a:pPr algn="ctr" indent="0" marL="0">
              <a:buNone/>
            </a:pPr>
            <a:r>
              <a:rPr lang="en-US" sz="2600" b="1" dirty="0">
                <a:solidFill>
                  <a:srgbClr val="B8891B"/>
                </a:solidFill>
                <a:latin typeface="Meiryo" pitchFamily="34" charset="0"/>
                <a:ea typeface="Meiryo" pitchFamily="34" charset="-122"/>
                <a:cs typeface="Meiryo" pitchFamily="34" charset="-120"/>
              </a:rPr>
              <a:t>02</a:t>
            </a:r>
            <a:endParaRPr lang="en-US" sz="2600" dirty="0"/>
          </a:p>
        </p:txBody>
      </p:sp>
      <p:sp>
        <p:nvSpPr>
          <p:cNvPr id="12" name="Text 10"/>
          <p:cNvSpPr/>
          <p:nvPr/>
        </p:nvSpPr>
        <p:spPr>
          <a:xfrm>
            <a:off x="459028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人数 → 時間×人数</a:t>
            </a:r>
            <a:endParaRPr lang="en-US" sz="1900" dirty="0"/>
          </a:p>
        </p:txBody>
      </p:sp>
      <p:sp>
        <p:nvSpPr>
          <p:cNvPr id="13" name="Text 11"/>
          <p:cNvSpPr/>
          <p:nvPr/>
        </p:nvSpPr>
        <p:spPr>
          <a:xfrm>
            <a:off x="459028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「何人必要か」から、「何時に・どのポジションで・何人必要か」へ考え方を転換する。</a:t>
            </a:r>
            <a:endParaRPr lang="en-US" sz="1350" dirty="0"/>
          </a:p>
        </p:txBody>
      </p:sp>
      <p:sp>
        <p:nvSpPr>
          <p:cNvPr id="14" name="Shape 12"/>
          <p:cNvSpPr/>
          <p:nvPr/>
        </p:nvSpPr>
        <p:spPr>
          <a:xfrm>
            <a:off x="804672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5" name="Shape 13"/>
          <p:cNvSpPr/>
          <p:nvPr/>
        </p:nvSpPr>
        <p:spPr>
          <a:xfrm>
            <a:off x="8366760" y="2651760"/>
            <a:ext cx="914400" cy="914400"/>
          </a:xfrm>
          <a:prstGeom prst="roundRect">
            <a:avLst>
              <a:gd name="adj" fmla="val 50000"/>
            </a:avLst>
          </a:prstGeom>
          <a:solidFill>
            <a:srgbClr val="E3F0EA"/>
          </a:solidFill>
          <a:ln/>
        </p:spPr>
      </p:sp>
      <p:sp>
        <p:nvSpPr>
          <p:cNvPr id="16" name="Text 14"/>
          <p:cNvSpPr/>
          <p:nvPr/>
        </p:nvSpPr>
        <p:spPr>
          <a:xfrm>
            <a:off x="8366760" y="2651760"/>
            <a:ext cx="914400" cy="914400"/>
          </a:xfrm>
          <a:prstGeom prst="rect">
            <a:avLst/>
          </a:prstGeom>
          <a:noFill/>
          <a:ln/>
        </p:spPr>
        <p:txBody>
          <a:bodyPr wrap="square" rtlCol="0" anchor="ctr"/>
          <a:lstStyle/>
          <a:p>
            <a:pPr algn="ctr" indent="0" marL="0">
              <a:buNone/>
            </a:pPr>
            <a:r>
              <a:rPr lang="en-US" sz="2600" b="1" dirty="0">
                <a:solidFill>
                  <a:srgbClr val="1E7A5A"/>
                </a:solidFill>
                <a:latin typeface="Meiryo" pitchFamily="34" charset="0"/>
                <a:ea typeface="Meiryo" pitchFamily="34" charset="-122"/>
                <a:cs typeface="Meiryo" pitchFamily="34" charset="-120"/>
              </a:rPr>
              <a:t>03</a:t>
            </a:r>
            <a:endParaRPr lang="en-US" sz="2600" dirty="0"/>
          </a:p>
        </p:txBody>
      </p:sp>
      <p:sp>
        <p:nvSpPr>
          <p:cNvPr id="17" name="Text 15"/>
          <p:cNvSpPr/>
          <p:nvPr/>
        </p:nvSpPr>
        <p:spPr>
          <a:xfrm>
            <a:off x="833932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組み合わせで運営</a:t>
            </a:r>
            <a:endParaRPr lang="en-US" sz="1900" dirty="0"/>
          </a:p>
        </p:txBody>
      </p:sp>
      <p:sp>
        <p:nvSpPr>
          <p:cNvPr id="18" name="Text 16"/>
          <p:cNvSpPr/>
          <p:nvPr/>
        </p:nvSpPr>
        <p:spPr>
          <a:xfrm>
            <a:off x="833932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正社員だけで全時間帯を埋めず、必要な時間帯に短時間勤務者を組み合わせ、運営と収支を両立する。</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本日の進め方（30〜40分想定）</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説明会の流れ</a:t>
            </a:r>
            <a:endParaRPr lang="en-US" sz="3000" dirty="0"/>
          </a:p>
        </p:txBody>
      </p:sp>
      <p:sp>
        <p:nvSpPr>
          <p:cNvPr id="4" name="Shape 2"/>
          <p:cNvSpPr/>
          <p:nvPr/>
        </p:nvSpPr>
        <p:spPr>
          <a:xfrm>
            <a:off x="548640" y="2148840"/>
            <a:ext cx="11091672" cy="502920"/>
          </a:xfrm>
          <a:prstGeom prst="rect">
            <a:avLst/>
          </a:prstGeom>
          <a:solidFill>
            <a:srgbClr val="FFFFFF"/>
          </a:solidFill>
          <a:ln/>
        </p:spPr>
      </p:sp>
      <p:sp>
        <p:nvSpPr>
          <p:cNvPr id="5" name="Shape 3"/>
          <p:cNvSpPr/>
          <p:nvPr/>
        </p:nvSpPr>
        <p:spPr>
          <a:xfrm>
            <a:off x="685800" y="2240280"/>
            <a:ext cx="320040" cy="320040"/>
          </a:xfrm>
          <a:prstGeom prst="roundRect">
            <a:avLst>
              <a:gd name="adj" fmla="val 48571"/>
            </a:avLst>
          </a:prstGeom>
          <a:solidFill>
            <a:srgbClr val="1B2A4A"/>
          </a:solidFill>
          <a:ln/>
        </p:spPr>
      </p:sp>
      <p:sp>
        <p:nvSpPr>
          <p:cNvPr id="6" name="Text 4"/>
          <p:cNvSpPr/>
          <p:nvPr/>
        </p:nvSpPr>
        <p:spPr>
          <a:xfrm>
            <a:off x="685800" y="22402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1280160" y="21488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冒頭・目的</a:t>
            </a:r>
            <a:endParaRPr lang="en-US" sz="1500" dirty="0"/>
          </a:p>
        </p:txBody>
      </p:sp>
      <p:sp>
        <p:nvSpPr>
          <p:cNvPr id="8" name="Text 6"/>
          <p:cNvSpPr/>
          <p:nvPr/>
        </p:nvSpPr>
        <p:spPr>
          <a:xfrm>
            <a:off x="6400800" y="21488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3分</a:t>
            </a:r>
            <a:endParaRPr lang="en-US" sz="1300" dirty="0"/>
          </a:p>
        </p:txBody>
      </p:sp>
      <p:sp>
        <p:nvSpPr>
          <p:cNvPr id="9" name="Text 7"/>
          <p:cNvSpPr/>
          <p:nvPr/>
        </p:nvSpPr>
        <p:spPr>
          <a:xfrm>
            <a:off x="7589520" y="21488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なぜ急遽この説明会を行うのか</a:t>
            </a:r>
            <a:endParaRPr lang="en-US" sz="1250" dirty="0"/>
          </a:p>
        </p:txBody>
      </p:sp>
      <p:sp>
        <p:nvSpPr>
          <p:cNvPr id="10" name="Shape 8"/>
          <p:cNvSpPr/>
          <p:nvPr/>
        </p:nvSpPr>
        <p:spPr>
          <a:xfrm>
            <a:off x="685800" y="2743200"/>
            <a:ext cx="320040" cy="320040"/>
          </a:xfrm>
          <a:prstGeom prst="roundRect">
            <a:avLst>
              <a:gd name="adj" fmla="val 48571"/>
            </a:avLst>
          </a:prstGeom>
          <a:solidFill>
            <a:srgbClr val="1B2A4A"/>
          </a:solidFill>
          <a:ln/>
        </p:spPr>
      </p:sp>
      <p:sp>
        <p:nvSpPr>
          <p:cNvPr id="11" name="Text 9"/>
          <p:cNvSpPr/>
          <p:nvPr/>
        </p:nvSpPr>
        <p:spPr>
          <a:xfrm>
            <a:off x="685800" y="27432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p:nvPr/>
        </p:nvSpPr>
        <p:spPr>
          <a:xfrm>
            <a:off x="1280160" y="26517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背景・収支状況</a:t>
            </a:r>
            <a:endParaRPr lang="en-US" sz="1500" dirty="0"/>
          </a:p>
        </p:txBody>
      </p:sp>
      <p:sp>
        <p:nvSpPr>
          <p:cNvPr id="13" name="Text 11"/>
          <p:cNvSpPr/>
          <p:nvPr/>
        </p:nvSpPr>
        <p:spPr>
          <a:xfrm>
            <a:off x="6400800" y="26517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14" name="Text 12"/>
          <p:cNvSpPr/>
          <p:nvPr/>
        </p:nvSpPr>
        <p:spPr>
          <a:xfrm>
            <a:off x="7589520" y="26517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原価割れと人件費構造</a:t>
            </a:r>
            <a:endParaRPr lang="en-US" sz="1250" dirty="0"/>
          </a:p>
        </p:txBody>
      </p:sp>
      <p:sp>
        <p:nvSpPr>
          <p:cNvPr id="15" name="Shape 13"/>
          <p:cNvSpPr/>
          <p:nvPr/>
        </p:nvSpPr>
        <p:spPr>
          <a:xfrm>
            <a:off x="548640" y="3154680"/>
            <a:ext cx="11091672" cy="502920"/>
          </a:xfrm>
          <a:prstGeom prst="rect">
            <a:avLst/>
          </a:prstGeom>
          <a:solidFill>
            <a:srgbClr val="FFFFFF"/>
          </a:solidFill>
          <a:ln/>
        </p:spPr>
      </p:sp>
      <p:sp>
        <p:nvSpPr>
          <p:cNvPr id="16" name="Shape 14"/>
          <p:cNvSpPr/>
          <p:nvPr/>
        </p:nvSpPr>
        <p:spPr>
          <a:xfrm>
            <a:off x="685800" y="3246120"/>
            <a:ext cx="320040" cy="320040"/>
          </a:xfrm>
          <a:prstGeom prst="roundRect">
            <a:avLst>
              <a:gd name="adj" fmla="val 48571"/>
            </a:avLst>
          </a:prstGeom>
          <a:solidFill>
            <a:srgbClr val="1B2A4A"/>
          </a:solidFill>
          <a:ln/>
        </p:spPr>
      </p:sp>
      <p:sp>
        <p:nvSpPr>
          <p:cNvPr id="17" name="Text 15"/>
          <p:cNvSpPr/>
          <p:nvPr/>
        </p:nvSpPr>
        <p:spPr>
          <a:xfrm>
            <a:off x="685800" y="32461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6"/>
          <p:cNvSpPr/>
          <p:nvPr/>
        </p:nvSpPr>
        <p:spPr>
          <a:xfrm>
            <a:off x="1280160" y="31546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人員の持ち方の転換</a:t>
            </a:r>
            <a:endParaRPr lang="en-US" sz="1500" dirty="0"/>
          </a:p>
        </p:txBody>
      </p:sp>
      <p:sp>
        <p:nvSpPr>
          <p:cNvPr id="19" name="Text 17"/>
          <p:cNvSpPr/>
          <p:nvPr/>
        </p:nvSpPr>
        <p:spPr>
          <a:xfrm>
            <a:off x="6400800" y="31546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20" name="Text 18"/>
          <p:cNvSpPr/>
          <p:nvPr/>
        </p:nvSpPr>
        <p:spPr>
          <a:xfrm>
            <a:off x="7589520" y="31546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「人数」から「時間×人数」へ</a:t>
            </a:r>
            <a:endParaRPr lang="en-US" sz="1250" dirty="0"/>
          </a:p>
        </p:txBody>
      </p:sp>
      <p:sp>
        <p:nvSpPr>
          <p:cNvPr id="21" name="Shape 19"/>
          <p:cNvSpPr/>
          <p:nvPr/>
        </p:nvSpPr>
        <p:spPr>
          <a:xfrm>
            <a:off x="685800" y="3749040"/>
            <a:ext cx="320040" cy="320040"/>
          </a:xfrm>
          <a:prstGeom prst="roundRect">
            <a:avLst>
              <a:gd name="adj" fmla="val 48571"/>
            </a:avLst>
          </a:prstGeom>
          <a:solidFill>
            <a:srgbClr val="1B2A4A"/>
          </a:solidFill>
          <a:ln/>
        </p:spPr>
      </p:sp>
      <p:sp>
        <p:nvSpPr>
          <p:cNvPr id="22" name="Text 20"/>
          <p:cNvSpPr/>
          <p:nvPr/>
        </p:nvSpPr>
        <p:spPr>
          <a:xfrm>
            <a:off x="685800" y="374904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3" name="Text 21"/>
          <p:cNvSpPr/>
          <p:nvPr/>
        </p:nvSpPr>
        <p:spPr>
          <a:xfrm>
            <a:off x="1280160" y="365760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短時間勤務者の基本設計</a:t>
            </a:r>
            <a:endParaRPr lang="en-US" sz="1500" dirty="0"/>
          </a:p>
        </p:txBody>
      </p:sp>
      <p:sp>
        <p:nvSpPr>
          <p:cNvPr id="24" name="Text 22"/>
          <p:cNvSpPr/>
          <p:nvPr/>
        </p:nvSpPr>
        <p:spPr>
          <a:xfrm>
            <a:off x="6400800" y="365760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25" name="Text 23"/>
          <p:cNvSpPr/>
          <p:nvPr/>
        </p:nvSpPr>
        <p:spPr>
          <a:xfrm>
            <a:off x="7589520" y="365760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勤務時間・対象・配置</a:t>
            </a:r>
            <a:endParaRPr lang="en-US" sz="1250" dirty="0"/>
          </a:p>
        </p:txBody>
      </p:sp>
      <p:sp>
        <p:nvSpPr>
          <p:cNvPr id="26" name="Shape 24"/>
          <p:cNvSpPr/>
          <p:nvPr/>
        </p:nvSpPr>
        <p:spPr>
          <a:xfrm>
            <a:off x="548640" y="4160520"/>
            <a:ext cx="11091672" cy="502920"/>
          </a:xfrm>
          <a:prstGeom prst="rect">
            <a:avLst/>
          </a:prstGeom>
          <a:solidFill>
            <a:srgbClr val="FFFFFF"/>
          </a:solidFill>
          <a:ln/>
        </p:spPr>
      </p:sp>
      <p:sp>
        <p:nvSpPr>
          <p:cNvPr id="27" name="Shape 25"/>
          <p:cNvSpPr/>
          <p:nvPr/>
        </p:nvSpPr>
        <p:spPr>
          <a:xfrm>
            <a:off x="685800" y="4251960"/>
            <a:ext cx="320040" cy="320040"/>
          </a:xfrm>
          <a:prstGeom prst="roundRect">
            <a:avLst>
              <a:gd name="adj" fmla="val 48571"/>
            </a:avLst>
          </a:prstGeom>
          <a:solidFill>
            <a:srgbClr val="1B2A4A"/>
          </a:solidFill>
          <a:ln/>
        </p:spPr>
      </p:sp>
      <p:sp>
        <p:nvSpPr>
          <p:cNvPr id="28" name="Text 26"/>
          <p:cNvSpPr/>
          <p:nvPr/>
        </p:nvSpPr>
        <p:spPr>
          <a:xfrm>
            <a:off x="685800" y="425196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p:nvPr/>
        </p:nvSpPr>
        <p:spPr>
          <a:xfrm>
            <a:off x="1280160" y="416052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現場での活用方法</a:t>
            </a:r>
            <a:endParaRPr lang="en-US" sz="1500" dirty="0"/>
          </a:p>
        </p:txBody>
      </p:sp>
      <p:sp>
        <p:nvSpPr>
          <p:cNvPr id="30" name="Text 28"/>
          <p:cNvSpPr/>
          <p:nvPr/>
        </p:nvSpPr>
        <p:spPr>
          <a:xfrm>
            <a:off x="6400800" y="416052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31" name="Text 29"/>
          <p:cNvSpPr/>
          <p:nvPr/>
        </p:nvSpPr>
        <p:spPr>
          <a:xfrm>
            <a:off x="7589520" y="416052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不足出面から採用人数を決める</a:t>
            </a:r>
            <a:endParaRPr lang="en-US" sz="1250" dirty="0"/>
          </a:p>
        </p:txBody>
      </p:sp>
      <p:sp>
        <p:nvSpPr>
          <p:cNvPr id="32" name="Shape 30"/>
          <p:cNvSpPr/>
          <p:nvPr/>
        </p:nvSpPr>
        <p:spPr>
          <a:xfrm>
            <a:off x="685800" y="4754880"/>
            <a:ext cx="320040" cy="320040"/>
          </a:xfrm>
          <a:prstGeom prst="roundRect">
            <a:avLst>
              <a:gd name="adj" fmla="val 48571"/>
            </a:avLst>
          </a:prstGeom>
          <a:solidFill>
            <a:srgbClr val="1B2A4A"/>
          </a:solidFill>
          <a:ln/>
        </p:spPr>
      </p:sp>
      <p:sp>
        <p:nvSpPr>
          <p:cNvPr id="33" name="Text 31"/>
          <p:cNvSpPr/>
          <p:nvPr/>
        </p:nvSpPr>
        <p:spPr>
          <a:xfrm>
            <a:off x="685800" y="47548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p:nvPr/>
        </p:nvSpPr>
        <p:spPr>
          <a:xfrm>
            <a:off x="1280160" y="46634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採用状況・課題</a:t>
            </a:r>
            <a:endParaRPr lang="en-US" sz="1500" dirty="0"/>
          </a:p>
        </p:txBody>
      </p:sp>
      <p:sp>
        <p:nvSpPr>
          <p:cNvPr id="35" name="Text 33"/>
          <p:cNvSpPr/>
          <p:nvPr/>
        </p:nvSpPr>
        <p:spPr>
          <a:xfrm>
            <a:off x="6400800" y="46634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36" name="Text 34"/>
          <p:cNvSpPr/>
          <p:nvPr/>
        </p:nvSpPr>
        <p:spPr>
          <a:xfrm>
            <a:off x="7589520" y="46634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成田・千歳先行、教育等の課題</a:t>
            </a:r>
            <a:endParaRPr lang="en-US" sz="1250" dirty="0"/>
          </a:p>
        </p:txBody>
      </p:sp>
      <p:sp>
        <p:nvSpPr>
          <p:cNvPr id="37" name="Shape 35"/>
          <p:cNvSpPr/>
          <p:nvPr/>
        </p:nvSpPr>
        <p:spPr>
          <a:xfrm>
            <a:off x="548640" y="5166360"/>
            <a:ext cx="11091672" cy="502920"/>
          </a:xfrm>
          <a:prstGeom prst="rect">
            <a:avLst/>
          </a:prstGeom>
          <a:solidFill>
            <a:srgbClr val="FFFFFF"/>
          </a:solidFill>
          <a:ln/>
        </p:spPr>
      </p:sp>
      <p:sp>
        <p:nvSpPr>
          <p:cNvPr id="38" name="Shape 36"/>
          <p:cNvSpPr/>
          <p:nvPr/>
        </p:nvSpPr>
        <p:spPr>
          <a:xfrm>
            <a:off x="685800" y="5257800"/>
            <a:ext cx="320040" cy="320040"/>
          </a:xfrm>
          <a:prstGeom prst="roundRect">
            <a:avLst>
              <a:gd name="adj" fmla="val 48571"/>
            </a:avLst>
          </a:prstGeom>
          <a:solidFill>
            <a:srgbClr val="1B2A4A"/>
          </a:solidFill>
          <a:ln/>
        </p:spPr>
      </p:sp>
      <p:sp>
        <p:nvSpPr>
          <p:cNvPr id="39" name="Text 37"/>
          <p:cNvSpPr/>
          <p:nvPr/>
        </p:nvSpPr>
        <p:spPr>
          <a:xfrm>
            <a:off x="685800" y="52578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40" name="Text 38"/>
          <p:cNvSpPr/>
          <p:nvPr/>
        </p:nvSpPr>
        <p:spPr>
          <a:xfrm>
            <a:off x="1280160" y="51663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所属長へのお願い</a:t>
            </a:r>
            <a:endParaRPr lang="en-US" sz="1500" dirty="0"/>
          </a:p>
        </p:txBody>
      </p:sp>
      <p:sp>
        <p:nvSpPr>
          <p:cNvPr id="41" name="Text 39"/>
          <p:cNvSpPr/>
          <p:nvPr/>
        </p:nvSpPr>
        <p:spPr>
          <a:xfrm>
            <a:off x="6400800" y="51663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42" name="Text 40"/>
          <p:cNvSpPr/>
          <p:nvPr/>
        </p:nvSpPr>
        <p:spPr>
          <a:xfrm>
            <a:off x="7589520" y="51663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Winterに向けた必要出面の整理</a:t>
            </a:r>
            <a:endParaRPr lang="en-US" sz="1250" dirty="0"/>
          </a:p>
        </p:txBody>
      </p:sp>
      <p:sp>
        <p:nvSpPr>
          <p:cNvPr id="43" name="Shape 41"/>
          <p:cNvSpPr/>
          <p:nvPr/>
        </p:nvSpPr>
        <p:spPr>
          <a:xfrm>
            <a:off x="685800" y="5760720"/>
            <a:ext cx="320040" cy="320040"/>
          </a:xfrm>
          <a:prstGeom prst="roundRect">
            <a:avLst>
              <a:gd name="adj" fmla="val 48571"/>
            </a:avLst>
          </a:prstGeom>
          <a:solidFill>
            <a:srgbClr val="B8891B"/>
          </a:solidFill>
          <a:ln/>
        </p:spPr>
      </p:sp>
      <p:sp>
        <p:nvSpPr>
          <p:cNvPr id="44" name="Text 42"/>
          <p:cNvSpPr/>
          <p:nvPr/>
        </p:nvSpPr>
        <p:spPr>
          <a:xfrm>
            <a:off x="685800" y="57607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p>
        </p:txBody>
      </p:sp>
      <p:sp>
        <p:nvSpPr>
          <p:cNvPr id="45" name="Text 43"/>
          <p:cNvSpPr/>
          <p:nvPr/>
        </p:nvSpPr>
        <p:spPr>
          <a:xfrm>
            <a:off x="1280160" y="56692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質疑応答</a:t>
            </a:r>
            <a:endParaRPr lang="en-US" sz="1500" dirty="0"/>
          </a:p>
        </p:txBody>
      </p:sp>
      <p:sp>
        <p:nvSpPr>
          <p:cNvPr id="46" name="Text 44"/>
          <p:cNvSpPr/>
          <p:nvPr/>
        </p:nvSpPr>
        <p:spPr>
          <a:xfrm>
            <a:off x="6400800" y="56692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適宜</a:t>
            </a:r>
            <a:endParaRPr lang="en-US" sz="1300" dirty="0"/>
          </a:p>
        </p:txBody>
      </p:sp>
      <p:sp>
        <p:nvSpPr>
          <p:cNvPr id="47" name="Text 45"/>
          <p:cNvSpPr/>
          <p:nvPr/>
        </p:nvSpPr>
        <p:spPr>
          <a:xfrm>
            <a:off x="7589520" y="56692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懸念点を回収する</a:t>
            </a:r>
            <a:endParaRPr lang="en-US" sz="1250" dirty="0"/>
          </a:p>
        </p:txBody>
      </p:sp>
      <p:sp>
        <p:nvSpPr>
          <p:cNvPr id="48" name="Text 4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49" name="Text 4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2286000"/>
            <a:ext cx="5486400" cy="365760"/>
          </a:xfrm>
          <a:prstGeom prst="rect">
            <a:avLst/>
          </a:prstGeom>
          <a:noFill/>
          <a:ln/>
        </p:spPr>
        <p:txBody>
          <a:bodyPr wrap="square" rtlCol="0" anchor="ctr"/>
          <a:lstStyle/>
          <a:p>
            <a:pPr indent="0" marL="0">
              <a:buNone/>
            </a:pPr>
            <a:r>
              <a:rPr lang="en-US" sz="1400" b="1" spc="300" kern="0" dirty="0">
                <a:solidFill>
                  <a:srgbClr val="7C93C6"/>
                </a:solidFill>
                <a:latin typeface="Meiryo" pitchFamily="34" charset="0"/>
                <a:ea typeface="Meiryo" pitchFamily="34" charset="-122"/>
                <a:cs typeface="Meiryo" pitchFamily="34" charset="-120"/>
              </a:rPr>
              <a:t>SECTION 01</a:t>
            </a:r>
            <a:endParaRPr lang="en-US" sz="1400" dirty="0"/>
          </a:p>
        </p:txBody>
      </p:sp>
      <p:sp>
        <p:nvSpPr>
          <p:cNvPr id="3" name="Text 1"/>
          <p:cNvSpPr/>
          <p:nvPr/>
        </p:nvSpPr>
        <p:spPr>
          <a:xfrm>
            <a:off x="658368" y="2743200"/>
            <a:ext cx="10789920" cy="914400"/>
          </a:xfrm>
          <a:prstGeom prst="rect">
            <a:avLst/>
          </a:prstGeom>
          <a:noFill/>
          <a:ln/>
        </p:spPr>
        <p:txBody>
          <a:bodyPr wrap="square" rtlCol="0" anchor="ctr"/>
          <a:lstStyle/>
          <a:p>
            <a:pPr indent="0" marL="0">
              <a:buNone/>
            </a:pPr>
            <a:r>
              <a:rPr lang="en-US" sz="3800" b="1" dirty="0">
                <a:solidFill>
                  <a:srgbClr val="FFFFFF"/>
                </a:solidFill>
                <a:latin typeface="Meiryo" pitchFamily="34" charset="0"/>
                <a:ea typeface="Meiryo" pitchFamily="34" charset="-122"/>
                <a:cs typeface="Meiryo" pitchFamily="34" charset="-120"/>
              </a:rPr>
              <a:t>成田・旅客部門の「現実」</a:t>
            </a:r>
            <a:endParaRPr lang="en-US" sz="3800" dirty="0"/>
          </a:p>
        </p:txBody>
      </p:sp>
      <p:sp>
        <p:nvSpPr>
          <p:cNvPr id="4" name="Text 2"/>
          <p:cNvSpPr/>
          <p:nvPr/>
        </p:nvSpPr>
        <p:spPr>
          <a:xfrm>
            <a:off x="685800" y="3703320"/>
            <a:ext cx="10789920" cy="457200"/>
          </a:xfrm>
          <a:prstGeom prst="rect">
            <a:avLst/>
          </a:prstGeom>
          <a:noFill/>
          <a:ln/>
        </p:spPr>
        <p:txBody>
          <a:bodyPr wrap="square" rtlCol="0" anchor="ctr"/>
          <a:lstStyle/>
          <a:p>
            <a:pPr indent="0" marL="0">
              <a:buNone/>
            </a:pPr>
            <a:r>
              <a:rPr lang="en-US" sz="1600" i="1" dirty="0">
                <a:solidFill>
                  <a:srgbClr val="CADCFC"/>
                </a:solidFill>
                <a:latin typeface="Meiryo" pitchFamily="34" charset="0"/>
                <a:ea typeface="Meiryo" pitchFamily="34" charset="-122"/>
                <a:cs typeface="Meiryo" pitchFamily="34" charset="-120"/>
              </a:rPr>
              <a:t>なぜ今、動かなければならないのか ― 2026年5月 基地別損益実績より</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背景①｜収支状況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成田・旅客は「原価割れ」しています</a:t>
            </a:r>
            <a:endParaRPr lang="en-US" sz="3000" dirty="0"/>
          </a:p>
        </p:txBody>
      </p:sp>
      <p:sp>
        <p:nvSpPr>
          <p:cNvPr id="4" name="Text 2"/>
          <p:cNvSpPr/>
          <p:nvPr/>
        </p:nvSpPr>
        <p:spPr>
          <a:xfrm>
            <a:off x="566928" y="1664208"/>
            <a:ext cx="7315200" cy="32004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2026年5月 実績・旅客部門のみ（単位：千円）</a:t>
            </a:r>
            <a:endParaRPr lang="en-US" sz="1200" dirty="0"/>
          </a:p>
        </p:txBody>
      </p:sp>
      <p:sp>
        <p:nvSpPr>
          <p:cNvPr id="5" name="Shape 3"/>
          <p:cNvSpPr/>
          <p:nvPr/>
        </p:nvSpPr>
        <p:spPr>
          <a:xfrm>
            <a:off x="548640"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6" name="Text 4"/>
          <p:cNvSpPr/>
          <p:nvPr/>
        </p:nvSpPr>
        <p:spPr>
          <a:xfrm>
            <a:off x="822960"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営業損益</a:t>
            </a:r>
            <a:endParaRPr lang="en-US" sz="1500" dirty="0"/>
          </a:p>
        </p:txBody>
      </p:sp>
      <p:sp>
        <p:nvSpPr>
          <p:cNvPr id="7" name="Text 5"/>
          <p:cNvSpPr/>
          <p:nvPr/>
        </p:nvSpPr>
        <p:spPr>
          <a:xfrm>
            <a:off x="822960"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▲17,310</a:t>
            </a:r>
            <a:pPr indent="0" marL="0">
              <a:buNone/>
            </a:pPr>
            <a:r>
              <a:rPr lang="en-US" sz="1500" b="1" dirty="0">
                <a:solidFill>
                  <a:srgbClr val="C0392B"/>
                </a:solidFill>
                <a:latin typeface="Meiryo" pitchFamily="34" charset="0"/>
                <a:ea typeface="Meiryo" pitchFamily="34" charset="-122"/>
                <a:cs typeface="Meiryo" pitchFamily="34" charset="-120"/>
              </a:rPr>
              <a:t> 千円 / 月</a:t>
            </a:r>
            <a:endParaRPr lang="en-US" sz="4000" dirty="0"/>
          </a:p>
        </p:txBody>
      </p:sp>
      <p:sp>
        <p:nvSpPr>
          <p:cNvPr id="8" name="Text 6"/>
          <p:cNvSpPr/>
          <p:nvPr/>
        </p:nvSpPr>
        <p:spPr>
          <a:xfrm>
            <a:off x="822960"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営業利益率 ▲9.7%</a:t>
            </a:r>
            <a:endParaRPr lang="en-US" sz="1250" dirty="0"/>
          </a:p>
        </p:txBody>
      </p:sp>
      <p:sp>
        <p:nvSpPr>
          <p:cNvPr id="9" name="Shape 7"/>
          <p:cNvSpPr/>
          <p:nvPr/>
        </p:nvSpPr>
        <p:spPr>
          <a:xfrm>
            <a:off x="4407408"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0" name="Text 8"/>
          <p:cNvSpPr/>
          <p:nvPr/>
        </p:nvSpPr>
        <p:spPr>
          <a:xfrm>
            <a:off x="4681728"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売上原価率</a:t>
            </a:r>
            <a:endParaRPr lang="en-US" sz="1500" dirty="0"/>
          </a:p>
        </p:txBody>
      </p:sp>
      <p:sp>
        <p:nvSpPr>
          <p:cNvPr id="11" name="Text 9"/>
          <p:cNvSpPr/>
          <p:nvPr/>
        </p:nvSpPr>
        <p:spPr>
          <a:xfrm>
            <a:off x="4681728"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102.7</a:t>
            </a:r>
            <a:pPr indent="0" marL="0">
              <a:buNone/>
            </a:pPr>
            <a:r>
              <a:rPr lang="en-US" sz="1500" b="1" dirty="0">
                <a:solidFill>
                  <a:srgbClr val="C0392B"/>
                </a:solidFill>
                <a:latin typeface="Meiryo" pitchFamily="34" charset="0"/>
                <a:ea typeface="Meiryo" pitchFamily="34" charset="-122"/>
                <a:cs typeface="Meiryo" pitchFamily="34" charset="-120"/>
              </a:rPr>
              <a:t> %</a:t>
            </a:r>
            <a:endParaRPr lang="en-US" sz="4000" dirty="0"/>
          </a:p>
        </p:txBody>
      </p:sp>
      <p:sp>
        <p:nvSpPr>
          <p:cNvPr id="12" name="Text 10"/>
          <p:cNvSpPr/>
          <p:nvPr/>
        </p:nvSpPr>
        <p:spPr>
          <a:xfrm>
            <a:off x="4681728"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売上より原価が大きい</a:t>
            </a:r>
            <a:endParaRPr lang="en-US" sz="1250" dirty="0"/>
          </a:p>
        </p:txBody>
      </p:sp>
      <p:sp>
        <p:nvSpPr>
          <p:cNvPr id="13" name="Shape 11"/>
          <p:cNvSpPr/>
          <p:nvPr/>
        </p:nvSpPr>
        <p:spPr>
          <a:xfrm>
            <a:off x="8266176"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4" name="Text 12"/>
          <p:cNvSpPr/>
          <p:nvPr/>
        </p:nvSpPr>
        <p:spPr>
          <a:xfrm>
            <a:off x="8540496"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年換算の赤字</a:t>
            </a:r>
            <a:endParaRPr lang="en-US" sz="1500" dirty="0"/>
          </a:p>
        </p:txBody>
      </p:sp>
      <p:sp>
        <p:nvSpPr>
          <p:cNvPr id="15" name="Text 13"/>
          <p:cNvSpPr/>
          <p:nvPr/>
        </p:nvSpPr>
        <p:spPr>
          <a:xfrm>
            <a:off x="8540496"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約 ▲2.1</a:t>
            </a:r>
            <a:pPr indent="0" marL="0">
              <a:buNone/>
            </a:pPr>
            <a:r>
              <a:rPr lang="en-US" sz="1500" b="1" dirty="0">
                <a:solidFill>
                  <a:srgbClr val="C0392B"/>
                </a:solidFill>
                <a:latin typeface="Meiryo" pitchFamily="34" charset="0"/>
                <a:ea typeface="Meiryo" pitchFamily="34" charset="-122"/>
                <a:cs typeface="Meiryo" pitchFamily="34" charset="-120"/>
              </a:rPr>
              <a:t> 億円</a:t>
            </a:r>
            <a:endParaRPr lang="en-US" sz="4000" dirty="0"/>
          </a:p>
        </p:txBody>
      </p:sp>
      <p:sp>
        <p:nvSpPr>
          <p:cNvPr id="16" name="Text 14"/>
          <p:cNvSpPr/>
          <p:nvPr/>
        </p:nvSpPr>
        <p:spPr>
          <a:xfrm>
            <a:off x="8540496"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▲17,310千円 × 12ヶ月</a:t>
            </a:r>
            <a:endParaRPr lang="en-US" sz="1250" dirty="0"/>
          </a:p>
        </p:txBody>
      </p:sp>
      <p:sp>
        <p:nvSpPr>
          <p:cNvPr id="17" name="Shape 15"/>
          <p:cNvSpPr/>
          <p:nvPr/>
        </p:nvSpPr>
        <p:spPr>
          <a:xfrm>
            <a:off x="548640" y="4800600"/>
            <a:ext cx="11091672" cy="1234440"/>
          </a:xfrm>
          <a:prstGeom prst="roundRect">
            <a:avLst>
              <a:gd name="adj" fmla="val 5926"/>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8" name="Shape 16"/>
          <p:cNvSpPr/>
          <p:nvPr/>
        </p:nvSpPr>
        <p:spPr>
          <a:xfrm>
            <a:off x="548640" y="4800600"/>
            <a:ext cx="11091672" cy="1234440"/>
          </a:xfrm>
          <a:prstGeom prst="rect">
            <a:avLst/>
          </a:prstGeom>
          <a:solidFill>
            <a:srgbClr val="1B2A4A"/>
          </a:solidFill>
          <a:ln/>
        </p:spPr>
      </p:sp>
      <p:sp>
        <p:nvSpPr>
          <p:cNvPr id="19" name="Text 17"/>
          <p:cNvSpPr/>
          <p:nvPr/>
        </p:nvSpPr>
        <p:spPr>
          <a:xfrm>
            <a:off x="868680" y="4983480"/>
            <a:ext cx="1051560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売上 178,068  −  売上原価 182,818  =  </a:t>
            </a:r>
            <a:pPr indent="0" marL="0">
              <a:buNone/>
            </a:pPr>
            <a:r>
              <a:rPr lang="en-US" sz="1700" b="1" dirty="0">
                <a:solidFill>
                  <a:srgbClr val="FF9E93"/>
                </a:solidFill>
                <a:latin typeface="Meiryo" pitchFamily="34" charset="0"/>
                <a:ea typeface="Meiryo" pitchFamily="34" charset="-122"/>
                <a:cs typeface="Meiryo" pitchFamily="34" charset="-120"/>
              </a:rPr>
              <a:t>売上総損益 ▲4,751千円</a:t>
            </a:r>
            <a:endParaRPr lang="en-US" sz="1600" dirty="0"/>
          </a:p>
        </p:txBody>
      </p:sp>
      <p:sp>
        <p:nvSpPr>
          <p:cNvPr id="20" name="Text 18"/>
          <p:cNvSpPr/>
          <p:nvPr/>
        </p:nvSpPr>
        <p:spPr>
          <a:xfrm>
            <a:off x="868680" y="5486400"/>
            <a:ext cx="10515600" cy="457200"/>
          </a:xfrm>
          <a:prstGeom prst="rect">
            <a:avLst/>
          </a:prstGeom>
          <a:noFill/>
          <a:ln/>
        </p:spPr>
        <p:txBody>
          <a:bodyPr wrap="square" rtlCol="0" anchor="ctr"/>
          <a:lstStyle/>
          <a:p>
            <a:pPr indent="0" marL="0">
              <a:buNone/>
            </a:pPr>
            <a:r>
              <a:rPr lang="en-US" sz="1350" dirty="0">
                <a:solidFill>
                  <a:srgbClr val="E5ECF7"/>
                </a:solidFill>
                <a:latin typeface="Meiryo" pitchFamily="34" charset="0"/>
                <a:ea typeface="Meiryo" pitchFamily="34" charset="-122"/>
                <a:cs typeface="Meiryo" pitchFamily="34" charset="-120"/>
              </a:rPr>
              <a:t>販管費（12,560千円）を引く前の段階で、すでに赤字。まさに「原価割れ」です。</a:t>
            </a:r>
            <a:endParaRPr lang="en-US" sz="1350" dirty="0"/>
          </a:p>
        </p:txBody>
      </p:sp>
      <p:sp>
        <p:nvSpPr>
          <p:cNvPr id="21" name="Text 19"/>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2" name="Text 20"/>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背景②｜赤字の中身</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赤字の正体は「人件費」― 売上の9割</a:t>
            </a:r>
            <a:endParaRPr lang="en-US" sz="3000" dirty="0"/>
          </a:p>
        </p:txBody>
      </p:sp>
      <p:graphicFrame>
        <p:nvGraphicFramePr>
          <p:cNvPr id="4" name="Chart 0" descr=""/>
          <p:cNvGraphicFramePr/>
          <p:nvPr/>
        </p:nvGraphicFramePr>
        <p:xfrm>
          <a:off x="548640" y="2194560"/>
          <a:ext cx="58521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74520"/>
            <a:ext cx="54864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対売上構成比（％）</a:t>
            </a:r>
            <a:endParaRPr lang="en-US" sz="1100" dirty="0"/>
          </a:p>
        </p:txBody>
      </p:sp>
      <p:sp>
        <p:nvSpPr>
          <p:cNvPr id="6" name="Shape 3"/>
          <p:cNvSpPr/>
          <p:nvPr/>
        </p:nvSpPr>
        <p:spPr>
          <a:xfrm>
            <a:off x="6720840" y="2331720"/>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7" name="Text 4"/>
          <p:cNvSpPr/>
          <p:nvPr/>
        </p:nvSpPr>
        <p:spPr>
          <a:xfrm>
            <a:off x="6995160" y="2478024"/>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直接人件費［原価］</a:t>
            </a:r>
            <a:endParaRPr lang="en-US" sz="1450" dirty="0"/>
          </a:p>
        </p:txBody>
      </p:sp>
      <p:sp>
        <p:nvSpPr>
          <p:cNvPr id="8" name="Text 5"/>
          <p:cNvSpPr/>
          <p:nvPr/>
        </p:nvSpPr>
        <p:spPr>
          <a:xfrm>
            <a:off x="9921240" y="2423160"/>
            <a:ext cx="1463040" cy="731520"/>
          </a:xfrm>
          <a:prstGeom prst="rect">
            <a:avLst/>
          </a:prstGeom>
          <a:noFill/>
          <a:ln/>
        </p:spPr>
        <p:txBody>
          <a:bodyPr wrap="square" rtlCol="0" anchor="ctr"/>
          <a:lstStyle/>
          <a:p>
            <a:pPr algn="r" indent="0" marL="0">
              <a:buNone/>
            </a:pPr>
            <a:r>
              <a:rPr lang="en-US" sz="2400" b="1" dirty="0">
                <a:solidFill>
                  <a:srgbClr val="1B2A4A"/>
                </a:solidFill>
                <a:latin typeface="Meiryo" pitchFamily="34" charset="0"/>
                <a:ea typeface="Meiryo" pitchFamily="34" charset="-122"/>
                <a:cs typeface="Meiryo" pitchFamily="34" charset="-120"/>
              </a:rPr>
              <a:t>60.3%</a:t>
            </a:r>
            <a:endParaRPr lang="en-US" sz="2400" dirty="0"/>
          </a:p>
        </p:txBody>
      </p:sp>
      <p:sp>
        <p:nvSpPr>
          <p:cNvPr id="9" name="Text 6"/>
          <p:cNvSpPr/>
          <p:nvPr/>
        </p:nvSpPr>
        <p:spPr>
          <a:xfrm>
            <a:off x="6995160" y="2880360"/>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107,460千円</a:t>
            </a:r>
            <a:endParaRPr lang="en-US" sz="1250" dirty="0"/>
          </a:p>
        </p:txBody>
      </p:sp>
      <p:sp>
        <p:nvSpPr>
          <p:cNvPr id="10" name="Shape 7"/>
          <p:cNvSpPr/>
          <p:nvPr/>
        </p:nvSpPr>
        <p:spPr>
          <a:xfrm>
            <a:off x="6720840" y="3502152"/>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1" name="Text 8"/>
          <p:cNvSpPr/>
          <p:nvPr/>
        </p:nvSpPr>
        <p:spPr>
          <a:xfrm>
            <a:off x="6995160" y="3648456"/>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派遣・業務委託費</a:t>
            </a:r>
            <a:endParaRPr lang="en-US" sz="1450" dirty="0"/>
          </a:p>
        </p:txBody>
      </p:sp>
      <p:sp>
        <p:nvSpPr>
          <p:cNvPr id="12" name="Text 9"/>
          <p:cNvSpPr/>
          <p:nvPr/>
        </p:nvSpPr>
        <p:spPr>
          <a:xfrm>
            <a:off x="9921240" y="3593592"/>
            <a:ext cx="1463040" cy="731520"/>
          </a:xfrm>
          <a:prstGeom prst="rect">
            <a:avLst/>
          </a:prstGeom>
          <a:noFill/>
          <a:ln/>
        </p:spPr>
        <p:txBody>
          <a:bodyPr wrap="square" rtlCol="0" anchor="ctr"/>
          <a:lstStyle/>
          <a:p>
            <a:pPr algn="r" indent="0" marL="0">
              <a:buNone/>
            </a:pPr>
            <a:r>
              <a:rPr lang="en-US" sz="2400" b="1" dirty="0">
                <a:solidFill>
                  <a:srgbClr val="2E5AAC"/>
                </a:solidFill>
                <a:latin typeface="Meiryo" pitchFamily="34" charset="0"/>
                <a:ea typeface="Meiryo" pitchFamily="34" charset="-122"/>
                <a:cs typeface="Meiryo" pitchFamily="34" charset="-120"/>
              </a:rPr>
              <a:t>30.7%</a:t>
            </a:r>
            <a:endParaRPr lang="en-US" sz="2400" dirty="0"/>
          </a:p>
        </p:txBody>
      </p:sp>
      <p:sp>
        <p:nvSpPr>
          <p:cNvPr id="13" name="Text 10"/>
          <p:cNvSpPr/>
          <p:nvPr/>
        </p:nvSpPr>
        <p:spPr>
          <a:xfrm>
            <a:off x="6995160" y="405079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54,675千円</a:t>
            </a:r>
            <a:endParaRPr lang="en-US" sz="1250" dirty="0"/>
          </a:p>
        </p:txBody>
      </p:sp>
      <p:sp>
        <p:nvSpPr>
          <p:cNvPr id="14" name="Shape 11"/>
          <p:cNvSpPr/>
          <p:nvPr/>
        </p:nvSpPr>
        <p:spPr>
          <a:xfrm>
            <a:off x="6720840" y="4672584"/>
            <a:ext cx="4937760" cy="1143000"/>
          </a:xfrm>
          <a:prstGeom prst="roundRect">
            <a:avLst>
              <a:gd name="adj" fmla="val 64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5" name="Text 12"/>
          <p:cNvSpPr/>
          <p:nvPr/>
        </p:nvSpPr>
        <p:spPr>
          <a:xfrm>
            <a:off x="6995160" y="4818888"/>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人件費 + 派遣 合計</a:t>
            </a:r>
            <a:endParaRPr lang="en-US" sz="1450" dirty="0"/>
          </a:p>
        </p:txBody>
      </p:sp>
      <p:sp>
        <p:nvSpPr>
          <p:cNvPr id="16" name="Text 13"/>
          <p:cNvSpPr/>
          <p:nvPr/>
        </p:nvSpPr>
        <p:spPr>
          <a:xfrm>
            <a:off x="9921240" y="4764024"/>
            <a:ext cx="1463040" cy="960120"/>
          </a:xfrm>
          <a:prstGeom prst="rect">
            <a:avLst/>
          </a:prstGeom>
          <a:noFill/>
          <a:ln/>
        </p:spPr>
        <p:txBody>
          <a:bodyPr wrap="square" rtlCol="0" anchor="ctr"/>
          <a:lstStyle/>
          <a:p>
            <a:pPr algn="r" indent="0" marL="0">
              <a:buNone/>
            </a:pPr>
            <a:r>
              <a:rPr lang="en-US" sz="3000" b="1" dirty="0">
                <a:solidFill>
                  <a:srgbClr val="C0392B"/>
                </a:solidFill>
                <a:latin typeface="Meiryo" pitchFamily="34" charset="0"/>
                <a:ea typeface="Meiryo" pitchFamily="34" charset="-122"/>
                <a:cs typeface="Meiryo" pitchFamily="34" charset="-120"/>
              </a:rPr>
              <a:t>91.1%</a:t>
            </a:r>
            <a:endParaRPr lang="en-US" sz="3000" dirty="0"/>
          </a:p>
        </p:txBody>
      </p:sp>
      <p:sp>
        <p:nvSpPr>
          <p:cNvPr id="17" name="Text 14"/>
          <p:cNvSpPr/>
          <p:nvPr/>
        </p:nvSpPr>
        <p:spPr>
          <a:xfrm>
            <a:off x="6995160" y="533095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162,135千円</a:t>
            </a:r>
            <a:endParaRPr lang="en-US" sz="1250" dirty="0"/>
          </a:p>
        </p:txBody>
      </p:sp>
      <p:sp>
        <p:nvSpPr>
          <p:cNvPr id="18" name="Text 15"/>
          <p:cNvSpPr/>
          <p:nvPr/>
        </p:nvSpPr>
        <p:spPr>
          <a:xfrm>
            <a:off x="6995160" y="5541264"/>
            <a:ext cx="4389120" cy="274320"/>
          </a:xfrm>
          <a:prstGeom prst="rect">
            <a:avLst/>
          </a:prstGeom>
          <a:noFill/>
          <a:ln/>
        </p:spPr>
        <p:txBody>
          <a:bodyPr wrap="square" rtlCol="0" anchor="ctr"/>
          <a:lstStyle/>
          <a:p>
            <a:pPr indent="0" marL="0">
              <a:buNone/>
            </a:pPr>
            <a:r>
              <a:rPr lang="en-US" sz="1200" b="1" dirty="0">
                <a:solidFill>
                  <a:srgbClr val="C0392B"/>
                </a:solidFill>
                <a:latin typeface="Meiryo" pitchFamily="34" charset="0"/>
                <a:ea typeface="Meiryo" pitchFamily="34" charset="-122"/>
                <a:cs typeface="Meiryo" pitchFamily="34" charset="-120"/>
              </a:rPr>
              <a:t>＝ 売上のほとんどが人にかかる費用</a:t>
            </a:r>
            <a:endParaRPr lang="en-US" sz="1200" dirty="0"/>
          </a:p>
        </p:txBody>
      </p:sp>
      <p:sp>
        <p:nvSpPr>
          <p:cNvPr id="19" name="Text 1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背景③｜他基地との比較</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黒字の基地もある。成田だけが突出して赤い</a:t>
            </a:r>
            <a:endParaRPr lang="en-US" sz="3000" dirty="0"/>
          </a:p>
        </p:txBody>
      </p:sp>
      <p:graphicFrame>
        <p:nvGraphicFramePr>
          <p:cNvPr id="4" name="Chart 0" descr=""/>
          <p:cNvGraphicFramePr/>
          <p:nvPr/>
        </p:nvGraphicFramePr>
        <p:xfrm>
          <a:off x="548640" y="2148840"/>
          <a:ext cx="740664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47088"/>
            <a:ext cx="64008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旅客部門のみ・営業損益（千円/月）</a:t>
            </a:r>
            <a:endParaRPr lang="en-US" sz="1100" dirty="0"/>
          </a:p>
        </p:txBody>
      </p:sp>
      <p:sp>
        <p:nvSpPr>
          <p:cNvPr id="6" name="Shape 3"/>
          <p:cNvSpPr/>
          <p:nvPr/>
        </p:nvSpPr>
        <p:spPr>
          <a:xfrm>
            <a:off x="8229600" y="2331720"/>
            <a:ext cx="3410712" cy="3566160"/>
          </a:xfrm>
          <a:prstGeom prst="roundRect">
            <a:avLst>
              <a:gd name="adj" fmla="val 2145"/>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7" name="Shape 4"/>
          <p:cNvSpPr/>
          <p:nvPr/>
        </p:nvSpPr>
        <p:spPr>
          <a:xfrm>
            <a:off x="8229600" y="2331720"/>
            <a:ext cx="3410712" cy="3566160"/>
          </a:xfrm>
          <a:prstGeom prst="rect">
            <a:avLst/>
          </a:prstGeom>
          <a:solidFill>
            <a:srgbClr val="1B2A4A"/>
          </a:solidFill>
          <a:ln/>
        </p:spPr>
      </p:sp>
      <p:sp>
        <p:nvSpPr>
          <p:cNvPr id="8" name="Text 5"/>
          <p:cNvSpPr/>
          <p:nvPr/>
        </p:nvSpPr>
        <p:spPr>
          <a:xfrm>
            <a:off x="8503920" y="2560320"/>
            <a:ext cx="2834640" cy="457200"/>
          </a:xfrm>
          <a:prstGeom prst="rect">
            <a:avLst/>
          </a:prstGeom>
          <a:noFill/>
          <a:ln/>
        </p:spPr>
        <p:txBody>
          <a:bodyPr wrap="square" rtlCol="0" anchor="ctr"/>
          <a:lstStyle/>
          <a:p>
            <a:pPr indent="0" marL="0">
              <a:buNone/>
            </a:pPr>
            <a:r>
              <a:rPr lang="en-US" sz="1800" b="1" dirty="0">
                <a:solidFill>
                  <a:srgbClr val="CADCFC"/>
                </a:solidFill>
                <a:latin typeface="Meiryo" pitchFamily="34" charset="0"/>
                <a:ea typeface="Meiryo" pitchFamily="34" charset="-122"/>
                <a:cs typeface="Meiryo" pitchFamily="34" charset="-120"/>
              </a:rPr>
              <a:t>成田</a:t>
            </a:r>
            <a:endParaRPr lang="en-US" sz="1800" dirty="0"/>
          </a:p>
        </p:txBody>
      </p:sp>
      <p:sp>
        <p:nvSpPr>
          <p:cNvPr id="9" name="Text 6"/>
          <p:cNvSpPr/>
          <p:nvPr/>
        </p:nvSpPr>
        <p:spPr>
          <a:xfrm>
            <a:off x="8503920" y="3063240"/>
            <a:ext cx="2926080" cy="822960"/>
          </a:xfrm>
          <a:prstGeom prst="rect">
            <a:avLst/>
          </a:prstGeom>
          <a:noFill/>
          <a:ln/>
        </p:spPr>
        <p:txBody>
          <a:bodyPr wrap="square" rtlCol="0" anchor="ctr"/>
          <a:lstStyle/>
          <a:p>
            <a:pPr indent="0" marL="0">
              <a:buNone/>
            </a:pPr>
            <a:r>
              <a:rPr lang="en-US" sz="4000" b="1" dirty="0">
                <a:solidFill>
                  <a:srgbClr val="FF9E93"/>
                </a:solidFill>
                <a:latin typeface="Meiryo" pitchFamily="34" charset="0"/>
                <a:ea typeface="Meiryo" pitchFamily="34" charset="-122"/>
                <a:cs typeface="Meiryo" pitchFamily="34" charset="-120"/>
              </a:rPr>
              <a:t>▲17,310</a:t>
            </a:r>
            <a:endParaRPr lang="en-US" sz="4000" dirty="0"/>
          </a:p>
        </p:txBody>
      </p:sp>
      <p:sp>
        <p:nvSpPr>
          <p:cNvPr id="10" name="Text 7"/>
          <p:cNvSpPr/>
          <p:nvPr/>
        </p:nvSpPr>
        <p:spPr>
          <a:xfrm>
            <a:off x="8503920" y="3886200"/>
            <a:ext cx="2834640" cy="365760"/>
          </a:xfrm>
          <a:prstGeom prst="rect">
            <a:avLst/>
          </a:prstGeom>
          <a:noFill/>
          <a:ln/>
        </p:spPr>
        <p:txBody>
          <a:bodyPr wrap="square" rtlCol="0" anchor="ctr"/>
          <a:lstStyle/>
          <a:p>
            <a:pPr indent="0" marL="0">
              <a:buNone/>
            </a:pPr>
            <a:r>
              <a:rPr lang="en-US" sz="1400" dirty="0">
                <a:solidFill>
                  <a:srgbClr val="CADCFC"/>
                </a:solidFill>
                <a:latin typeface="Meiryo" pitchFamily="34" charset="0"/>
                <a:ea typeface="Meiryo" pitchFamily="34" charset="-122"/>
                <a:cs typeface="Meiryo" pitchFamily="34" charset="-120"/>
              </a:rPr>
              <a:t>千円 / 月</a:t>
            </a:r>
            <a:endParaRPr lang="en-US" sz="1400" dirty="0"/>
          </a:p>
        </p:txBody>
      </p:sp>
      <p:sp>
        <p:nvSpPr>
          <p:cNvPr id="11" name="Shape 8"/>
          <p:cNvSpPr/>
          <p:nvPr/>
        </p:nvSpPr>
        <p:spPr>
          <a:xfrm>
            <a:off x="8503920" y="4434840"/>
            <a:ext cx="2834640" cy="0"/>
          </a:xfrm>
          <a:prstGeom prst="line">
            <a:avLst/>
          </a:prstGeom>
          <a:noFill/>
          <a:ln w="12700">
            <a:solidFill>
              <a:srgbClr val="3C5488"/>
            </a:solidFill>
            <a:prstDash val="solid"/>
          </a:ln>
        </p:spPr>
      </p:sp>
      <p:sp>
        <p:nvSpPr>
          <p:cNvPr id="12" name="Text 9"/>
          <p:cNvSpPr/>
          <p:nvPr/>
        </p:nvSpPr>
        <p:spPr>
          <a:xfrm>
            <a:off x="8503920" y="4617720"/>
            <a:ext cx="2926080" cy="1188720"/>
          </a:xfrm>
          <a:prstGeom prst="rect">
            <a:avLst/>
          </a:prstGeom>
          <a:noFill/>
          <a:ln/>
        </p:spPr>
        <p:txBody>
          <a:bodyPr wrap="square" rtlCol="0" anchor="ctr"/>
          <a:lstStyle/>
          <a:p>
            <a:pPr indent="0" marL="0">
              <a:lnSpc>
                <a:spcPct val="120000"/>
              </a:lnSpc>
              <a:buNone/>
            </a:pPr>
            <a:r>
              <a:rPr lang="en-US" sz="1250" dirty="0">
                <a:solidFill>
                  <a:srgbClr val="E5ECF7"/>
                </a:solidFill>
                <a:latin typeface="Meiryo" pitchFamily="34" charset="0"/>
                <a:ea typeface="Meiryo" pitchFamily="34" charset="-122"/>
                <a:cs typeface="Meiryo" pitchFamily="34" charset="-120"/>
              </a:rPr>
              <a:t>羽田・千歳・那覇の旅客は黒字。成田の赤字は、単月で他基地の黒字を食いつぶす規模です。</a:t>
            </a:r>
            <a:endParaRPr lang="en-US" sz="1250" dirty="0"/>
          </a:p>
        </p:txBody>
      </p:sp>
      <p:sp>
        <p:nvSpPr>
          <p:cNvPr id="13" name="Text 1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4" name="Text 1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背景④｜全社インパクト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会社の赤字の過半は、成田から出ています</a:t>
            </a:r>
            <a:endParaRPr lang="en-US" sz="3000" dirty="0"/>
          </a:p>
        </p:txBody>
      </p:sp>
      <p:sp>
        <p:nvSpPr>
          <p:cNvPr id="4" name="Shape 2"/>
          <p:cNvSpPr/>
          <p:nvPr/>
        </p:nvSpPr>
        <p:spPr>
          <a:xfrm>
            <a:off x="54864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22960" y="2788920"/>
            <a:ext cx="3108960" cy="1280160"/>
          </a:xfrm>
          <a:prstGeom prst="rect">
            <a:avLst/>
          </a:prstGeom>
          <a:noFill/>
          <a:ln/>
        </p:spPr>
        <p:txBody>
          <a:bodyPr wrap="square" rtlCol="0" anchor="ctr"/>
          <a:lstStyle/>
          <a:p>
            <a:pPr algn="ctr" indent="0" marL="0">
              <a:buNone/>
            </a:pPr>
            <a:r>
              <a:rPr lang="en-US" sz="6400" b="1" dirty="0">
                <a:solidFill>
                  <a:srgbClr val="C0392B"/>
                </a:solidFill>
                <a:latin typeface="Meiryo" pitchFamily="34" charset="0"/>
                <a:ea typeface="Meiryo" pitchFamily="34" charset="-122"/>
                <a:cs typeface="Meiryo" pitchFamily="34" charset="-120"/>
              </a:rPr>
              <a:t>30%</a:t>
            </a:r>
            <a:endParaRPr lang="en-US" sz="6400" dirty="0"/>
          </a:p>
        </p:txBody>
      </p:sp>
      <p:sp>
        <p:nvSpPr>
          <p:cNvPr id="6" name="Text 4"/>
          <p:cNvSpPr/>
          <p:nvPr/>
        </p:nvSpPr>
        <p:spPr>
          <a:xfrm>
            <a:off x="82296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成田・旅客部門</a:t>
            </a:r>
            <a:endParaRPr lang="en-US" sz="1800" dirty="0"/>
          </a:p>
        </p:txBody>
      </p:sp>
      <p:sp>
        <p:nvSpPr>
          <p:cNvPr id="7" name="Text 5"/>
          <p:cNvSpPr/>
          <p:nvPr/>
        </p:nvSpPr>
        <p:spPr>
          <a:xfrm>
            <a:off x="82296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全社営業赤字（▲57,970千円/月）に占める割合</a:t>
            </a:r>
            <a:endParaRPr lang="en-US" sz="1250" dirty="0"/>
          </a:p>
        </p:txBody>
      </p:sp>
      <p:sp>
        <p:nvSpPr>
          <p:cNvPr id="8" name="Shape 6"/>
          <p:cNvSpPr/>
          <p:nvPr/>
        </p:nvSpPr>
        <p:spPr>
          <a:xfrm>
            <a:off x="452628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9" name="Text 7"/>
          <p:cNvSpPr/>
          <p:nvPr/>
        </p:nvSpPr>
        <p:spPr>
          <a:xfrm>
            <a:off x="4800600" y="2788920"/>
            <a:ext cx="3108960" cy="1280160"/>
          </a:xfrm>
          <a:prstGeom prst="rect">
            <a:avLst/>
          </a:prstGeom>
          <a:noFill/>
          <a:ln/>
        </p:spPr>
        <p:txBody>
          <a:bodyPr wrap="square" rtlCol="0" anchor="ctr"/>
          <a:lstStyle/>
          <a:p>
            <a:pPr algn="ctr" indent="0" marL="0">
              <a:buNone/>
            </a:pPr>
            <a:r>
              <a:rPr lang="en-US" sz="6400" b="1" dirty="0">
                <a:solidFill>
                  <a:srgbClr val="1B2A4A"/>
                </a:solidFill>
                <a:latin typeface="Meiryo" pitchFamily="34" charset="0"/>
                <a:ea typeface="Meiryo" pitchFamily="34" charset="-122"/>
                <a:cs typeface="Meiryo" pitchFamily="34" charset="-120"/>
              </a:rPr>
              <a:t>58%</a:t>
            </a:r>
            <a:endParaRPr lang="en-US" sz="6400" dirty="0"/>
          </a:p>
        </p:txBody>
      </p:sp>
      <p:sp>
        <p:nvSpPr>
          <p:cNvPr id="10" name="Text 8"/>
          <p:cNvSpPr/>
          <p:nvPr/>
        </p:nvSpPr>
        <p:spPr>
          <a:xfrm>
            <a:off x="480060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成田・全部門</a:t>
            </a:r>
            <a:endParaRPr lang="en-US" sz="1800" dirty="0"/>
          </a:p>
        </p:txBody>
      </p:sp>
      <p:sp>
        <p:nvSpPr>
          <p:cNvPr id="11" name="Text 9"/>
          <p:cNvSpPr/>
          <p:nvPr/>
        </p:nvSpPr>
        <p:spPr>
          <a:xfrm>
            <a:off x="480060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会社の赤字の半分以上が成田</a:t>
            </a:r>
            <a:endParaRPr lang="en-US" sz="1250" dirty="0"/>
          </a:p>
        </p:txBody>
      </p:sp>
      <p:sp>
        <p:nvSpPr>
          <p:cNvPr id="12" name="Shape 10"/>
          <p:cNvSpPr/>
          <p:nvPr/>
        </p:nvSpPr>
        <p:spPr>
          <a:xfrm>
            <a:off x="8549640" y="2286000"/>
            <a:ext cx="3090672" cy="3200400"/>
          </a:xfrm>
          <a:prstGeom prst="roundRect">
            <a:avLst>
              <a:gd name="adj" fmla="val 2367"/>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3" name="Shape 11"/>
          <p:cNvSpPr/>
          <p:nvPr/>
        </p:nvSpPr>
        <p:spPr>
          <a:xfrm>
            <a:off x="8549640" y="2286000"/>
            <a:ext cx="3090672" cy="3200400"/>
          </a:xfrm>
          <a:prstGeom prst="rect">
            <a:avLst/>
          </a:prstGeom>
          <a:solidFill>
            <a:srgbClr val="1B2A4A"/>
          </a:solidFill>
          <a:ln/>
        </p:spPr>
      </p:sp>
      <p:sp>
        <p:nvSpPr>
          <p:cNvPr id="14" name="Text 12"/>
          <p:cNvSpPr/>
          <p:nvPr/>
        </p:nvSpPr>
        <p:spPr>
          <a:xfrm>
            <a:off x="8823960" y="2560320"/>
            <a:ext cx="2560320" cy="365760"/>
          </a:xfrm>
          <a:prstGeom prst="rect">
            <a:avLst/>
          </a:prstGeom>
          <a:noFill/>
          <a:ln/>
        </p:spPr>
        <p:txBody>
          <a:bodyPr wrap="square" rtlCol="0" anchor="ctr"/>
          <a:lstStyle/>
          <a:p>
            <a:pPr indent="0" marL="0">
              <a:buNone/>
            </a:pPr>
            <a:r>
              <a:rPr lang="en-US" sz="1500" b="1" spc="200" kern="0" dirty="0">
                <a:solidFill>
                  <a:srgbClr val="7C93C6"/>
                </a:solidFill>
                <a:latin typeface="Meiryo" pitchFamily="34" charset="0"/>
                <a:ea typeface="Meiryo" pitchFamily="34" charset="-122"/>
                <a:cs typeface="Meiryo" pitchFamily="34" charset="-120"/>
              </a:rPr>
              <a:t>結論</a:t>
            </a:r>
            <a:endParaRPr lang="en-US" sz="1500" dirty="0"/>
          </a:p>
        </p:txBody>
      </p:sp>
      <p:sp>
        <p:nvSpPr>
          <p:cNvPr id="15" name="Text 13"/>
          <p:cNvSpPr/>
          <p:nvPr/>
        </p:nvSpPr>
        <p:spPr>
          <a:xfrm>
            <a:off x="8823960" y="3063240"/>
            <a:ext cx="2542032" cy="2194560"/>
          </a:xfrm>
          <a:prstGeom prst="rect">
            <a:avLst/>
          </a:prstGeom>
          <a:noFill/>
          <a:ln/>
        </p:spPr>
        <p:txBody>
          <a:bodyPr wrap="square" rtlCol="0" anchor="ctr"/>
          <a:lstStyle/>
          <a:p>
            <a:pPr indent="0" marL="0">
              <a:lnSpc>
                <a:spcPct val="120000"/>
              </a:lnSpc>
              <a:buNone/>
            </a:pPr>
            <a:r>
              <a:rPr lang="en-US" sz="2100" b="1" dirty="0">
                <a:solidFill>
                  <a:srgbClr val="FFFFFF"/>
                </a:solidFill>
                <a:latin typeface="Meiryo" pitchFamily="34" charset="0"/>
                <a:ea typeface="Meiryo" pitchFamily="34" charset="-122"/>
                <a:cs typeface="Meiryo" pitchFamily="34" charset="-120"/>
              </a:rPr>
              <a:t>成田・旅客を直さない限り、全社の収支は直らない。</a:t>
            </a:r>
            <a:endParaRPr lang="en-US" sz="21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人員の持ち方の転換</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「人数」ではなく「時間 × 人数」で見る</a:t>
            </a:r>
            <a:endParaRPr lang="en-US" sz="3000" dirty="0"/>
          </a:p>
        </p:txBody>
      </p:sp>
      <p:sp>
        <p:nvSpPr>
          <p:cNvPr id="4" name="Shape 2"/>
          <p:cNvSpPr/>
          <p:nvPr/>
        </p:nvSpPr>
        <p:spPr>
          <a:xfrm>
            <a:off x="548640" y="2194560"/>
            <a:ext cx="5349240" cy="3749040"/>
          </a:xfrm>
          <a:prstGeom prst="roundRect">
            <a:avLst>
              <a:gd name="adj" fmla="val 1951"/>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22960" y="2423160"/>
            <a:ext cx="3657600" cy="365760"/>
          </a:xfrm>
          <a:prstGeom prst="rect">
            <a:avLst/>
          </a:prstGeom>
          <a:noFill/>
          <a:ln/>
        </p:spPr>
        <p:txBody>
          <a:bodyPr wrap="square" rtlCol="0" anchor="ctr"/>
          <a:lstStyle/>
          <a:p>
            <a:pPr indent="0" marL="0">
              <a:buNone/>
            </a:pPr>
            <a:r>
              <a:rPr lang="en-US" sz="1600" b="1" dirty="0">
                <a:solidFill>
                  <a:srgbClr val="6B7686"/>
                </a:solidFill>
                <a:latin typeface="Meiryo" pitchFamily="34" charset="0"/>
                <a:ea typeface="Meiryo" pitchFamily="34" charset="-122"/>
                <a:cs typeface="Meiryo" pitchFamily="34" charset="-120"/>
              </a:rPr>
              <a:t>これまで</a:t>
            </a:r>
            <a:endParaRPr lang="en-US" sz="1600" dirty="0"/>
          </a:p>
        </p:txBody>
      </p:sp>
      <p:sp>
        <p:nvSpPr>
          <p:cNvPr id="6" name="Text 4"/>
          <p:cNvSpPr/>
          <p:nvPr/>
        </p:nvSpPr>
        <p:spPr>
          <a:xfrm>
            <a:off x="822960" y="2834640"/>
            <a:ext cx="484632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「人が足りない」→ フルタイム社員を補充</a:t>
            </a:r>
            <a:endParaRPr lang="en-US" sz="1800" dirty="0"/>
          </a:p>
        </p:txBody>
      </p:sp>
      <p:sp>
        <p:nvSpPr>
          <p:cNvPr id="7" name="Text 5"/>
          <p:cNvSpPr/>
          <p:nvPr/>
        </p:nvSpPr>
        <p:spPr>
          <a:xfrm>
            <a:off x="1051560" y="3657600"/>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便が増える・退職が出れば正社員で穴埋め</a:t>
            </a:r>
            <a:endParaRPr lang="en-US" sz="1350" dirty="0"/>
          </a:p>
        </p:txBody>
      </p:sp>
      <p:sp>
        <p:nvSpPr>
          <p:cNvPr id="8" name="Text 6"/>
          <p:cNvSpPr/>
          <p:nvPr/>
        </p:nvSpPr>
        <p:spPr>
          <a:xfrm>
            <a:off x="1051560" y="4224528"/>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朝のピークのために8時間勤務者を増やす</a:t>
            </a:r>
            <a:endParaRPr lang="en-US" sz="1350" dirty="0"/>
          </a:p>
        </p:txBody>
      </p:sp>
      <p:sp>
        <p:nvSpPr>
          <p:cNvPr id="9" name="Text 7"/>
          <p:cNvSpPr/>
          <p:nvPr/>
        </p:nvSpPr>
        <p:spPr>
          <a:xfrm>
            <a:off x="1051560" y="4791456"/>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ピーク後の時間にも人件費が発生し続ける</a:t>
            </a:r>
            <a:endParaRPr lang="en-US" sz="1350" dirty="0"/>
          </a:p>
        </p:txBody>
      </p:sp>
      <p:sp>
        <p:nvSpPr>
          <p:cNvPr id="10" name="Shape 8"/>
          <p:cNvSpPr/>
          <p:nvPr/>
        </p:nvSpPr>
        <p:spPr>
          <a:xfrm>
            <a:off x="6053328" y="3657600"/>
            <a:ext cx="777240" cy="822960"/>
          </a:xfrm>
          <a:prstGeom prst="rightArrow">
            <a:avLst/>
          </a:prstGeom>
          <a:solidFill>
            <a:srgbClr val="B8891B"/>
          </a:solidFill>
          <a:ln/>
        </p:spPr>
      </p:sp>
      <p:sp>
        <p:nvSpPr>
          <p:cNvPr id="11" name="Shape 9"/>
          <p:cNvSpPr/>
          <p:nvPr/>
        </p:nvSpPr>
        <p:spPr>
          <a:xfrm>
            <a:off x="6995160" y="2194560"/>
            <a:ext cx="4645152" cy="3749040"/>
          </a:xfrm>
          <a:prstGeom prst="roundRect">
            <a:avLst>
              <a:gd name="adj" fmla="val 1951"/>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2" name="Text 10"/>
          <p:cNvSpPr/>
          <p:nvPr/>
        </p:nvSpPr>
        <p:spPr>
          <a:xfrm>
            <a:off x="7269480" y="2423160"/>
            <a:ext cx="3657600" cy="365760"/>
          </a:xfrm>
          <a:prstGeom prst="rect">
            <a:avLst/>
          </a:prstGeom>
          <a:noFill/>
          <a:ln/>
        </p:spPr>
        <p:txBody>
          <a:bodyPr wrap="square" rtlCol="0" anchor="ctr"/>
          <a:lstStyle/>
          <a:p>
            <a:pPr indent="0" marL="0">
              <a:buNone/>
            </a:pPr>
            <a:r>
              <a:rPr lang="en-US" sz="1600" b="1" dirty="0">
                <a:solidFill>
                  <a:srgbClr val="1E7A5A"/>
                </a:solidFill>
                <a:latin typeface="Meiryo" pitchFamily="34" charset="0"/>
                <a:ea typeface="Meiryo" pitchFamily="34" charset="-122"/>
                <a:cs typeface="Meiryo" pitchFamily="34" charset="-120"/>
              </a:rPr>
              <a:t>これから</a:t>
            </a:r>
            <a:endParaRPr lang="en-US" sz="1600" dirty="0"/>
          </a:p>
        </p:txBody>
      </p:sp>
      <p:sp>
        <p:nvSpPr>
          <p:cNvPr id="13" name="Text 11"/>
          <p:cNvSpPr/>
          <p:nvPr/>
        </p:nvSpPr>
        <p:spPr>
          <a:xfrm>
            <a:off x="7269480" y="2834640"/>
            <a:ext cx="411480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「何時に・どこで・何人足りないか」を確認</a:t>
            </a:r>
            <a:endParaRPr lang="en-US" sz="1800" dirty="0"/>
          </a:p>
        </p:txBody>
      </p:sp>
      <p:sp>
        <p:nvSpPr>
          <p:cNvPr id="14" name="Text 12"/>
          <p:cNvSpPr/>
          <p:nvPr/>
        </p:nvSpPr>
        <p:spPr>
          <a:xfrm>
            <a:off x="7498080" y="3657600"/>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何人・何時から何時まで・どのポジションかまで分解</a:t>
            </a:r>
            <a:endParaRPr lang="en-US" sz="1350" dirty="0"/>
          </a:p>
        </p:txBody>
      </p:sp>
      <p:sp>
        <p:nvSpPr>
          <p:cNvPr id="15" name="Text 13"/>
          <p:cNvSpPr/>
          <p:nvPr/>
        </p:nvSpPr>
        <p:spPr>
          <a:xfrm>
            <a:off x="7498080" y="4224528"/>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正社員＋経験者＋短時間勤務者を組み合わせる</a:t>
            </a:r>
            <a:endParaRPr lang="en-US" sz="1350" dirty="0"/>
          </a:p>
        </p:txBody>
      </p:sp>
      <p:sp>
        <p:nvSpPr>
          <p:cNvPr id="16" name="Text 14"/>
          <p:cNvSpPr/>
          <p:nvPr/>
        </p:nvSpPr>
        <p:spPr>
          <a:xfrm>
            <a:off x="7498080" y="4791456"/>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必要な時間に、必要な出面だけを確保する</a:t>
            </a:r>
            <a:endParaRPr lang="en-US" sz="1350" dirty="0"/>
          </a:p>
        </p:txBody>
      </p:sp>
      <p:sp>
        <p:nvSpPr>
          <p:cNvPr id="17" name="Text 15"/>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8" name="Text 16"/>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考え方の具体例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必要なのは「10人の社員」ではなく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「4時間 × 10人分の出面」</a:t>
            </a:r>
            <a:endParaRPr lang="en-US" sz="3000" dirty="0"/>
          </a:p>
        </p:txBody>
      </p:sp>
      <p:sp>
        <p:nvSpPr>
          <p:cNvPr id="4" name="Shape 2"/>
          <p:cNvSpPr/>
          <p:nvPr/>
        </p:nvSpPr>
        <p:spPr>
          <a:xfrm>
            <a:off x="548640" y="2514600"/>
            <a:ext cx="11091672" cy="1371600"/>
          </a:xfrm>
          <a:prstGeom prst="roundRect">
            <a:avLst>
              <a:gd name="adj" fmla="val 53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914400" y="2788920"/>
            <a:ext cx="10332720" cy="822960"/>
          </a:xfrm>
          <a:prstGeom prst="rect">
            <a:avLst/>
          </a:prstGeom>
          <a:noFill/>
          <a:ln/>
        </p:spPr>
        <p:txBody>
          <a:bodyPr wrap="square" rtlCol="0" anchor="ctr"/>
          <a:lstStyle/>
          <a:p>
            <a:pPr indent="0" marL="0">
              <a:buNone/>
            </a:pPr>
            <a:r>
              <a:rPr lang="en-US" sz="1800" dirty="0">
                <a:solidFill>
                  <a:srgbClr val="1F2733"/>
                </a:solidFill>
                <a:latin typeface="Meiryo" pitchFamily="34" charset="0"/>
                <a:ea typeface="Meiryo" pitchFamily="34" charset="-122"/>
                <a:cs typeface="Meiryo" pitchFamily="34" charset="-120"/>
              </a:rPr>
              <a:t>例）朝 6:00〜10:00 の 4時間 だけ、</a:t>
            </a:r>
            <a:pPr indent="0" marL="0">
              <a:buNone/>
            </a:pPr>
            <a:r>
              <a:rPr lang="en-US" sz="2000" b="1" dirty="0">
                <a:solidFill>
                  <a:srgbClr val="C0392B"/>
                </a:solidFill>
                <a:latin typeface="Meiryo" pitchFamily="34" charset="0"/>
                <a:ea typeface="Meiryo" pitchFamily="34" charset="-122"/>
                <a:cs typeface="Meiryo" pitchFamily="34" charset="-120"/>
              </a:rPr>
              <a:t>10人不足</a:t>
            </a:r>
            <a:pPr indent="0" marL="0">
              <a:buNone/>
            </a:pPr>
            <a:r>
              <a:rPr lang="en-US" sz="1800" dirty="0">
                <a:solidFill>
                  <a:srgbClr val="1F2733"/>
                </a:solidFill>
                <a:latin typeface="Meiryo" pitchFamily="34" charset="0"/>
                <a:ea typeface="Meiryo" pitchFamily="34" charset="-122"/>
                <a:cs typeface="Meiryo" pitchFamily="34" charset="-120"/>
              </a:rPr>
              <a:t> しているとする</a:t>
            </a:r>
            <a:endParaRPr lang="en-US" sz="1800" dirty="0"/>
          </a:p>
        </p:txBody>
      </p:sp>
      <p:sp>
        <p:nvSpPr>
          <p:cNvPr id="6" name="Shape 4"/>
          <p:cNvSpPr/>
          <p:nvPr/>
        </p:nvSpPr>
        <p:spPr>
          <a:xfrm>
            <a:off x="548640" y="4114800"/>
            <a:ext cx="5349240" cy="1920240"/>
          </a:xfrm>
          <a:prstGeom prst="roundRect">
            <a:avLst>
              <a:gd name="adj" fmla="val 3810"/>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7" name="Text 5"/>
          <p:cNvSpPr/>
          <p:nvPr/>
        </p:nvSpPr>
        <p:spPr>
          <a:xfrm>
            <a:off x="822960" y="4297680"/>
            <a:ext cx="3657600" cy="365760"/>
          </a:xfrm>
          <a:prstGeom prst="rect">
            <a:avLst/>
          </a:prstGeom>
          <a:noFill/>
          <a:ln/>
        </p:spPr>
        <p:txBody>
          <a:bodyPr wrap="square" rtlCol="0" anchor="ctr"/>
          <a:lstStyle/>
          <a:p>
            <a:pPr indent="0" marL="0">
              <a:buNone/>
            </a:pPr>
            <a:r>
              <a:rPr lang="en-US" sz="1400" b="1" dirty="0">
                <a:solidFill>
                  <a:srgbClr val="6B7686"/>
                </a:solidFill>
                <a:latin typeface="Meiryo" pitchFamily="34" charset="0"/>
                <a:ea typeface="Meiryo" pitchFamily="34" charset="-122"/>
                <a:cs typeface="Meiryo" pitchFamily="34" charset="-120"/>
              </a:rPr>
              <a:t>従来の発想</a:t>
            </a:r>
            <a:endParaRPr lang="en-US" sz="1400" dirty="0"/>
          </a:p>
        </p:txBody>
      </p:sp>
      <p:sp>
        <p:nvSpPr>
          <p:cNvPr id="8" name="Text 6"/>
          <p:cNvSpPr/>
          <p:nvPr/>
        </p:nvSpPr>
        <p:spPr>
          <a:xfrm>
            <a:off x="822960" y="4709160"/>
            <a:ext cx="484632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8時間勤務のフルタイム社員を10人採用</a:t>
            </a:r>
            <a:endParaRPr lang="en-US" sz="1600" dirty="0"/>
          </a:p>
        </p:txBody>
      </p:sp>
      <p:sp>
        <p:nvSpPr>
          <p:cNvPr id="9" name="Text 7"/>
          <p:cNvSpPr/>
          <p:nvPr/>
        </p:nvSpPr>
        <p:spPr>
          <a:xfrm>
            <a:off x="822960" y="5440680"/>
            <a:ext cx="4846320" cy="457200"/>
          </a:xfrm>
          <a:prstGeom prst="rect">
            <a:avLst/>
          </a:prstGeom>
          <a:noFill/>
          <a:ln/>
        </p:spPr>
        <p:txBody>
          <a:bodyPr wrap="square" rtlCol="0" anchor="ctr"/>
          <a:lstStyle/>
          <a:p>
            <a:pPr indent="0" marL="0">
              <a:buNone/>
            </a:pPr>
            <a:r>
              <a:rPr lang="en-US" sz="1300" dirty="0">
                <a:solidFill>
                  <a:srgbClr val="C0392B"/>
                </a:solidFill>
                <a:latin typeface="Meiryo" pitchFamily="34" charset="0"/>
                <a:ea typeface="Meiryo" pitchFamily="34" charset="-122"/>
                <a:cs typeface="Meiryo" pitchFamily="34" charset="-120"/>
              </a:rPr>
              <a:t>→ ピークが終わった残り時間にも人件費が発生</a:t>
            </a:r>
            <a:endParaRPr lang="en-US" sz="1300" dirty="0"/>
          </a:p>
        </p:txBody>
      </p:sp>
      <p:sp>
        <p:nvSpPr>
          <p:cNvPr id="10" name="Shape 8"/>
          <p:cNvSpPr/>
          <p:nvPr/>
        </p:nvSpPr>
        <p:spPr>
          <a:xfrm>
            <a:off x="6995160" y="4114800"/>
            <a:ext cx="4645152" cy="1920240"/>
          </a:xfrm>
          <a:prstGeom prst="roundRect">
            <a:avLst>
              <a:gd name="adj" fmla="val 381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1" name="Text 9"/>
          <p:cNvSpPr/>
          <p:nvPr/>
        </p:nvSpPr>
        <p:spPr>
          <a:xfrm>
            <a:off x="7269480" y="4297680"/>
            <a:ext cx="3657600" cy="365760"/>
          </a:xfrm>
          <a:prstGeom prst="rect">
            <a:avLst/>
          </a:prstGeom>
          <a:noFill/>
          <a:ln/>
        </p:spPr>
        <p:txBody>
          <a:bodyPr wrap="square" rtlCol="0" anchor="ctr"/>
          <a:lstStyle/>
          <a:p>
            <a:pPr indent="0" marL="0">
              <a:buNone/>
            </a:pPr>
            <a:r>
              <a:rPr lang="en-US" sz="1400" b="1" dirty="0">
                <a:solidFill>
                  <a:srgbClr val="1E7A5A"/>
                </a:solidFill>
                <a:latin typeface="Meiryo" pitchFamily="34" charset="0"/>
                <a:ea typeface="Meiryo" pitchFamily="34" charset="-122"/>
                <a:cs typeface="Meiryo" pitchFamily="34" charset="-120"/>
              </a:rPr>
              <a:t>これからの発想</a:t>
            </a:r>
            <a:endParaRPr lang="en-US" sz="1400" dirty="0"/>
          </a:p>
        </p:txBody>
      </p:sp>
      <p:sp>
        <p:nvSpPr>
          <p:cNvPr id="12" name="Text 10"/>
          <p:cNvSpPr/>
          <p:nvPr/>
        </p:nvSpPr>
        <p:spPr>
          <a:xfrm>
            <a:off x="7269480" y="4709160"/>
            <a:ext cx="420624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ピークの4〜5時間だけ働く人を配置</a:t>
            </a:r>
            <a:endParaRPr lang="en-US" sz="1600" dirty="0"/>
          </a:p>
        </p:txBody>
      </p:sp>
      <p:sp>
        <p:nvSpPr>
          <p:cNvPr id="13" name="Text 11"/>
          <p:cNvSpPr/>
          <p:nvPr/>
        </p:nvSpPr>
        <p:spPr>
          <a:xfrm>
            <a:off x="7269480" y="5440680"/>
            <a:ext cx="4114800" cy="457200"/>
          </a:xfrm>
          <a:prstGeom prst="rect">
            <a:avLst/>
          </a:prstGeom>
          <a:noFill/>
          <a:ln/>
        </p:spPr>
        <p:txBody>
          <a:bodyPr wrap="square" rtlCol="0" anchor="ctr"/>
          <a:lstStyle/>
          <a:p>
            <a:pPr indent="0" marL="0">
              <a:buNone/>
            </a:pPr>
            <a:r>
              <a:rPr lang="en-US" sz="1300" dirty="0">
                <a:solidFill>
                  <a:srgbClr val="1E7A5A"/>
                </a:solidFill>
                <a:latin typeface="Meiryo" pitchFamily="34" charset="0"/>
                <a:ea typeface="Meiryo" pitchFamily="34" charset="-122"/>
                <a:cs typeface="Meiryo" pitchFamily="34" charset="-120"/>
              </a:rPr>
              <a:t>→ 必要な時間だけに人件費を集中でき、合理的</a:t>
            </a:r>
            <a:endParaRPr lang="en-US" sz="1300" dirty="0"/>
          </a:p>
        </p:txBody>
      </p:sp>
      <p:sp>
        <p:nvSpPr>
          <p:cNvPr id="14" name="Text 1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5" name="Text 1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短時間勤務者の基本設計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基本イメージ ―「決定」と「検討中」を分けて進める</a:t>
            </a:r>
            <a:endParaRPr lang="en-US" sz="3000" dirty="0"/>
          </a:p>
        </p:txBody>
      </p:sp>
      <p:sp>
        <p:nvSpPr>
          <p:cNvPr id="4" name="Shape 2"/>
          <p:cNvSpPr/>
          <p:nvPr/>
        </p:nvSpPr>
        <p:spPr>
          <a:xfrm>
            <a:off x="548640" y="2194560"/>
            <a:ext cx="6309360" cy="3749040"/>
          </a:xfrm>
          <a:prstGeom prst="roundRect">
            <a:avLst>
              <a:gd name="adj" fmla="val 1951"/>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22960" y="2377440"/>
            <a:ext cx="5486400" cy="365760"/>
          </a:xfrm>
          <a:prstGeom prst="rect">
            <a:avLst/>
          </a:prstGeom>
          <a:noFill/>
          <a:ln/>
        </p:spPr>
        <p:txBody>
          <a:bodyPr wrap="square" rtlCol="0" anchor="ctr"/>
          <a:lstStyle/>
          <a:p>
            <a:pPr indent="0" marL="0">
              <a:buNone/>
            </a:pPr>
            <a:r>
              <a:rPr lang="en-US" sz="1500" b="1" dirty="0">
                <a:solidFill>
                  <a:srgbClr val="2E5AAC"/>
                </a:solidFill>
                <a:latin typeface="Meiryo" pitchFamily="34" charset="0"/>
                <a:ea typeface="Meiryo" pitchFamily="34" charset="-122"/>
                <a:cs typeface="Meiryo" pitchFamily="34" charset="-120"/>
              </a:rPr>
              <a:t>決定・想定している方向</a:t>
            </a:r>
            <a:endParaRPr lang="en-US" sz="1500" dirty="0"/>
          </a:p>
        </p:txBody>
      </p:sp>
      <p:sp>
        <p:nvSpPr>
          <p:cNvPr id="6" name="Text 4"/>
          <p:cNvSpPr/>
          <p:nvPr/>
        </p:nvSpPr>
        <p:spPr>
          <a:xfrm>
            <a:off x="868680" y="2880360"/>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勤務時間</a:t>
            </a:r>
            <a:endParaRPr lang="en-US" sz="1350" dirty="0"/>
          </a:p>
        </p:txBody>
      </p:sp>
      <p:sp>
        <p:nvSpPr>
          <p:cNvPr id="7" name="Text 5"/>
          <p:cNvSpPr/>
          <p:nvPr/>
        </p:nvSpPr>
        <p:spPr>
          <a:xfrm>
            <a:off x="2514600" y="2880360"/>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1日 4〜5時間程度を基本</a:t>
            </a:r>
            <a:endParaRPr lang="en-US" sz="1350" dirty="0"/>
          </a:p>
        </p:txBody>
      </p:sp>
      <p:sp>
        <p:nvSpPr>
          <p:cNvPr id="8" name="Shape 6"/>
          <p:cNvSpPr/>
          <p:nvPr/>
        </p:nvSpPr>
        <p:spPr>
          <a:xfrm>
            <a:off x="868680" y="3447288"/>
            <a:ext cx="5852160" cy="0"/>
          </a:xfrm>
          <a:prstGeom prst="line">
            <a:avLst/>
          </a:prstGeom>
          <a:noFill/>
          <a:ln w="9525">
            <a:solidFill>
              <a:srgbClr val="C7D3E8"/>
            </a:solidFill>
            <a:prstDash val="solid"/>
          </a:ln>
        </p:spPr>
      </p:sp>
      <p:sp>
        <p:nvSpPr>
          <p:cNvPr id="9" name="Text 7"/>
          <p:cNvSpPr/>
          <p:nvPr/>
        </p:nvSpPr>
        <p:spPr>
          <a:xfrm>
            <a:off x="868680" y="3538728"/>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勤務日数</a:t>
            </a:r>
            <a:endParaRPr lang="en-US" sz="1350" dirty="0"/>
          </a:p>
        </p:txBody>
      </p:sp>
      <p:sp>
        <p:nvSpPr>
          <p:cNvPr id="10" name="Text 8"/>
          <p:cNvSpPr/>
          <p:nvPr/>
        </p:nvSpPr>
        <p:spPr>
          <a:xfrm>
            <a:off x="2514600" y="3538728"/>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週3日程度〜／原則 週20時間未満</a:t>
            </a:r>
            <a:endParaRPr lang="en-US" sz="1350" dirty="0"/>
          </a:p>
        </p:txBody>
      </p:sp>
      <p:sp>
        <p:nvSpPr>
          <p:cNvPr id="11" name="Shape 9"/>
          <p:cNvSpPr/>
          <p:nvPr/>
        </p:nvSpPr>
        <p:spPr>
          <a:xfrm>
            <a:off x="868680" y="4105656"/>
            <a:ext cx="5852160" cy="0"/>
          </a:xfrm>
          <a:prstGeom prst="line">
            <a:avLst/>
          </a:prstGeom>
          <a:noFill/>
          <a:ln w="9525">
            <a:solidFill>
              <a:srgbClr val="C7D3E8"/>
            </a:solidFill>
            <a:prstDash val="solid"/>
          </a:ln>
        </p:spPr>
      </p:sp>
      <p:sp>
        <p:nvSpPr>
          <p:cNvPr id="12" name="Text 10"/>
          <p:cNvSpPr/>
          <p:nvPr/>
        </p:nvSpPr>
        <p:spPr>
          <a:xfrm>
            <a:off x="868680" y="4197096"/>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配置</a:t>
            </a:r>
            <a:endParaRPr lang="en-US" sz="1350" dirty="0"/>
          </a:p>
        </p:txBody>
      </p:sp>
      <p:sp>
        <p:nvSpPr>
          <p:cNvPr id="13" name="Text 11"/>
          <p:cNvSpPr/>
          <p:nvPr/>
        </p:nvSpPr>
        <p:spPr>
          <a:xfrm>
            <a:off x="2514600" y="4197096"/>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各支店のピーク時間帯を中心に</a:t>
            </a:r>
            <a:endParaRPr lang="en-US" sz="1350" dirty="0"/>
          </a:p>
        </p:txBody>
      </p:sp>
      <p:sp>
        <p:nvSpPr>
          <p:cNvPr id="14" name="Shape 12"/>
          <p:cNvSpPr/>
          <p:nvPr/>
        </p:nvSpPr>
        <p:spPr>
          <a:xfrm>
            <a:off x="868680" y="4764024"/>
            <a:ext cx="5852160" cy="0"/>
          </a:xfrm>
          <a:prstGeom prst="line">
            <a:avLst/>
          </a:prstGeom>
          <a:noFill/>
          <a:ln w="9525">
            <a:solidFill>
              <a:srgbClr val="C7D3E8"/>
            </a:solidFill>
            <a:prstDash val="solid"/>
          </a:ln>
        </p:spPr>
      </p:sp>
      <p:sp>
        <p:nvSpPr>
          <p:cNvPr id="15" name="Text 13"/>
          <p:cNvSpPr/>
          <p:nvPr/>
        </p:nvSpPr>
        <p:spPr>
          <a:xfrm>
            <a:off x="868680" y="4855464"/>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対象</a:t>
            </a:r>
            <a:endParaRPr lang="en-US" sz="1350" dirty="0"/>
          </a:p>
        </p:txBody>
      </p:sp>
      <p:sp>
        <p:nvSpPr>
          <p:cNvPr id="16" name="Text 14"/>
          <p:cNvSpPr/>
          <p:nvPr/>
        </p:nvSpPr>
        <p:spPr>
          <a:xfrm>
            <a:off x="2514600" y="4855464"/>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経験者を積極採用、一部 未経験者も</a:t>
            </a:r>
            <a:endParaRPr lang="en-US" sz="1350" dirty="0"/>
          </a:p>
        </p:txBody>
      </p:sp>
      <p:sp>
        <p:nvSpPr>
          <p:cNvPr id="17" name="Shape 15"/>
          <p:cNvSpPr/>
          <p:nvPr/>
        </p:nvSpPr>
        <p:spPr>
          <a:xfrm>
            <a:off x="868680" y="5422392"/>
            <a:ext cx="5852160" cy="0"/>
          </a:xfrm>
          <a:prstGeom prst="line">
            <a:avLst/>
          </a:prstGeom>
          <a:noFill/>
          <a:ln w="9525">
            <a:solidFill>
              <a:srgbClr val="C7D3E8"/>
            </a:solidFill>
            <a:prstDash val="solid"/>
          </a:ln>
        </p:spPr>
      </p:sp>
      <p:sp>
        <p:nvSpPr>
          <p:cNvPr id="18" name="Shape 16"/>
          <p:cNvSpPr/>
          <p:nvPr/>
        </p:nvSpPr>
        <p:spPr>
          <a:xfrm>
            <a:off x="7040880" y="2194560"/>
            <a:ext cx="4599432" cy="3749040"/>
          </a:xfrm>
          <a:prstGeom prst="roundRect">
            <a:avLst>
              <a:gd name="adj" fmla="val 1951"/>
            </a:avLst>
          </a:prstGeom>
          <a:solidFill>
            <a:srgbClr val="F6EEDC"/>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9" name="Text 17"/>
          <p:cNvSpPr/>
          <p:nvPr/>
        </p:nvSpPr>
        <p:spPr>
          <a:xfrm>
            <a:off x="7315200" y="2377440"/>
            <a:ext cx="4114800" cy="365760"/>
          </a:xfrm>
          <a:prstGeom prst="rect">
            <a:avLst/>
          </a:prstGeom>
          <a:noFill/>
          <a:ln/>
        </p:spPr>
        <p:txBody>
          <a:bodyPr wrap="square" rtlCol="0" anchor="ctr"/>
          <a:lstStyle/>
          <a:p>
            <a:pPr indent="0" marL="0">
              <a:buNone/>
            </a:pPr>
            <a:r>
              <a:rPr lang="en-US" sz="1500" b="1" dirty="0">
                <a:solidFill>
                  <a:srgbClr val="B8891B"/>
                </a:solidFill>
                <a:latin typeface="Meiryo" pitchFamily="34" charset="0"/>
                <a:ea typeface="Meiryo" pitchFamily="34" charset="-122"/>
                <a:cs typeface="Meiryo" pitchFamily="34" charset="-120"/>
              </a:rPr>
              <a:t>検討中（整理を進めている）</a:t>
            </a:r>
            <a:endParaRPr lang="en-US" sz="1500" dirty="0"/>
          </a:p>
        </p:txBody>
      </p:sp>
      <p:sp>
        <p:nvSpPr>
          <p:cNvPr id="20" name="Text 18"/>
          <p:cNvSpPr/>
          <p:nvPr/>
        </p:nvSpPr>
        <p:spPr>
          <a:xfrm>
            <a:off x="7360920" y="2971800"/>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教育・本社研修のあり方</a:t>
            </a:r>
            <a:endParaRPr lang="en-US" sz="1400" dirty="0"/>
          </a:p>
        </p:txBody>
      </p:sp>
      <p:sp>
        <p:nvSpPr>
          <p:cNvPr id="21" name="Text 19"/>
          <p:cNvSpPr/>
          <p:nvPr/>
        </p:nvSpPr>
        <p:spPr>
          <a:xfrm>
            <a:off x="7360920" y="3630168"/>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交通費の取扱い</a:t>
            </a:r>
            <a:endParaRPr lang="en-US" sz="1400" dirty="0"/>
          </a:p>
        </p:txBody>
      </p:sp>
      <p:sp>
        <p:nvSpPr>
          <p:cNvPr id="22" name="Text 20"/>
          <p:cNvSpPr/>
          <p:nvPr/>
        </p:nvSpPr>
        <p:spPr>
          <a:xfrm>
            <a:off x="7360920" y="4288536"/>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資格付与・既存資格の確認</a:t>
            </a:r>
            <a:endParaRPr lang="en-US" sz="1400" dirty="0"/>
          </a:p>
        </p:txBody>
      </p:sp>
      <p:sp>
        <p:nvSpPr>
          <p:cNvPr id="23" name="Text 21"/>
          <p:cNvSpPr/>
          <p:nvPr/>
        </p:nvSpPr>
        <p:spPr>
          <a:xfrm>
            <a:off x="7360920" y="4946904"/>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シフトへの組込み</a:t>
            </a:r>
            <a:endParaRPr lang="en-US" sz="1400" dirty="0"/>
          </a:p>
        </p:txBody>
      </p:sp>
      <p:sp>
        <p:nvSpPr>
          <p:cNvPr id="24" name="Text 22"/>
          <p:cNvSpPr/>
          <p:nvPr/>
        </p:nvSpPr>
        <p:spPr>
          <a:xfrm>
            <a:off x="566928" y="6080760"/>
            <a:ext cx="11064240" cy="320040"/>
          </a:xfrm>
          <a:prstGeom prst="rect">
            <a:avLst/>
          </a:prstGeom>
          <a:noFill/>
          <a:ln/>
        </p:spPr>
        <p:txBody>
          <a:bodyPr wrap="square" rtlCol="0" anchor="ctr"/>
          <a:lstStyle/>
          <a:p>
            <a:pPr indent="0" marL="0">
              <a:buNone/>
            </a:pPr>
            <a:r>
              <a:rPr lang="en-US" sz="1100" i="1" dirty="0">
                <a:solidFill>
                  <a:srgbClr val="6B7686"/>
                </a:solidFill>
                <a:latin typeface="Meiryo" pitchFamily="34" charset="0"/>
                <a:ea typeface="Meiryo" pitchFamily="34" charset="-122"/>
                <a:cs typeface="Meiryo" pitchFamily="34" charset="-120"/>
              </a:rPr>
              <a:t>※ CKIN・GATE・ARR 等、資格・経験に応じた業務へ配置。制度の詳細は決定事項と検討事項を分けながら進めます。</a:t>
            </a:r>
            <a:endParaRPr lang="en-US" sz="1100" dirty="0"/>
          </a:p>
        </p:txBody>
      </p:sp>
      <p:sp>
        <p:nvSpPr>
          <p:cNvPr id="25" name="Text 23"/>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6" name="Text 24"/>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現場での活用方法</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「何人採るか」から考えない</a:t>
            </a:r>
            <a:endParaRPr lang="en-US" sz="3000" dirty="0"/>
          </a:p>
        </p:txBody>
      </p:sp>
      <p:sp>
        <p:nvSpPr>
          <p:cNvPr id="4" name="Text 2"/>
          <p:cNvSpPr/>
          <p:nvPr/>
        </p:nvSpPr>
        <p:spPr>
          <a:xfrm>
            <a:off x="548640" y="1600200"/>
            <a:ext cx="10789920" cy="365760"/>
          </a:xfrm>
          <a:prstGeom prst="rect">
            <a:avLst/>
          </a:prstGeom>
          <a:noFill/>
          <a:ln/>
        </p:spPr>
        <p:txBody>
          <a:bodyPr wrap="square" rtlCol="0" anchor="ctr"/>
          <a:lstStyle/>
          <a:p>
            <a:pPr indent="0" marL="0">
              <a:buNone/>
            </a:pPr>
            <a:r>
              <a:rPr lang="en-US" sz="1500" i="1" dirty="0">
                <a:solidFill>
                  <a:srgbClr val="CADCFC"/>
                </a:solidFill>
                <a:latin typeface="Meiryo" pitchFamily="34" charset="0"/>
                <a:ea typeface="Meiryo" pitchFamily="34" charset="-122"/>
                <a:cs typeface="Meiryo" pitchFamily="34" charset="-120"/>
              </a:rPr>
              <a:t>採用人数を先に決めず、必要な「時間 × 人数」から逆算する</a:t>
            </a:r>
            <a:endParaRPr lang="en-US" sz="1500" dirty="0"/>
          </a:p>
        </p:txBody>
      </p:sp>
      <p:sp>
        <p:nvSpPr>
          <p:cNvPr id="5" name="Shape 3"/>
          <p:cNvSpPr/>
          <p:nvPr/>
        </p:nvSpPr>
        <p:spPr>
          <a:xfrm>
            <a:off x="548640"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6" name="Shape 4"/>
          <p:cNvSpPr/>
          <p:nvPr/>
        </p:nvSpPr>
        <p:spPr>
          <a:xfrm>
            <a:off x="548640" y="2651760"/>
            <a:ext cx="1365069" cy="1554480"/>
          </a:xfrm>
          <a:prstGeom prst="rect">
            <a:avLst/>
          </a:prstGeom>
          <a:solidFill>
            <a:srgbClr val="2E4270"/>
          </a:solidFill>
          <a:ln/>
        </p:spPr>
      </p:sp>
      <p:sp>
        <p:nvSpPr>
          <p:cNvPr id="7" name="Text 5"/>
          <p:cNvSpPr/>
          <p:nvPr/>
        </p:nvSpPr>
        <p:spPr>
          <a:xfrm>
            <a:off x="640080"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1</a:t>
            </a:r>
            <a:endParaRPr lang="en-US" sz="1200" dirty="0"/>
          </a:p>
        </p:txBody>
      </p:sp>
      <p:sp>
        <p:nvSpPr>
          <p:cNvPr id="8" name="Text 6"/>
          <p:cNvSpPr/>
          <p:nvPr/>
        </p:nvSpPr>
        <p:spPr>
          <a:xfrm>
            <a:off x="594360"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Flight</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Schedule</a:t>
            </a:r>
            <a:endParaRPr lang="en-US" sz="1350" dirty="0"/>
          </a:p>
        </p:txBody>
      </p:sp>
      <p:sp>
        <p:nvSpPr>
          <p:cNvPr id="9" name="Text 7"/>
          <p:cNvSpPr/>
          <p:nvPr/>
        </p:nvSpPr>
        <p:spPr>
          <a:xfrm>
            <a:off x="18954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0" name="Shape 8"/>
          <p:cNvSpPr/>
          <p:nvPr/>
        </p:nvSpPr>
        <p:spPr>
          <a:xfrm>
            <a:off x="21697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1" name="Shape 9"/>
          <p:cNvSpPr/>
          <p:nvPr/>
        </p:nvSpPr>
        <p:spPr>
          <a:xfrm>
            <a:off x="2169741" y="2651760"/>
            <a:ext cx="1365069" cy="1554480"/>
          </a:xfrm>
          <a:prstGeom prst="rect">
            <a:avLst/>
          </a:prstGeom>
          <a:solidFill>
            <a:srgbClr val="2E4270"/>
          </a:solidFill>
          <a:ln/>
        </p:spPr>
      </p:sp>
      <p:sp>
        <p:nvSpPr>
          <p:cNvPr id="12" name="Text 10"/>
          <p:cNvSpPr/>
          <p:nvPr/>
        </p:nvSpPr>
        <p:spPr>
          <a:xfrm>
            <a:off x="22611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2</a:t>
            </a:r>
            <a:endParaRPr lang="en-US" sz="1200" dirty="0"/>
          </a:p>
        </p:txBody>
      </p:sp>
      <p:sp>
        <p:nvSpPr>
          <p:cNvPr id="13" name="Text 11"/>
          <p:cNvSpPr/>
          <p:nvPr/>
        </p:nvSpPr>
        <p:spPr>
          <a:xfrm>
            <a:off x="22154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ポジション</a:t>
            </a:r>
            <a:endParaRPr lang="en-US" sz="1350" dirty="0"/>
          </a:p>
        </p:txBody>
      </p:sp>
      <p:sp>
        <p:nvSpPr>
          <p:cNvPr id="14" name="Text 12"/>
          <p:cNvSpPr/>
          <p:nvPr/>
        </p:nvSpPr>
        <p:spPr>
          <a:xfrm>
            <a:off x="35165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5" name="Shape 13"/>
          <p:cNvSpPr/>
          <p:nvPr/>
        </p:nvSpPr>
        <p:spPr>
          <a:xfrm>
            <a:off x="37908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6" name="Shape 14"/>
          <p:cNvSpPr/>
          <p:nvPr/>
        </p:nvSpPr>
        <p:spPr>
          <a:xfrm>
            <a:off x="3790841" y="2651760"/>
            <a:ext cx="1365069" cy="1554480"/>
          </a:xfrm>
          <a:prstGeom prst="rect">
            <a:avLst/>
          </a:prstGeom>
          <a:solidFill>
            <a:srgbClr val="2E4270"/>
          </a:solidFill>
          <a:ln/>
        </p:spPr>
      </p:sp>
      <p:sp>
        <p:nvSpPr>
          <p:cNvPr id="17" name="Text 15"/>
          <p:cNvSpPr/>
          <p:nvPr/>
        </p:nvSpPr>
        <p:spPr>
          <a:xfrm>
            <a:off x="38822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3</a:t>
            </a:r>
            <a:endParaRPr lang="en-US" sz="1200" dirty="0"/>
          </a:p>
        </p:txBody>
      </p:sp>
      <p:sp>
        <p:nvSpPr>
          <p:cNvPr id="18" name="Text 16"/>
          <p:cNvSpPr/>
          <p:nvPr/>
        </p:nvSpPr>
        <p:spPr>
          <a:xfrm>
            <a:off x="38365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必要人数</a:t>
            </a:r>
            <a:endParaRPr lang="en-US" sz="1350" dirty="0"/>
          </a:p>
        </p:txBody>
      </p:sp>
      <p:sp>
        <p:nvSpPr>
          <p:cNvPr id="19" name="Text 17"/>
          <p:cNvSpPr/>
          <p:nvPr/>
        </p:nvSpPr>
        <p:spPr>
          <a:xfrm>
            <a:off x="51376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0" name="Shape 18"/>
          <p:cNvSpPr/>
          <p:nvPr/>
        </p:nvSpPr>
        <p:spPr>
          <a:xfrm>
            <a:off x="54119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21" name="Shape 19"/>
          <p:cNvSpPr/>
          <p:nvPr/>
        </p:nvSpPr>
        <p:spPr>
          <a:xfrm>
            <a:off x="5411942" y="2651760"/>
            <a:ext cx="1365069" cy="1554480"/>
          </a:xfrm>
          <a:prstGeom prst="rect">
            <a:avLst/>
          </a:prstGeom>
          <a:solidFill>
            <a:srgbClr val="2E4270"/>
          </a:solidFill>
          <a:ln/>
        </p:spPr>
      </p:sp>
      <p:sp>
        <p:nvSpPr>
          <p:cNvPr id="22" name="Text 20"/>
          <p:cNvSpPr/>
          <p:nvPr/>
        </p:nvSpPr>
        <p:spPr>
          <a:xfrm>
            <a:off x="55033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4</a:t>
            </a:r>
            <a:endParaRPr lang="en-US" sz="1200" dirty="0"/>
          </a:p>
        </p:txBody>
      </p:sp>
      <p:sp>
        <p:nvSpPr>
          <p:cNvPr id="23" name="Text 21"/>
          <p:cNvSpPr/>
          <p:nvPr/>
        </p:nvSpPr>
        <p:spPr>
          <a:xfrm>
            <a:off x="54576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時間帯</a:t>
            </a:r>
            <a:endParaRPr lang="en-US" sz="1350" dirty="0"/>
          </a:p>
        </p:txBody>
      </p:sp>
      <p:sp>
        <p:nvSpPr>
          <p:cNvPr id="24" name="Text 22"/>
          <p:cNvSpPr/>
          <p:nvPr/>
        </p:nvSpPr>
        <p:spPr>
          <a:xfrm>
            <a:off x="67587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5" name="Shape 23"/>
          <p:cNvSpPr/>
          <p:nvPr/>
        </p:nvSpPr>
        <p:spPr>
          <a:xfrm>
            <a:off x="70330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26" name="Shape 24"/>
          <p:cNvSpPr/>
          <p:nvPr/>
        </p:nvSpPr>
        <p:spPr>
          <a:xfrm>
            <a:off x="7033042" y="2651760"/>
            <a:ext cx="1365069" cy="1554480"/>
          </a:xfrm>
          <a:prstGeom prst="rect">
            <a:avLst/>
          </a:prstGeom>
          <a:solidFill>
            <a:srgbClr val="2E4270"/>
          </a:solidFill>
          <a:ln/>
        </p:spPr>
      </p:sp>
      <p:sp>
        <p:nvSpPr>
          <p:cNvPr id="27" name="Text 25"/>
          <p:cNvSpPr/>
          <p:nvPr/>
        </p:nvSpPr>
        <p:spPr>
          <a:xfrm>
            <a:off x="71244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5</a:t>
            </a:r>
            <a:endParaRPr lang="en-US" sz="1200" dirty="0"/>
          </a:p>
        </p:txBody>
      </p:sp>
      <p:sp>
        <p:nvSpPr>
          <p:cNvPr id="28" name="Text 26"/>
          <p:cNvSpPr/>
          <p:nvPr/>
        </p:nvSpPr>
        <p:spPr>
          <a:xfrm>
            <a:off x="70787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既存在籍で</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カバー</a:t>
            </a:r>
            <a:endParaRPr lang="en-US" sz="1350" dirty="0"/>
          </a:p>
        </p:txBody>
      </p:sp>
      <p:sp>
        <p:nvSpPr>
          <p:cNvPr id="29" name="Text 27"/>
          <p:cNvSpPr/>
          <p:nvPr/>
        </p:nvSpPr>
        <p:spPr>
          <a:xfrm>
            <a:off x="83798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0" name="Shape 28"/>
          <p:cNvSpPr/>
          <p:nvPr/>
        </p:nvSpPr>
        <p:spPr>
          <a:xfrm>
            <a:off x="8654143"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31" name="Shape 29"/>
          <p:cNvSpPr/>
          <p:nvPr/>
        </p:nvSpPr>
        <p:spPr>
          <a:xfrm>
            <a:off x="8654143" y="2651760"/>
            <a:ext cx="1365069" cy="1554480"/>
          </a:xfrm>
          <a:prstGeom prst="rect">
            <a:avLst/>
          </a:prstGeom>
          <a:solidFill>
            <a:srgbClr val="2E4270"/>
          </a:solidFill>
          <a:ln/>
        </p:spPr>
      </p:sp>
      <p:sp>
        <p:nvSpPr>
          <p:cNvPr id="32" name="Text 30"/>
          <p:cNvSpPr/>
          <p:nvPr/>
        </p:nvSpPr>
        <p:spPr>
          <a:xfrm>
            <a:off x="8745583"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6</a:t>
            </a:r>
            <a:endParaRPr lang="en-US" sz="1200" dirty="0"/>
          </a:p>
        </p:txBody>
      </p:sp>
      <p:sp>
        <p:nvSpPr>
          <p:cNvPr id="33" name="Text 31"/>
          <p:cNvSpPr/>
          <p:nvPr/>
        </p:nvSpPr>
        <p:spPr>
          <a:xfrm>
            <a:off x="86998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不足する</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出面</a:t>
            </a:r>
            <a:endParaRPr lang="en-US" sz="1350" dirty="0"/>
          </a:p>
        </p:txBody>
      </p:sp>
      <p:sp>
        <p:nvSpPr>
          <p:cNvPr id="34" name="Text 32"/>
          <p:cNvSpPr/>
          <p:nvPr/>
        </p:nvSpPr>
        <p:spPr>
          <a:xfrm>
            <a:off x="100009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5" name="Shape 33"/>
          <p:cNvSpPr/>
          <p:nvPr/>
        </p:nvSpPr>
        <p:spPr>
          <a:xfrm>
            <a:off x="10275243" y="2651760"/>
            <a:ext cx="1365069" cy="1554480"/>
          </a:xfrm>
          <a:prstGeom prst="roundRect">
            <a:avLst>
              <a:gd name="adj" fmla="val 5359"/>
            </a:avLst>
          </a:prstGeom>
          <a:solidFill>
            <a:srgbClr val="B8891B"/>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36" name="Shape 34"/>
          <p:cNvSpPr/>
          <p:nvPr/>
        </p:nvSpPr>
        <p:spPr>
          <a:xfrm>
            <a:off x="10275243" y="2651760"/>
            <a:ext cx="1365069" cy="1554480"/>
          </a:xfrm>
          <a:prstGeom prst="rect">
            <a:avLst/>
          </a:prstGeom>
          <a:solidFill>
            <a:srgbClr val="B8891B"/>
          </a:solidFill>
          <a:ln/>
        </p:spPr>
      </p:sp>
      <p:sp>
        <p:nvSpPr>
          <p:cNvPr id="37" name="Text 35"/>
          <p:cNvSpPr/>
          <p:nvPr/>
        </p:nvSpPr>
        <p:spPr>
          <a:xfrm>
            <a:off x="10366683" y="2761488"/>
            <a:ext cx="1182189" cy="320040"/>
          </a:xfrm>
          <a:prstGeom prst="rect">
            <a:avLst/>
          </a:prstGeom>
          <a:noFill/>
          <a:ln/>
        </p:spPr>
        <p:txBody>
          <a:bodyPr wrap="square" rtlCol="0" anchor="ctr"/>
          <a:lstStyle/>
          <a:p>
            <a:pPr algn="ctr" indent="0" marL="0">
              <a:buNone/>
            </a:pPr>
            <a:r>
              <a:rPr lang="en-US" sz="1200" b="1" dirty="0">
                <a:solidFill>
                  <a:srgbClr val="5A430A"/>
                </a:solidFill>
                <a:latin typeface="Meiryo" pitchFamily="34" charset="0"/>
                <a:ea typeface="Meiryo" pitchFamily="34" charset="-122"/>
                <a:cs typeface="Meiryo" pitchFamily="34" charset="-120"/>
              </a:rPr>
              <a:t>7</a:t>
            </a:r>
            <a:endParaRPr lang="en-US" sz="1200" dirty="0"/>
          </a:p>
        </p:txBody>
      </p:sp>
      <p:sp>
        <p:nvSpPr>
          <p:cNvPr id="38" name="Text 36"/>
          <p:cNvSpPr/>
          <p:nvPr/>
        </p:nvSpPr>
        <p:spPr>
          <a:xfrm>
            <a:off x="103209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1B2A4A"/>
                </a:solidFill>
                <a:latin typeface="Meiryo" pitchFamily="34" charset="0"/>
                <a:ea typeface="Meiryo" pitchFamily="34" charset="-122"/>
                <a:cs typeface="Meiryo" pitchFamily="34" charset="-120"/>
              </a:rPr>
              <a:t>採用人数</a:t>
            </a:r>
            <a:endParaRPr lang="en-US" sz="1350" dirty="0"/>
          </a:p>
        </p:txBody>
      </p:sp>
      <p:sp>
        <p:nvSpPr>
          <p:cNvPr id="39" name="Shape 37"/>
          <p:cNvSpPr/>
          <p:nvPr/>
        </p:nvSpPr>
        <p:spPr>
          <a:xfrm>
            <a:off x="548640" y="4754880"/>
            <a:ext cx="11091672" cy="1280160"/>
          </a:xfrm>
          <a:prstGeom prst="roundRect">
            <a:avLst>
              <a:gd name="adj" fmla="val 5714"/>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40" name="Shape 38"/>
          <p:cNvSpPr/>
          <p:nvPr/>
        </p:nvSpPr>
        <p:spPr>
          <a:xfrm>
            <a:off x="548640" y="4754880"/>
            <a:ext cx="11091672" cy="1280160"/>
          </a:xfrm>
          <a:prstGeom prst="rect">
            <a:avLst/>
          </a:prstGeom>
          <a:solidFill>
            <a:srgbClr val="22345B"/>
          </a:solidFill>
          <a:ln/>
        </p:spPr>
      </p:sp>
      <p:sp>
        <p:nvSpPr>
          <p:cNvPr id="41" name="Text 39"/>
          <p:cNvSpPr/>
          <p:nvPr/>
        </p:nvSpPr>
        <p:spPr>
          <a:xfrm>
            <a:off x="868680" y="4937760"/>
            <a:ext cx="10515600" cy="502920"/>
          </a:xfrm>
          <a:prstGeom prst="rect">
            <a:avLst/>
          </a:prstGeom>
          <a:noFill/>
          <a:ln/>
        </p:spPr>
        <p:txBody>
          <a:bodyPr wrap="square" rtlCol="0" anchor="ctr"/>
          <a:lstStyle/>
          <a:p>
            <a:pPr indent="0" marL="0">
              <a:buNone/>
            </a:pPr>
            <a:r>
              <a:rPr lang="en-US" sz="1700" b="1" dirty="0">
                <a:solidFill>
                  <a:srgbClr val="FF9E93"/>
                </a:solidFill>
                <a:latin typeface="Meiryo" pitchFamily="34" charset="0"/>
                <a:ea typeface="Meiryo" pitchFamily="34" charset="-122"/>
                <a:cs typeface="Meiryo" pitchFamily="34" charset="-120"/>
              </a:rPr>
              <a:t>× 「うちは5人ほしい」   </a:t>
            </a:r>
            <a:pPr indent="0" marL="0">
              <a:buNone/>
            </a:pPr>
            <a:r>
              <a:rPr lang="en-US" sz="1600" dirty="0">
                <a:solidFill>
                  <a:srgbClr val="CADCFC"/>
                </a:solidFill>
                <a:latin typeface="Meiryo" pitchFamily="34" charset="0"/>
                <a:ea typeface="Meiryo" pitchFamily="34" charset="-122"/>
                <a:cs typeface="Meiryo" pitchFamily="34" charset="-120"/>
              </a:rPr>
              <a:t>→   </a:t>
            </a:r>
            <a:pPr indent="0" marL="0">
              <a:buNone/>
            </a:pPr>
            <a:r>
              <a:rPr lang="en-US" sz="1700" b="1" dirty="0">
                <a:solidFill>
                  <a:srgbClr val="9FE3C4"/>
                </a:solidFill>
                <a:latin typeface="Meiryo" pitchFamily="34" charset="0"/>
                <a:ea typeface="Meiryo" pitchFamily="34" charset="-122"/>
                <a:cs typeface="Meiryo" pitchFamily="34" charset="-120"/>
              </a:rPr>
              <a:t>○ 「6〜10時に3人、7〜12時に2人 不足」</a:t>
            </a:r>
            <a:endParaRPr lang="en-US" sz="1700" dirty="0"/>
          </a:p>
        </p:txBody>
      </p:sp>
      <p:sp>
        <p:nvSpPr>
          <p:cNvPr id="42" name="Text 40"/>
          <p:cNvSpPr/>
          <p:nvPr/>
        </p:nvSpPr>
        <p:spPr>
          <a:xfrm>
            <a:off x="868680" y="5440680"/>
            <a:ext cx="10424160" cy="457200"/>
          </a:xfrm>
          <a:prstGeom prst="rect">
            <a:avLst/>
          </a:prstGeom>
          <a:noFill/>
          <a:ln/>
        </p:spPr>
        <p:txBody>
          <a:bodyPr wrap="square" rtlCol="0" anchor="ctr"/>
          <a:lstStyle/>
          <a:p>
            <a:pPr indent="0" marL="0">
              <a:buNone/>
            </a:pPr>
            <a:r>
              <a:rPr lang="en-US" sz="1300" dirty="0">
                <a:solidFill>
                  <a:srgbClr val="E5ECF7"/>
                </a:solidFill>
                <a:latin typeface="Meiryo" pitchFamily="34" charset="0"/>
                <a:ea typeface="Meiryo" pitchFamily="34" charset="-122"/>
                <a:cs typeface="Meiryo" pitchFamily="34" charset="-120"/>
              </a:rPr>
              <a:t>この形で見ていただかないと、人件費が全く変わります。現場と人事が一緒に作らないと、この施策は成功しません。</a:t>
            </a:r>
            <a:endParaRPr lang="en-US" sz="1300" dirty="0"/>
          </a:p>
        </p:txBody>
      </p:sp>
      <p:sp>
        <p:nvSpPr>
          <p:cNvPr id="43" name="Text 41"/>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44" name="Text 42"/>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正社員採用との関係</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正社員を否定しない。役割を分けて組み合わせる</a:t>
            </a:r>
            <a:endParaRPr lang="en-US" sz="3000" dirty="0"/>
          </a:p>
        </p:txBody>
      </p:sp>
      <p:sp>
        <p:nvSpPr>
          <p:cNvPr id="4" name="Shape 2"/>
          <p:cNvSpPr/>
          <p:nvPr/>
        </p:nvSpPr>
        <p:spPr>
          <a:xfrm>
            <a:off x="548640" y="2240280"/>
            <a:ext cx="5486400" cy="3657600"/>
          </a:xfrm>
          <a:prstGeom prst="roundRect">
            <a:avLst>
              <a:gd name="adj" fmla="val 2000"/>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Shape 3"/>
          <p:cNvSpPr/>
          <p:nvPr/>
        </p:nvSpPr>
        <p:spPr>
          <a:xfrm>
            <a:off x="822960" y="2514600"/>
            <a:ext cx="457200" cy="457200"/>
          </a:xfrm>
          <a:prstGeom prst="roundRect">
            <a:avLst>
              <a:gd name="adj" fmla="val 50000"/>
            </a:avLst>
          </a:prstGeom>
          <a:solidFill>
            <a:srgbClr val="2E5AAC"/>
          </a:solidFill>
          <a:ln/>
        </p:spPr>
      </p:sp>
      <p:sp>
        <p:nvSpPr>
          <p:cNvPr id="6" name="Text 4"/>
          <p:cNvSpPr/>
          <p:nvPr/>
        </p:nvSpPr>
        <p:spPr>
          <a:xfrm>
            <a:off x="822960" y="2514600"/>
            <a:ext cx="457200" cy="457200"/>
          </a:xfrm>
          <a:prstGeom prst="rect">
            <a:avLst/>
          </a:prstGeom>
          <a:noFill/>
          <a:ln/>
        </p:spPr>
        <p:txBody>
          <a:bodyPr wrap="square"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正</a:t>
            </a:r>
            <a:endParaRPr lang="en-US" sz="1600" dirty="0"/>
          </a:p>
        </p:txBody>
      </p:sp>
      <p:sp>
        <p:nvSpPr>
          <p:cNvPr id="7" name="Text 5"/>
          <p:cNvSpPr/>
          <p:nvPr/>
        </p:nvSpPr>
        <p:spPr>
          <a:xfrm>
            <a:off x="141732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フルタイム社員</a:t>
            </a:r>
            <a:endParaRPr lang="en-US" sz="1900" dirty="0"/>
          </a:p>
        </p:txBody>
      </p:sp>
      <p:sp>
        <p:nvSpPr>
          <p:cNvPr id="8" name="Text 6"/>
          <p:cNvSpPr/>
          <p:nvPr/>
        </p:nvSpPr>
        <p:spPr>
          <a:xfrm>
            <a:off x="91440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コア業務・安定運営の中心</a:t>
            </a:r>
            <a:endParaRPr lang="en-US" sz="1400" dirty="0"/>
          </a:p>
        </p:txBody>
      </p:sp>
      <p:sp>
        <p:nvSpPr>
          <p:cNvPr id="9" name="Text 7"/>
          <p:cNvSpPr/>
          <p:nvPr/>
        </p:nvSpPr>
        <p:spPr>
          <a:xfrm>
            <a:off x="91440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資格保有者・責任者</a:t>
            </a:r>
            <a:endParaRPr lang="en-US" sz="1400" dirty="0"/>
          </a:p>
        </p:txBody>
      </p:sp>
      <p:sp>
        <p:nvSpPr>
          <p:cNvPr id="10" name="Text 8"/>
          <p:cNvSpPr/>
          <p:nvPr/>
        </p:nvSpPr>
        <p:spPr>
          <a:xfrm>
            <a:off x="91440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イレギュラー時に対応できる体制</a:t>
            </a:r>
            <a:endParaRPr lang="en-US" sz="1400" dirty="0"/>
          </a:p>
        </p:txBody>
      </p:sp>
      <p:sp>
        <p:nvSpPr>
          <p:cNvPr id="11" name="Text 9"/>
          <p:cNvSpPr/>
          <p:nvPr/>
        </p:nvSpPr>
        <p:spPr>
          <a:xfrm>
            <a:off x="91440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中途採用は原則抑制、即戦力は個別判断</a:t>
            </a:r>
            <a:endParaRPr lang="en-US" sz="1400" dirty="0"/>
          </a:p>
        </p:txBody>
      </p:sp>
      <p:sp>
        <p:nvSpPr>
          <p:cNvPr id="12" name="Shape 10"/>
          <p:cNvSpPr/>
          <p:nvPr/>
        </p:nvSpPr>
        <p:spPr>
          <a:xfrm>
            <a:off x="6172200" y="2240280"/>
            <a:ext cx="5468112" cy="3657600"/>
          </a:xfrm>
          <a:prstGeom prst="roundRect">
            <a:avLst>
              <a:gd name="adj" fmla="val 200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3" name="Shape 11"/>
          <p:cNvSpPr/>
          <p:nvPr/>
        </p:nvSpPr>
        <p:spPr>
          <a:xfrm>
            <a:off x="6446520" y="2514600"/>
            <a:ext cx="457200" cy="457200"/>
          </a:xfrm>
          <a:prstGeom prst="roundRect">
            <a:avLst>
              <a:gd name="adj" fmla="val 50000"/>
            </a:avLst>
          </a:prstGeom>
          <a:solidFill>
            <a:srgbClr val="1E7A5A"/>
          </a:solidFill>
          <a:ln/>
        </p:spPr>
      </p:sp>
      <p:sp>
        <p:nvSpPr>
          <p:cNvPr id="14" name="Text 12"/>
          <p:cNvSpPr/>
          <p:nvPr/>
        </p:nvSpPr>
        <p:spPr>
          <a:xfrm>
            <a:off x="6446520" y="2514600"/>
            <a:ext cx="457200" cy="457200"/>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時</a:t>
            </a:r>
            <a:endParaRPr lang="en-US" sz="1500" dirty="0"/>
          </a:p>
        </p:txBody>
      </p:sp>
      <p:sp>
        <p:nvSpPr>
          <p:cNvPr id="15" name="Text 13"/>
          <p:cNvSpPr/>
          <p:nvPr/>
        </p:nvSpPr>
        <p:spPr>
          <a:xfrm>
            <a:off x="704088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短時間勤務者</a:t>
            </a:r>
            <a:endParaRPr lang="en-US" sz="1900" dirty="0"/>
          </a:p>
        </p:txBody>
      </p:sp>
      <p:sp>
        <p:nvSpPr>
          <p:cNvPr id="16" name="Text 14"/>
          <p:cNvSpPr/>
          <p:nvPr/>
        </p:nvSpPr>
        <p:spPr>
          <a:xfrm>
            <a:off x="653796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ピーク時間帯の補完</a:t>
            </a:r>
            <a:endParaRPr lang="en-US" sz="1400" dirty="0"/>
          </a:p>
        </p:txBody>
      </p:sp>
      <p:sp>
        <p:nvSpPr>
          <p:cNvPr id="17" name="Text 15"/>
          <p:cNvSpPr/>
          <p:nvPr/>
        </p:nvSpPr>
        <p:spPr>
          <a:xfrm>
            <a:off x="653796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定型業務・資格に応じたライン配置</a:t>
            </a:r>
            <a:endParaRPr lang="en-US" sz="1400" dirty="0"/>
          </a:p>
        </p:txBody>
      </p:sp>
      <p:sp>
        <p:nvSpPr>
          <p:cNvPr id="18" name="Text 16"/>
          <p:cNvSpPr/>
          <p:nvPr/>
        </p:nvSpPr>
        <p:spPr>
          <a:xfrm>
            <a:off x="653796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朝の数時間だけの不足をカバー</a:t>
            </a:r>
            <a:endParaRPr lang="en-US" sz="1400" dirty="0"/>
          </a:p>
        </p:txBody>
      </p:sp>
      <p:sp>
        <p:nvSpPr>
          <p:cNvPr id="19" name="Text 17"/>
          <p:cNvSpPr/>
          <p:nvPr/>
        </p:nvSpPr>
        <p:spPr>
          <a:xfrm>
            <a:off x="653796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フルタイム採用の代わりに機動的に配置</a:t>
            </a:r>
            <a:endParaRPr lang="en-US" sz="1400" dirty="0"/>
          </a:p>
        </p:txBody>
      </p:sp>
      <p:sp>
        <p:nvSpPr>
          <p:cNvPr id="20" name="Text 1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1" name="Text 1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現在の採用状況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成田・新千歳から先行して募集開始</a:t>
            </a:r>
            <a:endParaRPr lang="en-US" sz="3000" dirty="0"/>
          </a:p>
        </p:txBody>
      </p:sp>
      <p:sp>
        <p:nvSpPr>
          <p:cNvPr id="4" name="Shape 2"/>
          <p:cNvSpPr/>
          <p:nvPr/>
        </p:nvSpPr>
        <p:spPr>
          <a:xfrm>
            <a:off x="54864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2296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a:t>
            </a:r>
            <a:endParaRPr lang="en-US" sz="1500" dirty="0"/>
          </a:p>
        </p:txBody>
      </p:sp>
      <p:sp>
        <p:nvSpPr>
          <p:cNvPr id="6" name="Text 4"/>
          <p:cNvSpPr/>
          <p:nvPr/>
        </p:nvSpPr>
        <p:spPr>
          <a:xfrm>
            <a:off x="82296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7" name="Text 5"/>
          <p:cNvSpPr/>
          <p:nvPr/>
        </p:nvSpPr>
        <p:spPr>
          <a:xfrm>
            <a:off x="82296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8" name="Shape 6"/>
          <p:cNvSpPr/>
          <p:nvPr/>
        </p:nvSpPr>
        <p:spPr>
          <a:xfrm>
            <a:off x="452628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9" name="Text 7"/>
          <p:cNvSpPr/>
          <p:nvPr/>
        </p:nvSpPr>
        <p:spPr>
          <a:xfrm>
            <a:off x="480060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新千歳</a:t>
            </a:r>
            <a:endParaRPr lang="en-US" sz="1500" dirty="0"/>
          </a:p>
        </p:txBody>
      </p:sp>
      <p:sp>
        <p:nvSpPr>
          <p:cNvPr id="10" name="Text 8"/>
          <p:cNvSpPr/>
          <p:nvPr/>
        </p:nvSpPr>
        <p:spPr>
          <a:xfrm>
            <a:off x="480060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11" name="Text 9"/>
          <p:cNvSpPr/>
          <p:nvPr/>
        </p:nvSpPr>
        <p:spPr>
          <a:xfrm>
            <a:off x="480060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12" name="Shape 10"/>
          <p:cNvSpPr/>
          <p:nvPr/>
        </p:nvSpPr>
        <p:spPr>
          <a:xfrm>
            <a:off x="850392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3" name="Text 11"/>
          <p:cNvSpPr/>
          <p:nvPr/>
        </p:nvSpPr>
        <p:spPr>
          <a:xfrm>
            <a:off x="877824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成田・経験者</a:t>
            </a:r>
            <a:endParaRPr lang="en-US" sz="1500" dirty="0"/>
          </a:p>
        </p:txBody>
      </p:sp>
      <p:sp>
        <p:nvSpPr>
          <p:cNvPr id="14" name="Text 12"/>
          <p:cNvSpPr/>
          <p:nvPr/>
        </p:nvSpPr>
        <p:spPr>
          <a:xfrm>
            <a:off x="8778240" y="2971800"/>
            <a:ext cx="3108960" cy="777240"/>
          </a:xfrm>
          <a:prstGeom prst="rect">
            <a:avLst/>
          </a:prstGeom>
          <a:noFill/>
          <a:ln/>
        </p:spPr>
        <p:txBody>
          <a:bodyPr wrap="square" rtlCol="0" anchor="ctr"/>
          <a:lstStyle/>
          <a:p>
            <a:pPr indent="0" marL="0">
              <a:buNone/>
            </a:pPr>
            <a:r>
              <a:rPr lang="en-US" sz="2600" b="1" dirty="0">
                <a:solidFill>
                  <a:srgbClr val="B8891B"/>
                </a:solidFill>
                <a:latin typeface="Meiryo" pitchFamily="34" charset="0"/>
                <a:ea typeface="Meiryo" pitchFamily="34" charset="-122"/>
                <a:cs typeface="Meiryo" pitchFamily="34" charset="-120"/>
              </a:rPr>
              <a:t>1,800〜2,100円</a:t>
            </a:r>
            <a:endParaRPr lang="en-US" sz="2600" dirty="0"/>
          </a:p>
        </p:txBody>
      </p:sp>
      <p:sp>
        <p:nvSpPr>
          <p:cNvPr id="15" name="Text 13"/>
          <p:cNvSpPr/>
          <p:nvPr/>
        </p:nvSpPr>
        <p:spPr>
          <a:xfrm>
            <a:off x="877824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想定時給（経験・資格に応じ設定）</a:t>
            </a:r>
            <a:endParaRPr lang="en-US" sz="1200" dirty="0"/>
          </a:p>
        </p:txBody>
      </p:sp>
      <p:sp>
        <p:nvSpPr>
          <p:cNvPr id="16" name="Shape 14"/>
          <p:cNvSpPr/>
          <p:nvPr/>
        </p:nvSpPr>
        <p:spPr>
          <a:xfrm>
            <a:off x="548640" y="4709160"/>
            <a:ext cx="11091672" cy="1325880"/>
          </a:xfrm>
          <a:prstGeom prst="roundRect">
            <a:avLst>
              <a:gd name="adj" fmla="val 5517"/>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7" name="Text 15"/>
          <p:cNvSpPr/>
          <p:nvPr/>
        </p:nvSpPr>
        <p:spPr>
          <a:xfrm>
            <a:off x="868680" y="4892040"/>
            <a:ext cx="10424160" cy="411480"/>
          </a:xfrm>
          <a:prstGeom prst="rect">
            <a:avLst/>
          </a:prstGeom>
          <a:noFill/>
          <a:ln/>
        </p:spPr>
        <p:txBody>
          <a:bodyPr wrap="square" rtlCol="0" anchor="ctr"/>
          <a:lstStyle/>
          <a:p>
            <a:pPr indent="0" marL="0">
              <a:buNone/>
            </a:pPr>
            <a:r>
              <a:rPr lang="en-US" sz="1600" b="1" dirty="0">
                <a:solidFill>
                  <a:srgbClr val="1F2733"/>
                </a:solidFill>
                <a:latin typeface="Meiryo" pitchFamily="34" charset="0"/>
                <a:ea typeface="Meiryo" pitchFamily="34" charset="-122"/>
                <a:cs typeface="Meiryo" pitchFamily="34" charset="-120"/>
              </a:rPr>
              <a:t>この「10名」は固定ではありません</a:t>
            </a:r>
            <a:endParaRPr lang="en-US" sz="1600" dirty="0"/>
          </a:p>
        </p:txBody>
      </p:sp>
      <p:sp>
        <p:nvSpPr>
          <p:cNvPr id="18" name="Text 16"/>
          <p:cNvSpPr/>
          <p:nvPr/>
        </p:nvSpPr>
        <p:spPr>
          <a:xfrm>
            <a:off x="868680" y="5303520"/>
            <a:ext cx="10515600" cy="64008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最終的には Winter Schedule を見ながら、各支店で実際に「何時に何人不足するか」を確認して必要人数を決めます。経験者は経験・資格に応じた時給で即戦力層の採用を強化します。</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現在整理している課題</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「採って終わり」にしない ― 整理中の論点</a:t>
            </a:r>
            <a:endParaRPr lang="en-US" sz="3000" dirty="0"/>
          </a:p>
        </p:txBody>
      </p:sp>
      <p:sp>
        <p:nvSpPr>
          <p:cNvPr id="4" name="Shape 2"/>
          <p:cNvSpPr/>
          <p:nvPr/>
        </p:nvSpPr>
        <p:spPr>
          <a:xfrm>
            <a:off x="548640"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Shape 3"/>
          <p:cNvSpPr/>
          <p:nvPr/>
        </p:nvSpPr>
        <p:spPr>
          <a:xfrm>
            <a:off x="804672" y="2542032"/>
            <a:ext cx="411480" cy="411480"/>
          </a:xfrm>
          <a:prstGeom prst="roundRect">
            <a:avLst>
              <a:gd name="adj" fmla="val 22222"/>
            </a:avLst>
          </a:prstGeom>
          <a:solidFill>
            <a:srgbClr val="E9EEF8"/>
          </a:solidFill>
          <a:ln/>
        </p:spPr>
      </p:sp>
      <p:sp>
        <p:nvSpPr>
          <p:cNvPr id="6" name="Text 4"/>
          <p:cNvSpPr/>
          <p:nvPr/>
        </p:nvSpPr>
        <p:spPr>
          <a:xfrm>
            <a:off x="804672"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325880"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教育・本社研修</a:t>
            </a:r>
            <a:endParaRPr lang="en-US" sz="1500" dirty="0"/>
          </a:p>
        </p:txBody>
      </p:sp>
      <p:sp>
        <p:nvSpPr>
          <p:cNvPr id="8" name="Text 6"/>
          <p:cNvSpPr/>
          <p:nvPr/>
        </p:nvSpPr>
        <p:spPr>
          <a:xfrm>
            <a:off x="822960"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短時間勤務者に合った教育・研修のあり方</a:t>
            </a:r>
            <a:endParaRPr lang="en-US" sz="1250" dirty="0"/>
          </a:p>
        </p:txBody>
      </p:sp>
      <p:sp>
        <p:nvSpPr>
          <p:cNvPr id="9" name="Shape 7"/>
          <p:cNvSpPr/>
          <p:nvPr/>
        </p:nvSpPr>
        <p:spPr>
          <a:xfrm>
            <a:off x="4407408"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0" name="Shape 8"/>
          <p:cNvSpPr/>
          <p:nvPr/>
        </p:nvSpPr>
        <p:spPr>
          <a:xfrm>
            <a:off x="4663440" y="2542032"/>
            <a:ext cx="411480" cy="411480"/>
          </a:xfrm>
          <a:prstGeom prst="roundRect">
            <a:avLst>
              <a:gd name="adj" fmla="val 22222"/>
            </a:avLst>
          </a:prstGeom>
          <a:solidFill>
            <a:srgbClr val="E9EEF8"/>
          </a:solidFill>
          <a:ln/>
        </p:spPr>
      </p:sp>
      <p:sp>
        <p:nvSpPr>
          <p:cNvPr id="11" name="Text 9"/>
          <p:cNvSpPr/>
          <p:nvPr/>
        </p:nvSpPr>
        <p:spPr>
          <a:xfrm>
            <a:off x="4663440"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5184648"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交通費の取扱い</a:t>
            </a:r>
            <a:endParaRPr lang="en-US" sz="1500" dirty="0"/>
          </a:p>
        </p:txBody>
      </p:sp>
      <p:sp>
        <p:nvSpPr>
          <p:cNvPr id="13" name="Text 11"/>
          <p:cNvSpPr/>
          <p:nvPr/>
        </p:nvSpPr>
        <p:spPr>
          <a:xfrm>
            <a:off x="4681728"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短時間勤務に応じた交通費の考え方</a:t>
            </a:r>
            <a:endParaRPr lang="en-US" sz="1250" dirty="0"/>
          </a:p>
        </p:txBody>
      </p:sp>
      <p:sp>
        <p:nvSpPr>
          <p:cNvPr id="14" name="Shape 12"/>
          <p:cNvSpPr/>
          <p:nvPr/>
        </p:nvSpPr>
        <p:spPr>
          <a:xfrm>
            <a:off x="8266176"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5" name="Shape 13"/>
          <p:cNvSpPr/>
          <p:nvPr/>
        </p:nvSpPr>
        <p:spPr>
          <a:xfrm>
            <a:off x="8522208" y="2542032"/>
            <a:ext cx="411480" cy="411480"/>
          </a:xfrm>
          <a:prstGeom prst="roundRect">
            <a:avLst>
              <a:gd name="adj" fmla="val 22222"/>
            </a:avLst>
          </a:prstGeom>
          <a:solidFill>
            <a:srgbClr val="E9EEF8"/>
          </a:solidFill>
          <a:ln/>
        </p:spPr>
      </p:sp>
      <p:sp>
        <p:nvSpPr>
          <p:cNvPr id="16" name="Text 14"/>
          <p:cNvSpPr/>
          <p:nvPr/>
        </p:nvSpPr>
        <p:spPr>
          <a:xfrm>
            <a:off x="8522208"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9043416"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OJT・現場受入</a:t>
            </a:r>
            <a:endParaRPr lang="en-US" sz="1500" dirty="0"/>
          </a:p>
        </p:txBody>
      </p:sp>
      <p:sp>
        <p:nvSpPr>
          <p:cNvPr id="18" name="Text 16"/>
          <p:cNvSpPr/>
          <p:nvPr/>
        </p:nvSpPr>
        <p:spPr>
          <a:xfrm>
            <a:off x="8540496"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現場でのOJTと受入体制の整理</a:t>
            </a:r>
            <a:endParaRPr lang="en-US" sz="1250" dirty="0"/>
          </a:p>
        </p:txBody>
      </p:sp>
      <p:sp>
        <p:nvSpPr>
          <p:cNvPr id="19" name="Shape 17"/>
          <p:cNvSpPr/>
          <p:nvPr/>
        </p:nvSpPr>
        <p:spPr>
          <a:xfrm>
            <a:off x="548640"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20" name="Shape 18"/>
          <p:cNvSpPr/>
          <p:nvPr/>
        </p:nvSpPr>
        <p:spPr>
          <a:xfrm>
            <a:off x="804672" y="4462272"/>
            <a:ext cx="411480" cy="411480"/>
          </a:xfrm>
          <a:prstGeom prst="roundRect">
            <a:avLst>
              <a:gd name="adj" fmla="val 22222"/>
            </a:avLst>
          </a:prstGeom>
          <a:solidFill>
            <a:srgbClr val="E9EEF8"/>
          </a:solidFill>
          <a:ln/>
        </p:spPr>
      </p:sp>
      <p:sp>
        <p:nvSpPr>
          <p:cNvPr id="21" name="Text 19"/>
          <p:cNvSpPr/>
          <p:nvPr/>
        </p:nvSpPr>
        <p:spPr>
          <a:xfrm>
            <a:off x="804672"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4</a:t>
            </a:r>
            <a:endParaRPr lang="en-US" sz="1400" dirty="0"/>
          </a:p>
        </p:txBody>
      </p:sp>
      <p:sp>
        <p:nvSpPr>
          <p:cNvPr id="22" name="Text 20"/>
          <p:cNvSpPr/>
          <p:nvPr/>
        </p:nvSpPr>
        <p:spPr>
          <a:xfrm>
            <a:off x="1325880"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資格付与・確認</a:t>
            </a:r>
            <a:endParaRPr lang="en-US" sz="1500" dirty="0"/>
          </a:p>
        </p:txBody>
      </p:sp>
      <p:sp>
        <p:nvSpPr>
          <p:cNvPr id="23" name="Text 21"/>
          <p:cNvSpPr/>
          <p:nvPr/>
        </p:nvSpPr>
        <p:spPr>
          <a:xfrm>
            <a:off x="822960"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資格付与と既存資格の確認</a:t>
            </a:r>
            <a:endParaRPr lang="en-US" sz="1250" dirty="0"/>
          </a:p>
        </p:txBody>
      </p:sp>
      <p:sp>
        <p:nvSpPr>
          <p:cNvPr id="24" name="Shape 22"/>
          <p:cNvSpPr/>
          <p:nvPr/>
        </p:nvSpPr>
        <p:spPr>
          <a:xfrm>
            <a:off x="4407408"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25" name="Shape 23"/>
          <p:cNvSpPr/>
          <p:nvPr/>
        </p:nvSpPr>
        <p:spPr>
          <a:xfrm>
            <a:off x="4663440" y="4462272"/>
            <a:ext cx="411480" cy="411480"/>
          </a:xfrm>
          <a:prstGeom prst="roundRect">
            <a:avLst>
              <a:gd name="adj" fmla="val 22222"/>
            </a:avLst>
          </a:prstGeom>
          <a:solidFill>
            <a:srgbClr val="E9EEF8"/>
          </a:solidFill>
          <a:ln/>
        </p:spPr>
      </p:sp>
      <p:sp>
        <p:nvSpPr>
          <p:cNvPr id="26" name="Text 24"/>
          <p:cNvSpPr/>
          <p:nvPr/>
        </p:nvSpPr>
        <p:spPr>
          <a:xfrm>
            <a:off x="4663440"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5</a:t>
            </a:r>
            <a:endParaRPr lang="en-US" sz="1400" dirty="0"/>
          </a:p>
        </p:txBody>
      </p:sp>
      <p:sp>
        <p:nvSpPr>
          <p:cNvPr id="27" name="Text 25"/>
          <p:cNvSpPr/>
          <p:nvPr/>
        </p:nvSpPr>
        <p:spPr>
          <a:xfrm>
            <a:off x="5184648"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シフトへの組込み</a:t>
            </a:r>
            <a:endParaRPr lang="en-US" sz="1500" dirty="0"/>
          </a:p>
        </p:txBody>
      </p:sp>
      <p:sp>
        <p:nvSpPr>
          <p:cNvPr id="28" name="Text 26"/>
          <p:cNvSpPr/>
          <p:nvPr/>
        </p:nvSpPr>
        <p:spPr>
          <a:xfrm>
            <a:off x="4681728"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勤務時間・シフトへの落とし込み</a:t>
            </a:r>
            <a:endParaRPr lang="en-US" sz="1250" dirty="0"/>
          </a:p>
        </p:txBody>
      </p:sp>
      <p:sp>
        <p:nvSpPr>
          <p:cNvPr id="29" name="Shape 27"/>
          <p:cNvSpPr/>
          <p:nvPr/>
        </p:nvSpPr>
        <p:spPr>
          <a:xfrm>
            <a:off x="8266176"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30" name="Shape 28"/>
          <p:cNvSpPr/>
          <p:nvPr/>
        </p:nvSpPr>
        <p:spPr>
          <a:xfrm>
            <a:off x="8522208" y="4462272"/>
            <a:ext cx="411480" cy="411480"/>
          </a:xfrm>
          <a:prstGeom prst="roundRect">
            <a:avLst>
              <a:gd name="adj" fmla="val 22222"/>
            </a:avLst>
          </a:prstGeom>
          <a:solidFill>
            <a:srgbClr val="E9EEF8"/>
          </a:solidFill>
          <a:ln/>
        </p:spPr>
      </p:sp>
      <p:sp>
        <p:nvSpPr>
          <p:cNvPr id="31" name="Text 29"/>
          <p:cNvSpPr/>
          <p:nvPr/>
        </p:nvSpPr>
        <p:spPr>
          <a:xfrm>
            <a:off x="8522208"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6</a:t>
            </a:r>
            <a:endParaRPr lang="en-US" sz="1400" dirty="0"/>
          </a:p>
        </p:txBody>
      </p:sp>
      <p:sp>
        <p:nvSpPr>
          <p:cNvPr id="32" name="Text 30"/>
          <p:cNvSpPr/>
          <p:nvPr/>
        </p:nvSpPr>
        <p:spPr>
          <a:xfrm>
            <a:off x="9043416"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配置効果の検証</a:t>
            </a:r>
            <a:endParaRPr lang="en-US" sz="1500" dirty="0"/>
          </a:p>
        </p:txBody>
      </p:sp>
      <p:sp>
        <p:nvSpPr>
          <p:cNvPr id="33" name="Text 31"/>
          <p:cNvSpPr/>
          <p:nvPr/>
        </p:nvSpPr>
        <p:spPr>
          <a:xfrm>
            <a:off x="8540496"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採用後の配置効果を検証する仕組み</a:t>
            </a:r>
            <a:endParaRPr lang="en-US" sz="12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支店長・所属長の皆さんへ</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お願いしたいこと</a:t>
            </a:r>
            <a:endParaRPr lang="en-US" sz="3000" dirty="0"/>
          </a:p>
        </p:txBody>
      </p:sp>
      <p:sp>
        <p:nvSpPr>
          <p:cNvPr id="4" name="Shape 2"/>
          <p:cNvSpPr/>
          <p:nvPr/>
        </p:nvSpPr>
        <p:spPr>
          <a:xfrm>
            <a:off x="548640" y="2240280"/>
            <a:ext cx="5486400" cy="1051560"/>
          </a:xfrm>
          <a:prstGeom prst="roundRect">
            <a:avLst>
              <a:gd name="adj" fmla="val 5217"/>
            </a:avLst>
          </a:prstGeom>
          <a:solidFill>
            <a:srgbClr val="22345B"/>
          </a:solidFill>
          <a:ln w="12700">
            <a:solidFill>
              <a:srgbClr val="33476F"/>
            </a:solidFill>
            <a:prstDash val="solid"/>
          </a:ln>
        </p:spPr>
      </p:sp>
      <p:sp>
        <p:nvSpPr>
          <p:cNvPr id="5" name="Shape 3"/>
          <p:cNvSpPr/>
          <p:nvPr/>
        </p:nvSpPr>
        <p:spPr>
          <a:xfrm>
            <a:off x="777240" y="2532888"/>
            <a:ext cx="457200" cy="457200"/>
          </a:xfrm>
          <a:prstGeom prst="roundRect">
            <a:avLst>
              <a:gd name="adj" fmla="val 20000"/>
            </a:avLst>
          </a:prstGeom>
          <a:solidFill>
            <a:srgbClr val="B8891B"/>
          </a:solidFill>
          <a:ln/>
        </p:spPr>
      </p:sp>
      <p:sp>
        <p:nvSpPr>
          <p:cNvPr id="6" name="Text 4"/>
          <p:cNvSpPr/>
          <p:nvPr/>
        </p:nvSpPr>
        <p:spPr>
          <a:xfrm>
            <a:off x="777240"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7" name="Text 5"/>
          <p:cNvSpPr/>
          <p:nvPr/>
        </p:nvSpPr>
        <p:spPr>
          <a:xfrm>
            <a:off x="1371600"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Winter Schedule を基準に必要出面を確認</a:t>
            </a:r>
            <a:endParaRPr lang="en-US" sz="1450" dirty="0"/>
          </a:p>
        </p:txBody>
      </p:sp>
      <p:sp>
        <p:nvSpPr>
          <p:cNvPr id="8" name="Text 6"/>
          <p:cNvSpPr/>
          <p:nvPr/>
        </p:nvSpPr>
        <p:spPr>
          <a:xfrm>
            <a:off x="1371600"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26W を基準に、まず必要な出面を洗い出す</a:t>
            </a:r>
            <a:endParaRPr lang="en-US" sz="1150" dirty="0"/>
          </a:p>
        </p:txBody>
      </p:sp>
      <p:sp>
        <p:nvSpPr>
          <p:cNvPr id="9" name="Shape 7"/>
          <p:cNvSpPr/>
          <p:nvPr/>
        </p:nvSpPr>
        <p:spPr>
          <a:xfrm>
            <a:off x="6153912" y="2240280"/>
            <a:ext cx="5486400" cy="1051560"/>
          </a:xfrm>
          <a:prstGeom prst="roundRect">
            <a:avLst>
              <a:gd name="adj" fmla="val 5217"/>
            </a:avLst>
          </a:prstGeom>
          <a:solidFill>
            <a:srgbClr val="22345B"/>
          </a:solidFill>
          <a:ln w="12700">
            <a:solidFill>
              <a:srgbClr val="33476F"/>
            </a:solidFill>
            <a:prstDash val="solid"/>
          </a:ln>
        </p:spPr>
      </p:sp>
      <p:sp>
        <p:nvSpPr>
          <p:cNvPr id="10" name="Shape 8"/>
          <p:cNvSpPr/>
          <p:nvPr/>
        </p:nvSpPr>
        <p:spPr>
          <a:xfrm>
            <a:off x="6382512" y="2532888"/>
            <a:ext cx="457200" cy="457200"/>
          </a:xfrm>
          <a:prstGeom prst="roundRect">
            <a:avLst>
              <a:gd name="adj" fmla="val 20000"/>
            </a:avLst>
          </a:prstGeom>
          <a:solidFill>
            <a:srgbClr val="B8891B"/>
          </a:solidFill>
          <a:ln/>
        </p:spPr>
      </p:sp>
      <p:sp>
        <p:nvSpPr>
          <p:cNvPr id="11" name="Text 9"/>
          <p:cNvSpPr/>
          <p:nvPr/>
        </p:nvSpPr>
        <p:spPr>
          <a:xfrm>
            <a:off x="6382512"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6976872"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時間帯別の不足人数を算出</a:t>
            </a:r>
            <a:endParaRPr lang="en-US" sz="1450" dirty="0"/>
          </a:p>
        </p:txBody>
      </p:sp>
      <p:sp>
        <p:nvSpPr>
          <p:cNvPr id="13" name="Text 11"/>
          <p:cNvSpPr/>
          <p:nvPr/>
        </p:nvSpPr>
        <p:spPr>
          <a:xfrm>
            <a:off x="6976872"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既存社員でカバーできる分と、不足する時間帯を分ける</a:t>
            </a:r>
            <a:endParaRPr lang="en-US" sz="1150" dirty="0"/>
          </a:p>
        </p:txBody>
      </p:sp>
      <p:sp>
        <p:nvSpPr>
          <p:cNvPr id="14" name="Shape 12"/>
          <p:cNvSpPr/>
          <p:nvPr/>
        </p:nvSpPr>
        <p:spPr>
          <a:xfrm>
            <a:off x="548640" y="3474720"/>
            <a:ext cx="5486400" cy="1051560"/>
          </a:xfrm>
          <a:prstGeom prst="roundRect">
            <a:avLst>
              <a:gd name="adj" fmla="val 5217"/>
            </a:avLst>
          </a:prstGeom>
          <a:solidFill>
            <a:srgbClr val="22345B"/>
          </a:solidFill>
          <a:ln w="12700">
            <a:solidFill>
              <a:srgbClr val="33476F"/>
            </a:solidFill>
            <a:prstDash val="solid"/>
          </a:ln>
        </p:spPr>
      </p:sp>
      <p:sp>
        <p:nvSpPr>
          <p:cNvPr id="15" name="Shape 13"/>
          <p:cNvSpPr/>
          <p:nvPr/>
        </p:nvSpPr>
        <p:spPr>
          <a:xfrm>
            <a:off x="777240" y="3767328"/>
            <a:ext cx="457200" cy="457200"/>
          </a:xfrm>
          <a:prstGeom prst="roundRect">
            <a:avLst>
              <a:gd name="adj" fmla="val 20000"/>
            </a:avLst>
          </a:prstGeom>
          <a:solidFill>
            <a:srgbClr val="B8891B"/>
          </a:solidFill>
          <a:ln/>
        </p:spPr>
      </p:sp>
      <p:sp>
        <p:nvSpPr>
          <p:cNvPr id="16" name="Text 14"/>
          <p:cNvSpPr/>
          <p:nvPr/>
        </p:nvSpPr>
        <p:spPr>
          <a:xfrm>
            <a:off x="777240"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7" name="Text 15"/>
          <p:cNvSpPr/>
          <p:nvPr/>
        </p:nvSpPr>
        <p:spPr>
          <a:xfrm>
            <a:off x="1371600"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短時間勤務者を配置できるポジションを選定</a:t>
            </a:r>
            <a:endParaRPr lang="en-US" sz="1450" dirty="0"/>
          </a:p>
        </p:txBody>
      </p:sp>
      <p:sp>
        <p:nvSpPr>
          <p:cNvPr id="18" name="Text 16"/>
          <p:cNvSpPr/>
          <p:nvPr/>
        </p:nvSpPr>
        <p:spPr>
          <a:xfrm>
            <a:off x="1371600"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不足のうち短時間で対応できる仕事を一緒に選ぶ</a:t>
            </a:r>
            <a:endParaRPr lang="en-US" sz="1150" dirty="0"/>
          </a:p>
        </p:txBody>
      </p:sp>
      <p:sp>
        <p:nvSpPr>
          <p:cNvPr id="19" name="Shape 17"/>
          <p:cNvSpPr/>
          <p:nvPr/>
        </p:nvSpPr>
        <p:spPr>
          <a:xfrm>
            <a:off x="6153912" y="3474720"/>
            <a:ext cx="5486400" cy="1051560"/>
          </a:xfrm>
          <a:prstGeom prst="roundRect">
            <a:avLst>
              <a:gd name="adj" fmla="val 5217"/>
            </a:avLst>
          </a:prstGeom>
          <a:solidFill>
            <a:srgbClr val="22345B"/>
          </a:solidFill>
          <a:ln w="12700">
            <a:solidFill>
              <a:srgbClr val="33476F"/>
            </a:solidFill>
            <a:prstDash val="solid"/>
          </a:ln>
        </p:spPr>
      </p:sp>
      <p:sp>
        <p:nvSpPr>
          <p:cNvPr id="20" name="Shape 18"/>
          <p:cNvSpPr/>
          <p:nvPr/>
        </p:nvSpPr>
        <p:spPr>
          <a:xfrm>
            <a:off x="6382512" y="3767328"/>
            <a:ext cx="457200" cy="457200"/>
          </a:xfrm>
          <a:prstGeom prst="roundRect">
            <a:avLst>
              <a:gd name="adj" fmla="val 20000"/>
            </a:avLst>
          </a:prstGeom>
          <a:solidFill>
            <a:srgbClr val="B8891B"/>
          </a:solidFill>
          <a:ln/>
        </p:spPr>
      </p:sp>
      <p:sp>
        <p:nvSpPr>
          <p:cNvPr id="21" name="Text 19"/>
          <p:cNvSpPr/>
          <p:nvPr/>
        </p:nvSpPr>
        <p:spPr>
          <a:xfrm>
            <a:off x="6382512"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22" name="Text 20"/>
          <p:cNvSpPr/>
          <p:nvPr/>
        </p:nvSpPr>
        <p:spPr>
          <a:xfrm>
            <a:off x="6976872"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教育・OJT の受入体制を整理</a:t>
            </a:r>
            <a:endParaRPr lang="en-US" sz="1450" dirty="0"/>
          </a:p>
        </p:txBody>
      </p:sp>
      <p:sp>
        <p:nvSpPr>
          <p:cNvPr id="23" name="Text 21"/>
          <p:cNvSpPr/>
          <p:nvPr/>
        </p:nvSpPr>
        <p:spPr>
          <a:xfrm>
            <a:off x="6976872"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現場での受入とOJTの体制を整える</a:t>
            </a:r>
            <a:endParaRPr lang="en-US" sz="1150" dirty="0"/>
          </a:p>
        </p:txBody>
      </p:sp>
      <p:sp>
        <p:nvSpPr>
          <p:cNvPr id="24" name="Shape 22"/>
          <p:cNvSpPr/>
          <p:nvPr/>
        </p:nvSpPr>
        <p:spPr>
          <a:xfrm>
            <a:off x="548640" y="4709160"/>
            <a:ext cx="5486400" cy="1051560"/>
          </a:xfrm>
          <a:prstGeom prst="roundRect">
            <a:avLst>
              <a:gd name="adj" fmla="val 5217"/>
            </a:avLst>
          </a:prstGeom>
          <a:solidFill>
            <a:srgbClr val="22345B"/>
          </a:solidFill>
          <a:ln w="12700">
            <a:solidFill>
              <a:srgbClr val="33476F"/>
            </a:solidFill>
            <a:prstDash val="solid"/>
          </a:ln>
        </p:spPr>
      </p:sp>
      <p:sp>
        <p:nvSpPr>
          <p:cNvPr id="25" name="Shape 23"/>
          <p:cNvSpPr/>
          <p:nvPr/>
        </p:nvSpPr>
        <p:spPr>
          <a:xfrm>
            <a:off x="777240" y="5001768"/>
            <a:ext cx="457200" cy="457200"/>
          </a:xfrm>
          <a:prstGeom prst="roundRect">
            <a:avLst>
              <a:gd name="adj" fmla="val 20000"/>
            </a:avLst>
          </a:prstGeom>
          <a:solidFill>
            <a:srgbClr val="B8891B"/>
          </a:solidFill>
          <a:ln/>
        </p:spPr>
      </p:sp>
      <p:sp>
        <p:nvSpPr>
          <p:cNvPr id="26" name="Text 24"/>
          <p:cNvSpPr/>
          <p:nvPr/>
        </p:nvSpPr>
        <p:spPr>
          <a:xfrm>
            <a:off x="777240"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7" name="Text 25"/>
          <p:cNvSpPr/>
          <p:nvPr/>
        </p:nvSpPr>
        <p:spPr>
          <a:xfrm>
            <a:off x="1371600"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採用面接へ現場管理職が参加</a:t>
            </a:r>
            <a:endParaRPr lang="en-US" sz="1450" dirty="0"/>
          </a:p>
        </p:txBody>
      </p:sp>
      <p:sp>
        <p:nvSpPr>
          <p:cNvPr id="28" name="Text 26"/>
          <p:cNvSpPr/>
          <p:nvPr/>
        </p:nvSpPr>
        <p:spPr>
          <a:xfrm>
            <a:off x="1371600"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現場の目で見極める</a:t>
            </a:r>
            <a:endParaRPr lang="en-US" sz="1150" dirty="0"/>
          </a:p>
        </p:txBody>
      </p:sp>
      <p:sp>
        <p:nvSpPr>
          <p:cNvPr id="29" name="Shape 27"/>
          <p:cNvSpPr/>
          <p:nvPr/>
        </p:nvSpPr>
        <p:spPr>
          <a:xfrm>
            <a:off x="6153912" y="4709160"/>
            <a:ext cx="5486400" cy="1051560"/>
          </a:xfrm>
          <a:prstGeom prst="roundRect">
            <a:avLst>
              <a:gd name="adj" fmla="val 5217"/>
            </a:avLst>
          </a:prstGeom>
          <a:solidFill>
            <a:srgbClr val="22345B"/>
          </a:solidFill>
          <a:ln w="12700">
            <a:solidFill>
              <a:srgbClr val="33476F"/>
            </a:solidFill>
            <a:prstDash val="solid"/>
          </a:ln>
        </p:spPr>
      </p:sp>
      <p:sp>
        <p:nvSpPr>
          <p:cNvPr id="30" name="Shape 28"/>
          <p:cNvSpPr/>
          <p:nvPr/>
        </p:nvSpPr>
        <p:spPr>
          <a:xfrm>
            <a:off x="6382512" y="5001768"/>
            <a:ext cx="457200" cy="457200"/>
          </a:xfrm>
          <a:prstGeom prst="roundRect">
            <a:avLst>
              <a:gd name="adj" fmla="val 20000"/>
            </a:avLst>
          </a:prstGeom>
          <a:solidFill>
            <a:srgbClr val="B8891B"/>
          </a:solidFill>
          <a:ln/>
        </p:spPr>
      </p:sp>
      <p:sp>
        <p:nvSpPr>
          <p:cNvPr id="31" name="Text 29"/>
          <p:cNvSpPr/>
          <p:nvPr/>
        </p:nvSpPr>
        <p:spPr>
          <a:xfrm>
            <a:off x="6382512"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32" name="Text 30"/>
          <p:cNvSpPr/>
          <p:nvPr/>
        </p:nvSpPr>
        <p:spPr>
          <a:xfrm>
            <a:off x="6976872"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採用後の配置効果を検証</a:t>
            </a:r>
            <a:endParaRPr lang="en-US" sz="1450" dirty="0"/>
          </a:p>
        </p:txBody>
      </p:sp>
      <p:sp>
        <p:nvSpPr>
          <p:cNvPr id="33" name="Text 31"/>
          <p:cNvSpPr/>
          <p:nvPr/>
        </p:nvSpPr>
        <p:spPr>
          <a:xfrm>
            <a:off x="6976872"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必要出面をどれだけ補完できたかで見る</a:t>
            </a:r>
            <a:endParaRPr lang="en-US" sz="11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目指す状態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必要な時間に、必要な人員を、必要なだけ。</a:t>
            </a:r>
            <a:endParaRPr lang="en-US" sz="3000" dirty="0"/>
          </a:p>
        </p:txBody>
      </p:sp>
      <p:sp>
        <p:nvSpPr>
          <p:cNvPr id="4" name="Shape 2"/>
          <p:cNvSpPr/>
          <p:nvPr/>
        </p:nvSpPr>
        <p:spPr>
          <a:xfrm>
            <a:off x="548640" y="2194560"/>
            <a:ext cx="5349240" cy="1280160"/>
          </a:xfrm>
          <a:prstGeom prst="roundRect">
            <a:avLst>
              <a:gd name="adj" fmla="val 5714"/>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22960" y="2331720"/>
            <a:ext cx="3657600" cy="320040"/>
          </a:xfrm>
          <a:prstGeom prst="rect">
            <a:avLst/>
          </a:prstGeom>
          <a:noFill/>
          <a:ln/>
        </p:spPr>
        <p:txBody>
          <a:bodyPr wrap="square" rtlCol="0" anchor="ctr"/>
          <a:lstStyle/>
          <a:p>
            <a:pPr indent="0" marL="0">
              <a:buNone/>
            </a:pPr>
            <a:r>
              <a:rPr lang="en-US" sz="1300" b="1" dirty="0">
                <a:solidFill>
                  <a:srgbClr val="6B7686"/>
                </a:solidFill>
                <a:latin typeface="Meiryo" pitchFamily="34" charset="0"/>
                <a:ea typeface="Meiryo" pitchFamily="34" charset="-122"/>
                <a:cs typeface="Meiryo" pitchFamily="34" charset="-120"/>
              </a:rPr>
              <a:t>これまで</a:t>
            </a:r>
            <a:endParaRPr lang="en-US" sz="1300" dirty="0"/>
          </a:p>
        </p:txBody>
      </p:sp>
      <p:sp>
        <p:nvSpPr>
          <p:cNvPr id="6" name="Text 4"/>
          <p:cNvSpPr/>
          <p:nvPr/>
        </p:nvSpPr>
        <p:spPr>
          <a:xfrm>
            <a:off x="822960" y="2697480"/>
            <a:ext cx="4846320" cy="640080"/>
          </a:xfrm>
          <a:prstGeom prst="rect">
            <a:avLst/>
          </a:prstGeom>
          <a:noFill/>
          <a:ln/>
        </p:spPr>
        <p:txBody>
          <a:bodyPr wrap="square" rtlCol="0" anchor="ctr"/>
          <a:lstStyle/>
          <a:p>
            <a:pPr indent="0" marL="0">
              <a:lnSpc>
                <a:spcPct val="110000"/>
              </a:lnSpc>
              <a:buNone/>
            </a:pPr>
            <a:r>
              <a:rPr lang="en-US" sz="1500" b="1" dirty="0">
                <a:solidFill>
                  <a:srgbClr val="1F2733"/>
                </a:solidFill>
                <a:latin typeface="Meiryo" pitchFamily="34" charset="0"/>
                <a:ea typeface="Meiryo" pitchFamily="34" charset="-122"/>
                <a:cs typeface="Meiryo" pitchFamily="34" charset="-120"/>
              </a:rPr>
              <a:t>便が増える → 人が足りない → 正社員を採用</a:t>
            </a:r>
            <a:endParaRPr lang="en-US" sz="1500" dirty="0"/>
          </a:p>
        </p:txBody>
      </p:sp>
      <p:sp>
        <p:nvSpPr>
          <p:cNvPr id="7" name="Shape 5"/>
          <p:cNvSpPr/>
          <p:nvPr/>
        </p:nvSpPr>
        <p:spPr>
          <a:xfrm>
            <a:off x="6035040" y="2514600"/>
            <a:ext cx="822960" cy="640080"/>
          </a:xfrm>
          <a:prstGeom prst="rightArrow">
            <a:avLst/>
          </a:prstGeom>
          <a:solidFill>
            <a:srgbClr val="B8891B"/>
          </a:solidFill>
          <a:ln/>
        </p:spPr>
      </p:sp>
      <p:sp>
        <p:nvSpPr>
          <p:cNvPr id="8" name="Shape 6"/>
          <p:cNvSpPr/>
          <p:nvPr/>
        </p:nvSpPr>
        <p:spPr>
          <a:xfrm>
            <a:off x="6995160" y="2194560"/>
            <a:ext cx="4645152" cy="1280160"/>
          </a:xfrm>
          <a:prstGeom prst="roundRect">
            <a:avLst>
              <a:gd name="adj" fmla="val 5714"/>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9" name="Text 7"/>
          <p:cNvSpPr/>
          <p:nvPr/>
        </p:nvSpPr>
        <p:spPr>
          <a:xfrm>
            <a:off x="7269480" y="2331720"/>
            <a:ext cx="3657600" cy="320040"/>
          </a:xfrm>
          <a:prstGeom prst="rect">
            <a:avLst/>
          </a:prstGeom>
          <a:noFill/>
          <a:ln/>
        </p:spPr>
        <p:txBody>
          <a:bodyPr wrap="square" rtlCol="0" anchor="ctr"/>
          <a:lstStyle/>
          <a:p>
            <a:pPr indent="0" marL="0">
              <a:buNone/>
            </a:pPr>
            <a:r>
              <a:rPr lang="en-US" sz="1300" b="1" dirty="0">
                <a:solidFill>
                  <a:srgbClr val="1E7A5A"/>
                </a:solidFill>
                <a:latin typeface="Meiryo" pitchFamily="34" charset="0"/>
                <a:ea typeface="Meiryo" pitchFamily="34" charset="-122"/>
                <a:cs typeface="Meiryo" pitchFamily="34" charset="-120"/>
              </a:rPr>
              <a:t>これから</a:t>
            </a:r>
            <a:endParaRPr lang="en-US" sz="1300" dirty="0"/>
          </a:p>
        </p:txBody>
      </p:sp>
      <p:sp>
        <p:nvSpPr>
          <p:cNvPr id="10" name="Text 8"/>
          <p:cNvSpPr/>
          <p:nvPr/>
        </p:nvSpPr>
        <p:spPr>
          <a:xfrm>
            <a:off x="7269480" y="2697480"/>
            <a:ext cx="4206240" cy="731520"/>
          </a:xfrm>
          <a:prstGeom prst="rect">
            <a:avLst/>
          </a:prstGeom>
          <a:noFill/>
          <a:ln/>
        </p:spPr>
        <p:txBody>
          <a:bodyPr wrap="square" rtlCol="0" anchor="ctr"/>
          <a:lstStyle/>
          <a:p>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Flight Schedule → 必要時間・人数を算出 → 最適配置 → 不足のみ補完</a:t>
            </a:r>
            <a:endParaRPr lang="en-US" sz="1350" dirty="0"/>
          </a:p>
        </p:txBody>
      </p:sp>
      <p:sp>
        <p:nvSpPr>
          <p:cNvPr id="11" name="Shape 9"/>
          <p:cNvSpPr/>
          <p:nvPr/>
        </p:nvSpPr>
        <p:spPr>
          <a:xfrm>
            <a:off x="548640" y="3794760"/>
            <a:ext cx="11091672" cy="1417320"/>
          </a:xfrm>
          <a:prstGeom prst="roundRect">
            <a:avLst>
              <a:gd name="adj" fmla="val 5161"/>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2" name="Shape 10"/>
          <p:cNvSpPr/>
          <p:nvPr/>
        </p:nvSpPr>
        <p:spPr>
          <a:xfrm>
            <a:off x="548640" y="3794760"/>
            <a:ext cx="11091672" cy="1417320"/>
          </a:xfrm>
          <a:prstGeom prst="rect">
            <a:avLst/>
          </a:prstGeom>
          <a:solidFill>
            <a:srgbClr val="1B2A4A"/>
          </a:solidFill>
          <a:ln/>
        </p:spPr>
      </p:sp>
      <p:sp>
        <p:nvSpPr>
          <p:cNvPr id="13" name="Text 11"/>
          <p:cNvSpPr/>
          <p:nvPr/>
        </p:nvSpPr>
        <p:spPr>
          <a:xfrm>
            <a:off x="868680" y="3977640"/>
            <a:ext cx="1042416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正社員・経験者・短時間勤務者を組み合わせる</a:t>
            </a:r>
            <a:endParaRPr lang="en-US" sz="1600" dirty="0"/>
          </a:p>
        </p:txBody>
      </p:sp>
      <p:sp>
        <p:nvSpPr>
          <p:cNvPr id="14" name="Text 12"/>
          <p:cNvSpPr/>
          <p:nvPr/>
        </p:nvSpPr>
        <p:spPr>
          <a:xfrm>
            <a:off x="868680" y="4480560"/>
            <a:ext cx="10424160" cy="640080"/>
          </a:xfrm>
          <a:prstGeom prst="rect">
            <a:avLst/>
          </a:prstGeom>
          <a:noFill/>
          <a:ln/>
        </p:spPr>
        <p:txBody>
          <a:bodyPr wrap="square" rtlCol="0" anchor="ctr"/>
          <a:lstStyle/>
          <a:p>
            <a:pPr indent="0" marL="0">
              <a:buNone/>
            </a:pPr>
            <a:r>
              <a:rPr lang="en-US" sz="2600" b="1" dirty="0">
                <a:solidFill>
                  <a:srgbClr val="FFFFFF"/>
                </a:solidFill>
                <a:latin typeface="Meiryo" pitchFamily="34" charset="0"/>
                <a:ea typeface="Meiryo" pitchFamily="34" charset="-122"/>
                <a:cs typeface="Meiryo" pitchFamily="34" charset="-120"/>
              </a:rPr>
              <a:t>『必要な時間に、必要な人員を、必要なだけ。』</a:t>
            </a:r>
            <a:endParaRPr lang="en-US" sz="2600" dirty="0"/>
          </a:p>
        </p:txBody>
      </p:sp>
      <p:sp>
        <p:nvSpPr>
          <p:cNvPr id="15" name="Text 13"/>
          <p:cNvSpPr/>
          <p:nvPr/>
        </p:nvSpPr>
        <p:spPr>
          <a:xfrm>
            <a:off x="566928" y="5486400"/>
            <a:ext cx="11064240" cy="457200"/>
          </a:xfrm>
          <a:prstGeom prst="rect">
            <a:avLst/>
          </a:prstGeom>
          <a:noFill/>
          <a:ln/>
        </p:spPr>
        <p:txBody>
          <a:bodyPr wrap="square" rtlCol="0" anchor="ctr"/>
          <a:lstStyle/>
          <a:p>
            <a:pPr indent="0" marL="0">
              <a:buNone/>
            </a:pPr>
            <a:r>
              <a:rPr lang="en-US" sz="1400" i="1" dirty="0">
                <a:solidFill>
                  <a:srgbClr val="6B7686"/>
                </a:solidFill>
                <a:latin typeface="Meiryo" pitchFamily="34" charset="0"/>
                <a:ea typeface="Meiryo" pitchFamily="34" charset="-122"/>
                <a:cs typeface="Meiryo" pitchFamily="34" charset="-120"/>
              </a:rPr>
              <a:t>会社の収支改善と、現場が無理なく運営できること ― この両立を目指す施策です。</a:t>
            </a:r>
            <a:endParaRPr lang="en-US" sz="14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想定される質問</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Q &amp; A</a:t>
            </a:r>
            <a:endParaRPr lang="en-US" sz="3000" dirty="0"/>
          </a:p>
        </p:txBody>
      </p:sp>
      <p:sp>
        <p:nvSpPr>
          <p:cNvPr id="4" name="Shape 2"/>
          <p:cNvSpPr/>
          <p:nvPr/>
        </p:nvSpPr>
        <p:spPr>
          <a:xfrm>
            <a:off x="548640"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5" name="Text 3"/>
          <p:cNvSpPr/>
          <p:nvPr/>
        </p:nvSpPr>
        <p:spPr>
          <a:xfrm>
            <a:off x="804672"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正社員はもう採用しない？</a:t>
            </a:r>
            <a:endParaRPr lang="en-US" sz="1400" dirty="0"/>
          </a:p>
        </p:txBody>
      </p:sp>
      <p:sp>
        <p:nvSpPr>
          <p:cNvPr id="6" name="Text 4"/>
          <p:cNvSpPr/>
          <p:nvPr/>
        </p:nvSpPr>
        <p:spPr>
          <a:xfrm>
            <a:off x="804672"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一切やめる訳ではない。中途は抑制方針だが、即戦力の経験者は個別判断。特定時間帯だけの不足をフルタイムで埋める採り方を見直す。</a:t>
            </a:r>
            <a:endParaRPr lang="en-US" sz="1200" dirty="0"/>
          </a:p>
        </p:txBody>
      </p:sp>
      <p:sp>
        <p:nvSpPr>
          <p:cNvPr id="7" name="Shape 5"/>
          <p:cNvSpPr/>
          <p:nvPr/>
        </p:nvSpPr>
        <p:spPr>
          <a:xfrm>
            <a:off x="4407408"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8" name="Text 6"/>
          <p:cNvSpPr/>
          <p:nvPr/>
        </p:nvSpPr>
        <p:spPr>
          <a:xfrm>
            <a:off x="4663440"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短時間勤務者では教育が大変では？</a:t>
            </a:r>
            <a:endParaRPr lang="en-US" sz="1400" dirty="0"/>
          </a:p>
        </p:txBody>
      </p:sp>
      <p:sp>
        <p:nvSpPr>
          <p:cNvPr id="9" name="Text 7"/>
          <p:cNvSpPr/>
          <p:nvPr/>
        </p:nvSpPr>
        <p:spPr>
          <a:xfrm>
            <a:off x="4663440"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大きな課題として認識。従来のフルタイム向けをそのまま当てず、短時間に合わせた教育・OJTを教育担当と整理中。</a:t>
            </a:r>
            <a:endParaRPr lang="en-US" sz="1200" dirty="0"/>
          </a:p>
        </p:txBody>
      </p:sp>
      <p:sp>
        <p:nvSpPr>
          <p:cNvPr id="10" name="Shape 8"/>
          <p:cNvSpPr/>
          <p:nvPr/>
        </p:nvSpPr>
        <p:spPr>
          <a:xfrm>
            <a:off x="8266176"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1" name="Text 9"/>
          <p:cNvSpPr/>
          <p:nvPr/>
        </p:nvSpPr>
        <p:spPr>
          <a:xfrm>
            <a:off x="8522208"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結局、現場の負担が増えるのでは？</a:t>
            </a:r>
            <a:endParaRPr lang="en-US" sz="1400" dirty="0"/>
          </a:p>
        </p:txBody>
      </p:sp>
      <p:sp>
        <p:nvSpPr>
          <p:cNvPr id="12" name="Text 10"/>
          <p:cNvSpPr/>
          <p:nvPr/>
        </p:nvSpPr>
        <p:spPr>
          <a:xfrm>
            <a:off x="8522208"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採って終わりにせず、ラインへ投入できるまでをプロジェクトで管理。教育・配置は人事・教育・現場で役割分担する。</a:t>
            </a:r>
            <a:endParaRPr lang="en-US" sz="1200" dirty="0"/>
          </a:p>
        </p:txBody>
      </p:sp>
      <p:sp>
        <p:nvSpPr>
          <p:cNvPr id="13" name="Shape 11"/>
          <p:cNvSpPr/>
          <p:nvPr/>
        </p:nvSpPr>
        <p:spPr>
          <a:xfrm>
            <a:off x="548640"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4" name="Text 12"/>
          <p:cNvSpPr/>
          <p:nvPr/>
        </p:nvSpPr>
        <p:spPr>
          <a:xfrm>
            <a:off x="804672"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何人採用してもらえる？</a:t>
            </a:r>
            <a:endParaRPr lang="en-US" sz="1400" dirty="0"/>
          </a:p>
        </p:txBody>
      </p:sp>
      <p:sp>
        <p:nvSpPr>
          <p:cNvPr id="15" name="Text 13"/>
          <p:cNvSpPr/>
          <p:nvPr/>
        </p:nvSpPr>
        <p:spPr>
          <a:xfrm>
            <a:off x="804672"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人数を先に決めない。Winter Schedule を基に『何時に・どのポジションで・何人不足するか』を確認して決める。</a:t>
            </a:r>
            <a:endParaRPr lang="en-US" sz="1200" dirty="0"/>
          </a:p>
        </p:txBody>
      </p:sp>
      <p:sp>
        <p:nvSpPr>
          <p:cNvPr id="16" name="Shape 14"/>
          <p:cNvSpPr/>
          <p:nvPr/>
        </p:nvSpPr>
        <p:spPr>
          <a:xfrm>
            <a:off x="4407408"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17" name="Text 15"/>
          <p:cNvSpPr/>
          <p:nvPr/>
        </p:nvSpPr>
        <p:spPr>
          <a:xfrm>
            <a:off x="4663440"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短時間だけで本当に運営できる？</a:t>
            </a:r>
            <a:endParaRPr lang="en-US" sz="1400" dirty="0"/>
          </a:p>
        </p:txBody>
      </p:sp>
      <p:sp>
        <p:nvSpPr>
          <p:cNvPr id="18" name="Text 16"/>
          <p:cNvSpPr/>
          <p:nvPr/>
        </p:nvSpPr>
        <p:spPr>
          <a:xfrm>
            <a:off x="4663440"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短時間だけで運営する考えではない。フルタイムをコアに、ピーク部分を短時間で補完する組み合わせ。</a:t>
            </a:r>
            <a:endParaRPr lang="en-US" sz="1200" dirty="0"/>
          </a:p>
        </p:txBody>
      </p:sp>
      <p:sp>
        <p:nvSpPr>
          <p:cNvPr id="19" name="Shape 17"/>
          <p:cNvSpPr/>
          <p:nvPr/>
        </p:nvSpPr>
        <p:spPr>
          <a:xfrm>
            <a:off x="8266176"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sp>
      <p:sp>
        <p:nvSpPr>
          <p:cNvPr id="20" name="Text 18"/>
          <p:cNvSpPr/>
          <p:nvPr/>
        </p:nvSpPr>
        <p:spPr>
          <a:xfrm>
            <a:off x="8522208"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欠員が出たらどうする？</a:t>
            </a:r>
            <a:endParaRPr lang="en-US" sz="1400" dirty="0"/>
          </a:p>
        </p:txBody>
      </p:sp>
      <p:sp>
        <p:nvSpPr>
          <p:cNvPr id="21" name="Text 19"/>
          <p:cNvSpPr/>
          <p:nvPr/>
        </p:nvSpPr>
        <p:spPr>
          <a:xfrm>
            <a:off x="8522208"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一定の運用余力は必要。それをフルタイムだけで持たず、雇用形態を組み合わせて必要な安定性を確保する。</a:t>
            </a:r>
            <a:endParaRPr lang="en-US" sz="1200" dirty="0"/>
          </a:p>
        </p:txBody>
      </p:sp>
      <p:sp>
        <p:nvSpPr>
          <p:cNvPr id="22" name="Text 2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3" name="Text 2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説明会後のアクション</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次に動くこと（担当別）</a:t>
            </a:r>
            <a:endParaRPr lang="en-US" sz="3000" dirty="0"/>
          </a:p>
        </p:txBody>
      </p:sp>
      <p:sp>
        <p:nvSpPr>
          <p:cNvPr id="4" name="Shape 2"/>
          <p:cNvSpPr/>
          <p:nvPr/>
        </p:nvSpPr>
        <p:spPr>
          <a:xfrm>
            <a:off x="548640" y="2194560"/>
            <a:ext cx="11091672" cy="530352"/>
          </a:xfrm>
          <a:prstGeom prst="rect">
            <a:avLst/>
          </a:prstGeom>
          <a:solidFill>
            <a:srgbClr val="F4F6FA"/>
          </a:solidFill>
          <a:ln/>
        </p:spPr>
      </p:sp>
      <p:sp>
        <p:nvSpPr>
          <p:cNvPr id="5" name="Shape 3"/>
          <p:cNvSpPr/>
          <p:nvPr/>
        </p:nvSpPr>
        <p:spPr>
          <a:xfrm>
            <a:off x="713232" y="2295144"/>
            <a:ext cx="2103120" cy="329184"/>
          </a:xfrm>
          <a:prstGeom prst="roundRect">
            <a:avLst>
              <a:gd name="adj" fmla="val 50000"/>
            </a:avLst>
          </a:prstGeom>
          <a:solidFill>
            <a:srgbClr val="1B2A4A"/>
          </a:solidFill>
          <a:ln/>
        </p:spPr>
      </p:sp>
      <p:sp>
        <p:nvSpPr>
          <p:cNvPr id="6" name="Text 4"/>
          <p:cNvSpPr/>
          <p:nvPr/>
        </p:nvSpPr>
        <p:spPr>
          <a:xfrm>
            <a:off x="713232" y="229514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7" name="Text 5"/>
          <p:cNvSpPr/>
          <p:nvPr/>
        </p:nvSpPr>
        <p:spPr>
          <a:xfrm>
            <a:off x="3017520" y="219456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26W Flight Schedule を基に、時間帯別の必要人数を整理</a:t>
            </a:r>
            <a:endParaRPr lang="en-US" sz="1350" dirty="0"/>
          </a:p>
        </p:txBody>
      </p:sp>
      <p:sp>
        <p:nvSpPr>
          <p:cNvPr id="8" name="Shape 6"/>
          <p:cNvSpPr/>
          <p:nvPr/>
        </p:nvSpPr>
        <p:spPr>
          <a:xfrm>
            <a:off x="713232" y="2825496"/>
            <a:ext cx="2103120" cy="329184"/>
          </a:xfrm>
          <a:prstGeom prst="roundRect">
            <a:avLst>
              <a:gd name="adj" fmla="val 50000"/>
            </a:avLst>
          </a:prstGeom>
          <a:solidFill>
            <a:srgbClr val="1B2A4A"/>
          </a:solidFill>
          <a:ln/>
        </p:spPr>
      </p:sp>
      <p:sp>
        <p:nvSpPr>
          <p:cNvPr id="9" name="Text 7"/>
          <p:cNvSpPr/>
          <p:nvPr/>
        </p:nvSpPr>
        <p:spPr>
          <a:xfrm>
            <a:off x="713232" y="282549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10" name="Text 8"/>
          <p:cNvSpPr/>
          <p:nvPr/>
        </p:nvSpPr>
        <p:spPr>
          <a:xfrm>
            <a:off x="3017520" y="272491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既存在籍でカバーできる出面と、不足出面を分離</a:t>
            </a:r>
            <a:endParaRPr lang="en-US" sz="1350" dirty="0"/>
          </a:p>
        </p:txBody>
      </p:sp>
      <p:sp>
        <p:nvSpPr>
          <p:cNvPr id="11" name="Shape 9"/>
          <p:cNvSpPr/>
          <p:nvPr/>
        </p:nvSpPr>
        <p:spPr>
          <a:xfrm>
            <a:off x="548640" y="3255264"/>
            <a:ext cx="11091672" cy="530352"/>
          </a:xfrm>
          <a:prstGeom prst="rect">
            <a:avLst/>
          </a:prstGeom>
          <a:solidFill>
            <a:srgbClr val="F4F6FA"/>
          </a:solidFill>
          <a:ln/>
        </p:spPr>
      </p:sp>
      <p:sp>
        <p:nvSpPr>
          <p:cNvPr id="12" name="Shape 10"/>
          <p:cNvSpPr/>
          <p:nvPr/>
        </p:nvSpPr>
        <p:spPr>
          <a:xfrm>
            <a:off x="713232" y="3355848"/>
            <a:ext cx="2103120" cy="329184"/>
          </a:xfrm>
          <a:prstGeom prst="roundRect">
            <a:avLst>
              <a:gd name="adj" fmla="val 50000"/>
            </a:avLst>
          </a:prstGeom>
          <a:solidFill>
            <a:srgbClr val="1B2A4A"/>
          </a:solidFill>
          <a:ln/>
        </p:spPr>
      </p:sp>
      <p:sp>
        <p:nvSpPr>
          <p:cNvPr id="13" name="Text 11"/>
          <p:cNvSpPr/>
          <p:nvPr/>
        </p:nvSpPr>
        <p:spPr>
          <a:xfrm>
            <a:off x="713232" y="3355848"/>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人事</a:t>
            </a:r>
            <a:endParaRPr lang="en-US" sz="1150" dirty="0"/>
          </a:p>
        </p:txBody>
      </p:sp>
      <p:sp>
        <p:nvSpPr>
          <p:cNvPr id="14" name="Text 12"/>
          <p:cNvSpPr/>
          <p:nvPr/>
        </p:nvSpPr>
        <p:spPr>
          <a:xfrm>
            <a:off x="3017520" y="3255264"/>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不足出面を集約し、短時間勤務者の採用時間帯・人数を再設定</a:t>
            </a:r>
            <a:endParaRPr lang="en-US" sz="1350" dirty="0"/>
          </a:p>
        </p:txBody>
      </p:sp>
      <p:sp>
        <p:nvSpPr>
          <p:cNvPr id="15" name="Shape 13"/>
          <p:cNvSpPr/>
          <p:nvPr/>
        </p:nvSpPr>
        <p:spPr>
          <a:xfrm>
            <a:off x="713232" y="3886200"/>
            <a:ext cx="2103120" cy="329184"/>
          </a:xfrm>
          <a:prstGeom prst="roundRect">
            <a:avLst>
              <a:gd name="adj" fmla="val 50000"/>
            </a:avLst>
          </a:prstGeom>
          <a:solidFill>
            <a:srgbClr val="1B2A4A"/>
          </a:solidFill>
          <a:ln/>
        </p:spPr>
      </p:sp>
      <p:sp>
        <p:nvSpPr>
          <p:cNvPr id="16" name="Text 14"/>
          <p:cNvSpPr/>
          <p:nvPr/>
        </p:nvSpPr>
        <p:spPr>
          <a:xfrm>
            <a:off x="713232" y="3886200"/>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現場＋人事</a:t>
            </a:r>
            <a:endParaRPr lang="en-US" sz="1150" dirty="0"/>
          </a:p>
        </p:txBody>
      </p:sp>
      <p:sp>
        <p:nvSpPr>
          <p:cNvPr id="17" name="Text 15"/>
          <p:cNvSpPr/>
          <p:nvPr/>
        </p:nvSpPr>
        <p:spPr>
          <a:xfrm>
            <a:off x="3017520" y="3785616"/>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配置可能なポジション・必要資格を整理</a:t>
            </a:r>
            <a:endParaRPr lang="en-US" sz="1350" dirty="0"/>
          </a:p>
        </p:txBody>
      </p:sp>
      <p:sp>
        <p:nvSpPr>
          <p:cNvPr id="18" name="Shape 16"/>
          <p:cNvSpPr/>
          <p:nvPr/>
        </p:nvSpPr>
        <p:spPr>
          <a:xfrm>
            <a:off x="548640" y="4315968"/>
            <a:ext cx="11091672" cy="530352"/>
          </a:xfrm>
          <a:prstGeom prst="rect">
            <a:avLst/>
          </a:prstGeom>
          <a:solidFill>
            <a:srgbClr val="F4F6FA"/>
          </a:solidFill>
          <a:ln/>
        </p:spPr>
      </p:sp>
      <p:sp>
        <p:nvSpPr>
          <p:cNvPr id="19" name="Shape 17"/>
          <p:cNvSpPr/>
          <p:nvPr/>
        </p:nvSpPr>
        <p:spPr>
          <a:xfrm>
            <a:off x="713232" y="4416552"/>
            <a:ext cx="2103120" cy="329184"/>
          </a:xfrm>
          <a:prstGeom prst="roundRect">
            <a:avLst>
              <a:gd name="adj" fmla="val 50000"/>
            </a:avLst>
          </a:prstGeom>
          <a:solidFill>
            <a:srgbClr val="1B2A4A"/>
          </a:solidFill>
          <a:ln/>
        </p:spPr>
      </p:sp>
      <p:sp>
        <p:nvSpPr>
          <p:cNvPr id="20" name="Text 18"/>
          <p:cNvSpPr/>
          <p:nvPr/>
        </p:nvSpPr>
        <p:spPr>
          <a:xfrm>
            <a:off x="713232" y="4416552"/>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教育担当</a:t>
            </a:r>
            <a:endParaRPr lang="en-US" sz="1150" dirty="0"/>
          </a:p>
        </p:txBody>
      </p:sp>
      <p:sp>
        <p:nvSpPr>
          <p:cNvPr id="21" name="Text 19"/>
          <p:cNvSpPr/>
          <p:nvPr/>
        </p:nvSpPr>
        <p:spPr>
          <a:xfrm>
            <a:off x="3017520" y="4315968"/>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短時間勤務者向けの教育・OJT 方法を確定</a:t>
            </a:r>
            <a:endParaRPr lang="en-US" sz="1350" dirty="0"/>
          </a:p>
        </p:txBody>
      </p:sp>
      <p:sp>
        <p:nvSpPr>
          <p:cNvPr id="22" name="Shape 20"/>
          <p:cNvSpPr/>
          <p:nvPr/>
        </p:nvSpPr>
        <p:spPr>
          <a:xfrm>
            <a:off x="713232" y="4946904"/>
            <a:ext cx="2103120" cy="329184"/>
          </a:xfrm>
          <a:prstGeom prst="roundRect">
            <a:avLst>
              <a:gd name="adj" fmla="val 50000"/>
            </a:avLst>
          </a:prstGeom>
          <a:solidFill>
            <a:srgbClr val="1B2A4A"/>
          </a:solidFill>
          <a:ln/>
        </p:spPr>
      </p:sp>
      <p:sp>
        <p:nvSpPr>
          <p:cNvPr id="23" name="Text 21"/>
          <p:cNvSpPr/>
          <p:nvPr/>
        </p:nvSpPr>
        <p:spPr>
          <a:xfrm>
            <a:off x="713232" y="494690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採用担当</a:t>
            </a:r>
            <a:endParaRPr lang="en-US" sz="1150" dirty="0"/>
          </a:p>
        </p:txBody>
      </p:sp>
      <p:sp>
        <p:nvSpPr>
          <p:cNvPr id="24" name="Text 22"/>
          <p:cNvSpPr/>
          <p:nvPr/>
        </p:nvSpPr>
        <p:spPr>
          <a:xfrm>
            <a:off x="3017520" y="484632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媒体・経験者採用ルートを、不足時間帯に合わせて修正</a:t>
            </a:r>
            <a:endParaRPr lang="en-US" sz="1350" dirty="0"/>
          </a:p>
        </p:txBody>
      </p:sp>
      <p:sp>
        <p:nvSpPr>
          <p:cNvPr id="25" name="Shape 23"/>
          <p:cNvSpPr/>
          <p:nvPr/>
        </p:nvSpPr>
        <p:spPr>
          <a:xfrm>
            <a:off x="548640" y="5376672"/>
            <a:ext cx="11091672" cy="530352"/>
          </a:xfrm>
          <a:prstGeom prst="rect">
            <a:avLst/>
          </a:prstGeom>
          <a:solidFill>
            <a:srgbClr val="F4F6FA"/>
          </a:solidFill>
          <a:ln/>
        </p:spPr>
      </p:sp>
      <p:sp>
        <p:nvSpPr>
          <p:cNvPr id="26" name="Shape 24"/>
          <p:cNvSpPr/>
          <p:nvPr/>
        </p:nvSpPr>
        <p:spPr>
          <a:xfrm>
            <a:off x="713232" y="5477256"/>
            <a:ext cx="2103120" cy="329184"/>
          </a:xfrm>
          <a:prstGeom prst="roundRect">
            <a:avLst>
              <a:gd name="adj" fmla="val 50000"/>
            </a:avLst>
          </a:prstGeom>
          <a:solidFill>
            <a:srgbClr val="1B2A4A"/>
          </a:solidFill>
          <a:ln/>
        </p:spPr>
      </p:sp>
      <p:sp>
        <p:nvSpPr>
          <p:cNvPr id="27" name="Text 25"/>
          <p:cNvSpPr/>
          <p:nvPr/>
        </p:nvSpPr>
        <p:spPr>
          <a:xfrm>
            <a:off x="713232" y="547725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採用後</a:t>
            </a:r>
            <a:endParaRPr lang="en-US" sz="1150" dirty="0"/>
          </a:p>
        </p:txBody>
      </p:sp>
      <p:sp>
        <p:nvSpPr>
          <p:cNvPr id="28" name="Text 26"/>
          <p:cNvSpPr/>
          <p:nvPr/>
        </p:nvSpPr>
        <p:spPr>
          <a:xfrm>
            <a:off x="3017520" y="537667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人数ではなく「必要出面を何時間補完できたか」で効果検証</a:t>
            </a:r>
            <a:endParaRPr lang="en-US" sz="1350" dirty="0"/>
          </a:p>
        </p:txBody>
      </p:sp>
      <p:sp>
        <p:nvSpPr>
          <p:cNvPr id="29" name="Text 27"/>
          <p:cNvSpPr/>
          <p:nvPr/>
        </p:nvSpPr>
        <p:spPr>
          <a:xfrm>
            <a:off x="566928" y="6044184"/>
            <a:ext cx="11064240" cy="365760"/>
          </a:xfrm>
          <a:prstGeom prst="rect">
            <a:avLst/>
          </a:prstGeom>
          <a:noFill/>
          <a:ln/>
        </p:spPr>
        <p:txBody>
          <a:bodyPr wrap="square" rtlCol="0" anchor="ctr"/>
          <a:lstStyle/>
          <a:p>
            <a:pPr indent="0" marL="0">
              <a:buNone/>
            </a:pPr>
            <a:r>
              <a:rPr lang="en-US" sz="1150" i="1" dirty="0">
                <a:solidFill>
                  <a:srgbClr val="B8891B"/>
                </a:solidFill>
                <a:latin typeface="Meiryo" pitchFamily="34" charset="0"/>
                <a:ea typeface="Meiryo" pitchFamily="34" charset="-122"/>
                <a:cs typeface="Meiryo" pitchFamily="34" charset="-120"/>
              </a:rPr>
              <a:t>※ 各アクションは Winter Schedule 稼働からの逆算で、提出期限を別途設定します。</a:t>
            </a:r>
            <a:endParaRPr lang="en-US" sz="1150" dirty="0"/>
          </a:p>
        </p:txBody>
      </p:sp>
      <p:sp>
        <p:nvSpPr>
          <p:cNvPr id="30" name="Text 2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1" name="Text 2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640080"/>
            <a:ext cx="10058400" cy="457200"/>
          </a:xfrm>
          <a:prstGeom prst="rect">
            <a:avLst/>
          </a:prstGeom>
          <a:noFill/>
          <a:ln/>
        </p:spPr>
        <p:txBody>
          <a:bodyPr wrap="square" rtlCol="0" anchor="ctr"/>
          <a:lstStyle/>
          <a:p>
            <a:pPr indent="0" marL="0">
              <a:buNone/>
            </a:pPr>
            <a:r>
              <a:rPr lang="en-US" sz="1600" b="1" dirty="0">
                <a:solidFill>
                  <a:srgbClr val="7C93C6"/>
                </a:solidFill>
                <a:latin typeface="Meiryo" pitchFamily="34" charset="0"/>
                <a:ea typeface="Meiryo" pitchFamily="34" charset="-122"/>
                <a:cs typeface="Meiryo" pitchFamily="34" charset="-120"/>
              </a:rPr>
              <a:t>軸をぶらさないための6つのキーワード</a:t>
            </a:r>
            <a:endParaRPr lang="en-US" sz="1600" dirty="0"/>
          </a:p>
        </p:txBody>
      </p:sp>
      <p:sp>
        <p:nvSpPr>
          <p:cNvPr id="3" name="Shape 1"/>
          <p:cNvSpPr/>
          <p:nvPr/>
        </p:nvSpPr>
        <p:spPr>
          <a:xfrm>
            <a:off x="548640" y="1280160"/>
            <a:ext cx="5486400" cy="1051560"/>
          </a:xfrm>
          <a:prstGeom prst="roundRect">
            <a:avLst>
              <a:gd name="adj" fmla="val 5217"/>
            </a:avLst>
          </a:prstGeom>
          <a:solidFill>
            <a:srgbClr val="22345B"/>
          </a:solidFill>
          <a:ln w="12700">
            <a:solidFill>
              <a:srgbClr val="33476F"/>
            </a:solidFill>
            <a:prstDash val="solid"/>
          </a:ln>
        </p:spPr>
      </p:sp>
      <p:sp>
        <p:nvSpPr>
          <p:cNvPr id="4" name="Shape 2"/>
          <p:cNvSpPr/>
          <p:nvPr/>
        </p:nvSpPr>
        <p:spPr>
          <a:xfrm>
            <a:off x="777240" y="1572768"/>
            <a:ext cx="457200" cy="457200"/>
          </a:xfrm>
          <a:prstGeom prst="roundRect">
            <a:avLst>
              <a:gd name="adj" fmla="val 50000"/>
            </a:avLst>
          </a:prstGeom>
          <a:solidFill>
            <a:srgbClr val="B8891B"/>
          </a:solidFill>
          <a:ln/>
        </p:spPr>
      </p:sp>
      <p:sp>
        <p:nvSpPr>
          <p:cNvPr id="5" name="Text 3"/>
          <p:cNvSpPr/>
          <p:nvPr/>
        </p:nvSpPr>
        <p:spPr>
          <a:xfrm>
            <a:off x="777240"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6" name="Text 4"/>
          <p:cNvSpPr/>
          <p:nvPr/>
        </p:nvSpPr>
        <p:spPr>
          <a:xfrm>
            <a:off x="1371600"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主語は「パート採用」ではなく「人員の持ち方の転換」</a:t>
            </a:r>
            <a:endParaRPr lang="en-US" sz="1300" dirty="0"/>
          </a:p>
        </p:txBody>
      </p:sp>
      <p:sp>
        <p:nvSpPr>
          <p:cNvPr id="7" name="Shape 5"/>
          <p:cNvSpPr/>
          <p:nvPr/>
        </p:nvSpPr>
        <p:spPr>
          <a:xfrm>
            <a:off x="6153912" y="1280160"/>
            <a:ext cx="5486400" cy="1051560"/>
          </a:xfrm>
          <a:prstGeom prst="roundRect">
            <a:avLst>
              <a:gd name="adj" fmla="val 5217"/>
            </a:avLst>
          </a:prstGeom>
          <a:solidFill>
            <a:srgbClr val="22345B"/>
          </a:solidFill>
          <a:ln w="12700">
            <a:solidFill>
              <a:srgbClr val="33476F"/>
            </a:solidFill>
            <a:prstDash val="solid"/>
          </a:ln>
        </p:spPr>
      </p:sp>
      <p:sp>
        <p:nvSpPr>
          <p:cNvPr id="8" name="Shape 6"/>
          <p:cNvSpPr/>
          <p:nvPr/>
        </p:nvSpPr>
        <p:spPr>
          <a:xfrm>
            <a:off x="6382512" y="1572768"/>
            <a:ext cx="457200" cy="457200"/>
          </a:xfrm>
          <a:prstGeom prst="roundRect">
            <a:avLst>
              <a:gd name="adj" fmla="val 50000"/>
            </a:avLst>
          </a:prstGeom>
          <a:solidFill>
            <a:srgbClr val="B8891B"/>
          </a:solidFill>
          <a:ln/>
        </p:spPr>
      </p:sp>
      <p:sp>
        <p:nvSpPr>
          <p:cNvPr id="9" name="Text 7"/>
          <p:cNvSpPr/>
          <p:nvPr/>
        </p:nvSpPr>
        <p:spPr>
          <a:xfrm>
            <a:off x="6382512"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0" name="Text 8"/>
          <p:cNvSpPr/>
          <p:nvPr/>
        </p:nvSpPr>
        <p:spPr>
          <a:xfrm>
            <a:off x="6976872"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「人が足りない」で終わらせず、何時に・何人・どのポジションを確認</a:t>
            </a:r>
            <a:endParaRPr lang="en-US" sz="1300" dirty="0"/>
          </a:p>
        </p:txBody>
      </p:sp>
      <p:sp>
        <p:nvSpPr>
          <p:cNvPr id="11" name="Shape 9"/>
          <p:cNvSpPr/>
          <p:nvPr/>
        </p:nvSpPr>
        <p:spPr>
          <a:xfrm>
            <a:off x="548640" y="2478024"/>
            <a:ext cx="5486400" cy="1051560"/>
          </a:xfrm>
          <a:prstGeom prst="roundRect">
            <a:avLst>
              <a:gd name="adj" fmla="val 5217"/>
            </a:avLst>
          </a:prstGeom>
          <a:solidFill>
            <a:srgbClr val="22345B"/>
          </a:solidFill>
          <a:ln w="12700">
            <a:solidFill>
              <a:srgbClr val="33476F"/>
            </a:solidFill>
            <a:prstDash val="solid"/>
          </a:ln>
        </p:spPr>
      </p:sp>
      <p:sp>
        <p:nvSpPr>
          <p:cNvPr id="12" name="Shape 10"/>
          <p:cNvSpPr/>
          <p:nvPr/>
        </p:nvSpPr>
        <p:spPr>
          <a:xfrm>
            <a:off x="777240" y="2770632"/>
            <a:ext cx="457200" cy="457200"/>
          </a:xfrm>
          <a:prstGeom prst="roundRect">
            <a:avLst>
              <a:gd name="adj" fmla="val 50000"/>
            </a:avLst>
          </a:prstGeom>
          <a:solidFill>
            <a:srgbClr val="B8891B"/>
          </a:solidFill>
          <a:ln/>
        </p:spPr>
      </p:sp>
      <p:sp>
        <p:nvSpPr>
          <p:cNvPr id="13" name="Text 11"/>
          <p:cNvSpPr/>
          <p:nvPr/>
        </p:nvSpPr>
        <p:spPr>
          <a:xfrm>
            <a:off x="777240"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4" name="Text 12"/>
          <p:cNvSpPr/>
          <p:nvPr/>
        </p:nvSpPr>
        <p:spPr>
          <a:xfrm>
            <a:off x="1371600"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採用人数を先に決めない。不足出面から逆算する</a:t>
            </a:r>
            <a:endParaRPr lang="en-US" sz="1300" dirty="0"/>
          </a:p>
        </p:txBody>
      </p:sp>
      <p:sp>
        <p:nvSpPr>
          <p:cNvPr id="15" name="Shape 13"/>
          <p:cNvSpPr/>
          <p:nvPr/>
        </p:nvSpPr>
        <p:spPr>
          <a:xfrm>
            <a:off x="6153912" y="2478024"/>
            <a:ext cx="5486400" cy="1051560"/>
          </a:xfrm>
          <a:prstGeom prst="roundRect">
            <a:avLst>
              <a:gd name="adj" fmla="val 5217"/>
            </a:avLst>
          </a:prstGeom>
          <a:solidFill>
            <a:srgbClr val="22345B"/>
          </a:solidFill>
          <a:ln w="12700">
            <a:solidFill>
              <a:srgbClr val="33476F"/>
            </a:solidFill>
            <a:prstDash val="solid"/>
          </a:ln>
        </p:spPr>
      </p:sp>
      <p:sp>
        <p:nvSpPr>
          <p:cNvPr id="16" name="Shape 14"/>
          <p:cNvSpPr/>
          <p:nvPr/>
        </p:nvSpPr>
        <p:spPr>
          <a:xfrm>
            <a:off x="6382512" y="2770632"/>
            <a:ext cx="457200" cy="457200"/>
          </a:xfrm>
          <a:prstGeom prst="roundRect">
            <a:avLst>
              <a:gd name="adj" fmla="val 50000"/>
            </a:avLst>
          </a:prstGeom>
          <a:solidFill>
            <a:srgbClr val="B8891B"/>
          </a:solidFill>
          <a:ln/>
        </p:spPr>
      </p:sp>
      <p:sp>
        <p:nvSpPr>
          <p:cNvPr id="17" name="Text 15"/>
          <p:cNvSpPr/>
          <p:nvPr/>
        </p:nvSpPr>
        <p:spPr>
          <a:xfrm>
            <a:off x="6382512"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18" name="Text 16"/>
          <p:cNvSpPr/>
          <p:nvPr/>
        </p:nvSpPr>
        <p:spPr>
          <a:xfrm>
            <a:off x="6976872"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正社員を否定しない。正社員が必要な仕事と補完できる仕事を分ける</a:t>
            </a:r>
            <a:endParaRPr lang="en-US" sz="1300" dirty="0"/>
          </a:p>
        </p:txBody>
      </p:sp>
      <p:sp>
        <p:nvSpPr>
          <p:cNvPr id="19" name="Shape 17"/>
          <p:cNvSpPr/>
          <p:nvPr/>
        </p:nvSpPr>
        <p:spPr>
          <a:xfrm>
            <a:off x="548640" y="3675888"/>
            <a:ext cx="5486400" cy="1051560"/>
          </a:xfrm>
          <a:prstGeom prst="roundRect">
            <a:avLst>
              <a:gd name="adj" fmla="val 5217"/>
            </a:avLst>
          </a:prstGeom>
          <a:solidFill>
            <a:srgbClr val="22345B"/>
          </a:solidFill>
          <a:ln w="12700">
            <a:solidFill>
              <a:srgbClr val="33476F"/>
            </a:solidFill>
            <a:prstDash val="solid"/>
          </a:ln>
        </p:spPr>
      </p:sp>
      <p:sp>
        <p:nvSpPr>
          <p:cNvPr id="20" name="Shape 18"/>
          <p:cNvSpPr/>
          <p:nvPr/>
        </p:nvSpPr>
        <p:spPr>
          <a:xfrm>
            <a:off x="777240" y="3968496"/>
            <a:ext cx="457200" cy="457200"/>
          </a:xfrm>
          <a:prstGeom prst="roundRect">
            <a:avLst>
              <a:gd name="adj" fmla="val 50000"/>
            </a:avLst>
          </a:prstGeom>
          <a:solidFill>
            <a:srgbClr val="B8891B"/>
          </a:solidFill>
          <a:ln/>
        </p:spPr>
      </p:sp>
      <p:sp>
        <p:nvSpPr>
          <p:cNvPr id="21" name="Text 19"/>
          <p:cNvSpPr/>
          <p:nvPr/>
        </p:nvSpPr>
        <p:spPr>
          <a:xfrm>
            <a:off x="777240"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2" name="Text 20"/>
          <p:cNvSpPr/>
          <p:nvPr/>
        </p:nvSpPr>
        <p:spPr>
          <a:xfrm>
            <a:off x="1371600"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目的は人件費削減だけでなく、現場運営を維持しながら原価を適正化</a:t>
            </a:r>
            <a:endParaRPr lang="en-US" sz="1300" dirty="0"/>
          </a:p>
        </p:txBody>
      </p:sp>
      <p:sp>
        <p:nvSpPr>
          <p:cNvPr id="23" name="Shape 21"/>
          <p:cNvSpPr/>
          <p:nvPr/>
        </p:nvSpPr>
        <p:spPr>
          <a:xfrm>
            <a:off x="6153912" y="3675888"/>
            <a:ext cx="5486400" cy="1051560"/>
          </a:xfrm>
          <a:prstGeom prst="roundRect">
            <a:avLst>
              <a:gd name="adj" fmla="val 5217"/>
            </a:avLst>
          </a:prstGeom>
          <a:solidFill>
            <a:srgbClr val="22345B"/>
          </a:solidFill>
          <a:ln w="12700">
            <a:solidFill>
              <a:srgbClr val="33476F"/>
            </a:solidFill>
            <a:prstDash val="solid"/>
          </a:ln>
        </p:spPr>
      </p:sp>
      <p:sp>
        <p:nvSpPr>
          <p:cNvPr id="24" name="Shape 22"/>
          <p:cNvSpPr/>
          <p:nvPr/>
        </p:nvSpPr>
        <p:spPr>
          <a:xfrm>
            <a:off x="6382512" y="3968496"/>
            <a:ext cx="457200" cy="457200"/>
          </a:xfrm>
          <a:prstGeom prst="roundRect">
            <a:avLst>
              <a:gd name="adj" fmla="val 50000"/>
            </a:avLst>
          </a:prstGeom>
          <a:solidFill>
            <a:srgbClr val="B8891B"/>
          </a:solidFill>
          <a:ln/>
        </p:spPr>
      </p:sp>
      <p:sp>
        <p:nvSpPr>
          <p:cNvPr id="25" name="Text 23"/>
          <p:cNvSpPr/>
          <p:nvPr/>
        </p:nvSpPr>
        <p:spPr>
          <a:xfrm>
            <a:off x="6382512"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26" name="Text 24"/>
          <p:cNvSpPr/>
          <p:nvPr/>
        </p:nvSpPr>
        <p:spPr>
          <a:xfrm>
            <a:off x="6976872"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現場に丸投げしない。人事・教育・現場の共同プロジェクト</a:t>
            </a:r>
            <a:endParaRPr lang="en-US" sz="1300" dirty="0"/>
          </a:p>
        </p:txBody>
      </p:sp>
      <p:sp>
        <p:nvSpPr>
          <p:cNvPr id="27" name="Shape 25"/>
          <p:cNvSpPr/>
          <p:nvPr/>
        </p:nvSpPr>
        <p:spPr>
          <a:xfrm>
            <a:off x="685800" y="5029200"/>
            <a:ext cx="10789920" cy="0"/>
          </a:xfrm>
          <a:prstGeom prst="line">
            <a:avLst/>
          </a:prstGeom>
          <a:noFill/>
          <a:ln w="12700">
            <a:solidFill>
              <a:srgbClr val="33476F"/>
            </a:solidFill>
            <a:prstDash val="solid"/>
          </a:ln>
        </p:spPr>
      </p:sp>
      <p:sp>
        <p:nvSpPr>
          <p:cNvPr id="28" name="Text 26"/>
          <p:cNvSpPr/>
          <p:nvPr/>
        </p:nvSpPr>
        <p:spPr>
          <a:xfrm>
            <a:off x="685800" y="5257800"/>
            <a:ext cx="10789920" cy="731520"/>
          </a:xfrm>
          <a:prstGeom prst="rect">
            <a:avLst/>
          </a:prstGeom>
          <a:noFill/>
          <a:ln/>
        </p:spPr>
        <p:txBody>
          <a:bodyPr wrap="square" rtlCol="0" anchor="ctr"/>
          <a:lstStyle/>
          <a:p>
            <a:pPr algn="ctr" indent="0" marL="0">
              <a:buNone/>
            </a:pPr>
            <a:r>
              <a:rPr lang="en-US" sz="2800" b="1" dirty="0">
                <a:solidFill>
                  <a:srgbClr val="FFFFFF"/>
                </a:solidFill>
                <a:latin typeface="Meiryo" pitchFamily="34" charset="0"/>
                <a:ea typeface="Meiryo" pitchFamily="34" charset="-122"/>
                <a:cs typeface="Meiryo" pitchFamily="34" charset="-120"/>
              </a:rPr>
              <a:t>『必要な時間に、必要な人員を、必要なだけ。』</a:t>
            </a:r>
            <a:endParaRPr lang="en-US" sz="2800" dirty="0"/>
          </a:p>
        </p:txBody>
      </p:sp>
      <p:sp>
        <p:nvSpPr>
          <p:cNvPr id="29" name="Text 27"/>
          <p:cNvSpPr/>
          <p:nvPr/>
        </p:nvSpPr>
        <p:spPr>
          <a:xfrm>
            <a:off x="685800" y="6035040"/>
            <a:ext cx="10789920" cy="365760"/>
          </a:xfrm>
          <a:prstGeom prst="rect">
            <a:avLst/>
          </a:prstGeom>
          <a:noFill/>
          <a:ln/>
        </p:spPr>
        <p:txBody>
          <a:bodyPr wrap="square" rtlCol="0" anchor="ctr"/>
          <a:lstStyle/>
          <a:p>
            <a:pPr algn="ctr" indent="0" marL="0">
              <a:buNone/>
            </a:pPr>
            <a:r>
              <a:rPr lang="en-US" sz="1400" i="1" dirty="0">
                <a:solidFill>
                  <a:srgbClr val="CADCFC"/>
                </a:solidFill>
                <a:latin typeface="Meiryo" pitchFamily="34" charset="0"/>
                <a:ea typeface="Meiryo" pitchFamily="34" charset="-122"/>
                <a:cs typeface="Meiryo" pitchFamily="34" charset="-120"/>
              </a:rPr>
              <a:t>会社の収支改善と、現場の無理のない運営の両立へ ― ご協力をお願いします。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2026-08-07T00:41:47Z</dcterms:created>
  <dcterms:modified xsi:type="dcterms:W3CDTF">2026-08-07T00:41:47Z</dcterms:modified>
</cp:coreProperties>
</file>