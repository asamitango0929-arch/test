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76" r:id="rId27"/>
    <p:sldId id="277" r:id="rId28"/>
    <p:sldId id="278" r:id="rId29"/>
    <p:sldId id="279" r:id="rId30"/>
    <p:sldId id="280" r:id="rId31"/>
    <p:sldId id="281" r:id="rId32"/>
    <p:sldId id="264" r:id="rId10"/>
    <p:sldId id="265" r:id="rId11"/>
    <p:sldId id="266" r:id="rId12"/>
    <p:sldId id="267" r:id="rId13"/>
    <p:sldId id="268" r:id="rId14"/>
    <p:sldId id="269" r:id="rId15"/>
    <p:sldId id="270" r:id="rId16"/>
    <p:sldId id="282" r:id="rId33"/>
    <p:sldId id="283" r:id="rId34"/>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5.xml"/><Relationship Id="rId11" Type="http://schemas.openxmlformats.org/officeDocument/2006/relationships/slide" Target="slides/slide16.xml"/><Relationship Id="rId12" Type="http://schemas.openxmlformats.org/officeDocument/2006/relationships/slide" Target="slides/slide17.xml"/><Relationship Id="rId13" Type="http://schemas.openxmlformats.org/officeDocument/2006/relationships/slide" Target="slides/slide18.xml"/><Relationship Id="rId14" Type="http://schemas.openxmlformats.org/officeDocument/2006/relationships/slide" Target="slides/slide19.xml"/><Relationship Id="rId15" Type="http://schemas.openxmlformats.org/officeDocument/2006/relationships/slide" Target="slides/slide20.xml"/><Relationship Id="rId16" Type="http://schemas.openxmlformats.org/officeDocument/2006/relationships/slide" Target="slides/slide21.xml"/><Relationship Id="rId17" Type="http://schemas.openxmlformats.org/officeDocument/2006/relationships/slide" Target="slides/slide24.xml"/><Relationship Id="rId18" Type="http://schemas.openxmlformats.org/officeDocument/2006/relationships/slide" Target="slides/slide25.xml"/><Relationship Id="rId19" Type="http://schemas.openxmlformats.org/officeDocument/2006/relationships/slide" Target="slides/slide26.xml"/><Relationship Id="rId20" Type="http://schemas.openxmlformats.org/officeDocument/2006/relationships/slide" Target="slides/slide27.xml"/><Relationship Id="rId21" Type="http://schemas.openxmlformats.org/officeDocument/2006/relationships/slide" Target="slides/slide28.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9.xml"/><Relationship Id="rId28" Type="http://schemas.openxmlformats.org/officeDocument/2006/relationships/slide" Target="slides/slide10.xml"/><Relationship Id="rId29" Type="http://schemas.openxmlformats.org/officeDocument/2006/relationships/slide" Target="slides/slide11.xml"/><Relationship Id="rId30" Type="http://schemas.openxmlformats.org/officeDocument/2006/relationships/slide" Target="slides/slide12.xml"/><Relationship Id="rId31" Type="http://schemas.openxmlformats.org/officeDocument/2006/relationships/slide" Target="slides/slide13.xml"/><Relationship Id="rId32" Type="http://schemas.openxmlformats.org/officeDocument/2006/relationships/slide" Target="slides/slide14.xml"/><Relationship Id="rId33" Type="http://schemas.openxmlformats.org/officeDocument/2006/relationships/slide" Target="slides/slide22.xml"/><Relationship Id="rId34"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直接人件費［原価］</c:v>
                </c:pt>
              </c:strCache>
            </c:strRef>
          </c:tx>
          <c:spPr>
            <a:solidFill>
              <a:srgbClr val="1B2A4A"/>
            </a:solidFill>
            <a:effectLst/>
          </c:spPr>
          <c:invertIfNegative val="0"/>
          <c:dLbls>
            <c:numFmt formatCode="#,##0" sourceLinked="0"/>
            <c:txPr>
              <a:bodyPr/>
              <a:lstStyle/>
              <a:p>
                <a:pPr>
                  <a:defRPr b="1" i="0" strike="noStrike" sz="1200" u="none">
                    <a:solidFill>
                      <a:srgbClr val="FFFFFF"/>
                    </a:solidFill>
                    <a:latin typeface="Meiryo"/>
                  </a:defRPr>
                </a:pPr>
              </a:p>
            </c:txPr>
            <c:dLblPos val="ctr"/>
            <c:showLegendKey val="0"/>
            <c:showVal val="1"/>
            <c:showCatName val="0"/>
            <c:showSerName val="0"/>
            <c:showPercent val="0"/>
            <c:showBubbleSize val="0"/>
            <c:showLeaderLines val="0"/>
          </c:dLbls>
          <c:cat>
            <c:multiLvlStrRef>
              <c:f>Sheet1!$A$2:$A$2</c:f>
              <c:multiLvlStrCache>
                <c:ptCount val="1"/>
                <c:lvl>
                  <c:pt idx="0">
                    <c:v>成田旅客</c:v>
                  </c:pt>
                </c:lvl>
              </c:multiLvlStrCache>
            </c:multiLvlStrRef>
          </c:cat>
          <c:val>
            <c:numRef>
              <c:f>Sheet1!$B$2:$B$2</c:f>
              <c:numCache>
                <c:formatCode>General</c:formatCode>
                <c:ptCount val="1"/>
                <c:pt idx="0">
                  <c:v>60.3</c:v>
                </c:pt>
              </c:numCache>
            </c:numRef>
          </c:val>
        </c:ser>
        <c:ser>
          <c:idx val="1"/>
          <c:order val="1"/>
          <c:tx>
            <c:strRef>
              <c:f>Sheet1!$C$1</c:f>
              <c:strCache>
                <c:ptCount val="1"/>
                <c:pt idx="0">
                  <c:v>派遣・業務委託費</c:v>
                </c:pt>
              </c:strCache>
            </c:strRef>
          </c:tx>
          <c:spPr>
            <a:solidFill>
              <a:srgbClr val="2E5AAC"/>
            </a:solidFill>
            <a:effectLst/>
          </c:spPr>
          <c:invertIfNegative val="0"/>
          <c:dLbls>
            <c:numFmt formatCode="#,##0" sourceLinked="0"/>
            <c:txPr>
              <a:bodyPr/>
              <a:lstStyle/>
              <a:p>
                <a:pPr>
                  <a:defRPr b="1" i="0" strike="noStrike" sz="1200" u="none">
                    <a:solidFill>
                      <a:srgbClr val="FFFFFF"/>
                    </a:solidFill>
                    <a:latin typeface="Meiryo"/>
                  </a:defRPr>
                </a:pPr>
              </a:p>
            </c:txPr>
            <c:dLblPos val="ctr"/>
            <c:showLegendKey val="0"/>
            <c:showVal val="1"/>
            <c:showCatName val="0"/>
            <c:showSerName val="0"/>
            <c:showPercent val="0"/>
            <c:showBubbleSize val="0"/>
            <c:showLeaderLines val="0"/>
          </c:dLbls>
          <c:cat>
            <c:multiLvlStrRef>
              <c:f>Sheet1!$A$2:$A$2</c:f>
              <c:multiLvlStrCache>
                <c:ptCount val="1"/>
                <c:lvl>
                  <c:pt idx="0">
                    <c:v>成田旅客</c:v>
                  </c:pt>
                </c:lvl>
              </c:multiLvlStrCache>
            </c:multiLvlStrRef>
          </c:cat>
          <c:val>
            <c:numRef>
              <c:f>Sheet1!$C$2:$C$2</c:f>
              <c:numCache>
                <c:formatCode>General</c:formatCode>
                <c:ptCount val="1"/>
                <c:pt idx="0">
                  <c:v>30.7</c:v>
                </c:pt>
              </c:numCache>
            </c:numRef>
          </c:val>
        </c:ser>
        <c:ser>
          <c:idx val="2"/>
          <c:order val="2"/>
          <c:tx>
            <c:strRef>
              <c:f>Sheet1!$D$1</c:f>
              <c:strCache>
                <c:ptCount val="1"/>
                <c:pt idx="0">
                  <c:v>その他原価・販管費</c:v>
                </c:pt>
              </c:strCache>
            </c:strRef>
          </c:tx>
          <c:spPr>
            <a:solidFill>
              <a:srgbClr val="C9D3E4"/>
            </a:solidFill>
            <a:effectLst/>
          </c:spPr>
          <c:invertIfNegative val="0"/>
          <c:dLbls>
            <c:numFmt formatCode="#,##0" sourceLinked="0"/>
            <c:txPr>
              <a:bodyPr/>
              <a:lstStyle/>
              <a:p>
                <a:pPr>
                  <a:defRPr b="1" i="0" strike="noStrike" sz="1200" u="none">
                    <a:solidFill>
                      <a:srgbClr val="FFFFFF"/>
                    </a:solidFill>
                    <a:latin typeface="Meiryo"/>
                  </a:defRPr>
                </a:pPr>
              </a:p>
            </c:txPr>
            <c:dLblPos val="ctr"/>
            <c:showLegendKey val="0"/>
            <c:showVal val="1"/>
            <c:showCatName val="0"/>
            <c:showSerName val="0"/>
            <c:showPercent val="0"/>
            <c:showBubbleSize val="0"/>
            <c:showLeaderLines val="0"/>
          </c:dLbls>
          <c:cat>
            <c:multiLvlStrRef>
              <c:f>Sheet1!$A$2:$A$2</c:f>
              <c:multiLvlStrCache>
                <c:ptCount val="1"/>
                <c:lvl>
                  <c:pt idx="0">
                    <c:v>成田旅客</c:v>
                  </c:pt>
                </c:lvl>
              </c:multiLvlStrCache>
            </c:multiLvlStrRef>
          </c:cat>
          <c:val>
            <c:numRef>
              <c:f>Sheet1!$D$2:$D$2</c:f>
              <c:numCache>
                <c:formatCode>General</c:formatCode>
                <c:ptCount val="1"/>
                <c:pt idx="0">
                  <c:v>16.7</c:v>
                </c:pt>
              </c:numCache>
            </c:numRef>
          </c:val>
        </c:ser>
        <c:dLbls>
          <c:numFmt formatCode="#,##0" sourceLinked="0"/>
          <c:txPr>
            <a:bodyPr/>
            <a:lstStyle/>
            <a:p>
              <a:pPr>
                <a:defRPr b="1" i="0" strike="noStrike" sz="1200" u="none">
                  <a:solidFill>
                    <a:srgbClr val="FFFFFF"/>
                  </a:solidFill>
                  <a:latin typeface="Meiryo"/>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733"/>
              </a:solidFill>
              <a:latin typeface="Meiryo"/>
              <a:cs typeface="Meiryo"/>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旅客 営業損益</c:v>
                </c:pt>
              </c:strCache>
            </c:strRef>
          </c:tx>
          <c:spPr>
            <a:solidFill>
              <a:srgbClr val="1E7A5A">
                <a:alpha val="100000"/>
              </a:srgbClr>
            </a:solidFill>
            <a:effectLst/>
          </c:spPr>
          <c:invertIfNegative val="0"/>
          <c:dLbls>
            <c:numFmt formatCode="#,##0" sourceLinked="0"/>
            <c:txPr>
              <a:bodyPr/>
              <a:lstStyle/>
              <a:p>
                <a:pPr>
                  <a:defRPr b="1" i="0" strike="noStrike" sz="1200" u="none">
                    <a:solidFill>
                      <a:srgbClr val="1F2733"/>
                    </a:solidFill>
                    <a:latin typeface="Meiryo"/>
                  </a:defRPr>
                </a:pPr>
              </a:p>
            </c:txPr>
            <c:showLegendKey val="0"/>
            <c:showVal val="1"/>
            <c:showCatName val="0"/>
            <c:showSerName val="0"/>
            <c:showPercent val="0"/>
            <c:showBubbleSize val="0"/>
            <c:showLeaderLines val="0"/>
          </c:dLbls>
          <c:cat>
            <c:strRef>
              <c:f>Sheet1!$A$2:$A$7</c:f>
              <c:strCache>
                <c:ptCount val="6"/>
                <c:pt idx="0">
                  <c:v>那覇</c:v>
                </c:pt>
                <c:pt idx="1">
                  <c:v>羽田</c:v>
                </c:pt>
                <c:pt idx="2">
                  <c:v>千歳</c:v>
                </c:pt>
                <c:pt idx="3">
                  <c:v>北九州</c:v>
                </c:pt>
                <c:pt idx="4">
                  <c:v>関空</c:v>
                </c:pt>
                <c:pt idx="5">
                  <c:v>成田</c:v>
                </c:pt>
              </c:strCache>
            </c:strRef>
          </c:cat>
          <c:val>
            <c:numRef>
              <c:f>Sheet1!$B$2:$B$7</c:f>
              <c:numCache>
                <c:formatCode>General</c:formatCode>
                <c:ptCount val="6"/>
                <c:pt idx="0">
                  <c:v>760</c:v>
                </c:pt>
                <c:pt idx="1">
                  <c:v>330</c:v>
                </c:pt>
                <c:pt idx="2">
                  <c:v>130</c:v>
                </c:pt>
                <c:pt idx="3">
                  <c:v>0</c:v>
                </c:pt>
                <c:pt idx="4">
                  <c:v>-770</c:v>
                </c:pt>
                <c:pt idx="5">
                  <c:v>-1730</c:v>
                </c:pt>
              </c:numCache>
            </c:numRef>
          </c:val>
        </c:ser>
        <c:dLbls>
          <c:numFmt formatCode="#,##0" sourceLinked="0"/>
          <c:txPr>
            <a:bodyPr/>
            <a:lstStyle/>
            <a:p>
              <a:pPr>
                <a:defRPr b="1" i="0" strike="noStrike" sz="1200" u="none">
                  <a:solidFill>
                    <a:srgbClr val="1F2733"/>
                  </a:solidFill>
                  <a:latin typeface="Meiryo"/>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733"/>
                </a:solidFill>
                <a:latin typeface="Meiryo"/>
              </a:defRPr>
            </a:pPr>
            <a:endParaRPr lang="en-US"/>
          </a:p>
        </c:txPr>
        <c:crossAx val="2094734552"/>
        <c:crosses val="autoZero"/>
        <c:auto val="1"/>
        <c:lblAlgn val="ctr"/>
        <c:noMultiLvlLbl val="1"/>
      </c:catAx>
      <c:valAx>
        <c:axId val="2094734552"/>
        <c:scaling>
          <c:orientation val="minMax"/>
          <c:max val="10000"/>
          <c:min val="-20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ndard"/>
        <c:varyColors val="0"/>
        <c:ser>
          <c:idx val="0"/>
          <c:order val="0"/>
          <c:tx>
            <c:strRef>
              <c:f>Sheet1!$B$1</c:f>
              <c:strCache>
                <c:ptCount val="1"/>
                <c:pt idx="0">
                  <c:v>時間帯別 稼働便数</c:v>
                </c:pt>
              </c:strCache>
            </c:strRef>
          </c:tx>
          <c:spPr>
            <a:solidFill>
              <a:srgbClr val="2E5AAC"/>
            </a:solidFill>
            <a:ln w="19050">
              <a:solidFill>
                <a:srgbClr val="1B2A4A"/>
              </a:solidFill>
            </a:ln>
          </c:spPr>
          <c:cat>
            <c:strRef>
              <c:f>Sheet1!$A$2:$A$30</c:f>
              <c:strCache>
                <c:ptCount val="29"/>
                <c:pt idx="0">
                  <c:v>05:30</c:v>
                </c:pt>
                <c:pt idx="1">
                  <c:v>06:00</c:v>
                </c:pt>
                <c:pt idx="2">
                  <c:v>06:30</c:v>
                </c:pt>
                <c:pt idx="3">
                  <c:v>07:00</c:v>
                </c:pt>
                <c:pt idx="4">
                  <c:v>07:30</c:v>
                </c:pt>
                <c:pt idx="5">
                  <c:v>08:00</c:v>
                </c:pt>
                <c:pt idx="6">
                  <c:v>08:30</c:v>
                </c:pt>
                <c:pt idx="7">
                  <c:v>09:00</c:v>
                </c:pt>
                <c:pt idx="8">
                  <c:v>09:30</c:v>
                </c:pt>
                <c:pt idx="9">
                  <c:v>10:00</c:v>
                </c:pt>
                <c:pt idx="10">
                  <c:v>10:30</c:v>
                </c:pt>
                <c:pt idx="11">
                  <c:v>11:00</c:v>
                </c:pt>
                <c:pt idx="12">
                  <c:v>11:30</c:v>
                </c:pt>
                <c:pt idx="13">
                  <c:v>12:00</c:v>
                </c:pt>
                <c:pt idx="14">
                  <c:v>12:30</c:v>
                </c:pt>
                <c:pt idx="15">
                  <c:v>13:00</c:v>
                </c:pt>
                <c:pt idx="16">
                  <c:v>13:30</c:v>
                </c:pt>
                <c:pt idx="17">
                  <c:v>14:00</c:v>
                </c:pt>
                <c:pt idx="18">
                  <c:v>14:30</c:v>
                </c:pt>
                <c:pt idx="19">
                  <c:v>15:00</c:v>
                </c:pt>
                <c:pt idx="20">
                  <c:v>15:30</c:v>
                </c:pt>
                <c:pt idx="21">
                  <c:v>16:00</c:v>
                </c:pt>
                <c:pt idx="22">
                  <c:v>16:30</c:v>
                </c:pt>
                <c:pt idx="23">
                  <c:v>17:00</c:v>
                </c:pt>
                <c:pt idx="24">
                  <c:v>17:30</c:v>
                </c:pt>
                <c:pt idx="25">
                  <c:v>18:00</c:v>
                </c:pt>
                <c:pt idx="26">
                  <c:v>18:30</c:v>
                </c:pt>
                <c:pt idx="27">
                  <c:v>19:00</c:v>
                </c:pt>
                <c:pt idx="28">
                  <c:v>19:30</c:v>
                </c:pt>
              </c:strCache>
            </c:strRef>
          </c:cat>
          <c:val>
            <c:numRef>
              <c:f>Sheet1!$B$2:$B$30</c:f>
              <c:numCache>
                <c:formatCode>General</c:formatCode>
                <c:ptCount val="29"/>
                <c:pt idx="0">
                  <c:v>0</c:v>
                </c:pt>
                <c:pt idx="1">
                  <c:v>3</c:v>
                </c:pt>
                <c:pt idx="2">
                  <c:v>7</c:v>
                </c:pt>
                <c:pt idx="3">
                  <c:v>7</c:v>
                </c:pt>
                <c:pt idx="4">
                  <c:v>8</c:v>
                </c:pt>
                <c:pt idx="5">
                  <c:v>8</c:v>
                </c:pt>
                <c:pt idx="6">
                  <c:v>11</c:v>
                </c:pt>
                <c:pt idx="7">
                  <c:v>8</c:v>
                </c:pt>
                <c:pt idx="8">
                  <c:v>5</c:v>
                </c:pt>
                <c:pt idx="9">
                  <c:v>4</c:v>
                </c:pt>
                <c:pt idx="10">
                  <c:v>3</c:v>
                </c:pt>
                <c:pt idx="11">
                  <c:v>3</c:v>
                </c:pt>
                <c:pt idx="12">
                  <c:v>1</c:v>
                </c:pt>
                <c:pt idx="13">
                  <c:v>1</c:v>
                </c:pt>
                <c:pt idx="14">
                  <c:v>1</c:v>
                </c:pt>
                <c:pt idx="15">
                  <c:v>1</c:v>
                </c:pt>
                <c:pt idx="16">
                  <c:v>2</c:v>
                </c:pt>
                <c:pt idx="17">
                  <c:v>1</c:v>
                </c:pt>
                <c:pt idx="18">
                  <c:v>1</c:v>
                </c:pt>
                <c:pt idx="19">
                  <c:v>1</c:v>
                </c:pt>
                <c:pt idx="20">
                  <c:v>1</c:v>
                </c:pt>
                <c:pt idx="21">
                  <c:v>1</c:v>
                </c:pt>
                <c:pt idx="22">
                  <c:v>1</c:v>
                </c:pt>
                <c:pt idx="23">
                  <c:v>1</c:v>
                </c:pt>
                <c:pt idx="24">
                  <c:v>1</c:v>
                </c:pt>
                <c:pt idx="25">
                  <c:v>1</c:v>
                </c:pt>
                <c:pt idx="26">
                  <c:v>1</c:v>
                </c:pt>
                <c:pt idx="27">
                  <c:v>1</c:v>
                </c:pt>
                <c:pt idx="28">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900">
                <a:solidFill>
                  <a:srgbClr val="6B7686"/>
                </a:solidFill>
                <a:latin typeface="Meiryo"/>
              </a:defRPr>
            </a:pPr>
          </a:p>
        </c:txPr>
        <c:crossAx val="-2100718248"/>
        <c:crosses val="autoZero"/>
        <c:auto val="1"/>
        <c:lblAlgn val="ctr"/>
        <c:lblOffset val="100"/>
        <c:noMultiLvlLbl val="0"/>
        <c:tickLblSkip val="2"/>
        <c:tickMarkSkip val="2"/>
      </c:catAx>
      <c:valAx>
        <c:axId val="-2100718248"/>
        <c:scaling>
          <c:orientation val="minMax"/>
        </c:scaling>
        <c:delete val="0"/>
        <c:axPos val="l"/>
        <c:majorGridlines/>
        <c:numFmt formatCode="General" sourceLinked="1"/>
        <c:majorTickMark val="out"/>
        <c:minorTickMark val="none"/>
        <c:tickLblPos val="nextTo"/>
        <c:txPr>
          <a:bodyPr/>
          <a:lstStyle/>
          <a:p>
            <a:pPr>
              <a:defRPr sz="900">
                <a:solidFill>
                  <a:srgbClr val="6B7686"/>
                </a:solidFill>
                <a:latin typeface="Meiryo"/>
              </a:defRPr>
            </a:pPr>
          </a:p>
        </c:txPr>
        <c:crossAx val="-2101159928"/>
        <c:crosses val="autoZero"/>
        <c:crossBetween val="midCat"/>
      </c:valAx>
    </c:plotArea>
    <c:plotVisOnly val="1"/>
    <c:dispBlanksAs val="zero"/>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旅客 営業損益</c:v>
                </c:pt>
              </c:strCache>
            </c:strRef>
          </c:tx>
          <c:spPr>
            <a:solidFill>
              <a:srgbClr val="1E7A5A"/>
            </a:solidFill>
          </c:spPr>
          <c:cat>
            <c:strRef>
              <c:f>Sheet1!$A$2:$A$7</c:f>
              <c:strCache>
                <c:ptCount val="6"/>
                <c:pt idx="0">
                  <c:v>那覇</c:v>
                </c:pt>
                <c:pt idx="1">
                  <c:v>羽田</c:v>
                </c:pt>
                <c:pt idx="2">
                  <c:v>千歳</c:v>
                </c:pt>
                <c:pt idx="3">
                  <c:v>北九州</c:v>
                </c:pt>
                <c:pt idx="4">
                  <c:v>関空</c:v>
                </c:pt>
                <c:pt idx="5">
                  <c:v>成田</c:v>
                </c:pt>
              </c:strCache>
            </c:strRef>
          </c:cat>
          <c:val>
            <c:numRef>
              <c:f>Sheet1!$B$2:$B$7</c:f>
              <c:numCache>
                <c:formatCode>General</c:formatCode>
                <c:ptCount val="6"/>
                <c:pt idx="0">
                  <c:v>760</c:v>
                </c:pt>
                <c:pt idx="1">
                  <c:v>330</c:v>
                </c:pt>
                <c:pt idx="2">
                  <c:v>130</c:v>
                </c:pt>
                <c:pt idx="3">
                  <c:v>0</c:v>
                </c:pt>
                <c:pt idx="4">
                  <c:v>-770</c:v>
                </c:pt>
                <c:pt idx="5">
                  <c:v>-1730</c:v>
                </c:pt>
              </c:numCache>
            </c:numRef>
          </c:val>
        </c:ser>
        <c:dLbls>
          <c:numFmt formatCode="#,##0" sourceLinked="0"/>
          <c:txPr>
            <a:bodyPr/>
            <a:lstStyle/>
            <a:p>
              <a:pPr>
                <a:defRPr sz="1100" b="1">
                  <a:solidFill>
                    <a:srgbClr val="1F2733"/>
                  </a:solidFill>
                  <a:latin typeface="Meiryo"/>
                </a:defRPr>
              </a:pPr>
            </a:p>
          </c:txPr>
          <c:showLegendKey val="0"/>
          <c:showVal val="1"/>
          <c:showCatName val="0"/>
          <c:showSerName val="0"/>
          <c:showPercent val="0"/>
          <c:showBubbleSize val="0"/>
          <c:showLeaderLines val="1"/>
        </c:dLbls>
        <c:gapWidth/>
        <c:axId val="-2068027336"/>
        <c:axId val="-2113994440"/>
      </c:barChart>
      <c:catAx>
        <c:axId val="-2068027336"/>
        <c:scaling>
          <c:orientation val="minMax"/>
        </c:scaling>
        <c:delete val="0"/>
        <c:axPos val="l"/>
        <c:majorTickMark val="out"/>
        <c:minorTickMark val="none"/>
        <c:tickLblPos val="nextTo"/>
        <c:txPr>
          <a:bodyPr/>
          <a:lstStyle/>
          <a:p>
            <a:pPr>
              <a:defRPr sz="1000">
                <a:solidFill>
                  <a:srgbClr val="6B7686"/>
                </a:solidFill>
                <a:latin typeface="Meiryo"/>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000">
                <a:solidFill>
                  <a:srgbClr val="6B7686"/>
                </a:solidFill>
                <a:latin typeface="Meiryo"/>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お忙しい中、急なご案内にもかかわらずお集まりいただきありがとうございます。本日は、会社として進めている短時間勤務者（パート・アルバイト）の採用について、背景も含めてご説明します。最初に申し上げたいのは、これは単に『人が足りないからアルバイトを採る』という話ではない、という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お話しするのは、単純な採用の話ではありません。旅客部門の多くの支店で、収入に対して人件費が上回る『原価割れ』が起きています。これまでは便が増える・人が足りない・退職者が出るとなればフルタイム正社員を補充する、という考え方が中心でした。しかし同じ持ち方で本当に収支を改善できるのか。ここを見直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まず、なぜ今この取り組みが必要なのか。旅客部門だけの実際の収支を見ていただきます。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旅客部門だけを抜き出すと、売上1億7,800万に対して売上原価が1億8,300万。販管費を引く前、原価だけで売上を超えています。これが原価割れです。営業損益では月1,730万円の赤字、年に直すと約2億1,000万円の赤字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赤字の中身を見ると、そのほとんどが人件費です。直接人件費が売上の6割、派遣・委託を足すと9割。ピークに合わせてフルタイム社員を持てば、ピークが終わった後の時間にも人件費が発生し続けます。ここを変えたいというのが今回の主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旅客部門だけで基地を並べると、羽田・千歳・那覇は黒字です。決して旅客事業そのものが赤字なのではありません。成田だけが突出して赤く、その額は他基地の黒字を単月で食いつぶすほどです。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全社で見ると、営業赤字はおよそ月5,800万円。そのうち成田の旅客部門だけで約3割、成田全部門では約6割を占めます。つまり、成田を直さなければ全社の収支は直らない、というのが今の姿です。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後、『人が足りません』で止めないようにしたい。何人足りないのか、一日のうち何時から何時まで、どのポジションで必要なのか。ここまで分解して初めて本当に必要な採用数が見えます。フルタイムが必要な仕事と、ピークだけ人が要る仕事を、同じ採用方法で埋めない、という考え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当に必要なのは10人の『社員』でしょうか。違います。必要なのはこの4時間の『10人分の出面』です。ピークのために8時間勤務者を10人増やせば、ピーク後の時間にも人件費が出ます。であれば、その時間だけ働ける方を配置する方が会社として合理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時点で1日4〜5時間、週3日程度、原則週20時間未満を基本に考えています。重要なのは、単に勤務時間の短い社員を増やすことではなく、各支店のピークに合わせて必要な時間帯に入っていただくこと。特に成田では経験者を積極採用し、資格・経験を活かして早くラインに入っていただくことも想定しています。制度・教育・交通費は整理中の部分もあり、決定と検討を分けて進め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が今日いちばんお願いしたいところです。『5人ほしい』ではなく、『6時から10時まで3人不足』『7時から12時まで2人不足』という形で見ていただきたい。5人足りないからフルタイムを5人採るのと、必要な時間に短時間勤務者を配置するのとでは人件費が全く違います。人事から確認する際は、何人ではなく『何時に・どのポジションで・何人』まで確認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誤解のないようお伝えしますが、『今後正社員を一切採らない』という意味ではありません。中途正社員採用は抑制方向ですが、即戦力の経験者など本当に必要な人材は個別判断します。一方で、朝の4時間だけ不足しているから正社員を一人採る、という採り方は見直します。フルタイムが担う部分と短時間勤務者で担える部分を整理し、組み合わせて運営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現在、成田と新千歳から先行して募集を始めています。まずそれぞれ10名を目標に動いていますが、この数字を固定的に考えているわけではありません。最終的にはWinter Scheduleを見ながら、各支店で何時に何人不足するかを確認して必要人数を決めます。経験者は経験・資格に応じた時給を設定し、即戦力採用を強化します。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採用広告を出せば終わりではありません。短時間勤務者に従来のフルタイム向け教育をそのまま当てると、勤務希望と合わない可能性があります。本社研修・OJT・交通費・資格者の配置。こうした課題を人事・教育・現場で役割分担しながら整理しています。このプロジェクトでは『採用した人数』ではなく『実際に必要なラインへ投入できた人数』まで見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ここからが皆さんへのお願いです。人事だけで『この支店は10人』と決めても、現場で必要な時間と合わなければ意味がありません。Winter Scheduleを基準に必要出面を確認し、既存社員でどこまでカバーできるか、それでも不足する時間帯はどこかを出してください。その不足のうち短時間勤務者で対応できるポジションを一緒に選定したい。『何人ほしいか』ではなく『何時に・何人・どの仕事で必要か』でご共有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回の取り組みは単なる採用手法の変更ではなく、当たり前だと思っていた『人員の持ち方』を変える取り組みです。だからこそ人事だけではできません。現場を一番知る皆さんに、『何人ほしいか』ではなく『何時に・何人・本当に必要か』を一緒に考えていただきたい。会社の収支改善と、現場が無理なく運営できること、この二つの両立を目指します。ご協力をお願い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成田の特徴を、一日の時間軸で見てみたいと思います。</a:t>
            </a:r>
          </a:p>
          <a:p>
            <a:r>
              <a:t>現場の皆さんは感覚として一番よく分かっていると思いますが、成田は朝に非常に多くの人員が必要になります。</a:t>
            </a:r>
          </a:p>
          <a:p>
            <a:r>
              <a:t>ところが、12時を過ぎると必要人数が急激に落ちていきます。</a:t>
            </a:r>
          </a:p>
          <a:p>
            <a:r>
              <a:t>一方で、私たちが雇用しているフルタイムの正社員には、月166時間働いてもらう必要があります。</a:t>
            </a:r>
          </a:p>
          <a:p>
            <a:r>
              <a:t>では、この朝の大きな山を、すべてフルタイム社員だけで埋めたらどうなるでしょうか。</a:t>
            </a:r>
          </a:p>
          <a:p>
            <a:r>
              <a:t>朝は確かに必要です。でも、その人たちの勤務時間は朝のピークが終わったところで終わるわけではありません。</a:t>
            </a:r>
          </a:p>
          <a:p>
            <a:r>
              <a:t>つまり、現場の配置が悪いとか、シフトの作り方が悪いとか、その前に、そもそも「需要の形」と「雇用の形」が合っていない可能性があります。</a:t>
            </a:r>
          </a:p>
          <a:p>
            <a:r>
              <a:t>私はここを、今回の短時間勤務者活用を考える上で非常に重要なポイントだと思っています。</a:t>
            </a:r>
          </a:p>
          <a:p>
            <a:r>
              <a:t>朝に必要な4時間、5時間の出面を確保するために、月166時間勤務する人だけを増やしていけば、人件費が膨らみやすくなるのは、ある意味当然です。</a:t>
            </a:r>
          </a:p>
          <a:p>
            <a:r>
              <a:t>だからこそ、「何人社員を持つか」ではなく、「何時に何人必要なのか」という考え方に変えていく必要があります。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補足スライドです。便ごとの地上作業帯（カウンター開設から出発まで）を時間軸で並べています。</a:t>
            </a:r>
          </a:p>
          <a:p>
            <a:r>
              <a:t>青が朝便、橙が昼・夕便。灰色の線が12時です。</a:t>
            </a:r>
          </a:p>
          <a:p>
            <a:r>
              <a:t>個々の便で見ても、ほとんどの作業が12時までに終わり、午後はほぼ空くことを確認いただけます。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現時点で人事として、朝のピーク帯に短時間勤務者の配置を想定している便の一覧です。</a:t>
            </a:r>
          </a:p>
          <a:p>
            <a:r>
              <a:t>対象はVN・AM・RF・5J・UL・VJ。時刻はすべて実際の線表から取っており、推測値はありません。</a:t>
            </a:r>
          </a:p>
          <a:p>
            <a:r>
              <a:t>VJの夕方便（VJ934/935）は、Winterで運休する場合は対象外、運航する場合は別途検討します。ULは火・木・土の運航です。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ここで少し、私自身の昔の話をさせてください。</a:t>
            </a:r>
          </a:p>
          <a:p>
            <a:r>
              <a:t>以前、母が薬膳料理のレストランを経営していて、私もその店を手伝っていました。</a:t>
            </a:r>
          </a:p>
          <a:p>
            <a:r>
              <a:t>お店はかなり繁盛していました。お客様で満席になることも多く、料理の評判も良かった。</a:t>
            </a:r>
          </a:p>
          <a:p>
            <a:r>
              <a:t>当時の私たちは、お客様に喜んでもらえる料理を作ろう、良いサービスをしよう、と一生懸命やっていました。</a:t>
            </a:r>
          </a:p>
          <a:p>
            <a:r>
              <a:t>一見すると、ものすごく成功している店に見えます。</a:t>
            </a:r>
          </a:p>
          <a:p>
            <a:r>
              <a:t>でも、一つ大きな問題がありました。</a:t>
            </a:r>
          </a:p>
          <a:p>
            <a:r>
              <a:t>原価のコントロールができていなかったんです。</a:t>
            </a:r>
          </a:p>
          <a:p>
            <a:r>
              <a:t>良いものを作りたい。お客様に喜んでもらいたい。そのために良い材料を使う。人も十分に配置する。</a:t>
            </a:r>
          </a:p>
          <a:p>
            <a:r>
              <a:t>結果として、材料費、人件費、その他の経費を合わせると、売上を上回ってしまっていました。</a:t>
            </a:r>
          </a:p>
          <a:p>
            <a:r>
              <a:t>店は満席です。お客様からの評判もいい。スタッフも一生懸命働いている。</a:t>
            </a:r>
          </a:p>
          <a:p>
            <a:r>
              <a:t>でも、利益が出ない。</a:t>
            </a:r>
          </a:p>
          <a:p>
            <a:r>
              <a:t>母は、自分の貯金からお金を補填して店を続けていました。</a:t>
            </a:r>
          </a:p>
          <a:p>
            <a:r>
              <a:t>当然、いつまでも続けられるわけがありませんでした。</a:t>
            </a:r>
          </a:p>
          <a:p>
            <a:r>
              <a:t>私は今、会社で起きていることを見ていて、構造としてはこれと非常によく似ていると思っています。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これは、現場のサービスが悪いという話ではありません。</a:t>
            </a:r>
          </a:p>
          <a:p>
            <a:r>
              <a:t>むしろ逆です。</a:t>
            </a:r>
          </a:p>
          <a:p>
            <a:r>
              <a:t>現場の皆さんは、限られた条件の中で、本当に一生懸命サービスを維持していただいていると思っています。</a:t>
            </a:r>
          </a:p>
          <a:p>
            <a:r>
              <a:t>でも、ここで皆さんにも一度、「自分がこの会社の経営者だったら」と考えていただきたいんです。</a:t>
            </a:r>
          </a:p>
          <a:p>
            <a:r>
              <a:t>人を潤沢に配置する。その結果、オペレーションは安定する。お客様からの評判もいい。スタッフも一生懸命働いている。</a:t>
            </a:r>
          </a:p>
          <a:p>
            <a:r>
              <a:t>でも、100円の売上を上げるために、原価だけで103円かかっている。</a:t>
            </a:r>
          </a:p>
          <a:p>
            <a:r>
              <a:t>これは、経営として成功と言えるでしょうか。</a:t>
            </a:r>
          </a:p>
          <a:p>
            <a:r>
              <a:t>私は、言えないと思います。</a:t>
            </a:r>
          </a:p>
          <a:p>
            <a:r>
              <a:t>どれだけ良いサービスでも、事業そのものが継続できなくなってしまったら、そのサービスを提供し続けることもできなくなるからです。</a:t>
            </a:r>
          </a:p>
          <a:p>
            <a:r>
              <a:t>必要なサービス品質と安全・安定運航を守ることは大前提です。</a:t>
            </a:r>
          </a:p>
          <a:p>
            <a:r>
              <a:t>その上で、そのサービスを持続可能な原価で提供できる形にする。</a:t>
            </a:r>
          </a:p>
          <a:p>
            <a:r>
              <a:t>それが、今私たちに必要なことだと思っています。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当然、「もっと仕事を取ってくればいいじゃないか」「営業がもっと成田の人員構成に合った時間帯の仕事を取ってくれればいいじゃないか」という意見もあると思います。</a:t>
            </a:r>
          </a:p>
          <a:p>
            <a:r>
              <a:t>それ自体は間違っていないと思います。</a:t>
            </a:r>
          </a:p>
          <a:p>
            <a:r>
              <a:t>売上を増やすことは必要です。営業にも、新しい仕事を取ってきてもらわなければなりません。</a:t>
            </a:r>
          </a:p>
          <a:p>
            <a:r>
              <a:t>でも、その仕事が取れるまで、私たちは何もしなくていいのでしょうか。</a:t>
            </a:r>
          </a:p>
          <a:p>
            <a:r>
              <a:t>営業が、今の私たちの人員構成にぴったり合う仕事を取ってきてくれるのを待ちながら、毎月赤字を出し続ける。</a:t>
            </a:r>
          </a:p>
          <a:p>
            <a:r>
              <a:t>それは経営ではないと思っています。</a:t>
            </a:r>
          </a:p>
          <a:p>
            <a:r>
              <a:t>売上を増やすことと、原価を適正化すること。これは、どちらか一方ではありません。</a:t>
            </a:r>
          </a:p>
          <a:p>
            <a:r>
              <a:t>両方やる必要があります。</a:t>
            </a:r>
          </a:p>
          <a:p>
            <a:r>
              <a:t>営業には売上を増やしてもらう。</a:t>
            </a:r>
          </a:p>
          <a:p>
            <a:r>
              <a:t>そして私たちは、自分たちでコントロールできる原価を見直す。</a:t>
            </a:r>
          </a:p>
          <a:p>
            <a:r>
              <a:t>その一つが、人員の持ち方です。</a:t>
            </a:r>
          </a:p>
          <a:p>
            <a:r>
              <a:t>だから今回、短時間勤務者という選択肢を増やしたいんです。</a:t>
            </a:r>
          </a:p>
          <a:p/>
          <a:p>
            <a:r>
              <a:t>―― 次のスライドへのつなぎ ――</a:t>
            </a:r>
          </a:p>
          <a:p>
            <a:r>
              <a:t>では、この構造をどう変えるのか。</a:t>
            </a:r>
          </a:p>
          <a:p>
            <a:r>
              <a:t>答えは、単純に「人を減らす」ことではありません。</a:t>
            </a:r>
          </a:p>
          <a:p>
            <a:r>
              <a:t>必要な人まで削れば、当然オペレーションは回らなくなります。それでは意味がありません。</a:t>
            </a:r>
          </a:p>
          <a:p>
            <a:r>
              <a:t>見直したいのは、「必要な人」ではなく、「必要ではない時間にまで発生している人件費」です。</a:t>
            </a:r>
          </a:p>
          <a:p>
            <a:r>
              <a:t>そのために、人員を一日単位の「人数」で見るのではなく、「時間 × 人数」で見る。</a:t>
            </a:r>
          </a:p>
          <a:p>
            <a:r>
              <a:t>ここから、具体的にどう人員の持ち方を変えていくのかをご説明します。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ここからは、では実際に“どのキャリアの、どの時間帯に”短時間勤務者を入れていくか、という具体の話に入ります。対象はAM・VN・RF・5J・UL・VJの6社、すべて朝の便です。</a:t>
            </a:r>
          </a:p>
          <a:p>
            <a:r>
              <a:t>線表を見ると、朝の山は実は一つではありません。まず6時前後に、出発カウンターの開設が一斉に立ち上がる“開設の波”。そして7時半から9時半にかけて、到着と折り返しが重なる“到着の波”。ピークは8時半で、同時に11便が動いています。</a:t>
            </a:r>
          </a:p>
          <a:p>
            <a:r>
              <a:t>そこで短時間のシフトを二本立てで考えています。一つが早番、5時45分から10時15分。開設と到着の前半をカバー。もう一つが中番、7時半から12時。到着ピークと、10時半以降に残る後半の出発をカバーします。いずれも4時間半で、週20時間未満に収まります。</a:t>
            </a:r>
          </a:p>
          <a:p>
            <a:r>
              <a:t>重なる7時半から10時過ぎが一番人手が要る時間なので、早番と中番の二枚重ねでここを厚くする設計です。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この二本に、6社を割り付けます。早番には、AM、そしてVN・VJ・5Jの前半便。だいたい9時半までに一巡します。中番には、UL、RF、それからVNの遅い便と5Jの遅い便。</a:t>
            </a:r>
          </a:p>
          <a:p>
            <a:r>
              <a:t>一点はっきりさせておきたいのは、私たちが今日お見せしているのは“何時に、どのキャリアが動くか”までだということです。“では各シフトに何人か”は、ここで人事が勝手に決めません。実際の必要人数は、皆さんの支店で、この線表とSLA上の必要配置を突き合わせて出していただきます。人事は、その受け皿として募集・時給・教育・受入を用意します。</a:t>
            </a:r>
          </a:p>
          <a:p>
            <a:r>
              <a:t>例外はVJです。VJには夕方の便もありますが、Winterで運休する場合は朝だけが対象。運航が残る場合は夕方帯を別途検討します。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xml"/><Relationship Id="rId3" Type="http://schemas.openxmlformats.org/officeDocument/2006/relationships/notesSlide" Target="../notesSlides/notesSlide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2A4A"/>
          </a:solidFill>
          <a:ln/>
        </p:spPr>
        <p:txBody>
          <a:bodyPr/>
          <a:p/>
        </p:txBody>
      </p:sp>
      <p:sp>
        <p:nvSpPr>
          <p:cNvPr id="3" name="Shape 1"/>
          <p:cNvSpPr/>
          <p:nvPr/>
        </p:nvSpPr>
        <p:spPr>
          <a:xfrm>
            <a:off x="685800" y="640080"/>
            <a:ext cx="1920240" cy="457200"/>
          </a:xfrm>
          <a:prstGeom prst="roundRect">
            <a:avLst>
              <a:gd name="adj" fmla="val 50000"/>
            </a:avLst>
          </a:prstGeom>
          <a:solidFill>
            <a:srgbClr val="2E4270"/>
          </a:solidFill>
          <a:ln/>
        </p:spPr>
        <p:txBody>
          <a:bodyPr/>
          <a:p/>
        </p:txBody>
      </p:sp>
      <p:sp>
        <p:nvSpPr>
          <p:cNvPr id="4" name="Text 2"/>
          <p:cNvSpPr/>
          <p:nvPr/>
        </p:nvSpPr>
        <p:spPr>
          <a:xfrm>
            <a:off x="685800" y="640080"/>
            <a:ext cx="1920240" cy="457200"/>
          </a:xfrm>
          <a:prstGeom prst="rect">
            <a:avLst/>
          </a:prstGeom>
          <a:noFill/>
          <a:ln/>
        </p:spPr>
        <p:txBody>
          <a:bodyPr wrap="square" rtlCol="0" anchor="ctr"/>
          <a:lstStyle/>
          <a:p>
            <a:pPr algn="ctr" indent="0" marL="0">
              <a:buNone/>
            </a:pPr>
            <a:r>
              <a:rPr lang="en-US" sz="1200" b="1" dirty="0">
                <a:solidFill>
                  <a:srgbClr val="CFE0FF"/>
                </a:solidFill>
                <a:latin typeface="Meiryo" pitchFamily="34" charset="0"/>
                <a:ea typeface="Meiryo" pitchFamily="34" charset="-122"/>
                <a:cs typeface="Meiryo" pitchFamily="34" charset="-120"/>
              </a:rPr>
              <a:t>旅客部門 収支改善</a:t>
            </a:r>
            <a:endParaRPr lang="en-US" sz="1200" dirty="0"/>
          </a:p>
        </p:txBody>
      </p:sp>
      <p:sp>
        <p:nvSpPr>
          <p:cNvPr id="5" name="Text 3"/>
          <p:cNvSpPr/>
          <p:nvPr/>
        </p:nvSpPr>
        <p:spPr>
          <a:xfrm>
            <a:off x="685800" y="1737360"/>
            <a:ext cx="10789920" cy="1828800"/>
          </a:xfrm>
          <a:prstGeom prst="rect">
            <a:avLst/>
          </a:prstGeom>
          <a:noFill/>
          <a:ln/>
        </p:spPr>
        <p:txBody>
          <a:bodyPr wrap="square" rtlCol="0" anchor="ctr"/>
          <a:lstStyle/>
          <a:p>
            <a:pPr indent="0" marL="0">
              <a:lnSpc>
                <a:spcPct val="105000"/>
              </a:lnSpc>
              <a:buNone/>
            </a:pPr>
            <a:r>
              <a:rPr lang="en-US" sz="4000" b="1" dirty="0">
                <a:solidFill>
                  <a:srgbClr val="FFFFFF"/>
                </a:solidFill>
                <a:latin typeface="Meiryo" pitchFamily="34" charset="0"/>
                <a:ea typeface="Meiryo" pitchFamily="34" charset="-122"/>
                <a:cs typeface="Meiryo" pitchFamily="34" charset="-120"/>
              </a:rPr>
              <a:t>短時間勤務者（パート・アルバイト）採用</a:t>
            </a:r>
            <a:endParaRPr lang="en-US" sz="4000" dirty="0"/>
          </a:p>
          <a:p>
            <a:pPr indent="0" marL="0">
              <a:lnSpc>
                <a:spcPct val="105000"/>
              </a:lnSpc>
              <a:buNone/>
            </a:pPr>
            <a:r>
              <a:rPr lang="en-US" sz="4000" b="1" dirty="0">
                <a:solidFill>
                  <a:srgbClr val="FFFFFF"/>
                </a:solidFill>
                <a:latin typeface="Meiryo" pitchFamily="34" charset="0"/>
                <a:ea typeface="Meiryo" pitchFamily="34" charset="-122"/>
                <a:cs typeface="Meiryo" pitchFamily="34" charset="-120"/>
              </a:rPr>
              <a:t>説明会</a:t>
            </a:r>
            <a:endParaRPr lang="en-US" sz="4000" dirty="0"/>
          </a:p>
        </p:txBody>
      </p:sp>
      <p:sp>
        <p:nvSpPr>
          <p:cNvPr id="6" name="Text 4"/>
          <p:cNvSpPr/>
          <p:nvPr/>
        </p:nvSpPr>
        <p:spPr>
          <a:xfrm>
            <a:off x="713232" y="3703320"/>
            <a:ext cx="10789920" cy="548640"/>
          </a:xfrm>
          <a:prstGeom prst="rect">
            <a:avLst/>
          </a:prstGeom>
          <a:noFill/>
          <a:ln/>
        </p:spPr>
        <p:txBody>
          <a:bodyPr wrap="square" rtlCol="0" anchor="ctr"/>
          <a:lstStyle/>
          <a:p>
            <a:pPr indent="0" marL="0">
              <a:buNone/>
            </a:pPr>
            <a:r>
              <a:rPr lang="en-US" sz="1800" i="1" dirty="0">
                <a:solidFill>
                  <a:srgbClr val="CADCFC"/>
                </a:solidFill>
                <a:latin typeface="Meiryo" pitchFamily="34" charset="0"/>
                <a:ea typeface="Meiryo" pitchFamily="34" charset="-122"/>
                <a:cs typeface="Meiryo" pitchFamily="34" charset="-120"/>
              </a:rPr>
              <a:t>―『必要な時間に、必要な人員を配置する』体制への転換 ―</a:t>
            </a:r>
            <a:endParaRPr lang="en-US" sz="1800" dirty="0"/>
          </a:p>
        </p:txBody>
      </p:sp>
      <p:sp>
        <p:nvSpPr>
          <p:cNvPr id="7" name="Shape 5"/>
          <p:cNvSpPr/>
          <p:nvPr/>
        </p:nvSpPr>
        <p:spPr>
          <a:xfrm>
            <a:off x="731520" y="4526280"/>
            <a:ext cx="3840480" cy="0"/>
          </a:xfrm>
          <a:prstGeom prst="line">
            <a:avLst/>
          </a:prstGeom>
          <a:noFill/>
          <a:ln w="19050">
            <a:solidFill>
              <a:srgbClr val="3C5488"/>
            </a:solidFill>
            <a:prstDash val="solid"/>
          </a:ln>
        </p:spPr>
        <p:txBody>
          <a:bodyPr/>
          <a:p/>
        </p:txBody>
      </p:sp>
      <p:sp>
        <p:nvSpPr>
          <p:cNvPr id="8" name="Text 6"/>
          <p:cNvSpPr/>
          <p:nvPr/>
        </p:nvSpPr>
        <p:spPr>
          <a:xfrm>
            <a:off x="731520" y="4800600"/>
            <a:ext cx="10058400" cy="365760"/>
          </a:xfrm>
          <a:prstGeom prst="rect">
            <a:avLst/>
          </a:prstGeom>
          <a:noFill/>
          <a:ln/>
        </p:spPr>
        <p:txBody>
          <a:bodyPr wrap="square" rtlCol="0" anchor="ctr"/>
          <a:lstStyle/>
          <a:p>
            <a:pPr indent="0" marL="0">
              <a:buNone/>
            </a:pPr>
            <a:r>
              <a:rPr lang="en-US" sz="1500" b="1" dirty="0">
                <a:solidFill>
                  <a:srgbClr val="9FB0CC"/>
                </a:solidFill>
                <a:latin typeface="Meiryo" pitchFamily="34" charset="0"/>
                <a:ea typeface="Meiryo" pitchFamily="34" charset="-122"/>
                <a:cs typeface="Meiryo" pitchFamily="34" charset="-120"/>
              </a:rPr>
              <a:t>対象：</a:t>
            </a:r>
            <a:pPr indent="0" marL="0">
              <a:buNone/>
            </a:pPr>
            <a:r>
              <a:rPr lang="en-US" sz="1500" dirty="0">
                <a:solidFill>
                  <a:srgbClr val="FFFFFF"/>
                </a:solidFill>
                <a:latin typeface="Meiryo" pitchFamily="34" charset="0"/>
                <a:ea typeface="Meiryo" pitchFamily="34" charset="-122"/>
                <a:cs typeface="Meiryo" pitchFamily="34" charset="-120"/>
              </a:rPr>
              <a:t>部長・支店長・所属長クラス</a:t>
            </a:r>
            <a:endParaRPr lang="en-US" sz="1500" dirty="0"/>
          </a:p>
        </p:txBody>
      </p:sp>
      <p:sp>
        <p:nvSpPr>
          <p:cNvPr id="9" name="Text 7"/>
          <p:cNvSpPr/>
          <p:nvPr/>
        </p:nvSpPr>
        <p:spPr>
          <a:xfrm>
            <a:off x="731520" y="5257800"/>
            <a:ext cx="10607040" cy="640080"/>
          </a:xfrm>
          <a:prstGeom prst="rect">
            <a:avLst/>
          </a:prstGeom>
          <a:noFill/>
          <a:ln/>
        </p:spPr>
        <p:txBody>
          <a:bodyPr wrap="square" rtlCol="0" anchor="ctr"/>
          <a:lstStyle/>
          <a:p>
            <a:pPr indent="0" marL="0">
              <a:buNone/>
            </a:pPr>
            <a:r>
              <a:rPr lang="en-US" sz="1400" b="1" dirty="0">
                <a:solidFill>
                  <a:srgbClr val="9FB0CC"/>
                </a:solidFill>
                <a:latin typeface="Meiryo" pitchFamily="34" charset="0"/>
                <a:ea typeface="Meiryo" pitchFamily="34" charset="-122"/>
                <a:cs typeface="Meiryo" pitchFamily="34" charset="-120"/>
              </a:rPr>
              <a:t>目的：</a:t>
            </a:r>
            <a:pPr indent="0" marL="0">
              <a:buNone/>
            </a:pPr>
            <a:r>
              <a:rPr lang="en-US" sz="1400" dirty="0">
                <a:solidFill>
                  <a:srgbClr val="E5ECF7"/>
                </a:solidFill>
                <a:latin typeface="Meiryo" pitchFamily="34" charset="0"/>
                <a:ea typeface="Meiryo" pitchFamily="34" charset="-122"/>
                <a:cs typeface="Meiryo" pitchFamily="34" charset="-120"/>
              </a:rPr>
              <a:t>背景・会社方針・現場での活用方法・進め方を共有し、各所属で「必要な時間 × 必要人数」を具体化する</a:t>
            </a:r>
            <a:endParaRPr lang="en-US" sz="1400" dirty="0"/>
          </a:p>
        </p:txBody>
      </p:sp>
      <p:sp>
        <p:nvSpPr>
          <p:cNvPr id="10" name="Text 8"/>
          <p:cNvSpPr/>
          <p:nvPr/>
        </p:nvSpPr>
        <p:spPr>
          <a:xfrm>
            <a:off x="731520" y="6035040"/>
            <a:ext cx="4572000" cy="365760"/>
          </a:xfrm>
          <a:prstGeom prst="rect">
            <a:avLst/>
          </a:prstGeom>
          <a:noFill/>
          <a:ln/>
        </p:spPr>
        <p:txBody>
          <a:bodyPr wrap="square" rtlCol="0" anchor="ctr"/>
          <a:lstStyle/>
          <a:p>
            <a:pPr indent="0" marL="0">
              <a:buNone/>
            </a:pPr>
            <a:r>
              <a:rPr lang="en-US" sz="1300" dirty="0">
                <a:solidFill>
                  <a:srgbClr val="9FB0CC"/>
                </a:solidFill>
                <a:latin typeface="Meiryo" pitchFamily="34" charset="0"/>
                <a:ea typeface="Meiryo" pitchFamily="34" charset="-122"/>
                <a:cs typeface="Meiryo" pitchFamily="34" charset="-120"/>
              </a:rPr>
              <a:t>2026年8月</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0058400" cy="320040"/>
          </a:xfrm>
          <a:prstGeom prst="rect">
            <a:avLst/>
          </a:prstGeom>
          <a:noFill/>
          <a:ln/>
        </p:spPr>
        <p:txBody>
          <a:bodyPr wrap="square" rtlCol="0" anchor="ctr"/>
          <a:lstStyle/>
          <a:p>
            <a:pPr indent="0" marL="0">
              <a:buNone/>
            </a:pPr>
            <a:r>
              <a:rPr lang="en-US" sz="1300" b="1" spc="200" kern="0" dirty="0">
                <a:solidFill>
                  <a:srgbClr val="2E5AAC"/>
                </a:solidFill>
                <a:latin typeface="Meiryo" pitchFamily="34" charset="0"/>
                <a:ea typeface="Meiryo" pitchFamily="34" charset="-122"/>
                <a:cs typeface="Meiryo" pitchFamily="34" charset="-120"/>
              </a:rPr>
              <a:t>本日いちばん伝えたいこと</a:t>
            </a:r>
            <a:endParaRPr lang="en-US" sz="1300" dirty="0"/>
          </a:p>
        </p:txBody>
      </p:sp>
      <p:sp>
        <p:nvSpPr>
          <p:cNvPr id="3" name="Text 1"/>
          <p:cNvSpPr/>
          <p:nvPr/>
        </p:nvSpPr>
        <p:spPr>
          <a:xfrm>
            <a:off x="548640" y="841248"/>
            <a:ext cx="11064240" cy="822960"/>
          </a:xfrm>
          <a:prstGeom prst="rect">
            <a:avLst/>
          </a:prstGeom>
          <a:noFill/>
          <a:ln/>
        </p:spPr>
        <p:txBody>
          <a:bodyPr wrap="square" rtlCol="0" anchor="ctr"/>
          <a:lstStyle/>
          <a:p>
            <a:pPr algn="l" indent="0" marL="0">
              <a:buNone/>
            </a:pPr>
            <a:r>
              <a:rPr lang="en-US" sz="3000" b="1" dirty="0">
                <a:solidFill>
                  <a:srgbClr val="1B2A4A"/>
                </a:solidFill>
                <a:latin typeface="Meiryo" pitchFamily="34" charset="0"/>
                <a:ea typeface="Meiryo" pitchFamily="34" charset="-122"/>
                <a:cs typeface="Meiryo" pitchFamily="34" charset="-120"/>
              </a:rPr>
              <a:t>これは「採用施策」ではなく、</a:t>
            </a:r>
            <a:endParaRPr lang="en-US" sz="3000" dirty="0"/>
          </a:p>
          <a:p>
            <a:pPr algn="l" indent="0" marL="0">
              <a:buNone/>
            </a:pPr>
            <a:r>
              <a:rPr lang="en-US" sz="3000" b="1" dirty="0">
                <a:solidFill>
                  <a:srgbClr val="1B2A4A"/>
                </a:solidFill>
                <a:latin typeface="Meiryo" pitchFamily="34" charset="0"/>
                <a:ea typeface="Meiryo" pitchFamily="34" charset="-122"/>
                <a:cs typeface="Meiryo" pitchFamily="34" charset="-120"/>
              </a:rPr>
              <a:t>人員の持ち方を変える取り組みです</a:t>
            </a:r>
            <a:endParaRPr lang="en-US" sz="3000" dirty="0"/>
          </a:p>
        </p:txBody>
      </p:sp>
      <p:sp>
        <p:nvSpPr>
          <p:cNvPr id="4" name="Shape 2"/>
          <p:cNvSpPr/>
          <p:nvPr/>
        </p:nvSpPr>
        <p:spPr>
          <a:xfrm>
            <a:off x="548640" y="2286000"/>
            <a:ext cx="3429000" cy="3566160"/>
          </a:xfrm>
          <a:prstGeom prst="roundRect">
            <a:avLst>
              <a:gd name="adj" fmla="val 2133"/>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5" name="Shape 3"/>
          <p:cNvSpPr/>
          <p:nvPr/>
        </p:nvSpPr>
        <p:spPr>
          <a:xfrm>
            <a:off x="868680" y="2651760"/>
            <a:ext cx="914400" cy="914400"/>
          </a:xfrm>
          <a:prstGeom prst="roundRect">
            <a:avLst>
              <a:gd name="adj" fmla="val 50000"/>
            </a:avLst>
          </a:prstGeom>
          <a:solidFill>
            <a:srgbClr val="E9EEF8"/>
          </a:solidFill>
          <a:ln/>
        </p:spPr>
        <p:txBody>
          <a:bodyPr/>
          <a:p/>
        </p:txBody>
      </p:sp>
      <p:sp>
        <p:nvSpPr>
          <p:cNvPr id="6" name="Text 4"/>
          <p:cNvSpPr/>
          <p:nvPr/>
        </p:nvSpPr>
        <p:spPr>
          <a:xfrm>
            <a:off x="868680" y="2651760"/>
            <a:ext cx="914400" cy="914400"/>
          </a:xfrm>
          <a:prstGeom prst="rect">
            <a:avLst/>
          </a:prstGeom>
          <a:noFill/>
          <a:ln/>
        </p:spPr>
        <p:txBody>
          <a:bodyPr wrap="square" rtlCol="0" anchor="ctr"/>
          <a:lstStyle/>
          <a:p>
            <a:pPr algn="ctr" indent="0" marL="0">
              <a:buNone/>
            </a:pPr>
            <a:r>
              <a:rPr lang="en-US" sz="2600" b="1" dirty="0">
                <a:solidFill>
                  <a:srgbClr val="2E5AAC"/>
                </a:solidFill>
                <a:latin typeface="Meiryo" pitchFamily="34" charset="0"/>
                <a:ea typeface="Meiryo" pitchFamily="34" charset="-122"/>
                <a:cs typeface="Meiryo" pitchFamily="34" charset="-120"/>
              </a:rPr>
              <a:t>01</a:t>
            </a:r>
            <a:endParaRPr lang="en-US" sz="2600" dirty="0"/>
          </a:p>
        </p:txBody>
      </p:sp>
      <p:sp>
        <p:nvSpPr>
          <p:cNvPr id="7" name="Text 5"/>
          <p:cNvSpPr/>
          <p:nvPr/>
        </p:nvSpPr>
        <p:spPr>
          <a:xfrm>
            <a:off x="841248" y="3794760"/>
            <a:ext cx="2880360" cy="640080"/>
          </a:xfrm>
          <a:prstGeom prst="rect">
            <a:avLst/>
          </a:prstGeom>
          <a:noFill/>
          <a:ln/>
        </p:spPr>
        <p:txBody>
          <a:bodyPr wrap="square" rtlCol="0" anchor="ctr"/>
          <a:lstStyle/>
          <a:p>
            <a:pPr indent="0" marL="0">
              <a:buNone/>
            </a:pPr>
            <a:r>
              <a:rPr lang="en-US" sz="1900" b="1" dirty="0">
                <a:solidFill>
                  <a:srgbClr val="1F2733"/>
                </a:solidFill>
                <a:latin typeface="Meiryo" pitchFamily="34" charset="0"/>
                <a:ea typeface="Meiryo" pitchFamily="34" charset="-122"/>
                <a:cs typeface="Meiryo" pitchFamily="34" charset="-120"/>
              </a:rPr>
              <a:t>採用の話ではない</a:t>
            </a:r>
            <a:endParaRPr lang="en-US" sz="1900" dirty="0"/>
          </a:p>
        </p:txBody>
      </p:sp>
      <p:sp>
        <p:nvSpPr>
          <p:cNvPr id="8" name="Text 6"/>
          <p:cNvSpPr/>
          <p:nvPr/>
        </p:nvSpPr>
        <p:spPr>
          <a:xfrm>
            <a:off x="841248" y="4526280"/>
            <a:ext cx="2880360" cy="1188720"/>
          </a:xfrm>
          <a:prstGeom prst="rect">
            <a:avLst/>
          </a:prstGeom>
          <a:noFill/>
          <a:ln/>
        </p:spPr>
        <p:txBody>
          <a:bodyPr wrap="square" rtlCol="0" anchor="ctr"/>
          <a:lstStyle/>
          <a:p>
            <a:pPr indent="0" marL="0">
              <a:lnSpc>
                <a:spcPct val="115000"/>
              </a:lnSpc>
              <a:buNone/>
            </a:pPr>
            <a:r>
              <a:rPr lang="en-US" sz="1350" dirty="0">
                <a:solidFill>
                  <a:srgbClr val="6B7686"/>
                </a:solidFill>
                <a:latin typeface="Meiryo" pitchFamily="34" charset="0"/>
                <a:ea typeface="Meiryo" pitchFamily="34" charset="-122"/>
                <a:cs typeface="Meiryo" pitchFamily="34" charset="-120"/>
              </a:rPr>
              <a:t>人が足りないからパートを採る、ではない。旅客部門の収支改善に向けた「人員の持ち方」そのものの見直し。</a:t>
            </a:r>
            <a:endParaRPr lang="en-US" sz="1350" dirty="0"/>
          </a:p>
        </p:txBody>
      </p:sp>
      <p:sp>
        <p:nvSpPr>
          <p:cNvPr id="9" name="Shape 7"/>
          <p:cNvSpPr/>
          <p:nvPr/>
        </p:nvSpPr>
        <p:spPr>
          <a:xfrm>
            <a:off x="4297680" y="2286000"/>
            <a:ext cx="3429000" cy="3566160"/>
          </a:xfrm>
          <a:prstGeom prst="roundRect">
            <a:avLst>
              <a:gd name="adj" fmla="val 2133"/>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0" name="Shape 8"/>
          <p:cNvSpPr/>
          <p:nvPr/>
        </p:nvSpPr>
        <p:spPr>
          <a:xfrm>
            <a:off x="4617720" y="2651760"/>
            <a:ext cx="914400" cy="914400"/>
          </a:xfrm>
          <a:prstGeom prst="roundRect">
            <a:avLst>
              <a:gd name="adj" fmla="val 50000"/>
            </a:avLst>
          </a:prstGeom>
          <a:solidFill>
            <a:srgbClr val="F6EEDC"/>
          </a:solidFill>
          <a:ln/>
        </p:spPr>
        <p:txBody>
          <a:bodyPr/>
          <a:p/>
        </p:txBody>
      </p:sp>
      <p:sp>
        <p:nvSpPr>
          <p:cNvPr id="11" name="Text 9"/>
          <p:cNvSpPr/>
          <p:nvPr/>
        </p:nvSpPr>
        <p:spPr>
          <a:xfrm>
            <a:off x="4617720" y="2651760"/>
            <a:ext cx="914400" cy="914400"/>
          </a:xfrm>
          <a:prstGeom prst="rect">
            <a:avLst/>
          </a:prstGeom>
          <a:noFill/>
          <a:ln/>
        </p:spPr>
        <p:txBody>
          <a:bodyPr wrap="square" rtlCol="0" anchor="ctr"/>
          <a:lstStyle/>
          <a:p>
            <a:pPr algn="ctr" indent="0" marL="0">
              <a:buNone/>
            </a:pPr>
            <a:r>
              <a:rPr lang="en-US" sz="2600" b="1" dirty="0">
                <a:solidFill>
                  <a:srgbClr val="B8891B"/>
                </a:solidFill>
                <a:latin typeface="Meiryo" pitchFamily="34" charset="0"/>
                <a:ea typeface="Meiryo" pitchFamily="34" charset="-122"/>
                <a:cs typeface="Meiryo" pitchFamily="34" charset="-120"/>
              </a:rPr>
              <a:t>02</a:t>
            </a:r>
            <a:endParaRPr lang="en-US" sz="2600" dirty="0"/>
          </a:p>
        </p:txBody>
      </p:sp>
      <p:sp>
        <p:nvSpPr>
          <p:cNvPr id="12" name="Text 10"/>
          <p:cNvSpPr/>
          <p:nvPr/>
        </p:nvSpPr>
        <p:spPr>
          <a:xfrm>
            <a:off x="4590288" y="3794760"/>
            <a:ext cx="2880360" cy="640080"/>
          </a:xfrm>
          <a:prstGeom prst="rect">
            <a:avLst/>
          </a:prstGeom>
          <a:noFill/>
          <a:ln/>
        </p:spPr>
        <p:txBody>
          <a:bodyPr wrap="square" rtlCol="0" anchor="ctr"/>
          <a:lstStyle/>
          <a:p>
            <a:pPr indent="0" marL="0">
              <a:buNone/>
            </a:pPr>
            <a:r>
              <a:rPr lang="en-US" sz="1900" b="1" dirty="0">
                <a:solidFill>
                  <a:srgbClr val="1F2733"/>
                </a:solidFill>
                <a:latin typeface="Meiryo" pitchFamily="34" charset="0"/>
                <a:ea typeface="Meiryo" pitchFamily="34" charset="-122"/>
                <a:cs typeface="Meiryo" pitchFamily="34" charset="-120"/>
              </a:rPr>
              <a:t>人数 → 時間×人数</a:t>
            </a:r>
            <a:endParaRPr lang="en-US" sz="1900" dirty="0"/>
          </a:p>
        </p:txBody>
      </p:sp>
      <p:sp>
        <p:nvSpPr>
          <p:cNvPr id="13" name="Text 11"/>
          <p:cNvSpPr/>
          <p:nvPr/>
        </p:nvSpPr>
        <p:spPr>
          <a:xfrm>
            <a:off x="4590288" y="4526280"/>
            <a:ext cx="2880360" cy="1188720"/>
          </a:xfrm>
          <a:prstGeom prst="rect">
            <a:avLst/>
          </a:prstGeom>
          <a:noFill/>
          <a:ln/>
        </p:spPr>
        <p:txBody>
          <a:bodyPr wrap="square" rtlCol="0" anchor="ctr"/>
          <a:lstStyle/>
          <a:p>
            <a:pPr indent="0" marL="0">
              <a:lnSpc>
                <a:spcPct val="115000"/>
              </a:lnSpc>
              <a:buNone/>
            </a:pPr>
            <a:r>
              <a:rPr lang="en-US" sz="1350" dirty="0">
                <a:solidFill>
                  <a:srgbClr val="6B7686"/>
                </a:solidFill>
                <a:latin typeface="Meiryo" pitchFamily="34" charset="0"/>
                <a:ea typeface="Meiryo" pitchFamily="34" charset="-122"/>
                <a:cs typeface="Meiryo" pitchFamily="34" charset="-120"/>
              </a:rPr>
              <a:t>「何人必要か」から、「何時に・どのポジションで・何人必要か」へ考え方を転換する。</a:t>
            </a:r>
            <a:endParaRPr lang="en-US" sz="1350" dirty="0"/>
          </a:p>
        </p:txBody>
      </p:sp>
      <p:sp>
        <p:nvSpPr>
          <p:cNvPr id="14" name="Shape 12"/>
          <p:cNvSpPr/>
          <p:nvPr/>
        </p:nvSpPr>
        <p:spPr>
          <a:xfrm>
            <a:off x="8046720" y="2286000"/>
            <a:ext cx="3429000" cy="3566160"/>
          </a:xfrm>
          <a:prstGeom prst="roundRect">
            <a:avLst>
              <a:gd name="adj" fmla="val 2133"/>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5" name="Shape 13"/>
          <p:cNvSpPr/>
          <p:nvPr/>
        </p:nvSpPr>
        <p:spPr>
          <a:xfrm>
            <a:off x="8366760" y="2651760"/>
            <a:ext cx="914400" cy="914400"/>
          </a:xfrm>
          <a:prstGeom prst="roundRect">
            <a:avLst>
              <a:gd name="adj" fmla="val 50000"/>
            </a:avLst>
          </a:prstGeom>
          <a:solidFill>
            <a:srgbClr val="E3F0EA"/>
          </a:solidFill>
          <a:ln/>
        </p:spPr>
        <p:txBody>
          <a:bodyPr/>
          <a:p/>
        </p:txBody>
      </p:sp>
      <p:sp>
        <p:nvSpPr>
          <p:cNvPr id="16" name="Text 14"/>
          <p:cNvSpPr/>
          <p:nvPr/>
        </p:nvSpPr>
        <p:spPr>
          <a:xfrm>
            <a:off x="8366760" y="2651760"/>
            <a:ext cx="914400" cy="914400"/>
          </a:xfrm>
          <a:prstGeom prst="rect">
            <a:avLst/>
          </a:prstGeom>
          <a:noFill/>
          <a:ln/>
        </p:spPr>
        <p:txBody>
          <a:bodyPr wrap="square" rtlCol="0" anchor="ctr"/>
          <a:lstStyle/>
          <a:p>
            <a:pPr algn="ctr" indent="0" marL="0">
              <a:buNone/>
            </a:pPr>
            <a:r>
              <a:rPr lang="en-US" sz="2600" b="1" dirty="0">
                <a:solidFill>
                  <a:srgbClr val="1E7A5A"/>
                </a:solidFill>
                <a:latin typeface="Meiryo" pitchFamily="34" charset="0"/>
                <a:ea typeface="Meiryo" pitchFamily="34" charset="-122"/>
                <a:cs typeface="Meiryo" pitchFamily="34" charset="-120"/>
              </a:rPr>
              <a:t>03</a:t>
            </a:r>
            <a:endParaRPr lang="en-US" sz="2600" dirty="0"/>
          </a:p>
        </p:txBody>
      </p:sp>
      <p:sp>
        <p:nvSpPr>
          <p:cNvPr id="17" name="Text 15"/>
          <p:cNvSpPr/>
          <p:nvPr/>
        </p:nvSpPr>
        <p:spPr>
          <a:xfrm>
            <a:off x="8339328" y="3794760"/>
            <a:ext cx="2880360" cy="640080"/>
          </a:xfrm>
          <a:prstGeom prst="rect">
            <a:avLst/>
          </a:prstGeom>
          <a:noFill/>
          <a:ln/>
        </p:spPr>
        <p:txBody>
          <a:bodyPr wrap="square" rtlCol="0" anchor="ctr"/>
          <a:lstStyle/>
          <a:p>
            <a:pPr indent="0" marL="0">
              <a:buNone/>
            </a:pPr>
            <a:r>
              <a:rPr lang="en-US" sz="1900" b="1" dirty="0">
                <a:solidFill>
                  <a:srgbClr val="1F2733"/>
                </a:solidFill>
                <a:latin typeface="Meiryo" pitchFamily="34" charset="0"/>
                <a:ea typeface="Meiryo" pitchFamily="34" charset="-122"/>
                <a:cs typeface="Meiryo" pitchFamily="34" charset="-120"/>
              </a:rPr>
              <a:t>組み合わせで運営</a:t>
            </a:r>
            <a:endParaRPr lang="en-US" sz="1900" dirty="0"/>
          </a:p>
        </p:txBody>
      </p:sp>
      <p:sp>
        <p:nvSpPr>
          <p:cNvPr id="18" name="Text 16"/>
          <p:cNvSpPr/>
          <p:nvPr/>
        </p:nvSpPr>
        <p:spPr>
          <a:xfrm>
            <a:off x="8339328" y="4526280"/>
            <a:ext cx="2880360" cy="1188720"/>
          </a:xfrm>
          <a:prstGeom prst="rect">
            <a:avLst/>
          </a:prstGeom>
          <a:noFill/>
          <a:ln/>
        </p:spPr>
        <p:txBody>
          <a:bodyPr wrap="square" rtlCol="0" anchor="ctr"/>
          <a:lstStyle/>
          <a:p>
            <a:pPr indent="0" marL="0">
              <a:lnSpc>
                <a:spcPct val="115000"/>
              </a:lnSpc>
              <a:buNone/>
            </a:pPr>
            <a:r>
              <a:rPr lang="en-US" sz="1350" dirty="0">
                <a:solidFill>
                  <a:srgbClr val="6B7686"/>
                </a:solidFill>
                <a:latin typeface="Meiryo" pitchFamily="34" charset="0"/>
                <a:ea typeface="Meiryo" pitchFamily="34" charset="-122"/>
                <a:cs typeface="Meiryo" pitchFamily="34" charset="-120"/>
              </a:rPr>
              <a:t>正社員だけで全時間帯を埋めず、必要な時間帯に短時間勤務者を組み合わせ、運営と収支を両立する。</a:t>
            </a:r>
            <a:endParaRPr lang="en-US" sz="1350" dirty="0"/>
          </a:p>
        </p:txBody>
      </p:sp>
      <p:sp>
        <p:nvSpPr>
          <p:cNvPr id="19" name="Text 17"/>
          <p:cNvSpPr/>
          <p:nvPr/>
        </p:nvSpPr>
        <p:spPr>
          <a:xfrm>
            <a:off x="457200" y="6419088"/>
            <a:ext cx="5486400" cy="274320"/>
          </a:xfrm>
          <a:prstGeom prst="rect">
            <a:avLst/>
          </a:prstGeom>
          <a:noFill/>
          <a:ln/>
        </p:spPr>
        <p:txBody>
          <a:bodyPr wrap="square" rtlCol="0" anchor="ctr"/>
          <a:lstStyle/>
          <a:p>
            <a:pPr algn="l" indent="0" marL="0">
              <a:buNone/>
            </a:pPr>
            <a:r>
              <a:rPr lang="en-US" sz="900" dirty="0">
                <a:solidFill>
                  <a:srgbClr val="6B7686"/>
                </a:solidFill>
                <a:latin typeface="Meiryo" pitchFamily="34" charset="0"/>
                <a:ea typeface="Meiryo" pitchFamily="34" charset="-122"/>
                <a:cs typeface="Meiryo" pitchFamily="34" charset="-120"/>
              </a:rPr>
              <a:t>短時間勤務者採用 説明会</a:t>
            </a:r>
            <a:endParaRPr lang="en-US" sz="900" dirty="0"/>
          </a:p>
        </p:txBody>
      </p:sp>
      <p:sp>
        <p:nvSpPr>
          <p:cNvPr id="20" name="Text 18"/>
          <p:cNvSpPr/>
          <p:nvPr/>
        </p:nvSpPr>
        <p:spPr>
          <a:xfrm>
            <a:off x="11338560" y="6419088"/>
            <a:ext cx="457200" cy="274320"/>
          </a:xfrm>
          <a:prstGeom prst="rect">
            <a:avLst/>
          </a:prstGeom>
          <a:noFill/>
          <a:ln/>
        </p:spPr>
        <p:txBody>
          <a:bodyPr wrap="square" rtlCol="0" anchor="ctr"/>
          <a:lstStyle/>
          <a:p>
            <a:pPr algn="r" indent="0" marL="0">
              <a:buNone/>
            </a:pPr>
            <a:r>
              <a:rPr lang="en-US" sz="900" dirty="0">
                <a:solidFill>
                  <a:srgbClr val="6B7686"/>
                </a:solidFill>
                <a:latin typeface="Meiryo" pitchFamily="34" charset="0"/>
                <a:ea typeface="Meiryo" pitchFamily="34" charset="-122"/>
                <a:cs typeface="Meiryo"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502920"/>
            <a:ext cx="10058400" cy="320040"/>
          </a:xfrm>
          <a:prstGeom prst="rect">
            <a:avLst/>
          </a:prstGeom>
          <a:noFill/>
          <a:ln/>
        </p:spPr>
        <p:txBody>
          <a:bodyPr wrap="square" rtlCol="0" anchor="ctr"/>
          <a:lstStyle/>
          <a:p>
            <a:pPr indent="0" marL="0">
              <a:buNone/>
            </a:pPr>
            <a:r>
              <a:rPr lang="en-US" sz="1300" b="1" spc="200" kern="0" dirty="0">
                <a:solidFill>
                  <a:srgbClr val="2E5AAC"/>
                </a:solidFill>
                <a:latin typeface="Meiryo" pitchFamily="34" charset="0"/>
                <a:ea typeface="Meiryo" pitchFamily="34" charset="-122"/>
                <a:cs typeface="Meiryo" pitchFamily="34" charset="-120"/>
              </a:rPr>
              <a:t>本日の進め方（30〜40分想定）</a:t>
            </a:r>
            <a:endParaRPr lang="en-US" sz="1300" dirty="0"/>
          </a:p>
        </p:txBody>
      </p:sp>
      <p:sp>
        <p:nvSpPr>
          <p:cNvPr id="3" name="Text 1"/>
          <p:cNvSpPr/>
          <p:nvPr/>
        </p:nvSpPr>
        <p:spPr>
          <a:xfrm>
            <a:off x="548640" y="841248"/>
            <a:ext cx="11064240" cy="822960"/>
          </a:xfrm>
          <a:prstGeom prst="rect">
            <a:avLst/>
          </a:prstGeom>
          <a:noFill/>
          <a:ln/>
        </p:spPr>
        <p:txBody>
          <a:bodyPr wrap="square" rtlCol="0" anchor="ctr"/>
          <a:lstStyle/>
          <a:p>
            <a:pPr algn="l" indent="0" marL="0">
              <a:buNone/>
            </a:pPr>
            <a:r>
              <a:rPr lang="en-US" sz="3000" b="1" dirty="0">
                <a:solidFill>
                  <a:srgbClr val="1B2A4A"/>
                </a:solidFill>
                <a:latin typeface="Meiryo" pitchFamily="34" charset="0"/>
                <a:ea typeface="Meiryo" pitchFamily="34" charset="-122"/>
                <a:cs typeface="Meiryo" pitchFamily="34" charset="-120"/>
              </a:rPr>
              <a:t>説明会の流れ</a:t>
            </a:r>
            <a:endParaRPr lang="en-US" sz="3000" dirty="0"/>
          </a:p>
        </p:txBody>
      </p:sp>
      <p:sp>
        <p:nvSpPr>
          <p:cNvPr id="4" name="Shape 2"/>
          <p:cNvSpPr/>
          <p:nvPr/>
        </p:nvSpPr>
        <p:spPr>
          <a:xfrm>
            <a:off x="548640" y="2148840"/>
            <a:ext cx="11091672" cy="502920"/>
          </a:xfrm>
          <a:prstGeom prst="rect">
            <a:avLst/>
          </a:prstGeom>
          <a:solidFill>
            <a:srgbClr val="FFFFFF"/>
          </a:solidFill>
          <a:ln/>
        </p:spPr>
        <p:txBody>
          <a:bodyPr/>
          <a:p/>
        </p:txBody>
      </p:sp>
      <p:sp>
        <p:nvSpPr>
          <p:cNvPr id="5" name="Shape 3"/>
          <p:cNvSpPr/>
          <p:nvPr/>
        </p:nvSpPr>
        <p:spPr>
          <a:xfrm>
            <a:off x="685800" y="2240280"/>
            <a:ext cx="320040" cy="320040"/>
          </a:xfrm>
          <a:prstGeom prst="roundRect">
            <a:avLst>
              <a:gd name="adj" fmla="val 48571"/>
            </a:avLst>
          </a:prstGeom>
          <a:solidFill>
            <a:srgbClr val="1B2A4A"/>
          </a:solidFill>
          <a:ln/>
        </p:spPr>
        <p:txBody>
          <a:bodyPr/>
          <a:p/>
        </p:txBody>
      </p:sp>
      <p:sp>
        <p:nvSpPr>
          <p:cNvPr id="6" name="Text 4"/>
          <p:cNvSpPr/>
          <p:nvPr/>
        </p:nvSpPr>
        <p:spPr>
          <a:xfrm>
            <a:off x="685800" y="2240280"/>
            <a:ext cx="320040" cy="32004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7" name="Text 5"/>
          <p:cNvSpPr/>
          <p:nvPr/>
        </p:nvSpPr>
        <p:spPr>
          <a:xfrm>
            <a:off x="1280160" y="2148840"/>
            <a:ext cx="4937760" cy="502920"/>
          </a:xfrm>
          <a:prstGeom prst="rect">
            <a:avLst/>
          </a:prstGeom>
          <a:noFill/>
          <a:ln/>
        </p:spPr>
        <p:txBody>
          <a:bodyPr wrap="square" rtlCol="0" anchor="ctr"/>
          <a:lstStyle/>
          <a:p>
            <a:pPr indent="0" marL="0">
              <a:buNone/>
            </a:pPr>
            <a:r>
              <a:rPr lang="en-US" sz="1500" b="1" dirty="0">
                <a:solidFill>
                  <a:srgbClr val="1F2733"/>
                </a:solidFill>
                <a:latin typeface="Meiryo" pitchFamily="34" charset="0"/>
                <a:ea typeface="Meiryo" pitchFamily="34" charset="-122"/>
                <a:cs typeface="Meiryo" pitchFamily="34" charset="-120"/>
              </a:rPr>
              <a:t>冒頭・目的</a:t>
            </a:r>
            <a:endParaRPr lang="en-US" sz="1500" dirty="0"/>
          </a:p>
        </p:txBody>
      </p:sp>
      <p:sp>
        <p:nvSpPr>
          <p:cNvPr id="8" name="Text 6"/>
          <p:cNvSpPr/>
          <p:nvPr/>
        </p:nvSpPr>
        <p:spPr>
          <a:xfrm>
            <a:off x="6400800" y="2148840"/>
            <a:ext cx="1005840" cy="502920"/>
          </a:xfrm>
          <a:prstGeom prst="rect">
            <a:avLst/>
          </a:prstGeom>
          <a:noFill/>
          <a:ln/>
        </p:spPr>
        <p:txBody>
          <a:bodyPr wrap="square" rtlCol="0" anchor="ctr"/>
          <a:lstStyle/>
          <a:p>
            <a:pPr algn="ctr" indent="0" marL="0">
              <a:buNone/>
            </a:pPr>
            <a:r>
              <a:rPr lang="en-US" sz="1300" b="1" dirty="0">
                <a:solidFill>
                  <a:srgbClr val="2E5AAC"/>
                </a:solidFill>
                <a:latin typeface="Meiryo" pitchFamily="34" charset="0"/>
                <a:ea typeface="Meiryo" pitchFamily="34" charset="-122"/>
                <a:cs typeface="Meiryo" pitchFamily="34" charset="-120"/>
              </a:rPr>
              <a:t>3分</a:t>
            </a:r>
            <a:endParaRPr lang="en-US" sz="1300" dirty="0"/>
          </a:p>
        </p:txBody>
      </p:sp>
      <p:sp>
        <p:nvSpPr>
          <p:cNvPr id="9" name="Text 7"/>
          <p:cNvSpPr/>
          <p:nvPr/>
        </p:nvSpPr>
        <p:spPr>
          <a:xfrm>
            <a:off x="7589520" y="2148840"/>
            <a:ext cx="4023360" cy="502920"/>
          </a:xfrm>
          <a:prstGeom prst="rect">
            <a:avLst/>
          </a:prstGeom>
          <a:noFill/>
          <a:ln/>
        </p:spPr>
        <p:txBody>
          <a:bodyPr wrap="square" rtlCol="0" anchor="ctr"/>
          <a:lstStyle/>
          <a:p>
            <a:pPr indent="0" marL="0">
              <a:buNone/>
            </a:pPr>
            <a:r>
              <a:rPr lang="en-US" sz="1250" dirty="0">
                <a:solidFill>
                  <a:srgbClr val="6B7686"/>
                </a:solidFill>
                <a:latin typeface="Meiryo" pitchFamily="34" charset="0"/>
                <a:ea typeface="Meiryo" pitchFamily="34" charset="-122"/>
                <a:cs typeface="Meiryo" pitchFamily="34" charset="-120"/>
              </a:rPr>
              <a:t>なぜ急遽この説明会を行うのか</a:t>
            </a:r>
            <a:endParaRPr lang="en-US" sz="1250" dirty="0"/>
          </a:p>
        </p:txBody>
      </p:sp>
      <p:sp>
        <p:nvSpPr>
          <p:cNvPr id="10" name="Shape 8"/>
          <p:cNvSpPr/>
          <p:nvPr/>
        </p:nvSpPr>
        <p:spPr>
          <a:xfrm>
            <a:off x="685800" y="2743200"/>
            <a:ext cx="320040" cy="320040"/>
          </a:xfrm>
          <a:prstGeom prst="roundRect">
            <a:avLst>
              <a:gd name="adj" fmla="val 48571"/>
            </a:avLst>
          </a:prstGeom>
          <a:solidFill>
            <a:srgbClr val="1B2A4A"/>
          </a:solidFill>
          <a:ln/>
        </p:spPr>
        <p:txBody>
          <a:bodyPr/>
          <a:p/>
        </p:txBody>
      </p:sp>
      <p:sp>
        <p:nvSpPr>
          <p:cNvPr id="11" name="Text 9"/>
          <p:cNvSpPr/>
          <p:nvPr/>
        </p:nvSpPr>
        <p:spPr>
          <a:xfrm>
            <a:off x="685800" y="2743200"/>
            <a:ext cx="320040" cy="32004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12" name="Text 10"/>
          <p:cNvSpPr/>
          <p:nvPr/>
        </p:nvSpPr>
        <p:spPr>
          <a:xfrm>
            <a:off x="1280160" y="2651760"/>
            <a:ext cx="4937760" cy="502920"/>
          </a:xfrm>
          <a:prstGeom prst="rect">
            <a:avLst/>
          </a:prstGeom>
          <a:noFill/>
          <a:ln/>
        </p:spPr>
        <p:txBody>
          <a:bodyPr wrap="square" rtlCol="0" anchor="ctr"/>
          <a:lstStyle/>
          <a:p>
            <a:pPr indent="0" marL="0">
              <a:buNone/>
            </a:pPr>
            <a:r>
              <a:rPr lang="en-US" sz="1500" b="1" dirty="0">
                <a:solidFill>
                  <a:srgbClr val="1F2733"/>
                </a:solidFill>
                <a:latin typeface="Meiryo" pitchFamily="34" charset="0"/>
                <a:ea typeface="Meiryo" pitchFamily="34" charset="-122"/>
                <a:cs typeface="Meiryo" pitchFamily="34" charset="-120"/>
              </a:rPr>
              <a:t>背景・収支状況</a:t>
            </a:r>
            <a:endParaRPr lang="en-US" sz="1500" dirty="0"/>
          </a:p>
        </p:txBody>
      </p:sp>
      <p:sp>
        <p:nvSpPr>
          <p:cNvPr id="13" name="Text 11"/>
          <p:cNvSpPr/>
          <p:nvPr/>
        </p:nvSpPr>
        <p:spPr>
          <a:xfrm>
            <a:off x="6400800" y="2651760"/>
            <a:ext cx="1005840" cy="502920"/>
          </a:xfrm>
          <a:prstGeom prst="rect">
            <a:avLst/>
          </a:prstGeom>
          <a:noFill/>
          <a:ln/>
        </p:spPr>
        <p:txBody>
          <a:bodyPr wrap="square" rtlCol="0" anchor="ctr"/>
          <a:lstStyle/>
          <a:p>
            <a:pPr algn="ctr" indent="0" marL="0">
              <a:buNone/>
            </a:pPr>
            <a:r>
              <a:rPr lang="en-US" sz="1300" b="1" dirty="0">
                <a:solidFill>
                  <a:srgbClr val="2E5AAC"/>
                </a:solidFill>
                <a:latin typeface="Meiryo" pitchFamily="34" charset="0"/>
                <a:ea typeface="Meiryo" pitchFamily="34" charset="-122"/>
                <a:cs typeface="Meiryo" pitchFamily="34" charset="-120"/>
              </a:rPr>
              <a:t>5分</a:t>
            </a:r>
            <a:endParaRPr lang="en-US" sz="1300" dirty="0"/>
          </a:p>
        </p:txBody>
      </p:sp>
      <p:sp>
        <p:nvSpPr>
          <p:cNvPr id="14" name="Text 12"/>
          <p:cNvSpPr/>
          <p:nvPr/>
        </p:nvSpPr>
        <p:spPr>
          <a:xfrm>
            <a:off x="7589520" y="2651760"/>
            <a:ext cx="4023360" cy="502920"/>
          </a:xfrm>
          <a:prstGeom prst="rect">
            <a:avLst/>
          </a:prstGeom>
          <a:noFill/>
          <a:ln/>
        </p:spPr>
        <p:txBody>
          <a:bodyPr wrap="square" rtlCol="0" anchor="ctr"/>
          <a:lstStyle/>
          <a:p>
            <a:pPr indent="0" marL="0">
              <a:buNone/>
            </a:pPr>
            <a:r>
              <a:rPr lang="en-US" sz="1250" dirty="0">
                <a:solidFill>
                  <a:srgbClr val="6B7686"/>
                </a:solidFill>
                <a:latin typeface="Meiryo" pitchFamily="34" charset="0"/>
                <a:ea typeface="Meiryo" pitchFamily="34" charset="-122"/>
                <a:cs typeface="Meiryo" pitchFamily="34" charset="-120"/>
              </a:rPr>
              <a:t>原価割れと人件費構造</a:t>
            </a:r>
            <a:endParaRPr lang="en-US" sz="1250" dirty="0"/>
          </a:p>
        </p:txBody>
      </p:sp>
      <p:sp>
        <p:nvSpPr>
          <p:cNvPr id="15" name="Shape 13"/>
          <p:cNvSpPr/>
          <p:nvPr/>
        </p:nvSpPr>
        <p:spPr>
          <a:xfrm>
            <a:off x="548640" y="3154680"/>
            <a:ext cx="11091672" cy="502920"/>
          </a:xfrm>
          <a:prstGeom prst="rect">
            <a:avLst/>
          </a:prstGeom>
          <a:solidFill>
            <a:srgbClr val="FFFFFF"/>
          </a:solidFill>
          <a:ln/>
        </p:spPr>
        <p:txBody>
          <a:bodyPr/>
          <a:p/>
        </p:txBody>
      </p:sp>
      <p:sp>
        <p:nvSpPr>
          <p:cNvPr id="16" name="Shape 14"/>
          <p:cNvSpPr/>
          <p:nvPr/>
        </p:nvSpPr>
        <p:spPr>
          <a:xfrm>
            <a:off x="685800" y="3246120"/>
            <a:ext cx="320040" cy="320040"/>
          </a:xfrm>
          <a:prstGeom prst="roundRect">
            <a:avLst>
              <a:gd name="adj" fmla="val 48571"/>
            </a:avLst>
          </a:prstGeom>
          <a:solidFill>
            <a:srgbClr val="1B2A4A"/>
          </a:solidFill>
          <a:ln/>
        </p:spPr>
        <p:txBody>
          <a:bodyPr/>
          <a:p/>
        </p:txBody>
      </p:sp>
      <p:sp>
        <p:nvSpPr>
          <p:cNvPr id="17" name="Text 15"/>
          <p:cNvSpPr/>
          <p:nvPr/>
        </p:nvSpPr>
        <p:spPr>
          <a:xfrm>
            <a:off x="685800" y="3246120"/>
            <a:ext cx="320040" cy="32004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8" name="Text 16"/>
          <p:cNvSpPr/>
          <p:nvPr/>
        </p:nvSpPr>
        <p:spPr>
          <a:xfrm>
            <a:off x="1280160" y="3154680"/>
            <a:ext cx="4937760" cy="502920"/>
          </a:xfrm>
          <a:prstGeom prst="rect">
            <a:avLst/>
          </a:prstGeom>
          <a:noFill/>
          <a:ln/>
        </p:spPr>
        <p:txBody>
          <a:bodyPr wrap="square" rtlCol="0" anchor="ctr"/>
          <a:lstStyle/>
          <a:p>
            <a:pPr indent="0" marL="0">
              <a:buNone/>
            </a:pPr>
            <a:r>
              <a:rPr lang="en-US" sz="1500" b="1" dirty="0">
                <a:solidFill>
                  <a:srgbClr val="1F2733"/>
                </a:solidFill>
                <a:latin typeface="Meiryo" pitchFamily="34" charset="0"/>
                <a:ea typeface="Meiryo" pitchFamily="34" charset="-122"/>
                <a:cs typeface="Meiryo" pitchFamily="34" charset="-120"/>
              </a:rPr>
              <a:t>人員の持ち方の転換</a:t>
            </a:r>
            <a:endParaRPr lang="en-US" sz="1500" dirty="0"/>
          </a:p>
        </p:txBody>
      </p:sp>
      <p:sp>
        <p:nvSpPr>
          <p:cNvPr id="19" name="Text 17"/>
          <p:cNvSpPr/>
          <p:nvPr/>
        </p:nvSpPr>
        <p:spPr>
          <a:xfrm>
            <a:off x="6400800" y="3154680"/>
            <a:ext cx="1005840" cy="502920"/>
          </a:xfrm>
          <a:prstGeom prst="rect">
            <a:avLst/>
          </a:prstGeom>
          <a:noFill/>
          <a:ln/>
        </p:spPr>
        <p:txBody>
          <a:bodyPr wrap="square" rtlCol="0" anchor="ctr"/>
          <a:lstStyle/>
          <a:p>
            <a:pPr algn="ctr" indent="0" marL="0">
              <a:buNone/>
            </a:pPr>
            <a:r>
              <a:rPr lang="en-US" sz="1300" b="1" dirty="0">
                <a:solidFill>
                  <a:srgbClr val="2E5AAC"/>
                </a:solidFill>
                <a:latin typeface="Meiryo" pitchFamily="34" charset="0"/>
                <a:ea typeface="Meiryo" pitchFamily="34" charset="-122"/>
                <a:cs typeface="Meiryo" pitchFamily="34" charset="-120"/>
              </a:rPr>
              <a:t>7分</a:t>
            </a:r>
            <a:endParaRPr lang="en-US" sz="1300" dirty="0"/>
          </a:p>
        </p:txBody>
      </p:sp>
      <p:sp>
        <p:nvSpPr>
          <p:cNvPr id="20" name="Text 18"/>
          <p:cNvSpPr/>
          <p:nvPr/>
        </p:nvSpPr>
        <p:spPr>
          <a:xfrm>
            <a:off x="7589520" y="3154680"/>
            <a:ext cx="4023360" cy="502920"/>
          </a:xfrm>
          <a:prstGeom prst="rect">
            <a:avLst/>
          </a:prstGeom>
          <a:noFill/>
          <a:ln/>
        </p:spPr>
        <p:txBody>
          <a:bodyPr wrap="square" rtlCol="0" anchor="ctr"/>
          <a:lstStyle/>
          <a:p>
            <a:pPr indent="0" marL="0">
              <a:buNone/>
            </a:pPr>
            <a:r>
              <a:rPr lang="en-US" sz="1250" dirty="0">
                <a:solidFill>
                  <a:srgbClr val="6B7686"/>
                </a:solidFill>
                <a:latin typeface="Meiryo" pitchFamily="34" charset="0"/>
                <a:ea typeface="Meiryo" pitchFamily="34" charset="-122"/>
                <a:cs typeface="Meiryo" pitchFamily="34" charset="-120"/>
              </a:rPr>
              <a:t>「人数」から「時間×人数」へ</a:t>
            </a:r>
            <a:endParaRPr lang="en-US" sz="1250" dirty="0"/>
          </a:p>
        </p:txBody>
      </p:sp>
      <p:sp>
        <p:nvSpPr>
          <p:cNvPr id="21" name="Shape 19"/>
          <p:cNvSpPr/>
          <p:nvPr/>
        </p:nvSpPr>
        <p:spPr>
          <a:xfrm>
            <a:off x="685800" y="3749040"/>
            <a:ext cx="320040" cy="320040"/>
          </a:xfrm>
          <a:prstGeom prst="roundRect">
            <a:avLst>
              <a:gd name="adj" fmla="val 48571"/>
            </a:avLst>
          </a:prstGeom>
          <a:solidFill>
            <a:srgbClr val="1B2A4A"/>
          </a:solidFill>
          <a:ln/>
        </p:spPr>
        <p:txBody>
          <a:bodyPr/>
          <a:p/>
        </p:txBody>
      </p:sp>
      <p:sp>
        <p:nvSpPr>
          <p:cNvPr id="22" name="Text 20"/>
          <p:cNvSpPr/>
          <p:nvPr/>
        </p:nvSpPr>
        <p:spPr>
          <a:xfrm>
            <a:off x="685800" y="3749040"/>
            <a:ext cx="320040" cy="32004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23" name="Text 21"/>
          <p:cNvSpPr/>
          <p:nvPr/>
        </p:nvSpPr>
        <p:spPr>
          <a:xfrm>
            <a:off x="1280160" y="3657600"/>
            <a:ext cx="4937760" cy="502920"/>
          </a:xfrm>
          <a:prstGeom prst="rect">
            <a:avLst/>
          </a:prstGeom>
          <a:noFill/>
          <a:ln/>
        </p:spPr>
        <p:txBody>
          <a:bodyPr wrap="square" rtlCol="0" anchor="ctr"/>
          <a:lstStyle/>
          <a:p>
            <a:pPr indent="0" marL="0">
              <a:buNone/>
            </a:pPr>
            <a:r>
              <a:rPr lang="en-US" sz="1500" b="1" dirty="0">
                <a:solidFill>
                  <a:srgbClr val="1F2733"/>
                </a:solidFill>
                <a:latin typeface="Meiryo" pitchFamily="34" charset="0"/>
                <a:ea typeface="Meiryo" pitchFamily="34" charset="-122"/>
                <a:cs typeface="Meiryo" pitchFamily="34" charset="-120"/>
              </a:rPr>
              <a:t>短時間勤務者の基本設計</a:t>
            </a:r>
            <a:endParaRPr lang="en-US" sz="1500" dirty="0"/>
          </a:p>
        </p:txBody>
      </p:sp>
      <p:sp>
        <p:nvSpPr>
          <p:cNvPr id="24" name="Text 22"/>
          <p:cNvSpPr/>
          <p:nvPr/>
        </p:nvSpPr>
        <p:spPr>
          <a:xfrm>
            <a:off x="6400800" y="3657600"/>
            <a:ext cx="1005840" cy="502920"/>
          </a:xfrm>
          <a:prstGeom prst="rect">
            <a:avLst/>
          </a:prstGeom>
          <a:noFill/>
          <a:ln/>
        </p:spPr>
        <p:txBody>
          <a:bodyPr wrap="square" rtlCol="0" anchor="ctr"/>
          <a:lstStyle/>
          <a:p>
            <a:pPr algn="ctr" indent="0" marL="0">
              <a:buNone/>
            </a:pPr>
            <a:r>
              <a:rPr lang="en-US" sz="1300" b="1" dirty="0">
                <a:solidFill>
                  <a:srgbClr val="2E5AAC"/>
                </a:solidFill>
                <a:latin typeface="Meiryo" pitchFamily="34" charset="0"/>
                <a:ea typeface="Meiryo" pitchFamily="34" charset="-122"/>
                <a:cs typeface="Meiryo" pitchFamily="34" charset="-120"/>
              </a:rPr>
              <a:t>5分</a:t>
            </a:r>
            <a:endParaRPr lang="en-US" sz="1300" dirty="0"/>
          </a:p>
        </p:txBody>
      </p:sp>
      <p:sp>
        <p:nvSpPr>
          <p:cNvPr id="25" name="Text 23"/>
          <p:cNvSpPr/>
          <p:nvPr/>
        </p:nvSpPr>
        <p:spPr>
          <a:xfrm>
            <a:off x="7589520" y="3657600"/>
            <a:ext cx="4023360" cy="502920"/>
          </a:xfrm>
          <a:prstGeom prst="rect">
            <a:avLst/>
          </a:prstGeom>
          <a:noFill/>
          <a:ln/>
        </p:spPr>
        <p:txBody>
          <a:bodyPr wrap="square" rtlCol="0" anchor="ctr"/>
          <a:lstStyle/>
          <a:p>
            <a:pPr indent="0" marL="0">
              <a:buNone/>
            </a:pPr>
            <a:r>
              <a:rPr lang="en-US" sz="1250" dirty="0">
                <a:solidFill>
                  <a:srgbClr val="6B7686"/>
                </a:solidFill>
                <a:latin typeface="Meiryo" pitchFamily="34" charset="0"/>
                <a:ea typeface="Meiryo" pitchFamily="34" charset="-122"/>
                <a:cs typeface="Meiryo" pitchFamily="34" charset="-120"/>
              </a:rPr>
              <a:t>勤務時間・対象・配置</a:t>
            </a:r>
            <a:endParaRPr lang="en-US" sz="1250" dirty="0"/>
          </a:p>
        </p:txBody>
      </p:sp>
      <p:sp>
        <p:nvSpPr>
          <p:cNvPr id="26" name="Shape 24"/>
          <p:cNvSpPr/>
          <p:nvPr/>
        </p:nvSpPr>
        <p:spPr>
          <a:xfrm>
            <a:off x="548640" y="4160520"/>
            <a:ext cx="11091672" cy="502920"/>
          </a:xfrm>
          <a:prstGeom prst="rect">
            <a:avLst/>
          </a:prstGeom>
          <a:solidFill>
            <a:srgbClr val="FFFFFF"/>
          </a:solidFill>
          <a:ln/>
        </p:spPr>
        <p:txBody>
          <a:bodyPr/>
          <a:p/>
        </p:txBody>
      </p:sp>
      <p:sp>
        <p:nvSpPr>
          <p:cNvPr id="27" name="Shape 25"/>
          <p:cNvSpPr/>
          <p:nvPr/>
        </p:nvSpPr>
        <p:spPr>
          <a:xfrm>
            <a:off x="685800" y="4251960"/>
            <a:ext cx="320040" cy="320040"/>
          </a:xfrm>
          <a:prstGeom prst="roundRect">
            <a:avLst>
              <a:gd name="adj" fmla="val 48571"/>
            </a:avLst>
          </a:prstGeom>
          <a:solidFill>
            <a:srgbClr val="1B2A4A"/>
          </a:solidFill>
          <a:ln/>
        </p:spPr>
        <p:txBody>
          <a:bodyPr/>
          <a:p/>
        </p:txBody>
      </p:sp>
      <p:sp>
        <p:nvSpPr>
          <p:cNvPr id="28" name="Text 26"/>
          <p:cNvSpPr/>
          <p:nvPr/>
        </p:nvSpPr>
        <p:spPr>
          <a:xfrm>
            <a:off x="685800" y="4251960"/>
            <a:ext cx="320040" cy="32004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29" name="Text 27"/>
          <p:cNvSpPr/>
          <p:nvPr/>
        </p:nvSpPr>
        <p:spPr>
          <a:xfrm>
            <a:off x="1280160" y="4160520"/>
            <a:ext cx="4937760" cy="502920"/>
          </a:xfrm>
          <a:prstGeom prst="rect">
            <a:avLst/>
          </a:prstGeom>
          <a:noFill/>
          <a:ln/>
        </p:spPr>
        <p:txBody>
          <a:bodyPr wrap="square" rtlCol="0" anchor="ctr"/>
          <a:lstStyle/>
          <a:p>
            <a:pPr indent="0" marL="0">
              <a:buNone/>
            </a:pPr>
            <a:r>
              <a:rPr lang="en-US" sz="1500" b="1" dirty="0">
                <a:solidFill>
                  <a:srgbClr val="1F2733"/>
                </a:solidFill>
                <a:latin typeface="Meiryo" pitchFamily="34" charset="0"/>
                <a:ea typeface="Meiryo" pitchFamily="34" charset="-122"/>
                <a:cs typeface="Meiryo" pitchFamily="34" charset="-120"/>
              </a:rPr>
              <a:t>現場での活用方法</a:t>
            </a:r>
            <a:endParaRPr lang="en-US" sz="1500" dirty="0"/>
          </a:p>
        </p:txBody>
      </p:sp>
      <p:sp>
        <p:nvSpPr>
          <p:cNvPr id="30" name="Text 28"/>
          <p:cNvSpPr/>
          <p:nvPr/>
        </p:nvSpPr>
        <p:spPr>
          <a:xfrm>
            <a:off x="6400800" y="4160520"/>
            <a:ext cx="1005840" cy="502920"/>
          </a:xfrm>
          <a:prstGeom prst="rect">
            <a:avLst/>
          </a:prstGeom>
          <a:noFill/>
          <a:ln/>
        </p:spPr>
        <p:txBody>
          <a:bodyPr wrap="square" rtlCol="0" anchor="ctr"/>
          <a:lstStyle/>
          <a:p>
            <a:pPr algn="ctr" indent="0" marL="0">
              <a:buNone/>
            </a:pPr>
            <a:r>
              <a:rPr lang="en-US" sz="1300" b="1" dirty="0">
                <a:solidFill>
                  <a:srgbClr val="2E5AAC"/>
                </a:solidFill>
                <a:latin typeface="Meiryo" pitchFamily="34" charset="0"/>
                <a:ea typeface="Meiryo" pitchFamily="34" charset="-122"/>
                <a:cs typeface="Meiryo" pitchFamily="34" charset="-120"/>
              </a:rPr>
              <a:t>7分</a:t>
            </a:r>
            <a:endParaRPr lang="en-US" sz="1300" dirty="0"/>
          </a:p>
        </p:txBody>
      </p:sp>
      <p:sp>
        <p:nvSpPr>
          <p:cNvPr id="31" name="Text 29"/>
          <p:cNvSpPr/>
          <p:nvPr/>
        </p:nvSpPr>
        <p:spPr>
          <a:xfrm>
            <a:off x="7589520" y="4160520"/>
            <a:ext cx="4023360" cy="502920"/>
          </a:xfrm>
          <a:prstGeom prst="rect">
            <a:avLst/>
          </a:prstGeom>
          <a:noFill/>
          <a:ln/>
        </p:spPr>
        <p:txBody>
          <a:bodyPr wrap="square" rtlCol="0" anchor="ctr"/>
          <a:lstStyle/>
          <a:p>
            <a:pPr indent="0" marL="0">
              <a:buNone/>
            </a:pPr>
            <a:r>
              <a:rPr lang="en-US" sz="1250" dirty="0">
                <a:solidFill>
                  <a:srgbClr val="6B7686"/>
                </a:solidFill>
                <a:latin typeface="Meiryo" pitchFamily="34" charset="0"/>
                <a:ea typeface="Meiryo" pitchFamily="34" charset="-122"/>
                <a:cs typeface="Meiryo" pitchFamily="34" charset="-120"/>
              </a:rPr>
              <a:t>不足出面から採用人数を決める</a:t>
            </a:r>
            <a:endParaRPr lang="en-US" sz="1250" dirty="0"/>
          </a:p>
        </p:txBody>
      </p:sp>
      <p:sp>
        <p:nvSpPr>
          <p:cNvPr id="32" name="Shape 30"/>
          <p:cNvSpPr/>
          <p:nvPr/>
        </p:nvSpPr>
        <p:spPr>
          <a:xfrm>
            <a:off x="685800" y="4754880"/>
            <a:ext cx="320040" cy="320040"/>
          </a:xfrm>
          <a:prstGeom prst="roundRect">
            <a:avLst>
              <a:gd name="adj" fmla="val 48571"/>
            </a:avLst>
          </a:prstGeom>
          <a:solidFill>
            <a:srgbClr val="1B2A4A"/>
          </a:solidFill>
          <a:ln/>
        </p:spPr>
        <p:txBody>
          <a:bodyPr/>
          <a:p/>
        </p:txBody>
      </p:sp>
      <p:sp>
        <p:nvSpPr>
          <p:cNvPr id="33" name="Text 31"/>
          <p:cNvSpPr/>
          <p:nvPr/>
        </p:nvSpPr>
        <p:spPr>
          <a:xfrm>
            <a:off x="685800" y="4754880"/>
            <a:ext cx="320040" cy="32004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34" name="Text 32"/>
          <p:cNvSpPr/>
          <p:nvPr/>
        </p:nvSpPr>
        <p:spPr>
          <a:xfrm>
            <a:off x="1280160" y="4663440"/>
            <a:ext cx="4937760" cy="502920"/>
          </a:xfrm>
          <a:prstGeom prst="rect">
            <a:avLst/>
          </a:prstGeom>
          <a:noFill/>
          <a:ln/>
        </p:spPr>
        <p:txBody>
          <a:bodyPr wrap="square" rtlCol="0" anchor="ctr"/>
          <a:lstStyle/>
          <a:p>
            <a:pPr indent="0" marL="0">
              <a:buNone/>
            </a:pPr>
            <a:r>
              <a:rPr lang="en-US" sz="1500" b="1" dirty="0">
                <a:solidFill>
                  <a:srgbClr val="1F2733"/>
                </a:solidFill>
                <a:latin typeface="Meiryo" pitchFamily="34" charset="0"/>
                <a:ea typeface="Meiryo" pitchFamily="34" charset="-122"/>
                <a:cs typeface="Meiryo" pitchFamily="34" charset="-120"/>
              </a:rPr>
              <a:t>採用状況・課題</a:t>
            </a:r>
            <a:endParaRPr lang="en-US" sz="1500" dirty="0"/>
          </a:p>
        </p:txBody>
      </p:sp>
      <p:sp>
        <p:nvSpPr>
          <p:cNvPr id="35" name="Text 33"/>
          <p:cNvSpPr/>
          <p:nvPr/>
        </p:nvSpPr>
        <p:spPr>
          <a:xfrm>
            <a:off x="6400800" y="4663440"/>
            <a:ext cx="1005840" cy="502920"/>
          </a:xfrm>
          <a:prstGeom prst="rect">
            <a:avLst/>
          </a:prstGeom>
          <a:noFill/>
          <a:ln/>
        </p:spPr>
        <p:txBody>
          <a:bodyPr wrap="square" rtlCol="0" anchor="ctr"/>
          <a:lstStyle/>
          <a:p>
            <a:pPr algn="ctr" indent="0" marL="0">
              <a:buNone/>
            </a:pPr>
            <a:r>
              <a:rPr lang="en-US" sz="1300" b="1" dirty="0">
                <a:solidFill>
                  <a:srgbClr val="2E5AAC"/>
                </a:solidFill>
                <a:latin typeface="Meiryo" pitchFamily="34" charset="0"/>
                <a:ea typeface="Meiryo" pitchFamily="34" charset="-122"/>
                <a:cs typeface="Meiryo" pitchFamily="34" charset="-120"/>
              </a:rPr>
              <a:t>5分</a:t>
            </a:r>
            <a:endParaRPr lang="en-US" sz="1300" dirty="0"/>
          </a:p>
        </p:txBody>
      </p:sp>
      <p:sp>
        <p:nvSpPr>
          <p:cNvPr id="36" name="Text 34"/>
          <p:cNvSpPr/>
          <p:nvPr/>
        </p:nvSpPr>
        <p:spPr>
          <a:xfrm>
            <a:off x="7589520" y="4663440"/>
            <a:ext cx="4023360" cy="502920"/>
          </a:xfrm>
          <a:prstGeom prst="rect">
            <a:avLst/>
          </a:prstGeom>
          <a:noFill/>
          <a:ln/>
        </p:spPr>
        <p:txBody>
          <a:bodyPr wrap="square" rtlCol="0" anchor="ctr"/>
          <a:lstStyle/>
          <a:p>
            <a:pPr indent="0" marL="0">
              <a:buNone/>
            </a:pPr>
            <a:r>
              <a:rPr lang="en-US" sz="1250" dirty="0">
                <a:solidFill>
                  <a:srgbClr val="6B7686"/>
                </a:solidFill>
                <a:latin typeface="Meiryo" pitchFamily="34" charset="0"/>
                <a:ea typeface="Meiryo" pitchFamily="34" charset="-122"/>
                <a:cs typeface="Meiryo" pitchFamily="34" charset="-120"/>
              </a:rPr>
              <a:t>成田・千歳先行、教育等の課題</a:t>
            </a:r>
            <a:endParaRPr lang="en-US" sz="1250" dirty="0"/>
          </a:p>
        </p:txBody>
      </p:sp>
      <p:sp>
        <p:nvSpPr>
          <p:cNvPr id="37" name="Shape 35"/>
          <p:cNvSpPr/>
          <p:nvPr/>
        </p:nvSpPr>
        <p:spPr>
          <a:xfrm>
            <a:off x="548640" y="5166360"/>
            <a:ext cx="11091672" cy="502920"/>
          </a:xfrm>
          <a:prstGeom prst="rect">
            <a:avLst/>
          </a:prstGeom>
          <a:solidFill>
            <a:srgbClr val="FFFFFF"/>
          </a:solidFill>
          <a:ln/>
        </p:spPr>
        <p:txBody>
          <a:bodyPr/>
          <a:p/>
        </p:txBody>
      </p:sp>
      <p:sp>
        <p:nvSpPr>
          <p:cNvPr id="38" name="Shape 36"/>
          <p:cNvSpPr/>
          <p:nvPr/>
        </p:nvSpPr>
        <p:spPr>
          <a:xfrm>
            <a:off x="685800" y="5257800"/>
            <a:ext cx="320040" cy="320040"/>
          </a:xfrm>
          <a:prstGeom prst="roundRect">
            <a:avLst>
              <a:gd name="adj" fmla="val 48571"/>
            </a:avLst>
          </a:prstGeom>
          <a:solidFill>
            <a:srgbClr val="1B2A4A"/>
          </a:solidFill>
          <a:ln/>
        </p:spPr>
        <p:txBody>
          <a:bodyPr/>
          <a:p/>
        </p:txBody>
      </p:sp>
      <p:sp>
        <p:nvSpPr>
          <p:cNvPr id="39" name="Text 37"/>
          <p:cNvSpPr/>
          <p:nvPr/>
        </p:nvSpPr>
        <p:spPr>
          <a:xfrm>
            <a:off x="685800" y="5257800"/>
            <a:ext cx="320040" cy="32004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7</a:t>
            </a:r>
            <a:endParaRPr lang="en-US" sz="1300" dirty="0"/>
          </a:p>
        </p:txBody>
      </p:sp>
      <p:sp>
        <p:nvSpPr>
          <p:cNvPr id="40" name="Text 38"/>
          <p:cNvSpPr/>
          <p:nvPr/>
        </p:nvSpPr>
        <p:spPr>
          <a:xfrm>
            <a:off x="1280160" y="5166360"/>
            <a:ext cx="4937760" cy="502920"/>
          </a:xfrm>
          <a:prstGeom prst="rect">
            <a:avLst/>
          </a:prstGeom>
          <a:noFill/>
          <a:ln/>
        </p:spPr>
        <p:txBody>
          <a:bodyPr wrap="square" rtlCol="0" anchor="ctr"/>
          <a:lstStyle/>
          <a:p>
            <a:pPr indent="0" marL="0">
              <a:buNone/>
            </a:pPr>
            <a:r>
              <a:rPr lang="en-US" sz="1500" b="1" dirty="0">
                <a:solidFill>
                  <a:srgbClr val="1F2733"/>
                </a:solidFill>
                <a:latin typeface="Meiryo" pitchFamily="34" charset="0"/>
                <a:ea typeface="Meiryo" pitchFamily="34" charset="-122"/>
                <a:cs typeface="Meiryo" pitchFamily="34" charset="-120"/>
              </a:rPr>
              <a:t>所属長へのお願い</a:t>
            </a:r>
            <a:endParaRPr lang="en-US" sz="1500" dirty="0"/>
          </a:p>
        </p:txBody>
      </p:sp>
      <p:sp>
        <p:nvSpPr>
          <p:cNvPr id="41" name="Text 39"/>
          <p:cNvSpPr/>
          <p:nvPr/>
        </p:nvSpPr>
        <p:spPr>
          <a:xfrm>
            <a:off x="6400800" y="5166360"/>
            <a:ext cx="1005840" cy="502920"/>
          </a:xfrm>
          <a:prstGeom prst="rect">
            <a:avLst/>
          </a:prstGeom>
          <a:noFill/>
          <a:ln/>
        </p:spPr>
        <p:txBody>
          <a:bodyPr wrap="square" rtlCol="0" anchor="ctr"/>
          <a:lstStyle/>
          <a:p>
            <a:pPr algn="ctr" indent="0" marL="0">
              <a:buNone/>
            </a:pPr>
            <a:r>
              <a:rPr lang="en-US" sz="1300" b="1" dirty="0">
                <a:solidFill>
                  <a:srgbClr val="2E5AAC"/>
                </a:solidFill>
                <a:latin typeface="Meiryo" pitchFamily="34" charset="0"/>
                <a:ea typeface="Meiryo" pitchFamily="34" charset="-122"/>
                <a:cs typeface="Meiryo" pitchFamily="34" charset="-120"/>
              </a:rPr>
              <a:t>5分</a:t>
            </a:r>
            <a:endParaRPr lang="en-US" sz="1300" dirty="0"/>
          </a:p>
        </p:txBody>
      </p:sp>
      <p:sp>
        <p:nvSpPr>
          <p:cNvPr id="42" name="Text 40"/>
          <p:cNvSpPr/>
          <p:nvPr/>
        </p:nvSpPr>
        <p:spPr>
          <a:xfrm>
            <a:off x="7589520" y="5166360"/>
            <a:ext cx="4023360" cy="502920"/>
          </a:xfrm>
          <a:prstGeom prst="rect">
            <a:avLst/>
          </a:prstGeom>
          <a:noFill/>
          <a:ln/>
        </p:spPr>
        <p:txBody>
          <a:bodyPr wrap="square" rtlCol="0" anchor="ctr"/>
          <a:lstStyle/>
          <a:p>
            <a:pPr indent="0" marL="0">
              <a:buNone/>
            </a:pPr>
            <a:r>
              <a:rPr lang="en-US" sz="1250" dirty="0">
                <a:solidFill>
                  <a:srgbClr val="6B7686"/>
                </a:solidFill>
                <a:latin typeface="Meiryo" pitchFamily="34" charset="0"/>
                <a:ea typeface="Meiryo" pitchFamily="34" charset="-122"/>
                <a:cs typeface="Meiryo" pitchFamily="34" charset="-120"/>
              </a:rPr>
              <a:t>Winterに向けた必要出面の整理</a:t>
            </a:r>
            <a:endParaRPr lang="en-US" sz="1250" dirty="0"/>
          </a:p>
        </p:txBody>
      </p:sp>
      <p:sp>
        <p:nvSpPr>
          <p:cNvPr id="43" name="Shape 41"/>
          <p:cNvSpPr/>
          <p:nvPr/>
        </p:nvSpPr>
        <p:spPr>
          <a:xfrm>
            <a:off x="685800" y="5760720"/>
            <a:ext cx="320040" cy="320040"/>
          </a:xfrm>
          <a:prstGeom prst="roundRect">
            <a:avLst>
              <a:gd name="adj" fmla="val 48571"/>
            </a:avLst>
          </a:prstGeom>
          <a:solidFill>
            <a:srgbClr val="B8891B"/>
          </a:solidFill>
          <a:ln/>
        </p:spPr>
        <p:txBody>
          <a:bodyPr/>
          <a:p/>
        </p:txBody>
      </p:sp>
      <p:sp>
        <p:nvSpPr>
          <p:cNvPr id="44" name="Text 42"/>
          <p:cNvSpPr/>
          <p:nvPr/>
        </p:nvSpPr>
        <p:spPr>
          <a:xfrm>
            <a:off x="685800" y="5760720"/>
            <a:ext cx="320040" cy="32004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8</a:t>
            </a:r>
            <a:endParaRPr lang="en-US" sz="1300" dirty="0"/>
          </a:p>
        </p:txBody>
      </p:sp>
      <p:sp>
        <p:nvSpPr>
          <p:cNvPr id="45" name="Text 43"/>
          <p:cNvSpPr/>
          <p:nvPr/>
        </p:nvSpPr>
        <p:spPr>
          <a:xfrm>
            <a:off x="1280160" y="5669280"/>
            <a:ext cx="4937760" cy="502920"/>
          </a:xfrm>
          <a:prstGeom prst="rect">
            <a:avLst/>
          </a:prstGeom>
          <a:noFill/>
          <a:ln/>
        </p:spPr>
        <p:txBody>
          <a:bodyPr wrap="square" rtlCol="0" anchor="ctr"/>
          <a:lstStyle/>
          <a:p>
            <a:pPr indent="0" marL="0">
              <a:buNone/>
            </a:pPr>
            <a:r>
              <a:rPr lang="en-US" sz="1500" b="1" dirty="0">
                <a:solidFill>
                  <a:srgbClr val="1F2733"/>
                </a:solidFill>
                <a:latin typeface="Meiryo" pitchFamily="34" charset="0"/>
                <a:ea typeface="Meiryo" pitchFamily="34" charset="-122"/>
                <a:cs typeface="Meiryo" pitchFamily="34" charset="-120"/>
              </a:rPr>
              <a:t>質疑応答</a:t>
            </a:r>
            <a:endParaRPr lang="en-US" sz="1500" dirty="0"/>
          </a:p>
        </p:txBody>
      </p:sp>
      <p:sp>
        <p:nvSpPr>
          <p:cNvPr id="46" name="Text 44"/>
          <p:cNvSpPr/>
          <p:nvPr/>
        </p:nvSpPr>
        <p:spPr>
          <a:xfrm>
            <a:off x="6400800" y="5669280"/>
            <a:ext cx="1005840" cy="502920"/>
          </a:xfrm>
          <a:prstGeom prst="rect">
            <a:avLst/>
          </a:prstGeom>
          <a:noFill/>
          <a:ln/>
        </p:spPr>
        <p:txBody>
          <a:bodyPr wrap="square" rtlCol="0" anchor="ctr"/>
          <a:lstStyle/>
          <a:p>
            <a:pPr algn="ctr" indent="0" marL="0">
              <a:buNone/>
            </a:pPr>
            <a:r>
              <a:rPr lang="en-US" sz="1300" b="1" dirty="0">
                <a:solidFill>
                  <a:srgbClr val="2E5AAC"/>
                </a:solidFill>
                <a:latin typeface="Meiryo" pitchFamily="34" charset="0"/>
                <a:ea typeface="Meiryo" pitchFamily="34" charset="-122"/>
                <a:cs typeface="Meiryo" pitchFamily="34" charset="-120"/>
              </a:rPr>
              <a:t>適宜</a:t>
            </a:r>
            <a:endParaRPr lang="en-US" sz="1300" dirty="0"/>
          </a:p>
        </p:txBody>
      </p:sp>
      <p:sp>
        <p:nvSpPr>
          <p:cNvPr id="47" name="Text 45"/>
          <p:cNvSpPr/>
          <p:nvPr/>
        </p:nvSpPr>
        <p:spPr>
          <a:xfrm>
            <a:off x="7589520" y="5669280"/>
            <a:ext cx="4023360" cy="502920"/>
          </a:xfrm>
          <a:prstGeom prst="rect">
            <a:avLst/>
          </a:prstGeom>
          <a:noFill/>
          <a:ln/>
        </p:spPr>
        <p:txBody>
          <a:bodyPr wrap="square" rtlCol="0" anchor="ctr"/>
          <a:lstStyle/>
          <a:p>
            <a:pPr indent="0" marL="0">
              <a:buNone/>
            </a:pPr>
            <a:r>
              <a:rPr lang="en-US" sz="1250" dirty="0">
                <a:solidFill>
                  <a:srgbClr val="6B7686"/>
                </a:solidFill>
                <a:latin typeface="Meiryo" pitchFamily="34" charset="0"/>
                <a:ea typeface="Meiryo" pitchFamily="34" charset="-122"/>
                <a:cs typeface="Meiryo" pitchFamily="34" charset="-120"/>
              </a:rPr>
              <a:t>懸念点を回収する</a:t>
            </a:r>
            <a:endParaRPr lang="en-US" sz="1250" dirty="0"/>
          </a:p>
        </p:txBody>
      </p:sp>
      <p:sp>
        <p:nvSpPr>
          <p:cNvPr id="48" name="Text 46"/>
          <p:cNvSpPr/>
          <p:nvPr/>
        </p:nvSpPr>
        <p:spPr>
          <a:xfrm>
            <a:off x="457200" y="6419088"/>
            <a:ext cx="5486400" cy="274320"/>
          </a:xfrm>
          <a:prstGeom prst="rect">
            <a:avLst/>
          </a:prstGeom>
          <a:noFill/>
          <a:ln/>
        </p:spPr>
        <p:txBody>
          <a:bodyPr wrap="square" rtlCol="0" anchor="ctr"/>
          <a:lstStyle/>
          <a:p>
            <a:pPr algn="l" indent="0" marL="0">
              <a:buNone/>
            </a:pPr>
            <a:r>
              <a:rPr lang="en-US" sz="900" dirty="0">
                <a:solidFill>
                  <a:srgbClr val="6B7686"/>
                </a:solidFill>
                <a:latin typeface="Meiryo" pitchFamily="34" charset="0"/>
                <a:ea typeface="Meiryo" pitchFamily="34" charset="-122"/>
                <a:cs typeface="Meiryo" pitchFamily="34" charset="-120"/>
              </a:rPr>
              <a:t>短時間勤務者採用 説明会</a:t>
            </a:r>
            <a:endParaRPr lang="en-US" sz="900" dirty="0"/>
          </a:p>
        </p:txBody>
      </p:sp>
      <p:sp>
        <p:nvSpPr>
          <p:cNvPr id="49" name="Text 47"/>
          <p:cNvSpPr/>
          <p:nvPr/>
        </p:nvSpPr>
        <p:spPr>
          <a:xfrm>
            <a:off x="11338560" y="6419088"/>
            <a:ext cx="457200" cy="274320"/>
          </a:xfrm>
          <a:prstGeom prst="rect">
            <a:avLst/>
          </a:prstGeom>
          <a:noFill/>
          <a:ln/>
        </p:spPr>
        <p:txBody>
          <a:bodyPr wrap="square" rtlCol="0" anchor="ctr"/>
          <a:lstStyle/>
          <a:p>
            <a:pPr algn="r" indent="0" marL="0">
              <a:buNone/>
            </a:pPr>
            <a:r>
              <a:rPr lang="en-US" sz="900" dirty="0">
                <a:solidFill>
                  <a:srgbClr val="6B7686"/>
                </a:solidFill>
                <a:latin typeface="Meiryo" pitchFamily="34" charset="0"/>
                <a:ea typeface="Meiryo" pitchFamily="34" charset="-122"/>
                <a:cs typeface="Meiryo"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685800" y="2286000"/>
            <a:ext cx="5486400" cy="365760"/>
          </a:xfrm>
          <a:prstGeom prst="rect">
            <a:avLst/>
          </a:prstGeom>
          <a:noFill/>
          <a:ln/>
        </p:spPr>
        <p:txBody>
          <a:bodyPr wrap="square" rtlCol="0" anchor="ctr"/>
          <a:lstStyle/>
          <a:p>
            <a:pPr indent="0" marL="0">
              <a:buNone/>
            </a:pPr>
            <a:r>
              <a:rPr lang="en-US" sz="1400" b="1" spc="300" kern="0" dirty="0">
                <a:solidFill>
                  <a:srgbClr val="7C93C6"/>
                </a:solidFill>
                <a:latin typeface="Meiryo" pitchFamily="34" charset="0"/>
                <a:ea typeface="Meiryo" pitchFamily="34" charset="-122"/>
                <a:cs typeface="Meiryo" pitchFamily="34" charset="-120"/>
              </a:rPr>
              <a:t>SECTION 01</a:t>
            </a:r>
            <a:endParaRPr lang="en-US" sz="1400" dirty="0"/>
          </a:p>
        </p:txBody>
      </p:sp>
      <p:sp>
        <p:nvSpPr>
          <p:cNvPr id="3" name="Text 1"/>
          <p:cNvSpPr/>
          <p:nvPr/>
        </p:nvSpPr>
        <p:spPr>
          <a:xfrm>
            <a:off x="658368" y="2743200"/>
            <a:ext cx="10789920" cy="914400"/>
          </a:xfrm>
          <a:prstGeom prst="rect">
            <a:avLst/>
          </a:prstGeom>
          <a:noFill/>
          <a:ln/>
        </p:spPr>
        <p:txBody>
          <a:bodyPr wrap="square" rtlCol="0" anchor="ctr"/>
          <a:lstStyle/>
          <a:p>
            <a:pPr indent="0" marL="0">
              <a:buNone/>
            </a:pPr>
            <a:r>
              <a:rPr lang="en-US" sz="3800" b="1" dirty="0">
                <a:solidFill>
                  <a:srgbClr val="FFFFFF"/>
                </a:solidFill>
                <a:latin typeface="Meiryo" pitchFamily="34" charset="0"/>
                <a:ea typeface="Meiryo" pitchFamily="34" charset="-122"/>
                <a:cs typeface="Meiryo" pitchFamily="34" charset="-120"/>
              </a:rPr>
              <a:t>成田・旅客部門の「現実」</a:t>
            </a:r>
            <a:endParaRPr lang="en-US" sz="3800" dirty="0"/>
          </a:p>
        </p:txBody>
      </p:sp>
      <p:sp>
        <p:nvSpPr>
          <p:cNvPr id="4" name="Text 2"/>
          <p:cNvSpPr/>
          <p:nvPr/>
        </p:nvSpPr>
        <p:spPr>
          <a:xfrm>
            <a:off x="685800" y="3703320"/>
            <a:ext cx="10789920" cy="457200"/>
          </a:xfrm>
          <a:prstGeom prst="rect">
            <a:avLst/>
          </a:prstGeom>
          <a:noFill/>
          <a:ln/>
        </p:spPr>
        <p:txBody>
          <a:bodyPr wrap="square" rtlCol="0" anchor="ctr"/>
          <a:lstStyle/>
          <a:p>
            <a:pPr indent="0" marL="0">
              <a:buNone/>
            </a:pPr>
            <a:r>
              <a:rPr lang="en-US" sz="1600" i="1" dirty="0">
                <a:solidFill>
                  <a:srgbClr val="CADCFC"/>
                </a:solidFill>
                <a:latin typeface="Meiryo" pitchFamily="34" charset="0"/>
                <a:ea typeface="Meiryo" pitchFamily="34" charset="-122"/>
                <a:cs typeface="Meiryo" pitchFamily="34" charset="-120"/>
              </a:rPr>
              <a:t>なぜ今、動かなければならないのか ― 2026年5月 基地別損益実績より</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0058400" cy="320040"/>
          </a:xfrm>
          <a:prstGeom prst="rect">
            <a:avLst/>
          </a:prstGeom>
          <a:noFill/>
          <a:ln/>
        </p:spPr>
        <p:txBody>
          <a:bodyPr wrap="square" rtlCol="0" anchor="ctr"/>
          <a:lstStyle/>
          <a:p>
            <a:pPr indent="0" marL="0">
              <a:buNone/>
            </a:pPr>
            <a:r>
              <a:rPr lang="en-US" sz="1300" b="1" spc="200" kern="0" dirty="0">
                <a:solidFill>
                  <a:srgbClr val="C0392B"/>
                </a:solidFill>
                <a:latin typeface="Meiryo" pitchFamily="34" charset="0"/>
                <a:ea typeface="Meiryo" pitchFamily="34" charset="-122"/>
                <a:cs typeface="Meiryo" pitchFamily="34" charset="-120"/>
              </a:rPr>
              <a:t>背景①｜収支状況</a:t>
            </a:r>
            <a:endParaRPr lang="en-US" sz="1300" dirty="0"/>
          </a:p>
        </p:txBody>
      </p:sp>
      <p:sp>
        <p:nvSpPr>
          <p:cNvPr id="3" name="Text 1"/>
          <p:cNvSpPr/>
          <p:nvPr/>
        </p:nvSpPr>
        <p:spPr>
          <a:xfrm>
            <a:off x="548640" y="841248"/>
            <a:ext cx="11064240" cy="822960"/>
          </a:xfrm>
          <a:prstGeom prst="rect">
            <a:avLst/>
          </a:prstGeom>
          <a:noFill/>
          <a:ln/>
        </p:spPr>
        <p:txBody>
          <a:bodyPr wrap="square" rtlCol="0" anchor="ctr"/>
          <a:lstStyle/>
          <a:p>
            <a:pPr algn="l" indent="0" marL="0">
              <a:buNone/>
            </a:pPr>
            <a:r>
              <a:rPr lang="en-US" sz="3000" b="1" dirty="0">
                <a:solidFill>
                  <a:srgbClr val="1B2A4A"/>
                </a:solidFill>
                <a:latin typeface="Meiryo" pitchFamily="34" charset="0"/>
                <a:ea typeface="Meiryo" pitchFamily="34" charset="-122"/>
                <a:cs typeface="Meiryo" pitchFamily="34" charset="-120"/>
              </a:rPr>
              <a:t>成田・旅客は「原価割れ」しています</a:t>
            </a:r>
            <a:endParaRPr lang="en-US" sz="3000" dirty="0"/>
          </a:p>
        </p:txBody>
      </p:sp>
      <p:sp>
        <p:nvSpPr>
          <p:cNvPr id="4" name="Text 2"/>
          <p:cNvSpPr/>
          <p:nvPr/>
        </p:nvSpPr>
        <p:spPr>
          <a:xfrm>
            <a:off x="566928" y="1664208"/>
            <a:ext cx="7315200" cy="320040"/>
          </a:xfrm>
          <a:prstGeom prst="rect">
            <a:avLst/>
          </a:prstGeom>
          <a:noFill/>
          <a:ln/>
        </p:spPr>
        <p:txBody>
          <a:bodyPr wrap="square" rtlCol="0" anchor="ctr"/>
          <a:lstStyle/>
          <a:p>
            <a:pPr indent="0" marL="0">
              <a:buNone/>
            </a:pPr>
            <a:r>
              <a:rPr lang="en-US" sz="1200" dirty="0">
                <a:solidFill>
                  <a:srgbClr val="6B7686"/>
                </a:solidFill>
                <a:latin typeface="Meiryo" pitchFamily="34" charset="0"/>
                <a:ea typeface="Meiryo" pitchFamily="34" charset="-122"/>
                <a:cs typeface="Meiryo" pitchFamily="34" charset="-120"/>
              </a:rPr>
              <a:t>2026年5月 実績・旅客部門のみ（金額は億・万円で表記）</a:t>
            </a:r>
            <a:endParaRPr lang="en-US" sz="1200" dirty="0"/>
          </a:p>
        </p:txBody>
      </p:sp>
      <p:sp>
        <p:nvSpPr>
          <p:cNvPr id="5" name="Shape 3"/>
          <p:cNvSpPr/>
          <p:nvPr/>
        </p:nvSpPr>
        <p:spPr>
          <a:xfrm>
            <a:off x="548640" y="2240280"/>
            <a:ext cx="3566160" cy="2286000"/>
          </a:xfrm>
          <a:prstGeom prst="roundRect">
            <a:avLst>
              <a:gd name="adj" fmla="val 3200"/>
            </a:avLst>
          </a:prstGeom>
          <a:solidFill>
            <a:srgbClr val="F7E7E4"/>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6" name="Text 4"/>
          <p:cNvSpPr/>
          <p:nvPr/>
        </p:nvSpPr>
        <p:spPr>
          <a:xfrm>
            <a:off x="822960" y="2496312"/>
            <a:ext cx="3017520" cy="365760"/>
          </a:xfrm>
          <a:prstGeom prst="rect">
            <a:avLst/>
          </a:prstGeom>
          <a:noFill/>
          <a:ln/>
        </p:spPr>
        <p:txBody>
          <a:bodyPr wrap="square" rtlCol="0" anchor="ctr"/>
          <a:lstStyle/>
          <a:p>
            <a:pPr indent="0" marL="0">
              <a:buNone/>
            </a:pPr>
            <a:r>
              <a:rPr lang="en-US" sz="1500" b="1" dirty="0">
                <a:solidFill>
                  <a:srgbClr val="1F2733"/>
                </a:solidFill>
                <a:latin typeface="Meiryo" pitchFamily="34" charset="0"/>
                <a:ea typeface="Meiryo" pitchFamily="34" charset="-122"/>
                <a:cs typeface="Meiryo" pitchFamily="34" charset="-120"/>
              </a:rPr>
              <a:t>営業損益</a:t>
            </a:r>
            <a:endParaRPr lang="en-US" sz="1500" dirty="0"/>
          </a:p>
        </p:txBody>
      </p:sp>
      <p:sp>
        <p:nvSpPr>
          <p:cNvPr id="7" name="Text 5"/>
          <p:cNvSpPr/>
          <p:nvPr/>
        </p:nvSpPr>
        <p:spPr>
          <a:xfrm>
            <a:off x="822960" y="3017520"/>
            <a:ext cx="3017520" cy="914400"/>
          </a:xfrm>
          <a:prstGeom prst="rect">
            <a:avLst/>
          </a:prstGeom>
          <a:noFill/>
          <a:ln/>
        </p:spPr>
        <p:txBody>
          <a:bodyPr wrap="square" rtlCol="0" anchor="ctr"/>
          <a:lstStyle/>
          <a:p>
            <a:pPr indent="0" marL="0">
              <a:buNone/>
            </a:pPr>
            <a:r>
              <a:rPr lang="en-US" sz="4000" b="1" dirty="0">
                <a:solidFill>
                  <a:srgbClr val="C0392B"/>
                </a:solidFill>
                <a:latin typeface="Meiryo" pitchFamily="34" charset="0"/>
                <a:ea typeface="Meiryo" pitchFamily="34" charset="-122"/>
                <a:cs typeface="Meiryo" pitchFamily="34" charset="-120"/>
              </a:rPr>
              <a:t>▲1,730</a:t>
            </a:r>
            <a:pPr indent="0" marL="0">
              <a:buNone/>
            </a:pPr>
            <a:r>
              <a:rPr lang="en-US" sz="1500" b="1" dirty="0">
                <a:solidFill>
                  <a:srgbClr val="C0392B"/>
                </a:solidFill>
                <a:latin typeface="Meiryo" pitchFamily="34" charset="0"/>
                <a:ea typeface="Meiryo" pitchFamily="34" charset="-122"/>
                <a:cs typeface="Meiryo" pitchFamily="34" charset="-120"/>
              </a:rPr>
              <a:t>万円 / 月</a:t>
            </a:r>
            <a:endParaRPr lang="en-US" sz="4000" dirty="0"/>
          </a:p>
        </p:txBody>
      </p:sp>
      <p:sp>
        <p:nvSpPr>
          <p:cNvPr id="8" name="Text 6"/>
          <p:cNvSpPr/>
          <p:nvPr/>
        </p:nvSpPr>
        <p:spPr>
          <a:xfrm>
            <a:off x="822960" y="4023360"/>
            <a:ext cx="3017520" cy="365760"/>
          </a:xfrm>
          <a:prstGeom prst="rect">
            <a:avLst/>
          </a:prstGeom>
          <a:noFill/>
          <a:ln/>
        </p:spPr>
        <p:txBody>
          <a:bodyPr wrap="square" rtlCol="0" anchor="ctr"/>
          <a:lstStyle/>
          <a:p>
            <a:pPr indent="0" marL="0">
              <a:buNone/>
            </a:pPr>
            <a:r>
              <a:rPr lang="en-US" sz="1250" dirty="0">
                <a:solidFill>
                  <a:srgbClr val="6B7686"/>
                </a:solidFill>
                <a:latin typeface="Meiryo" pitchFamily="34" charset="0"/>
                <a:ea typeface="Meiryo" pitchFamily="34" charset="-122"/>
                <a:cs typeface="Meiryo" pitchFamily="34" charset="-120"/>
              </a:rPr>
              <a:t>営業利益率 ▲9.7%</a:t>
            </a:r>
            <a:endParaRPr lang="en-US" sz="1250" dirty="0"/>
          </a:p>
        </p:txBody>
      </p:sp>
      <p:sp>
        <p:nvSpPr>
          <p:cNvPr id="9" name="Shape 7"/>
          <p:cNvSpPr/>
          <p:nvPr/>
        </p:nvSpPr>
        <p:spPr>
          <a:xfrm>
            <a:off x="4407408" y="2240280"/>
            <a:ext cx="3566160" cy="2286000"/>
          </a:xfrm>
          <a:prstGeom prst="roundRect">
            <a:avLst>
              <a:gd name="adj" fmla="val 3200"/>
            </a:avLst>
          </a:prstGeom>
          <a:solidFill>
            <a:srgbClr val="F7E7E4"/>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0" name="Text 8"/>
          <p:cNvSpPr/>
          <p:nvPr/>
        </p:nvSpPr>
        <p:spPr>
          <a:xfrm>
            <a:off x="4681728" y="2496312"/>
            <a:ext cx="3017520" cy="365760"/>
          </a:xfrm>
          <a:prstGeom prst="rect">
            <a:avLst/>
          </a:prstGeom>
          <a:noFill/>
          <a:ln/>
        </p:spPr>
        <p:txBody>
          <a:bodyPr wrap="square" rtlCol="0" anchor="ctr"/>
          <a:lstStyle/>
          <a:p>
            <a:pPr indent="0" marL="0">
              <a:buNone/>
            </a:pPr>
            <a:r>
              <a:rPr lang="en-US" sz="1500" b="1" dirty="0">
                <a:solidFill>
                  <a:srgbClr val="1F2733"/>
                </a:solidFill>
                <a:latin typeface="Meiryo" pitchFamily="34" charset="0"/>
                <a:ea typeface="Meiryo" pitchFamily="34" charset="-122"/>
                <a:cs typeface="Meiryo" pitchFamily="34" charset="-120"/>
              </a:rPr>
              <a:t>売上原価率</a:t>
            </a:r>
            <a:endParaRPr lang="en-US" sz="1500" dirty="0"/>
          </a:p>
        </p:txBody>
      </p:sp>
      <p:sp>
        <p:nvSpPr>
          <p:cNvPr id="11" name="Text 9"/>
          <p:cNvSpPr/>
          <p:nvPr/>
        </p:nvSpPr>
        <p:spPr>
          <a:xfrm>
            <a:off x="4681728" y="3017520"/>
            <a:ext cx="3017520" cy="914400"/>
          </a:xfrm>
          <a:prstGeom prst="rect">
            <a:avLst/>
          </a:prstGeom>
          <a:noFill/>
          <a:ln/>
        </p:spPr>
        <p:txBody>
          <a:bodyPr wrap="square" rtlCol="0" anchor="ctr"/>
          <a:lstStyle/>
          <a:p>
            <a:pPr indent="0" marL="0">
              <a:buNone/>
            </a:pPr>
            <a:r>
              <a:rPr lang="en-US" sz="4000" b="1" dirty="0">
                <a:solidFill>
                  <a:srgbClr val="C0392B"/>
                </a:solidFill>
                <a:latin typeface="Meiryo" pitchFamily="34" charset="0"/>
                <a:ea typeface="Meiryo" pitchFamily="34" charset="-122"/>
                <a:cs typeface="Meiryo" pitchFamily="34" charset="-120"/>
              </a:rPr>
              <a:t>102.7</a:t>
            </a:r>
            <a:pPr indent="0" marL="0">
              <a:buNone/>
            </a:pPr>
            <a:r>
              <a:rPr lang="en-US" sz="1500" b="1" dirty="0">
                <a:solidFill>
                  <a:srgbClr val="C0392B"/>
                </a:solidFill>
                <a:latin typeface="Meiryo" pitchFamily="34" charset="0"/>
                <a:ea typeface="Meiryo" pitchFamily="34" charset="-122"/>
                <a:cs typeface="Meiryo" pitchFamily="34" charset="-120"/>
              </a:rPr>
              <a:t> %</a:t>
            </a:r>
            <a:endParaRPr lang="en-US" sz="4000" dirty="0"/>
          </a:p>
        </p:txBody>
      </p:sp>
      <p:sp>
        <p:nvSpPr>
          <p:cNvPr id="12" name="Text 10"/>
          <p:cNvSpPr/>
          <p:nvPr/>
        </p:nvSpPr>
        <p:spPr>
          <a:xfrm>
            <a:off x="4681728" y="4023360"/>
            <a:ext cx="3017520" cy="365760"/>
          </a:xfrm>
          <a:prstGeom prst="rect">
            <a:avLst/>
          </a:prstGeom>
          <a:noFill/>
          <a:ln/>
        </p:spPr>
        <p:txBody>
          <a:bodyPr wrap="square" rtlCol="0" anchor="ctr"/>
          <a:lstStyle/>
          <a:p>
            <a:pPr indent="0" marL="0">
              <a:buNone/>
            </a:pPr>
            <a:r>
              <a:rPr lang="en-US" sz="1250" dirty="0">
                <a:solidFill>
                  <a:srgbClr val="6B7686"/>
                </a:solidFill>
                <a:latin typeface="Meiryo" pitchFamily="34" charset="0"/>
                <a:ea typeface="Meiryo" pitchFamily="34" charset="-122"/>
                <a:cs typeface="Meiryo" pitchFamily="34" charset="-120"/>
              </a:rPr>
              <a:t>売上より原価が大きい</a:t>
            </a:r>
            <a:endParaRPr lang="en-US" sz="1250" dirty="0"/>
          </a:p>
        </p:txBody>
      </p:sp>
      <p:sp>
        <p:nvSpPr>
          <p:cNvPr id="13" name="Shape 11"/>
          <p:cNvSpPr/>
          <p:nvPr/>
        </p:nvSpPr>
        <p:spPr>
          <a:xfrm>
            <a:off x="8266176" y="2240280"/>
            <a:ext cx="3566160" cy="2286000"/>
          </a:xfrm>
          <a:prstGeom prst="roundRect">
            <a:avLst>
              <a:gd name="adj" fmla="val 3200"/>
            </a:avLst>
          </a:prstGeom>
          <a:solidFill>
            <a:srgbClr val="F7E7E4"/>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4" name="Text 12"/>
          <p:cNvSpPr/>
          <p:nvPr/>
        </p:nvSpPr>
        <p:spPr>
          <a:xfrm>
            <a:off x="8540496" y="2496312"/>
            <a:ext cx="3017520" cy="365760"/>
          </a:xfrm>
          <a:prstGeom prst="rect">
            <a:avLst/>
          </a:prstGeom>
          <a:noFill/>
          <a:ln/>
        </p:spPr>
        <p:txBody>
          <a:bodyPr wrap="square" rtlCol="0" anchor="ctr"/>
          <a:lstStyle/>
          <a:p>
            <a:pPr indent="0" marL="0">
              <a:buNone/>
            </a:pPr>
            <a:r>
              <a:rPr lang="en-US" sz="1500" b="1" dirty="0">
                <a:solidFill>
                  <a:srgbClr val="1F2733"/>
                </a:solidFill>
                <a:latin typeface="Meiryo" pitchFamily="34" charset="0"/>
                <a:ea typeface="Meiryo" pitchFamily="34" charset="-122"/>
                <a:cs typeface="Meiryo" pitchFamily="34" charset="-120"/>
              </a:rPr>
              <a:t>年換算の赤字</a:t>
            </a:r>
            <a:endParaRPr lang="en-US" sz="1500" dirty="0"/>
          </a:p>
        </p:txBody>
      </p:sp>
      <p:sp>
        <p:nvSpPr>
          <p:cNvPr id="15" name="Text 13"/>
          <p:cNvSpPr/>
          <p:nvPr/>
        </p:nvSpPr>
        <p:spPr>
          <a:xfrm>
            <a:off x="8540496" y="3017520"/>
            <a:ext cx="3017520" cy="914400"/>
          </a:xfrm>
          <a:prstGeom prst="rect">
            <a:avLst/>
          </a:prstGeom>
          <a:noFill/>
          <a:ln/>
        </p:spPr>
        <p:txBody>
          <a:bodyPr wrap="square" rtlCol="0" anchor="ctr"/>
          <a:lstStyle/>
          <a:p>
            <a:pPr indent="0" marL="0">
              <a:buNone/>
            </a:pPr>
            <a:r>
              <a:rPr lang="en-US" sz="4000" b="1" dirty="0">
                <a:solidFill>
                  <a:srgbClr val="C0392B"/>
                </a:solidFill>
                <a:latin typeface="Meiryo" pitchFamily="34" charset="0"/>
                <a:ea typeface="Meiryo" pitchFamily="34" charset="-122"/>
                <a:cs typeface="Meiryo" pitchFamily="34" charset="-120"/>
              </a:rPr>
              <a:t>約 ▲2億1,000</a:t>
            </a:r>
            <a:pPr indent="0" marL="0">
              <a:buNone/>
            </a:pPr>
            <a:r>
              <a:rPr lang="en-US" sz="1500" b="1" dirty="0">
                <a:solidFill>
                  <a:srgbClr val="C0392B"/>
                </a:solidFill>
                <a:latin typeface="Meiryo" pitchFamily="34" charset="0"/>
                <a:ea typeface="Meiryo" pitchFamily="34" charset="-122"/>
                <a:cs typeface="Meiryo" pitchFamily="34" charset="-120"/>
              </a:rPr>
              <a:t>万円</a:t>
            </a:r>
            <a:endParaRPr lang="en-US" sz="4000" dirty="0"/>
          </a:p>
        </p:txBody>
      </p:sp>
      <p:sp>
        <p:nvSpPr>
          <p:cNvPr id="16" name="Text 14"/>
          <p:cNvSpPr/>
          <p:nvPr/>
        </p:nvSpPr>
        <p:spPr>
          <a:xfrm>
            <a:off x="8540496" y="4023360"/>
            <a:ext cx="3017520" cy="365760"/>
          </a:xfrm>
          <a:prstGeom prst="rect">
            <a:avLst/>
          </a:prstGeom>
          <a:noFill/>
          <a:ln/>
        </p:spPr>
        <p:txBody>
          <a:bodyPr wrap="square" rtlCol="0" anchor="ctr"/>
          <a:lstStyle/>
          <a:p>
            <a:pPr indent="0" marL="0">
              <a:buNone/>
            </a:pPr>
            <a:r>
              <a:rPr lang="en-US" sz="1250" dirty="0">
                <a:solidFill>
                  <a:srgbClr val="6B7686"/>
                </a:solidFill>
                <a:latin typeface="Meiryo" pitchFamily="34" charset="0"/>
                <a:ea typeface="Meiryo" pitchFamily="34" charset="-122"/>
                <a:cs typeface="Meiryo" pitchFamily="34" charset="-120"/>
              </a:rPr>
              <a:t>▲1,730万円 × 12ヶ月</a:t>
            </a:r>
            <a:endParaRPr lang="en-US" sz="1250" dirty="0"/>
          </a:p>
        </p:txBody>
      </p:sp>
      <p:sp>
        <p:nvSpPr>
          <p:cNvPr id="17" name="Shape 15"/>
          <p:cNvSpPr/>
          <p:nvPr/>
        </p:nvSpPr>
        <p:spPr>
          <a:xfrm>
            <a:off x="548640" y="4800600"/>
            <a:ext cx="11091672" cy="1234440"/>
          </a:xfrm>
          <a:prstGeom prst="roundRect">
            <a:avLst>
              <a:gd name="adj" fmla="val 5926"/>
            </a:avLst>
          </a:prstGeom>
          <a:solidFill>
            <a:srgbClr val="1B2A4A"/>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8" name="Shape 16"/>
          <p:cNvSpPr/>
          <p:nvPr/>
        </p:nvSpPr>
        <p:spPr>
          <a:xfrm>
            <a:off x="548640" y="4800600"/>
            <a:ext cx="11091672" cy="1234440"/>
          </a:xfrm>
          <a:prstGeom prst="rect">
            <a:avLst/>
          </a:prstGeom>
          <a:solidFill>
            <a:srgbClr val="1B2A4A"/>
          </a:solidFill>
          <a:ln/>
        </p:spPr>
        <p:txBody>
          <a:bodyPr/>
          <a:p/>
        </p:txBody>
      </p:sp>
      <p:sp>
        <p:nvSpPr>
          <p:cNvPr id="19" name="Text 17"/>
          <p:cNvSpPr/>
          <p:nvPr/>
        </p:nvSpPr>
        <p:spPr>
          <a:xfrm>
            <a:off x="868680" y="4983480"/>
            <a:ext cx="10515600" cy="457200"/>
          </a:xfrm>
          <a:prstGeom prst="rect">
            <a:avLst/>
          </a:prstGeom>
          <a:noFill/>
          <a:ln/>
        </p:spPr>
        <p:txBody>
          <a:bodyPr wrap="square" rtlCol="0" anchor="ctr"/>
          <a:lstStyle/>
          <a:p>
            <a:pPr indent="0" marL="0">
              <a:buNone/>
            </a:pPr>
            <a:r>
              <a:rPr lang="en-US" sz="1600" dirty="0">
                <a:solidFill>
                  <a:srgbClr val="CADCFC"/>
                </a:solidFill>
                <a:latin typeface="Meiryo" pitchFamily="34" charset="0"/>
                <a:ea typeface="Meiryo" pitchFamily="34" charset="-122"/>
                <a:cs typeface="Meiryo" pitchFamily="34" charset="-120"/>
              </a:rPr>
              <a:t>売上 1億7,800万  −  売上原価 1億8,300万  =  </a:t>
            </a:r>
            <a:pPr indent="0" marL="0">
              <a:buNone/>
            </a:pPr>
            <a:r>
              <a:rPr lang="en-US" sz="1700" b="1" dirty="0">
                <a:solidFill>
                  <a:srgbClr val="FF9E93"/>
                </a:solidFill>
                <a:latin typeface="Meiryo" pitchFamily="34" charset="0"/>
                <a:ea typeface="Meiryo" pitchFamily="34" charset="-122"/>
                <a:cs typeface="Meiryo" pitchFamily="34" charset="-120"/>
              </a:rPr>
              <a:t>売上総損益 ▲500万円</a:t>
            </a:r>
            <a:endParaRPr lang="en-US" sz="1600" dirty="0"/>
          </a:p>
        </p:txBody>
      </p:sp>
      <p:sp>
        <p:nvSpPr>
          <p:cNvPr id="20" name="Text 18"/>
          <p:cNvSpPr/>
          <p:nvPr/>
        </p:nvSpPr>
        <p:spPr>
          <a:xfrm>
            <a:off x="868680" y="5486400"/>
            <a:ext cx="10515600" cy="457200"/>
          </a:xfrm>
          <a:prstGeom prst="rect">
            <a:avLst/>
          </a:prstGeom>
          <a:noFill/>
          <a:ln/>
        </p:spPr>
        <p:txBody>
          <a:bodyPr wrap="square" rtlCol="0" anchor="ctr"/>
          <a:lstStyle/>
          <a:p>
            <a:pPr indent="0" marL="0">
              <a:buNone/>
            </a:pPr>
            <a:r>
              <a:rPr lang="en-US" sz="1350" dirty="0">
                <a:solidFill>
                  <a:srgbClr val="E5ECF7"/>
                </a:solidFill>
                <a:latin typeface="Meiryo" pitchFamily="34" charset="0"/>
                <a:ea typeface="Meiryo" pitchFamily="34" charset="-122"/>
                <a:cs typeface="Meiryo" pitchFamily="34" charset="-120"/>
              </a:rPr>
              <a:t>販管費（1,300万円）を引く前の段階で、すでに赤字。まさに「原価割れ」です。</a:t>
            </a:r>
            <a:endParaRPr lang="en-US" sz="1350" dirty="0"/>
          </a:p>
        </p:txBody>
      </p:sp>
      <p:sp>
        <p:nvSpPr>
          <p:cNvPr id="21" name="Text 19"/>
          <p:cNvSpPr/>
          <p:nvPr/>
        </p:nvSpPr>
        <p:spPr>
          <a:xfrm>
            <a:off x="457200" y="6419088"/>
            <a:ext cx="5486400" cy="274320"/>
          </a:xfrm>
          <a:prstGeom prst="rect">
            <a:avLst/>
          </a:prstGeom>
          <a:noFill/>
          <a:ln/>
        </p:spPr>
        <p:txBody>
          <a:bodyPr wrap="square" rtlCol="0" anchor="ctr"/>
          <a:lstStyle/>
          <a:p>
            <a:pPr algn="l" indent="0" marL="0">
              <a:buNone/>
            </a:pPr>
            <a:r>
              <a:rPr lang="en-US" sz="900" dirty="0">
                <a:solidFill>
                  <a:srgbClr val="6B7686"/>
                </a:solidFill>
                <a:latin typeface="Meiryo" pitchFamily="34" charset="0"/>
                <a:ea typeface="Meiryo" pitchFamily="34" charset="-122"/>
                <a:cs typeface="Meiryo" pitchFamily="34" charset="-120"/>
              </a:rPr>
              <a:t>短時間勤務者採用 説明会</a:t>
            </a:r>
            <a:endParaRPr lang="en-US" sz="900" dirty="0"/>
          </a:p>
        </p:txBody>
      </p:sp>
      <p:sp>
        <p:nvSpPr>
          <p:cNvPr id="22" name="Text 20"/>
          <p:cNvSpPr/>
          <p:nvPr/>
        </p:nvSpPr>
        <p:spPr>
          <a:xfrm>
            <a:off x="11338560" y="6419088"/>
            <a:ext cx="457200" cy="274320"/>
          </a:xfrm>
          <a:prstGeom prst="rect">
            <a:avLst/>
          </a:prstGeom>
          <a:noFill/>
          <a:ln/>
        </p:spPr>
        <p:txBody>
          <a:bodyPr wrap="square" rtlCol="0" anchor="ctr"/>
          <a:lstStyle/>
          <a:p>
            <a:pPr algn="r" indent="0" marL="0">
              <a:buNone/>
            </a:pPr>
            <a:r>
              <a:rPr lang="en-US" sz="900" dirty="0">
                <a:solidFill>
                  <a:srgbClr val="6B7686"/>
                </a:solidFill>
                <a:latin typeface="Meiryo" pitchFamily="34" charset="0"/>
                <a:ea typeface="Meiryo" pitchFamily="34" charset="-122"/>
                <a:cs typeface="Meiryo" pitchFamily="34" charset="-120"/>
              </a:rPr>
              <a:t>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0058400" cy="320040"/>
          </a:xfrm>
          <a:prstGeom prst="rect">
            <a:avLst/>
          </a:prstGeom>
          <a:noFill/>
          <a:ln/>
        </p:spPr>
        <p:txBody>
          <a:bodyPr wrap="square" rtlCol="0" anchor="ctr"/>
          <a:lstStyle/>
          <a:p>
            <a:pPr indent="0" marL="0">
              <a:buNone/>
            </a:pPr>
            <a:r>
              <a:rPr lang="en-US" sz="1300" b="1" spc="200" kern="0" dirty="0">
                <a:solidFill>
                  <a:srgbClr val="C0392B"/>
                </a:solidFill>
                <a:latin typeface="Meiryo" pitchFamily="34" charset="0"/>
                <a:ea typeface="Meiryo" pitchFamily="34" charset="-122"/>
                <a:cs typeface="Meiryo" pitchFamily="34" charset="-120"/>
              </a:rPr>
              <a:t>背景②｜赤字の中身</a:t>
            </a:r>
            <a:endParaRPr lang="en-US" sz="1300" dirty="0"/>
          </a:p>
        </p:txBody>
      </p:sp>
      <p:sp>
        <p:nvSpPr>
          <p:cNvPr id="3" name="Text 1"/>
          <p:cNvSpPr/>
          <p:nvPr/>
        </p:nvSpPr>
        <p:spPr>
          <a:xfrm>
            <a:off x="548640" y="841248"/>
            <a:ext cx="11064240" cy="822960"/>
          </a:xfrm>
          <a:prstGeom prst="rect">
            <a:avLst/>
          </a:prstGeom>
          <a:noFill/>
          <a:ln/>
        </p:spPr>
        <p:txBody>
          <a:bodyPr wrap="square" rtlCol="0" anchor="ctr"/>
          <a:lstStyle/>
          <a:p>
            <a:pPr algn="l" indent="0" marL="0">
              <a:buNone/>
            </a:pPr>
            <a:r>
              <a:rPr lang="en-US" sz="3000" b="1" dirty="0">
                <a:solidFill>
                  <a:srgbClr val="1B2A4A"/>
                </a:solidFill>
                <a:latin typeface="Meiryo" pitchFamily="34" charset="0"/>
                <a:ea typeface="Meiryo" pitchFamily="34" charset="-122"/>
                <a:cs typeface="Meiryo" pitchFamily="34" charset="-120"/>
              </a:rPr>
              <a:t>赤字の正体は「人件費」― 売上の9割</a:t>
            </a:r>
            <a:endParaRPr lang="en-US" sz="3000" dirty="0"/>
          </a:p>
        </p:txBody>
      </p:sp>
      <p:graphicFrame>
        <p:nvGraphicFramePr>
          <p:cNvPr id="4" name="Chart 0" descr=""/>
          <p:cNvGraphicFramePr/>
          <p:nvPr/>
        </p:nvGraphicFramePr>
        <p:xfrm>
          <a:off x="548640" y="2194560"/>
          <a:ext cx="5852160" cy="36576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48640" y="1874520"/>
            <a:ext cx="5486400" cy="274320"/>
          </a:xfrm>
          <a:prstGeom prst="rect">
            <a:avLst/>
          </a:prstGeom>
          <a:noFill/>
          <a:ln/>
        </p:spPr>
        <p:txBody>
          <a:bodyPr wrap="square" rtlCol="0" anchor="ctr"/>
          <a:lstStyle/>
          <a:p>
            <a:pPr indent="0" marL="0">
              <a:buNone/>
            </a:pPr>
            <a:r>
              <a:rPr lang="en-US" sz="1100" dirty="0">
                <a:solidFill>
                  <a:srgbClr val="6B7686"/>
                </a:solidFill>
                <a:latin typeface="Meiryo" pitchFamily="34" charset="0"/>
                <a:ea typeface="Meiryo" pitchFamily="34" charset="-122"/>
                <a:cs typeface="Meiryo" pitchFamily="34" charset="-120"/>
              </a:rPr>
              <a:t>対売上構成比（％）</a:t>
            </a:r>
            <a:endParaRPr lang="en-US" sz="1100" dirty="0"/>
          </a:p>
        </p:txBody>
      </p:sp>
      <p:sp>
        <p:nvSpPr>
          <p:cNvPr id="6" name="Shape 3"/>
          <p:cNvSpPr/>
          <p:nvPr/>
        </p:nvSpPr>
        <p:spPr>
          <a:xfrm>
            <a:off x="6720840" y="2331720"/>
            <a:ext cx="4937760" cy="914400"/>
          </a:xfrm>
          <a:prstGeom prst="roundRect">
            <a:avLst>
              <a:gd name="adj" fmla="val 8000"/>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7" name="Text 4"/>
          <p:cNvSpPr/>
          <p:nvPr/>
        </p:nvSpPr>
        <p:spPr>
          <a:xfrm>
            <a:off x="6995160" y="2478024"/>
            <a:ext cx="3108960" cy="457200"/>
          </a:xfrm>
          <a:prstGeom prst="rect">
            <a:avLst/>
          </a:prstGeom>
          <a:noFill/>
          <a:ln/>
        </p:spPr>
        <p:txBody>
          <a:bodyPr wrap="square" rtlCol="0" anchor="ctr"/>
          <a:lstStyle/>
          <a:p>
            <a:pPr indent="0" marL="0">
              <a:buNone/>
            </a:pPr>
            <a:r>
              <a:rPr lang="en-US" sz="1450" b="1" dirty="0">
                <a:solidFill>
                  <a:srgbClr val="1F2733"/>
                </a:solidFill>
                <a:latin typeface="Meiryo" pitchFamily="34" charset="0"/>
                <a:ea typeface="Meiryo" pitchFamily="34" charset="-122"/>
                <a:cs typeface="Meiryo" pitchFamily="34" charset="-120"/>
              </a:rPr>
              <a:t>直接人件費［原価］</a:t>
            </a:r>
            <a:endParaRPr lang="en-US" sz="1450" dirty="0"/>
          </a:p>
        </p:txBody>
      </p:sp>
      <p:sp>
        <p:nvSpPr>
          <p:cNvPr id="8" name="Text 5"/>
          <p:cNvSpPr/>
          <p:nvPr/>
        </p:nvSpPr>
        <p:spPr>
          <a:xfrm>
            <a:off x="9921240" y="2423160"/>
            <a:ext cx="1463040" cy="731520"/>
          </a:xfrm>
          <a:prstGeom prst="rect">
            <a:avLst/>
          </a:prstGeom>
          <a:noFill/>
          <a:ln/>
        </p:spPr>
        <p:txBody>
          <a:bodyPr wrap="square" rtlCol="0" anchor="ctr"/>
          <a:lstStyle/>
          <a:p>
            <a:pPr algn="r" indent="0" marL="0">
              <a:buNone/>
            </a:pPr>
            <a:r>
              <a:rPr lang="en-US" sz="2400" b="1" dirty="0">
                <a:solidFill>
                  <a:srgbClr val="1B2A4A"/>
                </a:solidFill>
                <a:latin typeface="Meiryo" pitchFamily="34" charset="0"/>
                <a:ea typeface="Meiryo" pitchFamily="34" charset="-122"/>
                <a:cs typeface="Meiryo" pitchFamily="34" charset="-120"/>
              </a:rPr>
              <a:t>60.3%</a:t>
            </a:r>
            <a:endParaRPr lang="en-US" sz="2400" dirty="0"/>
          </a:p>
        </p:txBody>
      </p:sp>
      <p:sp>
        <p:nvSpPr>
          <p:cNvPr id="9" name="Text 6"/>
          <p:cNvSpPr/>
          <p:nvPr/>
        </p:nvSpPr>
        <p:spPr>
          <a:xfrm>
            <a:off x="6995160" y="2880360"/>
            <a:ext cx="3108960" cy="365760"/>
          </a:xfrm>
          <a:prstGeom prst="rect">
            <a:avLst/>
          </a:prstGeom>
          <a:noFill/>
          <a:ln/>
        </p:spPr>
        <p:txBody>
          <a:bodyPr wrap="square" rtlCol="0" anchor="ctr"/>
          <a:lstStyle/>
          <a:p>
            <a:pPr indent="0" marL="0">
              <a:buNone/>
            </a:pPr>
            <a:r>
              <a:rPr lang="en-US" sz="1250" dirty="0">
                <a:solidFill>
                  <a:srgbClr val="6B7686"/>
                </a:solidFill>
                <a:latin typeface="Meiryo" pitchFamily="34" charset="0"/>
                <a:ea typeface="Meiryo" pitchFamily="34" charset="-122"/>
                <a:cs typeface="Meiryo" pitchFamily="34" charset="-120"/>
              </a:rPr>
              <a:t>1億700万円</a:t>
            </a:r>
            <a:endParaRPr lang="en-US" sz="1250" dirty="0"/>
          </a:p>
        </p:txBody>
      </p:sp>
      <p:sp>
        <p:nvSpPr>
          <p:cNvPr id="10" name="Shape 7"/>
          <p:cNvSpPr/>
          <p:nvPr/>
        </p:nvSpPr>
        <p:spPr>
          <a:xfrm>
            <a:off x="6720840" y="3502152"/>
            <a:ext cx="4937760" cy="914400"/>
          </a:xfrm>
          <a:prstGeom prst="roundRect">
            <a:avLst>
              <a:gd name="adj" fmla="val 8000"/>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1" name="Text 8"/>
          <p:cNvSpPr/>
          <p:nvPr/>
        </p:nvSpPr>
        <p:spPr>
          <a:xfrm>
            <a:off x="6995160" y="3648456"/>
            <a:ext cx="3108960" cy="457200"/>
          </a:xfrm>
          <a:prstGeom prst="rect">
            <a:avLst/>
          </a:prstGeom>
          <a:noFill/>
          <a:ln/>
        </p:spPr>
        <p:txBody>
          <a:bodyPr wrap="square" rtlCol="0" anchor="ctr"/>
          <a:lstStyle/>
          <a:p>
            <a:pPr indent="0" marL="0">
              <a:buNone/>
            </a:pPr>
            <a:r>
              <a:rPr lang="en-US" sz="1450" b="1" dirty="0">
                <a:solidFill>
                  <a:srgbClr val="1F2733"/>
                </a:solidFill>
                <a:latin typeface="Meiryo" pitchFamily="34" charset="0"/>
                <a:ea typeface="Meiryo" pitchFamily="34" charset="-122"/>
                <a:cs typeface="Meiryo" pitchFamily="34" charset="-120"/>
              </a:rPr>
              <a:t>派遣・業務委託費</a:t>
            </a:r>
            <a:endParaRPr lang="en-US" sz="1450" dirty="0"/>
          </a:p>
        </p:txBody>
      </p:sp>
      <p:sp>
        <p:nvSpPr>
          <p:cNvPr id="12" name="Text 9"/>
          <p:cNvSpPr/>
          <p:nvPr/>
        </p:nvSpPr>
        <p:spPr>
          <a:xfrm>
            <a:off x="9921240" y="3593592"/>
            <a:ext cx="1463040" cy="731520"/>
          </a:xfrm>
          <a:prstGeom prst="rect">
            <a:avLst/>
          </a:prstGeom>
          <a:noFill/>
          <a:ln/>
        </p:spPr>
        <p:txBody>
          <a:bodyPr wrap="square" rtlCol="0" anchor="ctr"/>
          <a:lstStyle/>
          <a:p>
            <a:pPr algn="r" indent="0" marL="0">
              <a:buNone/>
            </a:pPr>
            <a:r>
              <a:rPr lang="en-US" sz="2400" b="1" dirty="0">
                <a:solidFill>
                  <a:srgbClr val="2E5AAC"/>
                </a:solidFill>
                <a:latin typeface="Meiryo" pitchFamily="34" charset="0"/>
                <a:ea typeface="Meiryo" pitchFamily="34" charset="-122"/>
                <a:cs typeface="Meiryo" pitchFamily="34" charset="-120"/>
              </a:rPr>
              <a:t>30.7%</a:t>
            </a:r>
            <a:endParaRPr lang="en-US" sz="2400" dirty="0"/>
          </a:p>
        </p:txBody>
      </p:sp>
      <p:sp>
        <p:nvSpPr>
          <p:cNvPr id="13" name="Text 10"/>
          <p:cNvSpPr/>
          <p:nvPr/>
        </p:nvSpPr>
        <p:spPr>
          <a:xfrm>
            <a:off x="6995160" y="4050792"/>
            <a:ext cx="3108960" cy="365760"/>
          </a:xfrm>
          <a:prstGeom prst="rect">
            <a:avLst/>
          </a:prstGeom>
          <a:noFill/>
          <a:ln/>
        </p:spPr>
        <p:txBody>
          <a:bodyPr wrap="square" rtlCol="0" anchor="ctr"/>
          <a:lstStyle/>
          <a:p>
            <a:pPr indent="0" marL="0">
              <a:buNone/>
            </a:pPr>
            <a:r>
              <a:rPr lang="en-US" sz="1250" dirty="0">
                <a:solidFill>
                  <a:srgbClr val="6B7686"/>
                </a:solidFill>
                <a:latin typeface="Meiryo" pitchFamily="34" charset="0"/>
                <a:ea typeface="Meiryo" pitchFamily="34" charset="-122"/>
                <a:cs typeface="Meiryo" pitchFamily="34" charset="-120"/>
              </a:rPr>
              <a:t>5,500万円</a:t>
            </a:r>
            <a:endParaRPr lang="en-US" sz="1250" dirty="0"/>
          </a:p>
        </p:txBody>
      </p:sp>
      <p:sp>
        <p:nvSpPr>
          <p:cNvPr id="14" name="Shape 11"/>
          <p:cNvSpPr/>
          <p:nvPr/>
        </p:nvSpPr>
        <p:spPr>
          <a:xfrm>
            <a:off x="6720840" y="4672584"/>
            <a:ext cx="4937760" cy="1143000"/>
          </a:xfrm>
          <a:prstGeom prst="roundRect">
            <a:avLst>
              <a:gd name="adj" fmla="val 6400"/>
            </a:avLst>
          </a:prstGeom>
          <a:solidFill>
            <a:srgbClr val="F7E7E4"/>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5" name="Text 12"/>
          <p:cNvSpPr/>
          <p:nvPr/>
        </p:nvSpPr>
        <p:spPr>
          <a:xfrm>
            <a:off x="6995160" y="4818888"/>
            <a:ext cx="3108960" cy="457200"/>
          </a:xfrm>
          <a:prstGeom prst="rect">
            <a:avLst/>
          </a:prstGeom>
          <a:noFill/>
          <a:ln/>
        </p:spPr>
        <p:txBody>
          <a:bodyPr wrap="square" rtlCol="0" anchor="ctr"/>
          <a:lstStyle/>
          <a:p>
            <a:pPr indent="0" marL="0">
              <a:buNone/>
            </a:pPr>
            <a:r>
              <a:rPr lang="en-US" sz="1450" b="1" dirty="0">
                <a:solidFill>
                  <a:srgbClr val="1F2733"/>
                </a:solidFill>
                <a:latin typeface="Meiryo" pitchFamily="34" charset="0"/>
                <a:ea typeface="Meiryo" pitchFamily="34" charset="-122"/>
                <a:cs typeface="Meiryo" pitchFamily="34" charset="-120"/>
              </a:rPr>
              <a:t>人件費 + 派遣 合計</a:t>
            </a:r>
            <a:endParaRPr lang="en-US" sz="1450" dirty="0"/>
          </a:p>
        </p:txBody>
      </p:sp>
      <p:sp>
        <p:nvSpPr>
          <p:cNvPr id="16" name="Text 13"/>
          <p:cNvSpPr/>
          <p:nvPr/>
        </p:nvSpPr>
        <p:spPr>
          <a:xfrm>
            <a:off x="9921240" y="4764024"/>
            <a:ext cx="1463040" cy="960120"/>
          </a:xfrm>
          <a:prstGeom prst="rect">
            <a:avLst/>
          </a:prstGeom>
          <a:noFill/>
          <a:ln/>
        </p:spPr>
        <p:txBody>
          <a:bodyPr wrap="square" rtlCol="0" anchor="ctr"/>
          <a:lstStyle/>
          <a:p>
            <a:pPr algn="r" indent="0" marL="0">
              <a:buNone/>
            </a:pPr>
            <a:r>
              <a:rPr lang="en-US" sz="3000" b="1" dirty="0">
                <a:solidFill>
                  <a:srgbClr val="C0392B"/>
                </a:solidFill>
                <a:latin typeface="Meiryo" pitchFamily="34" charset="0"/>
                <a:ea typeface="Meiryo" pitchFamily="34" charset="-122"/>
                <a:cs typeface="Meiryo" pitchFamily="34" charset="-120"/>
              </a:rPr>
              <a:t>91.1%</a:t>
            </a:r>
            <a:endParaRPr lang="en-US" sz="3000" dirty="0"/>
          </a:p>
        </p:txBody>
      </p:sp>
      <p:sp>
        <p:nvSpPr>
          <p:cNvPr id="17" name="Text 14"/>
          <p:cNvSpPr/>
          <p:nvPr/>
        </p:nvSpPr>
        <p:spPr>
          <a:xfrm>
            <a:off x="6995160" y="5330952"/>
            <a:ext cx="3108960" cy="365760"/>
          </a:xfrm>
          <a:prstGeom prst="rect">
            <a:avLst/>
          </a:prstGeom>
          <a:noFill/>
          <a:ln/>
        </p:spPr>
        <p:txBody>
          <a:bodyPr wrap="square" rtlCol="0" anchor="ctr"/>
          <a:lstStyle/>
          <a:p>
            <a:pPr indent="0" marL="0">
              <a:buNone/>
            </a:pPr>
            <a:r>
              <a:rPr lang="en-US" sz="1250" dirty="0">
                <a:solidFill>
                  <a:srgbClr val="6B7686"/>
                </a:solidFill>
                <a:latin typeface="Meiryo" pitchFamily="34" charset="0"/>
                <a:ea typeface="Meiryo" pitchFamily="34" charset="-122"/>
                <a:cs typeface="Meiryo" pitchFamily="34" charset="-120"/>
              </a:rPr>
              <a:t>1億6,200万円</a:t>
            </a:r>
            <a:endParaRPr lang="en-US" sz="1250" dirty="0"/>
          </a:p>
        </p:txBody>
      </p:sp>
      <p:sp>
        <p:nvSpPr>
          <p:cNvPr id="18" name="Text 15"/>
          <p:cNvSpPr/>
          <p:nvPr/>
        </p:nvSpPr>
        <p:spPr>
          <a:xfrm>
            <a:off x="6995160" y="5541264"/>
            <a:ext cx="4389120" cy="274320"/>
          </a:xfrm>
          <a:prstGeom prst="rect">
            <a:avLst/>
          </a:prstGeom>
          <a:noFill/>
          <a:ln/>
        </p:spPr>
        <p:txBody>
          <a:bodyPr wrap="square" rtlCol="0" anchor="ctr"/>
          <a:lstStyle/>
          <a:p>
            <a:pPr indent="0" marL="0">
              <a:buNone/>
            </a:pPr>
            <a:r>
              <a:rPr lang="en-US" sz="1200" b="1" dirty="0">
                <a:solidFill>
                  <a:srgbClr val="C0392B"/>
                </a:solidFill>
                <a:latin typeface="Meiryo" pitchFamily="34" charset="0"/>
                <a:ea typeface="Meiryo" pitchFamily="34" charset="-122"/>
                <a:cs typeface="Meiryo" pitchFamily="34" charset="-120"/>
              </a:rPr>
              <a:t>＝ 売上のほとんどが人にかかる費用</a:t>
            </a:r>
            <a:endParaRPr lang="en-US" sz="1200" dirty="0"/>
          </a:p>
        </p:txBody>
      </p:sp>
      <p:sp>
        <p:nvSpPr>
          <p:cNvPr id="19" name="Text 16"/>
          <p:cNvSpPr/>
          <p:nvPr/>
        </p:nvSpPr>
        <p:spPr>
          <a:xfrm>
            <a:off x="457200" y="6419088"/>
            <a:ext cx="5486400" cy="274320"/>
          </a:xfrm>
          <a:prstGeom prst="rect">
            <a:avLst/>
          </a:prstGeom>
          <a:noFill/>
          <a:ln/>
        </p:spPr>
        <p:txBody>
          <a:bodyPr wrap="square" rtlCol="0" anchor="ctr"/>
          <a:lstStyle/>
          <a:p>
            <a:pPr algn="l" indent="0" marL="0">
              <a:buNone/>
            </a:pPr>
            <a:r>
              <a:rPr lang="en-US" sz="900" dirty="0">
                <a:solidFill>
                  <a:srgbClr val="6B7686"/>
                </a:solidFill>
                <a:latin typeface="Meiryo" pitchFamily="34" charset="0"/>
                <a:ea typeface="Meiryo" pitchFamily="34" charset="-122"/>
                <a:cs typeface="Meiryo" pitchFamily="34" charset="-120"/>
              </a:rPr>
              <a:t>短時間勤務者採用 説明会</a:t>
            </a:r>
            <a:endParaRPr lang="en-US" sz="900" dirty="0"/>
          </a:p>
        </p:txBody>
      </p:sp>
      <p:sp>
        <p:nvSpPr>
          <p:cNvPr id="20" name="Text 17"/>
          <p:cNvSpPr/>
          <p:nvPr/>
        </p:nvSpPr>
        <p:spPr>
          <a:xfrm>
            <a:off x="11338560" y="6419088"/>
            <a:ext cx="457200" cy="274320"/>
          </a:xfrm>
          <a:prstGeom prst="rect">
            <a:avLst/>
          </a:prstGeom>
          <a:noFill/>
          <a:ln/>
        </p:spPr>
        <p:txBody>
          <a:bodyPr wrap="square" rtlCol="0" anchor="ctr"/>
          <a:lstStyle/>
          <a:p>
            <a:pPr algn="r" indent="0" marL="0">
              <a:buNone/>
            </a:pPr>
            <a:r>
              <a:rPr lang="en-US" sz="900" dirty="0">
                <a:solidFill>
                  <a:srgbClr val="6B7686"/>
                </a:solidFill>
                <a:latin typeface="Meiryo" pitchFamily="34" charset="0"/>
                <a:ea typeface="Meiryo" pitchFamily="34" charset="-122"/>
                <a:cs typeface="Meiryo" pitchFamily="34" charset="-120"/>
              </a:rPr>
              <a:t>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0058400" cy="320040"/>
          </a:xfrm>
          <a:prstGeom prst="rect">
            <a:avLst/>
          </a:prstGeom>
          <a:noFill/>
          <a:ln/>
        </p:spPr>
        <p:txBody>
          <a:bodyPr wrap="square" rtlCol="0" anchor="ctr"/>
          <a:lstStyle/>
          <a:p>
            <a:pPr indent="0" marL="0">
              <a:buNone/>
            </a:pPr>
            <a:r>
              <a:rPr lang="en-US" sz="1300" b="1" spc="200" kern="0" dirty="0">
                <a:solidFill>
                  <a:srgbClr val="C0392B"/>
                </a:solidFill>
                <a:latin typeface="Meiryo" pitchFamily="34" charset="0"/>
                <a:ea typeface="Meiryo" pitchFamily="34" charset="-122"/>
                <a:cs typeface="Meiryo" pitchFamily="34" charset="-120"/>
              </a:rPr>
              <a:t>背景③｜他基地との比較</a:t>
            </a:r>
            <a:endParaRPr lang="en-US" sz="1300" dirty="0"/>
          </a:p>
        </p:txBody>
      </p:sp>
      <p:sp>
        <p:nvSpPr>
          <p:cNvPr id="3" name="Text 1"/>
          <p:cNvSpPr/>
          <p:nvPr/>
        </p:nvSpPr>
        <p:spPr>
          <a:xfrm>
            <a:off x="548640" y="841248"/>
            <a:ext cx="11064240" cy="822960"/>
          </a:xfrm>
          <a:prstGeom prst="rect">
            <a:avLst/>
          </a:prstGeom>
          <a:noFill/>
          <a:ln/>
        </p:spPr>
        <p:txBody>
          <a:bodyPr wrap="square" rtlCol="0" anchor="ctr"/>
          <a:lstStyle/>
          <a:p>
            <a:pPr algn="l" indent="0" marL="0">
              <a:buNone/>
            </a:pPr>
            <a:r>
              <a:rPr lang="en-US" sz="3000" b="1" dirty="0">
                <a:solidFill>
                  <a:srgbClr val="1B2A4A"/>
                </a:solidFill>
                <a:latin typeface="Meiryo" pitchFamily="34" charset="0"/>
                <a:ea typeface="Meiryo" pitchFamily="34" charset="-122"/>
                <a:cs typeface="Meiryo" pitchFamily="34" charset="-120"/>
              </a:rPr>
              <a:t>黒字の基地もある。成田だけが突出して赤い</a:t>
            </a:r>
            <a:endParaRPr lang="en-US" sz="3000" dirty="0"/>
          </a:p>
        </p:txBody>
      </p:sp>
      <p:sp>
        <p:nvSpPr>
          <p:cNvPr id="5" name="Text 2"/>
          <p:cNvSpPr/>
          <p:nvPr/>
        </p:nvSpPr>
        <p:spPr>
          <a:xfrm>
            <a:off x="548640" y="1847088"/>
            <a:ext cx="6400800" cy="274320"/>
          </a:xfrm>
          <a:prstGeom prst="rect">
            <a:avLst/>
          </a:prstGeom>
          <a:noFill/>
          <a:ln/>
        </p:spPr>
        <p:txBody>
          <a:bodyPr wrap="square" rtlCol="0" anchor="ctr"/>
          <a:lstStyle/>
          <a:p>
            <a:pPr indent="0" marL="0">
              <a:buNone/>
            </a:pPr>
            <a:r>
              <a:rPr lang="en-US" sz="1100" dirty="0">
                <a:solidFill>
                  <a:srgbClr val="6B7686"/>
                </a:solidFill>
                <a:latin typeface="Meiryo" pitchFamily="34" charset="0"/>
                <a:ea typeface="Meiryo" pitchFamily="34" charset="-122"/>
                <a:cs typeface="Meiryo" pitchFamily="34" charset="-120"/>
              </a:rPr>
              <a:t>旅客部門のみ・営業損益（万円/月）</a:t>
            </a:r>
            <a:endParaRPr lang="en-US" sz="1100" dirty="0"/>
          </a:p>
        </p:txBody>
      </p:sp>
      <p:sp>
        <p:nvSpPr>
          <p:cNvPr id="6" name="Shape 3"/>
          <p:cNvSpPr/>
          <p:nvPr/>
        </p:nvSpPr>
        <p:spPr>
          <a:xfrm>
            <a:off x="8229600" y="2331720"/>
            <a:ext cx="3410712" cy="3566160"/>
          </a:xfrm>
          <a:prstGeom prst="roundRect">
            <a:avLst>
              <a:gd name="adj" fmla="val 2145"/>
            </a:avLst>
          </a:prstGeom>
          <a:solidFill>
            <a:srgbClr val="1B2A4A"/>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7" name="Shape 4"/>
          <p:cNvSpPr/>
          <p:nvPr/>
        </p:nvSpPr>
        <p:spPr>
          <a:xfrm>
            <a:off x="8229600" y="2331720"/>
            <a:ext cx="3410712" cy="3566160"/>
          </a:xfrm>
          <a:prstGeom prst="rect">
            <a:avLst/>
          </a:prstGeom>
          <a:solidFill>
            <a:srgbClr val="1B2A4A"/>
          </a:solidFill>
          <a:ln/>
        </p:spPr>
        <p:txBody>
          <a:bodyPr/>
          <a:p/>
        </p:txBody>
      </p:sp>
      <p:sp>
        <p:nvSpPr>
          <p:cNvPr id="8" name="Text 5"/>
          <p:cNvSpPr/>
          <p:nvPr/>
        </p:nvSpPr>
        <p:spPr>
          <a:xfrm>
            <a:off x="8503920" y="2560320"/>
            <a:ext cx="2834640" cy="457200"/>
          </a:xfrm>
          <a:prstGeom prst="rect">
            <a:avLst/>
          </a:prstGeom>
          <a:noFill/>
          <a:ln/>
        </p:spPr>
        <p:txBody>
          <a:bodyPr wrap="square" rtlCol="0" anchor="ctr"/>
          <a:lstStyle/>
          <a:p>
            <a:pPr indent="0" marL="0">
              <a:buNone/>
            </a:pPr>
            <a:r>
              <a:rPr lang="en-US" sz="1800" b="1" dirty="0">
                <a:solidFill>
                  <a:srgbClr val="CADCFC"/>
                </a:solidFill>
                <a:latin typeface="Meiryo" pitchFamily="34" charset="0"/>
                <a:ea typeface="Meiryo" pitchFamily="34" charset="-122"/>
                <a:cs typeface="Meiryo" pitchFamily="34" charset="-120"/>
              </a:rPr>
              <a:t>成田</a:t>
            </a:r>
            <a:endParaRPr lang="en-US" sz="1800" dirty="0"/>
          </a:p>
        </p:txBody>
      </p:sp>
      <p:sp>
        <p:nvSpPr>
          <p:cNvPr id="9" name="Text 6"/>
          <p:cNvSpPr/>
          <p:nvPr/>
        </p:nvSpPr>
        <p:spPr>
          <a:xfrm>
            <a:off x="8503920" y="3063240"/>
            <a:ext cx="2926080" cy="822960"/>
          </a:xfrm>
          <a:prstGeom prst="rect">
            <a:avLst/>
          </a:prstGeom>
          <a:noFill/>
          <a:ln/>
        </p:spPr>
        <p:txBody>
          <a:bodyPr wrap="square" rtlCol="0" anchor="ctr"/>
          <a:lstStyle/>
          <a:p>
            <a:pPr indent="0" marL="0">
              <a:buNone/>
            </a:pPr>
            <a:r>
              <a:rPr lang="en-US" sz="4000" b="1" dirty="0">
                <a:solidFill>
                  <a:srgbClr val="FF9E93"/>
                </a:solidFill>
                <a:latin typeface="Meiryo" pitchFamily="34" charset="0"/>
                <a:ea typeface="Meiryo" pitchFamily="34" charset="-122"/>
                <a:cs typeface="Meiryo" pitchFamily="34" charset="-120"/>
              </a:rPr>
              <a:t>▲1,730</a:t>
            </a:r>
            <a:endParaRPr lang="en-US" sz="4000" dirty="0"/>
          </a:p>
        </p:txBody>
      </p:sp>
      <p:sp>
        <p:nvSpPr>
          <p:cNvPr id="10" name="Text 7"/>
          <p:cNvSpPr/>
          <p:nvPr/>
        </p:nvSpPr>
        <p:spPr>
          <a:xfrm>
            <a:off x="8503920" y="3886200"/>
            <a:ext cx="2834640" cy="365760"/>
          </a:xfrm>
          <a:prstGeom prst="rect">
            <a:avLst/>
          </a:prstGeom>
          <a:noFill/>
          <a:ln/>
        </p:spPr>
        <p:txBody>
          <a:bodyPr wrap="square" rtlCol="0" anchor="ctr"/>
          <a:lstStyle/>
          <a:p>
            <a:pPr indent="0" marL="0">
              <a:buNone/>
            </a:pPr>
            <a:r>
              <a:rPr lang="en-US" sz="1400" dirty="0">
                <a:solidFill>
                  <a:srgbClr val="CADCFC"/>
                </a:solidFill>
                <a:latin typeface="Meiryo" pitchFamily="34" charset="0"/>
                <a:ea typeface="Meiryo" pitchFamily="34" charset="-122"/>
                <a:cs typeface="Meiryo" pitchFamily="34" charset="-120"/>
              </a:rPr>
              <a:t>万円 / 月</a:t>
            </a:r>
            <a:endParaRPr lang="en-US" sz="1400" dirty="0"/>
          </a:p>
        </p:txBody>
      </p:sp>
      <p:sp>
        <p:nvSpPr>
          <p:cNvPr id="11" name="Shape 8"/>
          <p:cNvSpPr/>
          <p:nvPr/>
        </p:nvSpPr>
        <p:spPr>
          <a:xfrm>
            <a:off x="8503920" y="4434840"/>
            <a:ext cx="2834640" cy="0"/>
          </a:xfrm>
          <a:prstGeom prst="line">
            <a:avLst/>
          </a:prstGeom>
          <a:noFill/>
          <a:ln w="12700">
            <a:solidFill>
              <a:srgbClr val="3C5488"/>
            </a:solidFill>
            <a:prstDash val="solid"/>
          </a:ln>
        </p:spPr>
        <p:txBody>
          <a:bodyPr/>
          <a:p/>
        </p:txBody>
      </p:sp>
      <p:sp>
        <p:nvSpPr>
          <p:cNvPr id="12" name="Text 9"/>
          <p:cNvSpPr/>
          <p:nvPr/>
        </p:nvSpPr>
        <p:spPr>
          <a:xfrm>
            <a:off x="8503920" y="4617720"/>
            <a:ext cx="2926080" cy="1188720"/>
          </a:xfrm>
          <a:prstGeom prst="rect">
            <a:avLst/>
          </a:prstGeom>
          <a:noFill/>
          <a:ln/>
        </p:spPr>
        <p:txBody>
          <a:bodyPr wrap="square" rtlCol="0" anchor="ctr"/>
          <a:lstStyle/>
          <a:p>
            <a:pPr indent="0" marL="0">
              <a:lnSpc>
                <a:spcPct val="120000"/>
              </a:lnSpc>
              <a:buNone/>
            </a:pPr>
            <a:r>
              <a:rPr lang="en-US" sz="1250" dirty="0">
                <a:solidFill>
                  <a:srgbClr val="E5ECF7"/>
                </a:solidFill>
                <a:latin typeface="Meiryo" pitchFamily="34" charset="0"/>
                <a:ea typeface="Meiryo" pitchFamily="34" charset="-122"/>
                <a:cs typeface="Meiryo" pitchFamily="34" charset="-120"/>
              </a:rPr>
              <a:t>羽田・千歳・那覇の旅客は黒字。成田の赤字は、単月で他基地の黒字を食いつぶす規模です。</a:t>
            </a:r>
            <a:endParaRPr lang="en-US" sz="1250" dirty="0"/>
          </a:p>
        </p:txBody>
      </p:sp>
      <p:sp>
        <p:nvSpPr>
          <p:cNvPr id="13" name="Text 10"/>
          <p:cNvSpPr/>
          <p:nvPr/>
        </p:nvSpPr>
        <p:spPr>
          <a:xfrm>
            <a:off x="457200" y="6419088"/>
            <a:ext cx="5486400" cy="274320"/>
          </a:xfrm>
          <a:prstGeom prst="rect">
            <a:avLst/>
          </a:prstGeom>
          <a:noFill/>
          <a:ln/>
        </p:spPr>
        <p:txBody>
          <a:bodyPr wrap="square" rtlCol="0" anchor="ctr"/>
          <a:lstStyle/>
          <a:p>
            <a:pPr algn="l" indent="0" marL="0">
              <a:buNone/>
            </a:pPr>
            <a:r>
              <a:rPr lang="en-US" sz="900" dirty="0">
                <a:solidFill>
                  <a:srgbClr val="6B7686"/>
                </a:solidFill>
                <a:latin typeface="Meiryo" pitchFamily="34" charset="0"/>
                <a:ea typeface="Meiryo" pitchFamily="34" charset="-122"/>
                <a:cs typeface="Meiryo" pitchFamily="34" charset="-120"/>
              </a:rPr>
              <a:t>短時間勤務者採用 説明会</a:t>
            </a:r>
            <a:endParaRPr lang="en-US" sz="900" dirty="0"/>
          </a:p>
        </p:txBody>
      </p:sp>
      <p:sp>
        <p:nvSpPr>
          <p:cNvPr id="14" name="Text 11"/>
          <p:cNvSpPr/>
          <p:nvPr/>
        </p:nvSpPr>
        <p:spPr>
          <a:xfrm>
            <a:off x="11338560" y="6419088"/>
            <a:ext cx="457200" cy="274320"/>
          </a:xfrm>
          <a:prstGeom prst="rect">
            <a:avLst/>
          </a:prstGeom>
          <a:noFill/>
          <a:ln/>
        </p:spPr>
        <p:txBody>
          <a:bodyPr wrap="square" rtlCol="0" anchor="ctr"/>
          <a:lstStyle/>
          <a:p>
            <a:pPr algn="r" indent="0" marL="0">
              <a:buNone/>
            </a:pPr>
            <a:r>
              <a:rPr lang="en-US" sz="900" dirty="0">
                <a:solidFill>
                  <a:srgbClr val="6B7686"/>
                </a:solidFill>
                <a:latin typeface="Meiryo" pitchFamily="34" charset="0"/>
                <a:ea typeface="Meiryo" pitchFamily="34" charset="-122"/>
                <a:cs typeface="Meiryo" pitchFamily="34" charset="-120"/>
              </a:rPr>
              <a:t>5</a:t>
            </a:r>
            <a:endParaRPr lang="en-US" sz="900" dirty="0"/>
          </a:p>
        </p:txBody>
      </p:sp>
      <p:graphicFrame>
        <p:nvGraphicFramePr>
          <p:cNvPr id="15" name="Chart 14"/>
          <p:cNvGraphicFramePr>
            <a:graphicFrameLocks noGrp="1"/>
          </p:cNvGraphicFramePr>
          <p:nvPr/>
        </p:nvGraphicFramePr>
        <p:xfrm>
          <a:off x="548640" y="2148840"/>
          <a:ext cx="7406640" cy="3886200"/>
        </p:xfrm>
        <a:graphic>
          <a:graphicData uri="http://schemas.openxmlformats.org/drawingml/2006/chart">
            <c:chart xmlns:c="http://schemas.openxmlformats.org/drawingml/2006/chart" r:id="rId4"/>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502920"/>
            <a:ext cx="10058400" cy="320040"/>
          </a:xfrm>
          <a:prstGeom prst="rect">
            <a:avLst/>
          </a:prstGeom>
          <a:noFill/>
          <a:ln/>
        </p:spPr>
        <p:txBody>
          <a:bodyPr wrap="square" rtlCol="0" anchor="ctr"/>
          <a:lstStyle/>
          <a:p>
            <a:pPr indent="0" marL="0">
              <a:buNone/>
            </a:pPr>
            <a:r>
              <a:rPr lang="en-US" sz="1300" b="1" spc="200" kern="0" dirty="0">
                <a:solidFill>
                  <a:srgbClr val="C0392B"/>
                </a:solidFill>
                <a:latin typeface="Meiryo" pitchFamily="34" charset="0"/>
                <a:ea typeface="Meiryo" pitchFamily="34" charset="-122"/>
                <a:cs typeface="Meiryo" pitchFamily="34" charset="-120"/>
              </a:rPr>
              <a:t>背景④｜全社インパクト</a:t>
            </a:r>
            <a:endParaRPr lang="en-US" sz="1300" dirty="0"/>
          </a:p>
        </p:txBody>
      </p:sp>
      <p:sp>
        <p:nvSpPr>
          <p:cNvPr id="3" name="Text 1"/>
          <p:cNvSpPr/>
          <p:nvPr/>
        </p:nvSpPr>
        <p:spPr>
          <a:xfrm>
            <a:off x="548640" y="841248"/>
            <a:ext cx="11064240" cy="822960"/>
          </a:xfrm>
          <a:prstGeom prst="rect">
            <a:avLst/>
          </a:prstGeom>
          <a:noFill/>
          <a:ln/>
        </p:spPr>
        <p:txBody>
          <a:bodyPr wrap="square" rtlCol="0" anchor="ctr"/>
          <a:lstStyle/>
          <a:p>
            <a:pPr algn="l" indent="0" marL="0">
              <a:buNone/>
            </a:pPr>
            <a:r>
              <a:rPr lang="en-US" sz="3000" b="1" dirty="0">
                <a:solidFill>
                  <a:srgbClr val="1B2A4A"/>
                </a:solidFill>
                <a:latin typeface="Meiryo" pitchFamily="34" charset="0"/>
                <a:ea typeface="Meiryo" pitchFamily="34" charset="-122"/>
                <a:cs typeface="Meiryo" pitchFamily="34" charset="-120"/>
              </a:rPr>
              <a:t>会社の赤字の過半は、成田から出ています</a:t>
            </a:r>
            <a:endParaRPr lang="en-US" sz="3000" dirty="0"/>
          </a:p>
        </p:txBody>
      </p:sp>
      <p:sp>
        <p:nvSpPr>
          <p:cNvPr id="4" name="Shape 2"/>
          <p:cNvSpPr/>
          <p:nvPr/>
        </p:nvSpPr>
        <p:spPr>
          <a:xfrm>
            <a:off x="548640" y="2286000"/>
            <a:ext cx="3657600" cy="3200400"/>
          </a:xfrm>
          <a:prstGeom prst="roundRect">
            <a:avLst>
              <a:gd name="adj" fmla="val 2286"/>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5" name="Text 3"/>
          <p:cNvSpPr/>
          <p:nvPr/>
        </p:nvSpPr>
        <p:spPr>
          <a:xfrm>
            <a:off x="822960" y="2788920"/>
            <a:ext cx="3108960" cy="1280160"/>
          </a:xfrm>
          <a:prstGeom prst="rect">
            <a:avLst/>
          </a:prstGeom>
          <a:noFill/>
          <a:ln/>
        </p:spPr>
        <p:txBody>
          <a:bodyPr wrap="square" rtlCol="0" anchor="ctr"/>
          <a:lstStyle/>
          <a:p>
            <a:pPr algn="ctr" indent="0" marL="0">
              <a:buNone/>
            </a:pPr>
            <a:r>
              <a:rPr lang="en-US" sz="6400" b="1" dirty="0">
                <a:solidFill>
                  <a:srgbClr val="C0392B"/>
                </a:solidFill>
                <a:latin typeface="Meiryo" pitchFamily="34" charset="0"/>
                <a:ea typeface="Meiryo" pitchFamily="34" charset="-122"/>
                <a:cs typeface="Meiryo" pitchFamily="34" charset="-120"/>
              </a:rPr>
              <a:t>30%</a:t>
            </a:r>
            <a:endParaRPr lang="en-US" sz="6400" dirty="0"/>
          </a:p>
        </p:txBody>
      </p:sp>
      <p:sp>
        <p:nvSpPr>
          <p:cNvPr id="6" name="Text 4"/>
          <p:cNvSpPr/>
          <p:nvPr/>
        </p:nvSpPr>
        <p:spPr>
          <a:xfrm>
            <a:off x="822960" y="4160520"/>
            <a:ext cx="3108960" cy="457200"/>
          </a:xfrm>
          <a:prstGeom prst="rect">
            <a:avLst/>
          </a:prstGeom>
          <a:noFill/>
          <a:ln/>
        </p:spPr>
        <p:txBody>
          <a:bodyPr wrap="square" rtlCol="0" anchor="ctr"/>
          <a:lstStyle/>
          <a:p>
            <a:pPr algn="ctr" indent="0" marL="0">
              <a:buNone/>
            </a:pPr>
            <a:r>
              <a:rPr lang="en-US" sz="1800" b="1" dirty="0">
                <a:solidFill>
                  <a:srgbClr val="1F2733"/>
                </a:solidFill>
                <a:latin typeface="Meiryo" pitchFamily="34" charset="0"/>
                <a:ea typeface="Meiryo" pitchFamily="34" charset="-122"/>
                <a:cs typeface="Meiryo" pitchFamily="34" charset="-120"/>
              </a:rPr>
              <a:t>成田・旅客部門</a:t>
            </a:r>
            <a:endParaRPr lang="en-US" sz="1800" dirty="0"/>
          </a:p>
        </p:txBody>
      </p:sp>
      <p:sp>
        <p:nvSpPr>
          <p:cNvPr id="7" name="Text 5"/>
          <p:cNvSpPr/>
          <p:nvPr/>
        </p:nvSpPr>
        <p:spPr>
          <a:xfrm>
            <a:off x="822960" y="4663440"/>
            <a:ext cx="3108960" cy="640080"/>
          </a:xfrm>
          <a:prstGeom prst="rect">
            <a:avLst/>
          </a:prstGeom>
          <a:noFill/>
          <a:ln/>
        </p:spPr>
        <p:txBody>
          <a:bodyPr wrap="square" rtlCol="0" anchor="ctr"/>
          <a:lstStyle/>
          <a:p>
            <a:pPr algn="ctr" indent="0" marL="0">
              <a:lnSpc>
                <a:spcPct val="115000"/>
              </a:lnSpc>
              <a:buNone/>
            </a:pPr>
            <a:r>
              <a:rPr lang="en-US" sz="1250" dirty="0">
                <a:solidFill>
                  <a:srgbClr val="6B7686"/>
                </a:solidFill>
                <a:latin typeface="Meiryo" pitchFamily="34" charset="0"/>
                <a:ea typeface="Meiryo" pitchFamily="34" charset="-122"/>
                <a:cs typeface="Meiryo" pitchFamily="34" charset="-120"/>
              </a:rPr>
              <a:t>全社営業赤字（▲5,800万円/月）に占める割合</a:t>
            </a:r>
            <a:endParaRPr lang="en-US" sz="1250" dirty="0"/>
          </a:p>
        </p:txBody>
      </p:sp>
      <p:sp>
        <p:nvSpPr>
          <p:cNvPr id="8" name="Shape 6"/>
          <p:cNvSpPr/>
          <p:nvPr/>
        </p:nvSpPr>
        <p:spPr>
          <a:xfrm>
            <a:off x="4526280" y="2286000"/>
            <a:ext cx="3657600" cy="3200400"/>
          </a:xfrm>
          <a:prstGeom prst="roundRect">
            <a:avLst>
              <a:gd name="adj" fmla="val 2286"/>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9" name="Text 7"/>
          <p:cNvSpPr/>
          <p:nvPr/>
        </p:nvSpPr>
        <p:spPr>
          <a:xfrm>
            <a:off x="4800600" y="2788920"/>
            <a:ext cx="3108960" cy="1280160"/>
          </a:xfrm>
          <a:prstGeom prst="rect">
            <a:avLst/>
          </a:prstGeom>
          <a:noFill/>
          <a:ln/>
        </p:spPr>
        <p:txBody>
          <a:bodyPr wrap="square" rtlCol="0" anchor="ctr"/>
          <a:lstStyle/>
          <a:p>
            <a:pPr algn="ctr" indent="0" marL="0">
              <a:buNone/>
            </a:pPr>
            <a:r>
              <a:rPr lang="en-US" sz="6400" b="1" dirty="0">
                <a:solidFill>
                  <a:srgbClr val="1B2A4A"/>
                </a:solidFill>
                <a:latin typeface="Meiryo" pitchFamily="34" charset="0"/>
                <a:ea typeface="Meiryo" pitchFamily="34" charset="-122"/>
                <a:cs typeface="Meiryo" pitchFamily="34" charset="-120"/>
              </a:rPr>
              <a:t>58%</a:t>
            </a:r>
            <a:endParaRPr lang="en-US" sz="6400" dirty="0"/>
          </a:p>
        </p:txBody>
      </p:sp>
      <p:sp>
        <p:nvSpPr>
          <p:cNvPr id="10" name="Text 8"/>
          <p:cNvSpPr/>
          <p:nvPr/>
        </p:nvSpPr>
        <p:spPr>
          <a:xfrm>
            <a:off x="4800600" y="4160520"/>
            <a:ext cx="3108960" cy="457200"/>
          </a:xfrm>
          <a:prstGeom prst="rect">
            <a:avLst/>
          </a:prstGeom>
          <a:noFill/>
          <a:ln/>
        </p:spPr>
        <p:txBody>
          <a:bodyPr wrap="square" rtlCol="0" anchor="ctr"/>
          <a:lstStyle/>
          <a:p>
            <a:pPr algn="ctr" indent="0" marL="0">
              <a:buNone/>
            </a:pPr>
            <a:r>
              <a:rPr lang="en-US" sz="1800" b="1" dirty="0">
                <a:solidFill>
                  <a:srgbClr val="1F2733"/>
                </a:solidFill>
                <a:latin typeface="Meiryo" pitchFamily="34" charset="0"/>
                <a:ea typeface="Meiryo" pitchFamily="34" charset="-122"/>
                <a:cs typeface="Meiryo" pitchFamily="34" charset="-120"/>
              </a:rPr>
              <a:t>成田・全部門</a:t>
            </a:r>
            <a:endParaRPr lang="en-US" sz="1800" dirty="0"/>
          </a:p>
        </p:txBody>
      </p:sp>
      <p:sp>
        <p:nvSpPr>
          <p:cNvPr id="11" name="Text 9"/>
          <p:cNvSpPr/>
          <p:nvPr/>
        </p:nvSpPr>
        <p:spPr>
          <a:xfrm>
            <a:off x="4800600" y="4663440"/>
            <a:ext cx="3108960" cy="640080"/>
          </a:xfrm>
          <a:prstGeom prst="rect">
            <a:avLst/>
          </a:prstGeom>
          <a:noFill/>
          <a:ln/>
        </p:spPr>
        <p:txBody>
          <a:bodyPr wrap="square" rtlCol="0" anchor="ctr"/>
          <a:lstStyle/>
          <a:p>
            <a:pPr algn="ctr" indent="0" marL="0">
              <a:lnSpc>
                <a:spcPct val="115000"/>
              </a:lnSpc>
              <a:buNone/>
            </a:pPr>
            <a:r>
              <a:rPr lang="en-US" sz="1250" dirty="0">
                <a:solidFill>
                  <a:srgbClr val="6B7686"/>
                </a:solidFill>
                <a:latin typeface="Meiryo" pitchFamily="34" charset="0"/>
                <a:ea typeface="Meiryo" pitchFamily="34" charset="-122"/>
                <a:cs typeface="Meiryo" pitchFamily="34" charset="-120"/>
              </a:rPr>
              <a:t>会社の赤字の半分以上が成田</a:t>
            </a:r>
            <a:endParaRPr lang="en-US" sz="1250" dirty="0"/>
          </a:p>
        </p:txBody>
      </p:sp>
      <p:sp>
        <p:nvSpPr>
          <p:cNvPr id="12" name="Shape 10"/>
          <p:cNvSpPr/>
          <p:nvPr/>
        </p:nvSpPr>
        <p:spPr>
          <a:xfrm>
            <a:off x="8549640" y="2286000"/>
            <a:ext cx="3090672" cy="3200400"/>
          </a:xfrm>
          <a:prstGeom prst="roundRect">
            <a:avLst>
              <a:gd name="adj" fmla="val 2367"/>
            </a:avLst>
          </a:prstGeom>
          <a:solidFill>
            <a:srgbClr val="1B2A4A"/>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3" name="Shape 11"/>
          <p:cNvSpPr/>
          <p:nvPr/>
        </p:nvSpPr>
        <p:spPr>
          <a:xfrm>
            <a:off x="8549640" y="2286000"/>
            <a:ext cx="3090672" cy="3200400"/>
          </a:xfrm>
          <a:prstGeom prst="rect">
            <a:avLst/>
          </a:prstGeom>
          <a:solidFill>
            <a:srgbClr val="1B2A4A"/>
          </a:solidFill>
          <a:ln/>
        </p:spPr>
        <p:txBody>
          <a:bodyPr/>
          <a:p/>
        </p:txBody>
      </p:sp>
      <p:sp>
        <p:nvSpPr>
          <p:cNvPr id="14" name="Text 12"/>
          <p:cNvSpPr/>
          <p:nvPr/>
        </p:nvSpPr>
        <p:spPr>
          <a:xfrm>
            <a:off x="8823960" y="2560320"/>
            <a:ext cx="2560320" cy="365760"/>
          </a:xfrm>
          <a:prstGeom prst="rect">
            <a:avLst/>
          </a:prstGeom>
          <a:noFill/>
          <a:ln/>
        </p:spPr>
        <p:txBody>
          <a:bodyPr wrap="square" rtlCol="0" anchor="ctr"/>
          <a:lstStyle/>
          <a:p>
            <a:pPr indent="0" marL="0">
              <a:buNone/>
            </a:pPr>
            <a:r>
              <a:rPr lang="en-US" sz="1500" b="1" spc="200" kern="0" dirty="0">
                <a:solidFill>
                  <a:srgbClr val="7C93C6"/>
                </a:solidFill>
                <a:latin typeface="Meiryo" pitchFamily="34" charset="0"/>
                <a:ea typeface="Meiryo" pitchFamily="34" charset="-122"/>
                <a:cs typeface="Meiryo" pitchFamily="34" charset="-120"/>
              </a:rPr>
              <a:t>結論</a:t>
            </a:r>
            <a:endParaRPr lang="en-US" sz="1500" dirty="0"/>
          </a:p>
        </p:txBody>
      </p:sp>
      <p:sp>
        <p:nvSpPr>
          <p:cNvPr id="15" name="Text 13"/>
          <p:cNvSpPr/>
          <p:nvPr/>
        </p:nvSpPr>
        <p:spPr>
          <a:xfrm>
            <a:off x="8823960" y="3063240"/>
            <a:ext cx="2542032" cy="2194560"/>
          </a:xfrm>
          <a:prstGeom prst="rect">
            <a:avLst/>
          </a:prstGeom>
          <a:noFill/>
          <a:ln/>
        </p:spPr>
        <p:txBody>
          <a:bodyPr wrap="square" rtlCol="0" anchor="ctr"/>
          <a:lstStyle/>
          <a:p>
            <a:pPr indent="0" marL="0">
              <a:lnSpc>
                <a:spcPct val="120000"/>
              </a:lnSpc>
              <a:buNone/>
            </a:pPr>
            <a:r>
              <a:rPr lang="en-US" sz="2100" b="1" dirty="0">
                <a:solidFill>
                  <a:srgbClr val="FFFFFF"/>
                </a:solidFill>
                <a:latin typeface="Meiryo" pitchFamily="34" charset="0"/>
                <a:ea typeface="Meiryo" pitchFamily="34" charset="-122"/>
                <a:cs typeface="Meiryo" pitchFamily="34" charset="-120"/>
              </a:rPr>
              <a:t>成田・旅客を直さない限り、全社の収支は直らない。</a:t>
            </a:r>
            <a:endParaRPr lang="en-US" sz="2100" dirty="0"/>
          </a:p>
        </p:txBody>
      </p:sp>
      <p:sp>
        <p:nvSpPr>
          <p:cNvPr id="16" name="Text 14"/>
          <p:cNvSpPr/>
          <p:nvPr/>
        </p:nvSpPr>
        <p:spPr>
          <a:xfrm>
            <a:off x="457200" y="6419088"/>
            <a:ext cx="5486400" cy="274320"/>
          </a:xfrm>
          <a:prstGeom prst="rect">
            <a:avLst/>
          </a:prstGeom>
          <a:noFill/>
          <a:ln/>
        </p:spPr>
        <p:txBody>
          <a:bodyPr wrap="square" rtlCol="0" anchor="ctr"/>
          <a:lstStyle/>
          <a:p>
            <a:pPr algn="l" indent="0" marL="0">
              <a:buNone/>
            </a:pPr>
            <a:r>
              <a:rPr lang="en-US" sz="900" dirty="0">
                <a:solidFill>
                  <a:srgbClr val="6B7686"/>
                </a:solidFill>
                <a:latin typeface="Meiryo" pitchFamily="34" charset="0"/>
                <a:ea typeface="Meiryo" pitchFamily="34" charset="-122"/>
                <a:cs typeface="Meiryo" pitchFamily="34" charset="-120"/>
              </a:rPr>
              <a:t>短時間勤務者採用 説明会</a:t>
            </a:r>
            <a:endParaRPr lang="en-US" sz="900" dirty="0"/>
          </a:p>
        </p:txBody>
      </p:sp>
      <p:sp>
        <p:nvSpPr>
          <p:cNvPr id="17" name="Text 15"/>
          <p:cNvSpPr/>
          <p:nvPr/>
        </p:nvSpPr>
        <p:spPr>
          <a:xfrm>
            <a:off x="11338560" y="6419088"/>
            <a:ext cx="457200" cy="274320"/>
          </a:xfrm>
          <a:prstGeom prst="rect">
            <a:avLst/>
          </a:prstGeom>
          <a:noFill/>
          <a:ln/>
        </p:spPr>
        <p:txBody>
          <a:bodyPr wrap="square" rtlCol="0" anchor="ctr"/>
          <a:lstStyle/>
          <a:p>
            <a:pPr algn="r" indent="0" marL="0">
              <a:buNone/>
            </a:pPr>
            <a:r>
              <a:rPr lang="en-US" sz="900" dirty="0">
                <a:solidFill>
                  <a:srgbClr val="6B7686"/>
                </a:solidFill>
                <a:latin typeface="Meiryo" pitchFamily="34" charset="0"/>
                <a:ea typeface="Meiryo" pitchFamily="34" charset="-122"/>
                <a:cs typeface="Meiryo" pitchFamily="34" charset="-120"/>
              </a:rPr>
              <a:t>6</a:t>
            </a:r>
            <a:endParaRPr lang="en-US" sz="9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078992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300" b="1">
                <a:solidFill>
                  <a:srgbClr val="2E5AAC"/>
                </a:solidFill>
                <a:latin typeface="Meiryo"/>
              </a:rPr>
              <a:t>背景⑤｜時間帯別の需要（実線表より）</a:t>
            </a:r>
          </a:p>
        </p:txBody>
      </p:sp>
      <p:sp>
        <p:nvSpPr>
          <p:cNvPr id="3" name="Rectangle 2"/>
          <p:cNvSpPr/>
          <p:nvPr/>
        </p:nvSpPr>
        <p:spPr>
          <a:xfrm>
            <a:off x="548640" y="841248"/>
            <a:ext cx="1106424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3000" b="1">
                <a:solidFill>
                  <a:srgbClr val="1B2A4A"/>
                </a:solidFill>
                <a:latin typeface="Meiryo"/>
              </a:rPr>
              <a:t>成田の人員需要は、一日を通して一定ではない</a:t>
            </a:r>
          </a:p>
        </p:txBody>
      </p:sp>
      <p:graphicFrame>
        <p:nvGraphicFramePr>
          <p:cNvPr id="4" name="Chart 3"/>
          <p:cNvGraphicFramePr>
            <a:graphicFrameLocks noGrp="1"/>
          </p:cNvGraphicFramePr>
          <p:nvPr/>
        </p:nvGraphicFramePr>
        <p:xfrm>
          <a:off x="502920" y="1965960"/>
          <a:ext cx="7040880" cy="3977639"/>
        </p:xfrm>
        <a:graphic>
          <a:graphicData uri="http://schemas.openxmlformats.org/drawingml/2006/chart">
            <c:chart xmlns:c="http://schemas.openxmlformats.org/drawingml/2006/chart" r:id="rId2"/>
          </a:graphicData>
        </a:graphic>
      </p:graphicFrame>
      <p:sp>
        <p:nvSpPr>
          <p:cNvPr id="5" name="Rectangle 4"/>
          <p:cNvSpPr/>
          <p:nvPr/>
        </p:nvSpPr>
        <p:spPr>
          <a:xfrm>
            <a:off x="7818120" y="2011680"/>
            <a:ext cx="3840480" cy="658368"/>
          </a:xfrm>
          <a:prstGeom prst="rect">
            <a:avLst/>
          </a:prstGeom>
          <a:solidFill>
            <a:srgbClr val="E5ECF7"/>
          </a:solidFill>
          <a:ln w="12700">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300" b="1">
                <a:solidFill>
                  <a:srgbClr val="1F2733"/>
                </a:solidFill>
                <a:latin typeface="Meiryo"/>
              </a:rPr>
              <a:t>朝　　大量の人員が必要</a:t>
            </a:r>
          </a:p>
          <a:p>
            <a:pPr algn="l">
              <a:spcBef>
                <a:spcPts val="0"/>
              </a:spcBef>
              <a:spcAft>
                <a:spcPts val="200"/>
              </a:spcAft>
            </a:pPr>
            <a:r>
              <a:rPr sz="1300" b="1">
                <a:solidFill>
                  <a:srgbClr val="1F2733"/>
                </a:solidFill>
                <a:latin typeface="Meiryo"/>
              </a:rPr>
              <a:t>CTR OPEN 05:55〜、到着が集中</a:t>
            </a:r>
          </a:p>
        </p:txBody>
      </p:sp>
      <p:sp>
        <p:nvSpPr>
          <p:cNvPr id="6" name="Rectangle 5"/>
          <p:cNvSpPr/>
          <p:nvPr/>
        </p:nvSpPr>
        <p:spPr>
          <a:xfrm>
            <a:off x="7818120" y="2761488"/>
            <a:ext cx="3840480" cy="658368"/>
          </a:xfrm>
          <a:prstGeom prst="rect">
            <a:avLst/>
          </a:prstGeom>
          <a:solidFill>
            <a:srgbClr val="F3F4F7"/>
          </a:solidFill>
          <a:ln w="12700">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300" b="1">
                <a:solidFill>
                  <a:srgbClr val="1F2733"/>
                </a:solidFill>
                <a:latin typeface="Meiryo"/>
              </a:rPr>
              <a:t>12時以降　必要人員が急減</a:t>
            </a:r>
          </a:p>
          <a:p>
            <a:pPr algn="l">
              <a:spcBef>
                <a:spcPts val="0"/>
              </a:spcBef>
              <a:spcAft>
                <a:spcPts val="200"/>
              </a:spcAft>
            </a:pPr>
            <a:r>
              <a:rPr sz="1300" b="1">
                <a:solidFill>
                  <a:srgbClr val="1F2733"/>
                </a:solidFill>
                <a:latin typeface="Meiryo"/>
              </a:rPr>
              <a:t>夕方まで低水準が続く</a:t>
            </a:r>
          </a:p>
        </p:txBody>
      </p:sp>
      <p:sp>
        <p:nvSpPr>
          <p:cNvPr id="7" name="Rectangle 6"/>
          <p:cNvSpPr/>
          <p:nvPr/>
        </p:nvSpPr>
        <p:spPr>
          <a:xfrm>
            <a:off x="7818120" y="3511296"/>
            <a:ext cx="3840480" cy="658368"/>
          </a:xfrm>
          <a:prstGeom prst="rect">
            <a:avLst/>
          </a:prstGeom>
          <a:solidFill>
            <a:srgbClr val="F3F4F7"/>
          </a:solidFill>
          <a:ln w="12700">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300" b="1">
                <a:solidFill>
                  <a:srgbClr val="1F2733"/>
                </a:solidFill>
                <a:latin typeface="Meiryo"/>
              </a:rPr>
              <a:t>一方 フルタイム社員は月166時間</a:t>
            </a:r>
          </a:p>
          <a:p>
            <a:pPr algn="l">
              <a:spcBef>
                <a:spcPts val="0"/>
              </a:spcBef>
              <a:spcAft>
                <a:spcPts val="200"/>
              </a:spcAft>
            </a:pPr>
            <a:r>
              <a:rPr sz="1300" b="1">
                <a:solidFill>
                  <a:srgbClr val="1F2733"/>
                </a:solidFill>
                <a:latin typeface="Meiryo"/>
              </a:rPr>
              <a:t>朝のピーク後も勤務時間が残る</a:t>
            </a:r>
          </a:p>
        </p:txBody>
      </p:sp>
      <p:sp>
        <p:nvSpPr>
          <p:cNvPr id="8" name="Rounded Rectangle 7"/>
          <p:cNvSpPr/>
          <p:nvPr/>
        </p:nvSpPr>
        <p:spPr>
          <a:xfrm>
            <a:off x="7818120" y="4434840"/>
            <a:ext cx="3840480" cy="96012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200"/>
              </a:spcAft>
            </a:pPr>
            <a:r>
              <a:rPr sz="1700" b="1">
                <a:solidFill>
                  <a:srgbClr val="FFFFFF"/>
                </a:solidFill>
                <a:latin typeface="Meiryo"/>
              </a:rPr>
              <a:t>需要の形と、</a:t>
            </a:r>
          </a:p>
          <a:p>
            <a:pPr algn="ctr">
              <a:spcBef>
                <a:spcPts val="0"/>
              </a:spcBef>
              <a:spcAft>
                <a:spcPts val="200"/>
              </a:spcAft>
            </a:pPr>
            <a:r>
              <a:rPr sz="1700" b="1">
                <a:solidFill>
                  <a:srgbClr val="FFFFFF"/>
                </a:solidFill>
                <a:latin typeface="Meiryo"/>
              </a:rPr>
              <a:t>雇用の形は合っているか？</a:t>
            </a:r>
          </a:p>
        </p:txBody>
      </p:sp>
      <p:sp>
        <p:nvSpPr>
          <p:cNvPr id="9" name="Rectangle 8"/>
          <p:cNvSpPr/>
          <p:nvPr/>
        </p:nvSpPr>
        <p:spPr>
          <a:xfrm>
            <a:off x="502920" y="5989320"/>
            <a:ext cx="70408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900" b="0">
                <a:solidFill>
                  <a:srgbClr val="9AA6B8"/>
                </a:solidFill>
                <a:latin typeface="Meiryo"/>
              </a:rPr>
              <a:t>※ 成田空港事業部がハンドリングを担当する便の同時稼働数（CTR OPEN〜出発）。出典：週間線表。</a:t>
            </a:r>
          </a:p>
        </p:txBody>
      </p:sp>
      <p:sp>
        <p:nvSpPr>
          <p:cNvPr id="10" name="Rectangle 9"/>
          <p:cNvSpPr/>
          <p:nvPr/>
        </p:nvSpPr>
        <p:spPr>
          <a:xfrm>
            <a:off x="457200" y="6419088"/>
            <a:ext cx="5486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900" b="0">
                <a:solidFill>
                  <a:srgbClr val="6B7686"/>
                </a:solidFill>
                <a:latin typeface="Meiryo"/>
              </a:rPr>
              <a:t>短時間勤務者採用 説明会</a:t>
            </a:r>
          </a:p>
        </p:txBody>
      </p:sp>
      <p:sp>
        <p:nvSpPr>
          <p:cNvPr id="11" name="Rectangle 10"/>
          <p:cNvSpPr/>
          <p:nvPr/>
        </p:nvSpPr>
        <p:spPr>
          <a:xfrm>
            <a:off x="11155680" y="6419088"/>
            <a:ext cx="6400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r">
              <a:spcBef>
                <a:spcPts val="0"/>
              </a:spcBef>
              <a:spcAft>
                <a:spcPts val="200"/>
              </a:spcAft>
            </a:pPr>
            <a:r>
              <a:rPr sz="900" b="0">
                <a:solidFill>
                  <a:srgbClr val="6B7686"/>
                </a:solidFill>
                <a:latin typeface="Meiryo"/>
              </a:rPr>
              <a:t>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078992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300" b="1">
                <a:solidFill>
                  <a:srgbClr val="2E5AAC"/>
                </a:solidFill>
                <a:latin typeface="Meiryo"/>
              </a:rPr>
              <a:t>背景⑤｜補足：便ごとの地上作業帯</a:t>
            </a:r>
          </a:p>
        </p:txBody>
      </p:sp>
      <p:sp>
        <p:nvSpPr>
          <p:cNvPr id="3" name="Rectangle 2"/>
          <p:cNvSpPr/>
          <p:nvPr/>
        </p:nvSpPr>
        <p:spPr>
          <a:xfrm>
            <a:off x="548640" y="841248"/>
            <a:ext cx="1106424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3000" b="1">
                <a:solidFill>
                  <a:srgbClr val="1B2A4A"/>
                </a:solidFill>
                <a:latin typeface="Meiryo"/>
              </a:rPr>
              <a:t>朝に便が集中している（便ごとの作業時間帯）</a:t>
            </a:r>
          </a:p>
        </p:txBody>
      </p:sp>
      <p:sp>
        <p:nvSpPr>
          <p:cNvPr id="4" name="Rectangle 3"/>
          <p:cNvSpPr/>
          <p:nvPr/>
        </p:nvSpPr>
        <p:spPr>
          <a:xfrm>
            <a:off x="2148840" y="2148840"/>
            <a:ext cx="9144" cy="370332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920240" y="1874520"/>
            <a:ext cx="4572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5</a:t>
            </a:r>
          </a:p>
        </p:txBody>
      </p:sp>
      <p:sp>
        <p:nvSpPr>
          <p:cNvPr id="6" name="Rectangle 5"/>
          <p:cNvSpPr/>
          <p:nvPr/>
        </p:nvSpPr>
        <p:spPr>
          <a:xfrm>
            <a:off x="2776728" y="2148840"/>
            <a:ext cx="9144" cy="370332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48128" y="1874520"/>
            <a:ext cx="4572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6</a:t>
            </a:r>
          </a:p>
        </p:txBody>
      </p:sp>
      <p:sp>
        <p:nvSpPr>
          <p:cNvPr id="8" name="Rectangle 7"/>
          <p:cNvSpPr/>
          <p:nvPr/>
        </p:nvSpPr>
        <p:spPr>
          <a:xfrm>
            <a:off x="3404616" y="2148840"/>
            <a:ext cx="9144" cy="370332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176016" y="1874520"/>
            <a:ext cx="4572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7</a:t>
            </a:r>
          </a:p>
        </p:txBody>
      </p:sp>
      <p:sp>
        <p:nvSpPr>
          <p:cNvPr id="10" name="Rectangle 9"/>
          <p:cNvSpPr/>
          <p:nvPr/>
        </p:nvSpPr>
        <p:spPr>
          <a:xfrm>
            <a:off x="4032504" y="2148840"/>
            <a:ext cx="9144" cy="370332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803904" y="1874520"/>
            <a:ext cx="4572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8</a:t>
            </a:r>
          </a:p>
        </p:txBody>
      </p:sp>
      <p:sp>
        <p:nvSpPr>
          <p:cNvPr id="12" name="Rectangle 11"/>
          <p:cNvSpPr/>
          <p:nvPr/>
        </p:nvSpPr>
        <p:spPr>
          <a:xfrm>
            <a:off x="4660392" y="2148840"/>
            <a:ext cx="9144" cy="370332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31792" y="1874520"/>
            <a:ext cx="4572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9</a:t>
            </a:r>
          </a:p>
        </p:txBody>
      </p:sp>
      <p:sp>
        <p:nvSpPr>
          <p:cNvPr id="14" name="Rectangle 13"/>
          <p:cNvSpPr/>
          <p:nvPr/>
        </p:nvSpPr>
        <p:spPr>
          <a:xfrm>
            <a:off x="5288280" y="2148840"/>
            <a:ext cx="9144" cy="370332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59680" y="1874520"/>
            <a:ext cx="4572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10</a:t>
            </a:r>
          </a:p>
        </p:txBody>
      </p:sp>
      <p:sp>
        <p:nvSpPr>
          <p:cNvPr id="16" name="Rectangle 15"/>
          <p:cNvSpPr/>
          <p:nvPr/>
        </p:nvSpPr>
        <p:spPr>
          <a:xfrm>
            <a:off x="5916168" y="2148840"/>
            <a:ext cx="9144" cy="370332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87568" y="1874520"/>
            <a:ext cx="4572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11</a:t>
            </a:r>
          </a:p>
        </p:txBody>
      </p:sp>
      <p:sp>
        <p:nvSpPr>
          <p:cNvPr id="18" name="Rectangle 17"/>
          <p:cNvSpPr/>
          <p:nvPr/>
        </p:nvSpPr>
        <p:spPr>
          <a:xfrm>
            <a:off x="6544056" y="2148840"/>
            <a:ext cx="9144" cy="370332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15456" y="1874520"/>
            <a:ext cx="4572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12</a:t>
            </a:r>
          </a:p>
        </p:txBody>
      </p:sp>
      <p:sp>
        <p:nvSpPr>
          <p:cNvPr id="20" name="Rectangle 19"/>
          <p:cNvSpPr/>
          <p:nvPr/>
        </p:nvSpPr>
        <p:spPr>
          <a:xfrm>
            <a:off x="7171944" y="2148840"/>
            <a:ext cx="9144" cy="370332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43344" y="1874520"/>
            <a:ext cx="4572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13</a:t>
            </a:r>
          </a:p>
        </p:txBody>
      </p:sp>
      <p:sp>
        <p:nvSpPr>
          <p:cNvPr id="22" name="Rectangle 21"/>
          <p:cNvSpPr/>
          <p:nvPr/>
        </p:nvSpPr>
        <p:spPr>
          <a:xfrm>
            <a:off x="7799832" y="2148840"/>
            <a:ext cx="9144" cy="370332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71232" y="1874520"/>
            <a:ext cx="4572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14</a:t>
            </a:r>
          </a:p>
        </p:txBody>
      </p:sp>
      <p:sp>
        <p:nvSpPr>
          <p:cNvPr id="24" name="Rectangle 23"/>
          <p:cNvSpPr/>
          <p:nvPr/>
        </p:nvSpPr>
        <p:spPr>
          <a:xfrm>
            <a:off x="8427720" y="2148840"/>
            <a:ext cx="9144" cy="370332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99120" y="1874520"/>
            <a:ext cx="4572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15</a:t>
            </a:r>
          </a:p>
        </p:txBody>
      </p:sp>
      <p:sp>
        <p:nvSpPr>
          <p:cNvPr id="26" name="Rectangle 25"/>
          <p:cNvSpPr/>
          <p:nvPr/>
        </p:nvSpPr>
        <p:spPr>
          <a:xfrm>
            <a:off x="9055608" y="2148840"/>
            <a:ext cx="9144" cy="370332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27008" y="1874520"/>
            <a:ext cx="4572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16</a:t>
            </a:r>
          </a:p>
        </p:txBody>
      </p:sp>
      <p:sp>
        <p:nvSpPr>
          <p:cNvPr id="28" name="Rectangle 27"/>
          <p:cNvSpPr/>
          <p:nvPr/>
        </p:nvSpPr>
        <p:spPr>
          <a:xfrm>
            <a:off x="9683496" y="2148840"/>
            <a:ext cx="9144" cy="370332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454896" y="1874520"/>
            <a:ext cx="4572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17</a:t>
            </a:r>
          </a:p>
        </p:txBody>
      </p:sp>
      <p:sp>
        <p:nvSpPr>
          <p:cNvPr id="30" name="Rectangle 29"/>
          <p:cNvSpPr/>
          <p:nvPr/>
        </p:nvSpPr>
        <p:spPr>
          <a:xfrm>
            <a:off x="10311384" y="2148840"/>
            <a:ext cx="9144" cy="370332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082784" y="1874520"/>
            <a:ext cx="4572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18</a:t>
            </a:r>
          </a:p>
        </p:txBody>
      </p:sp>
      <p:sp>
        <p:nvSpPr>
          <p:cNvPr id="32" name="Rectangle 31"/>
          <p:cNvSpPr/>
          <p:nvPr/>
        </p:nvSpPr>
        <p:spPr>
          <a:xfrm>
            <a:off x="10939272" y="2148840"/>
            <a:ext cx="9144" cy="370332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710672" y="1874520"/>
            <a:ext cx="4572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19</a:t>
            </a:r>
          </a:p>
        </p:txBody>
      </p:sp>
      <p:sp>
        <p:nvSpPr>
          <p:cNvPr id="34" name="Rectangle 33"/>
          <p:cNvSpPr/>
          <p:nvPr/>
        </p:nvSpPr>
        <p:spPr>
          <a:xfrm>
            <a:off x="11567160" y="2148840"/>
            <a:ext cx="9144" cy="370332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338560" y="1874520"/>
            <a:ext cx="4572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22</a:t>
            </a:r>
          </a:p>
        </p:txBody>
      </p:sp>
      <p:sp>
        <p:nvSpPr>
          <p:cNvPr id="36" name="Rectangle 35"/>
          <p:cNvSpPr/>
          <p:nvPr/>
        </p:nvSpPr>
        <p:spPr>
          <a:xfrm>
            <a:off x="6544056" y="2148840"/>
            <a:ext cx="15240" cy="3703320"/>
          </a:xfrm>
          <a:prstGeom prst="rect">
            <a:avLst/>
          </a:prstGeom>
          <a:solidFill>
            <a:srgbClr val="9AA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2920" y="2170230"/>
            <a:ext cx="1600200" cy="2111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Bef>
                <a:spcPts val="0"/>
              </a:spcBef>
              <a:spcAft>
                <a:spcPts val="200"/>
              </a:spcAft>
            </a:pPr>
            <a:r>
              <a:rPr sz="900" b="0">
                <a:solidFill>
                  <a:srgbClr val="1F2733"/>
                </a:solidFill>
                <a:latin typeface="Meiryo"/>
              </a:rPr>
              <a:t>VJ VJ822/823</a:t>
            </a:r>
          </a:p>
        </p:txBody>
      </p:sp>
      <p:sp>
        <p:nvSpPr>
          <p:cNvPr id="38" name="Rounded Rectangle 37"/>
          <p:cNvSpPr/>
          <p:nvPr/>
        </p:nvSpPr>
        <p:spPr>
          <a:xfrm>
            <a:off x="2724404" y="2188518"/>
            <a:ext cx="1883664" cy="174585"/>
          </a:xfrm>
          <a:prstGeom prst="roundRect">
            <a:avLst>
              <a:gd name="adj" fmla="val 35000"/>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 y="2434753"/>
            <a:ext cx="1600200" cy="2111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Bef>
                <a:spcPts val="0"/>
              </a:spcBef>
              <a:spcAft>
                <a:spcPts val="200"/>
              </a:spcAft>
            </a:pPr>
            <a:r>
              <a:rPr sz="900" b="0">
                <a:solidFill>
                  <a:srgbClr val="1F2733"/>
                </a:solidFill>
                <a:latin typeface="Meiryo"/>
              </a:rPr>
              <a:t>5J 5J5062/063</a:t>
            </a:r>
          </a:p>
        </p:txBody>
      </p:sp>
      <p:sp>
        <p:nvSpPr>
          <p:cNvPr id="40" name="Rounded Rectangle 39"/>
          <p:cNvSpPr/>
          <p:nvPr/>
        </p:nvSpPr>
        <p:spPr>
          <a:xfrm>
            <a:off x="2724404" y="2453041"/>
            <a:ext cx="1883664" cy="174585"/>
          </a:xfrm>
          <a:prstGeom prst="roundRect">
            <a:avLst>
              <a:gd name="adj" fmla="val 35000"/>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02920" y="2699276"/>
            <a:ext cx="1600200" cy="2111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Bef>
                <a:spcPts val="0"/>
              </a:spcBef>
              <a:spcAft>
                <a:spcPts val="200"/>
              </a:spcAft>
            </a:pPr>
            <a:r>
              <a:rPr sz="900" b="0">
                <a:solidFill>
                  <a:srgbClr val="1F2733"/>
                </a:solidFill>
                <a:latin typeface="Meiryo"/>
              </a:rPr>
              <a:t>VN VN318/319</a:t>
            </a:r>
          </a:p>
        </p:txBody>
      </p:sp>
      <p:sp>
        <p:nvSpPr>
          <p:cNvPr id="42" name="Rounded Rectangle 41"/>
          <p:cNvSpPr/>
          <p:nvPr/>
        </p:nvSpPr>
        <p:spPr>
          <a:xfrm>
            <a:off x="2776728" y="2717564"/>
            <a:ext cx="1883664" cy="174585"/>
          </a:xfrm>
          <a:prstGeom prst="roundRect">
            <a:avLst>
              <a:gd name="adj" fmla="val 35000"/>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02920" y="2963799"/>
            <a:ext cx="1600200" cy="2111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Bef>
                <a:spcPts val="0"/>
              </a:spcBef>
              <a:spcAft>
                <a:spcPts val="200"/>
              </a:spcAft>
            </a:pPr>
            <a:r>
              <a:rPr sz="900" b="0">
                <a:solidFill>
                  <a:srgbClr val="1F2733"/>
                </a:solidFill>
                <a:latin typeface="Meiryo"/>
              </a:rPr>
              <a:t>AM AM058/057</a:t>
            </a:r>
          </a:p>
        </p:txBody>
      </p:sp>
      <p:sp>
        <p:nvSpPr>
          <p:cNvPr id="44" name="Rounded Rectangle 43"/>
          <p:cNvSpPr/>
          <p:nvPr/>
        </p:nvSpPr>
        <p:spPr>
          <a:xfrm>
            <a:off x="3090672" y="2982087"/>
            <a:ext cx="1935988" cy="174585"/>
          </a:xfrm>
          <a:prstGeom prst="roundRect">
            <a:avLst>
              <a:gd name="adj" fmla="val 35000"/>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 y="3228321"/>
            <a:ext cx="1600200" cy="2111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Bef>
                <a:spcPts val="0"/>
              </a:spcBef>
              <a:spcAft>
                <a:spcPts val="200"/>
              </a:spcAft>
            </a:pPr>
            <a:r>
              <a:rPr sz="900" b="0">
                <a:solidFill>
                  <a:srgbClr val="1F2733"/>
                </a:solidFill>
                <a:latin typeface="Meiryo"/>
              </a:rPr>
              <a:t>VN VN310/311</a:t>
            </a:r>
          </a:p>
        </p:txBody>
      </p:sp>
      <p:sp>
        <p:nvSpPr>
          <p:cNvPr id="46" name="Rounded Rectangle 45"/>
          <p:cNvSpPr/>
          <p:nvPr/>
        </p:nvSpPr>
        <p:spPr>
          <a:xfrm>
            <a:off x="3090672" y="3246609"/>
            <a:ext cx="1883664" cy="174585"/>
          </a:xfrm>
          <a:prstGeom prst="roundRect">
            <a:avLst>
              <a:gd name="adj" fmla="val 35000"/>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02920" y="3492844"/>
            <a:ext cx="1600200" cy="2111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Bef>
                <a:spcPts val="0"/>
              </a:spcBef>
              <a:spcAft>
                <a:spcPts val="200"/>
              </a:spcAft>
            </a:pPr>
            <a:r>
              <a:rPr sz="900" b="0">
                <a:solidFill>
                  <a:srgbClr val="1F2733"/>
                </a:solidFill>
                <a:latin typeface="Meiryo"/>
              </a:rPr>
              <a:t>VJ VJ932/933</a:t>
            </a:r>
          </a:p>
        </p:txBody>
      </p:sp>
      <p:sp>
        <p:nvSpPr>
          <p:cNvPr id="48" name="Rounded Rectangle 47"/>
          <p:cNvSpPr/>
          <p:nvPr/>
        </p:nvSpPr>
        <p:spPr>
          <a:xfrm>
            <a:off x="3090672" y="3511132"/>
            <a:ext cx="1883664" cy="174585"/>
          </a:xfrm>
          <a:prstGeom prst="roundRect">
            <a:avLst>
              <a:gd name="adj" fmla="val 35000"/>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2920" y="3757367"/>
            <a:ext cx="1600200" cy="2111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Bef>
                <a:spcPts val="0"/>
              </a:spcBef>
              <a:spcAft>
                <a:spcPts val="200"/>
              </a:spcAft>
            </a:pPr>
            <a:r>
              <a:rPr sz="900" b="0">
                <a:solidFill>
                  <a:srgbClr val="1F2733"/>
                </a:solidFill>
                <a:latin typeface="Meiryo"/>
              </a:rPr>
              <a:t>VN VN306/307</a:t>
            </a:r>
          </a:p>
        </p:txBody>
      </p:sp>
      <p:sp>
        <p:nvSpPr>
          <p:cNvPr id="50" name="Rounded Rectangle 49"/>
          <p:cNvSpPr/>
          <p:nvPr/>
        </p:nvSpPr>
        <p:spPr>
          <a:xfrm>
            <a:off x="3090672" y="3775655"/>
            <a:ext cx="1883664" cy="174585"/>
          </a:xfrm>
          <a:prstGeom prst="roundRect">
            <a:avLst>
              <a:gd name="adj" fmla="val 35000"/>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02920" y="4021890"/>
            <a:ext cx="1600200" cy="2111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Bef>
                <a:spcPts val="0"/>
              </a:spcBef>
              <a:spcAft>
                <a:spcPts val="200"/>
              </a:spcAft>
            </a:pPr>
            <a:r>
              <a:rPr sz="900" b="0">
                <a:solidFill>
                  <a:srgbClr val="1F2733"/>
                </a:solidFill>
                <a:latin typeface="Meiryo"/>
              </a:rPr>
              <a:t>VN VN316/317</a:t>
            </a:r>
          </a:p>
        </p:txBody>
      </p:sp>
      <p:sp>
        <p:nvSpPr>
          <p:cNvPr id="52" name="Rounded Rectangle 51"/>
          <p:cNvSpPr/>
          <p:nvPr/>
        </p:nvSpPr>
        <p:spPr>
          <a:xfrm>
            <a:off x="3718560" y="4040178"/>
            <a:ext cx="1883664" cy="174585"/>
          </a:xfrm>
          <a:prstGeom prst="roundRect">
            <a:avLst>
              <a:gd name="adj" fmla="val 35000"/>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02920" y="4286413"/>
            <a:ext cx="1600200" cy="2111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Bef>
                <a:spcPts val="0"/>
              </a:spcBef>
              <a:spcAft>
                <a:spcPts val="200"/>
              </a:spcAft>
            </a:pPr>
            <a:r>
              <a:rPr sz="900" b="0">
                <a:solidFill>
                  <a:srgbClr val="1F2733"/>
                </a:solidFill>
                <a:latin typeface="Meiryo"/>
              </a:rPr>
              <a:t>UL UL454/455</a:t>
            </a:r>
          </a:p>
        </p:txBody>
      </p:sp>
      <p:sp>
        <p:nvSpPr>
          <p:cNvPr id="54" name="Rounded Rectangle 53"/>
          <p:cNvSpPr/>
          <p:nvPr/>
        </p:nvSpPr>
        <p:spPr>
          <a:xfrm>
            <a:off x="4137152" y="4304701"/>
            <a:ext cx="1935988" cy="174585"/>
          </a:xfrm>
          <a:prstGeom prst="roundRect">
            <a:avLst>
              <a:gd name="adj" fmla="val 35000"/>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2920" y="4550936"/>
            <a:ext cx="1600200" cy="2111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Bef>
                <a:spcPts val="0"/>
              </a:spcBef>
              <a:spcAft>
                <a:spcPts val="200"/>
              </a:spcAft>
            </a:pPr>
            <a:r>
              <a:rPr sz="900" b="0">
                <a:solidFill>
                  <a:srgbClr val="1F2733"/>
                </a:solidFill>
                <a:latin typeface="Meiryo"/>
              </a:rPr>
              <a:t>RF RF392/391</a:t>
            </a:r>
          </a:p>
        </p:txBody>
      </p:sp>
      <p:sp>
        <p:nvSpPr>
          <p:cNvPr id="56" name="Rounded Rectangle 55"/>
          <p:cNvSpPr/>
          <p:nvPr/>
        </p:nvSpPr>
        <p:spPr>
          <a:xfrm>
            <a:off x="4137152" y="4569224"/>
            <a:ext cx="1569720" cy="174585"/>
          </a:xfrm>
          <a:prstGeom prst="roundRect">
            <a:avLst>
              <a:gd name="adj" fmla="val 35000"/>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02920" y="4815458"/>
            <a:ext cx="1600200" cy="2111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Bef>
                <a:spcPts val="0"/>
              </a:spcBef>
              <a:spcAft>
                <a:spcPts val="200"/>
              </a:spcAft>
            </a:pPr>
            <a:r>
              <a:rPr sz="900" b="0">
                <a:solidFill>
                  <a:srgbClr val="1F2733"/>
                </a:solidFill>
                <a:latin typeface="Meiryo"/>
              </a:rPr>
              <a:t>5J 5J5068/069</a:t>
            </a:r>
          </a:p>
        </p:txBody>
      </p:sp>
      <p:sp>
        <p:nvSpPr>
          <p:cNvPr id="58" name="Rounded Rectangle 57"/>
          <p:cNvSpPr/>
          <p:nvPr/>
        </p:nvSpPr>
        <p:spPr>
          <a:xfrm>
            <a:off x="4189476" y="4833746"/>
            <a:ext cx="1883664" cy="174585"/>
          </a:xfrm>
          <a:prstGeom prst="roundRect">
            <a:avLst>
              <a:gd name="adj" fmla="val 35000"/>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02920" y="5079981"/>
            <a:ext cx="1600200" cy="2111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Bef>
                <a:spcPts val="0"/>
              </a:spcBef>
              <a:spcAft>
                <a:spcPts val="200"/>
              </a:spcAft>
            </a:pPr>
            <a:r>
              <a:rPr sz="900" b="0">
                <a:solidFill>
                  <a:srgbClr val="1F2733"/>
                </a:solidFill>
                <a:latin typeface="Meiryo"/>
              </a:rPr>
              <a:t>5J 5J5054/055</a:t>
            </a:r>
          </a:p>
        </p:txBody>
      </p:sp>
      <p:sp>
        <p:nvSpPr>
          <p:cNvPr id="60" name="Rounded Rectangle 59"/>
          <p:cNvSpPr/>
          <p:nvPr/>
        </p:nvSpPr>
        <p:spPr>
          <a:xfrm>
            <a:off x="5759196" y="5098269"/>
            <a:ext cx="1883664" cy="174585"/>
          </a:xfrm>
          <a:prstGeom prst="roundRect">
            <a:avLst>
              <a:gd name="adj" fmla="val 35000"/>
            </a:avLst>
          </a:prstGeom>
          <a:solidFill>
            <a:srgbClr val="D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02920" y="5344504"/>
            <a:ext cx="1600200" cy="2111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Bef>
                <a:spcPts val="0"/>
              </a:spcBef>
              <a:spcAft>
                <a:spcPts val="200"/>
              </a:spcAft>
            </a:pPr>
            <a:r>
              <a:rPr sz="900" b="0">
                <a:solidFill>
                  <a:srgbClr val="1F2733"/>
                </a:solidFill>
                <a:latin typeface="Meiryo"/>
              </a:rPr>
              <a:t>VJ VJ934/935</a:t>
            </a:r>
          </a:p>
        </p:txBody>
      </p:sp>
      <p:sp>
        <p:nvSpPr>
          <p:cNvPr id="62" name="Rounded Rectangle 61"/>
          <p:cNvSpPr/>
          <p:nvPr/>
        </p:nvSpPr>
        <p:spPr>
          <a:xfrm>
            <a:off x="7485888" y="5362792"/>
            <a:ext cx="1883664" cy="174585"/>
          </a:xfrm>
          <a:prstGeom prst="roundRect">
            <a:avLst>
              <a:gd name="adj" fmla="val 35000"/>
            </a:avLst>
          </a:prstGeom>
          <a:solidFill>
            <a:srgbClr val="B88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502920" y="5609027"/>
            <a:ext cx="1600200" cy="2111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Bef>
                <a:spcPts val="0"/>
              </a:spcBef>
              <a:spcAft>
                <a:spcPts val="200"/>
              </a:spcAft>
            </a:pPr>
            <a:r>
              <a:rPr sz="900" b="0">
                <a:solidFill>
                  <a:srgbClr val="1F2733"/>
                </a:solidFill>
                <a:latin typeface="Meiryo"/>
              </a:rPr>
              <a:t>5J 5J5056/057</a:t>
            </a:r>
          </a:p>
        </p:txBody>
      </p:sp>
      <p:sp>
        <p:nvSpPr>
          <p:cNvPr id="64" name="Rounded Rectangle 63"/>
          <p:cNvSpPr/>
          <p:nvPr/>
        </p:nvSpPr>
        <p:spPr>
          <a:xfrm>
            <a:off x="9212580" y="5627315"/>
            <a:ext cx="1883663" cy="174585"/>
          </a:xfrm>
          <a:prstGeom prst="roundRect">
            <a:avLst>
              <a:gd name="adj" fmla="val 35000"/>
            </a:avLst>
          </a:prstGeom>
          <a:solidFill>
            <a:srgbClr val="B88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2148840" y="5943600"/>
            <a:ext cx="94183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000" b="0">
                <a:solidFill>
                  <a:srgbClr val="6B7686"/>
                </a:solidFill>
                <a:latin typeface="Meiryo"/>
              </a:rPr>
              <a:t>各バー＝CTR OPEN〜出発（STD）。青＝朝便、橙＝昼・夕便。12時（灰線）以降はほぼ空く。</a:t>
            </a:r>
          </a:p>
        </p:txBody>
      </p:sp>
      <p:sp>
        <p:nvSpPr>
          <p:cNvPr id="66" name="Rectangle 65"/>
          <p:cNvSpPr/>
          <p:nvPr/>
        </p:nvSpPr>
        <p:spPr>
          <a:xfrm>
            <a:off x="502920" y="6053328"/>
            <a:ext cx="10972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900" b="0">
                <a:solidFill>
                  <a:srgbClr val="9AA6B8"/>
                </a:solidFill>
                <a:latin typeface="Meiryo"/>
              </a:rPr>
              <a:t>出典：週間線表（成田空港事業部ハンドリング便）。UL＝火・木・土運航。</a:t>
            </a:r>
          </a:p>
        </p:txBody>
      </p:sp>
      <p:sp>
        <p:nvSpPr>
          <p:cNvPr id="67" name="Rectangle 66"/>
          <p:cNvSpPr/>
          <p:nvPr/>
        </p:nvSpPr>
        <p:spPr>
          <a:xfrm>
            <a:off x="457200" y="6419088"/>
            <a:ext cx="5486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900" b="0">
                <a:solidFill>
                  <a:srgbClr val="6B7686"/>
                </a:solidFill>
                <a:latin typeface="Meiryo"/>
              </a:rPr>
              <a:t>短時間勤務者採用 説明会</a:t>
            </a:r>
          </a:p>
        </p:txBody>
      </p:sp>
      <p:sp>
        <p:nvSpPr>
          <p:cNvPr id="68" name="Rectangle 67"/>
          <p:cNvSpPr/>
          <p:nvPr/>
        </p:nvSpPr>
        <p:spPr>
          <a:xfrm>
            <a:off x="11155680" y="6419088"/>
            <a:ext cx="6400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r">
              <a:spcBef>
                <a:spcPts val="0"/>
              </a:spcBef>
              <a:spcAft>
                <a:spcPts val="200"/>
              </a:spcAft>
            </a:pPr>
            <a:r>
              <a:rPr sz="900" b="0">
                <a:solidFill>
                  <a:srgbClr val="6B7686"/>
                </a:solidFill>
                <a:latin typeface="Meiryo"/>
              </a:rPr>
              <a:t>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078992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300" b="1">
                <a:solidFill>
                  <a:srgbClr val="2E5AAC"/>
                </a:solidFill>
                <a:latin typeface="Meiryo"/>
              </a:rPr>
              <a:t>現場での活用｜配置候補便（人事部案）</a:t>
            </a:r>
          </a:p>
        </p:txBody>
      </p:sp>
      <p:sp>
        <p:nvSpPr>
          <p:cNvPr id="3" name="Rectangle 2"/>
          <p:cNvSpPr/>
          <p:nvPr/>
        </p:nvSpPr>
        <p:spPr>
          <a:xfrm>
            <a:off x="548640" y="841248"/>
            <a:ext cx="1106424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3000" b="1">
                <a:solidFill>
                  <a:srgbClr val="1B2A4A"/>
                </a:solidFill>
                <a:latin typeface="Meiryo"/>
              </a:rPr>
              <a:t>短時間勤務者の配置候補便</a:t>
            </a:r>
          </a:p>
        </p:txBody>
      </p:sp>
      <p:sp>
        <p:nvSpPr>
          <p:cNvPr id="4" name="Rectangle 3"/>
          <p:cNvSpPr/>
          <p:nvPr/>
        </p:nvSpPr>
        <p:spPr>
          <a:xfrm>
            <a:off x="6126480" y="960120"/>
            <a:ext cx="54864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Bef>
                <a:spcPts val="0"/>
              </a:spcBef>
              <a:spcAft>
                <a:spcPts val="200"/>
              </a:spcAft>
            </a:pPr>
            <a:r>
              <a:rPr sz="2000" b="1">
                <a:solidFill>
                  <a:srgbClr val="2E5AAC"/>
                </a:solidFill>
                <a:latin typeface="Meiryo"/>
              </a:rPr>
              <a:t>VN / AM / RF / 5J / UL / VJ</a:t>
            </a:r>
          </a:p>
        </p:txBody>
      </p:sp>
      <p:graphicFrame>
        <p:nvGraphicFramePr>
          <p:cNvPr id="5" name="Table 4"/>
          <p:cNvGraphicFramePr>
            <a:graphicFrameLocks noGrp="1"/>
          </p:cNvGraphicFramePr>
          <p:nvPr/>
        </p:nvGraphicFramePr>
        <p:xfrm>
          <a:off x="502920" y="1965960"/>
          <a:ext cx="10241280" cy="3977639"/>
        </p:xfrm>
        <a:graphic>
          <a:graphicData uri="http://schemas.openxmlformats.org/drawingml/2006/table">
            <a:tbl>
              <a:tblPr>
                <a:tableStyleId>{5C22544A-7EE6-4342-B048-85BDC9FD1C3A}</a:tableStyleId>
              </a:tblPr>
              <a:tblGrid>
                <a:gridCol w="1005840"/>
                <a:gridCol w="1645920"/>
                <a:gridCol w="914400"/>
                <a:gridCol w="914400"/>
                <a:gridCol w="914400"/>
                <a:gridCol w="1188720"/>
                <a:gridCol w="914400"/>
                <a:gridCol w="2743200"/>
              </a:tblGrid>
              <a:tr h="265175">
                <a:tc>
                  <a:txBody>
                    <a:bodyPr wrap="square"/>
                    <a:lstStyle/>
                    <a:p>
                      <a:pPr algn="ctr"/>
                      <a:r>
                        <a:rPr sz="1000" b="1">
                          <a:solidFill>
                            <a:srgbClr val="FFFFFF"/>
                          </a:solidFill>
                          <a:latin typeface="Meiryo"/>
                        </a:rPr>
                        <a:t>Carrier</a:t>
                      </a:r>
                    </a:p>
                  </a:txBody>
                  <a:tcPr marL="36576" marR="36576" marT="18288" marB="18288" anchor="ctr">
                    <a:solidFill>
                      <a:srgbClr val="1B2A4A"/>
                    </a:solidFill>
                  </a:tcPr>
                </a:tc>
                <a:tc>
                  <a:txBody>
                    <a:bodyPr wrap="square"/>
                    <a:lstStyle/>
                    <a:p>
                      <a:pPr algn="ctr"/>
                      <a:r>
                        <a:rPr sz="1000" b="1">
                          <a:solidFill>
                            <a:srgbClr val="FFFFFF"/>
                          </a:solidFill>
                          <a:latin typeface="Meiryo"/>
                        </a:rPr>
                        <a:t>便名</a:t>
                      </a:r>
                    </a:p>
                  </a:txBody>
                  <a:tcPr marL="36576" marR="36576" marT="18288" marB="18288" anchor="ctr">
                    <a:solidFill>
                      <a:srgbClr val="1B2A4A"/>
                    </a:solidFill>
                  </a:tcPr>
                </a:tc>
                <a:tc>
                  <a:txBody>
                    <a:bodyPr wrap="square"/>
                    <a:lstStyle/>
                    <a:p>
                      <a:pPr algn="ctr"/>
                      <a:r>
                        <a:rPr sz="1000" b="1">
                          <a:solidFill>
                            <a:srgbClr val="FFFFFF"/>
                          </a:solidFill>
                          <a:latin typeface="Meiryo"/>
                        </a:rPr>
                        <a:t>行先</a:t>
                      </a:r>
                    </a:p>
                  </a:txBody>
                  <a:tcPr marL="36576" marR="36576" marT="18288" marB="18288" anchor="ctr">
                    <a:solidFill>
                      <a:srgbClr val="1B2A4A"/>
                    </a:solidFill>
                  </a:tcPr>
                </a:tc>
                <a:tc>
                  <a:txBody>
                    <a:bodyPr wrap="square"/>
                    <a:lstStyle/>
                    <a:p>
                      <a:pPr algn="ctr"/>
                      <a:r>
                        <a:rPr sz="1000" b="1">
                          <a:solidFill>
                            <a:srgbClr val="FFFFFF"/>
                          </a:solidFill>
                          <a:latin typeface="Meiryo"/>
                        </a:rPr>
                        <a:t>到着</a:t>
                      </a:r>
                    </a:p>
                  </a:txBody>
                  <a:tcPr marL="36576" marR="36576" marT="18288" marB="18288" anchor="ctr">
                    <a:solidFill>
                      <a:srgbClr val="1B2A4A"/>
                    </a:solidFill>
                  </a:tcPr>
                </a:tc>
                <a:tc>
                  <a:txBody>
                    <a:bodyPr wrap="square"/>
                    <a:lstStyle/>
                    <a:p>
                      <a:pPr algn="ctr"/>
                      <a:r>
                        <a:rPr sz="1000" b="1">
                          <a:solidFill>
                            <a:srgbClr val="FFFFFF"/>
                          </a:solidFill>
                          <a:latin typeface="Meiryo"/>
                        </a:rPr>
                        <a:t>出発</a:t>
                      </a:r>
                    </a:p>
                  </a:txBody>
                  <a:tcPr marL="36576" marR="36576" marT="18288" marB="18288" anchor="ctr">
                    <a:solidFill>
                      <a:srgbClr val="1B2A4A"/>
                    </a:solidFill>
                  </a:tcPr>
                </a:tc>
                <a:tc>
                  <a:txBody>
                    <a:bodyPr wrap="square"/>
                    <a:lstStyle/>
                    <a:p>
                      <a:pPr algn="ctr"/>
                      <a:r>
                        <a:rPr sz="1000" b="1">
                          <a:solidFill>
                            <a:srgbClr val="FFFFFF"/>
                          </a:solidFill>
                          <a:latin typeface="Meiryo"/>
                        </a:rPr>
                        <a:t>CTR OPEN</a:t>
                      </a:r>
                    </a:p>
                  </a:txBody>
                  <a:tcPr marL="36576" marR="36576" marT="18288" marB="18288" anchor="ctr">
                    <a:solidFill>
                      <a:srgbClr val="1B2A4A"/>
                    </a:solidFill>
                  </a:tcPr>
                </a:tc>
                <a:tc>
                  <a:txBody>
                    <a:bodyPr wrap="square"/>
                    <a:lstStyle/>
                    <a:p>
                      <a:pPr algn="ctr"/>
                      <a:r>
                        <a:rPr sz="1000" b="1">
                          <a:solidFill>
                            <a:srgbClr val="FFFFFF"/>
                          </a:solidFill>
                          <a:latin typeface="Meiryo"/>
                        </a:rPr>
                        <a:t>時間帯</a:t>
                      </a:r>
                    </a:p>
                  </a:txBody>
                  <a:tcPr marL="36576" marR="36576" marT="18288" marB="18288" anchor="ctr">
                    <a:solidFill>
                      <a:srgbClr val="1B2A4A"/>
                    </a:solidFill>
                  </a:tcPr>
                </a:tc>
                <a:tc>
                  <a:txBody>
                    <a:bodyPr wrap="square"/>
                    <a:lstStyle/>
                    <a:p>
                      <a:pPr algn="ctr"/>
                      <a:r>
                        <a:rPr sz="1000" b="1">
                          <a:solidFill>
                            <a:srgbClr val="FFFFFF"/>
                          </a:solidFill>
                          <a:latin typeface="Meiryo"/>
                        </a:rPr>
                        <a:t>配置</a:t>
                      </a:r>
                    </a:p>
                  </a:txBody>
                  <a:tcPr marL="36576" marR="36576" marT="18288" marB="18288" anchor="ctr">
                    <a:solidFill>
                      <a:srgbClr val="1B2A4A"/>
                    </a:solidFill>
                  </a:tcPr>
                </a:tc>
              </a:tr>
              <a:tr h="265175">
                <a:tc>
                  <a:txBody>
                    <a:bodyPr wrap="square"/>
                    <a:lstStyle/>
                    <a:p>
                      <a:pPr algn="ctr"/>
                      <a:r>
                        <a:rPr sz="1000" b="1">
                          <a:solidFill>
                            <a:srgbClr val="1F2733"/>
                          </a:solidFill>
                          <a:latin typeface="Meiryo"/>
                        </a:rPr>
                        <a:t>AM</a:t>
                      </a:r>
                    </a:p>
                  </a:txBody>
                  <a:tcPr marL="36576" marR="36576" marT="18288" marB="18288" anchor="ctr">
                    <a:solidFill>
                      <a:srgbClr val="FFFFFF"/>
                    </a:solidFill>
                  </a:tcPr>
                </a:tc>
                <a:tc>
                  <a:txBody>
                    <a:bodyPr wrap="square"/>
                    <a:lstStyle/>
                    <a:p>
                      <a:pPr algn="ctr"/>
                      <a:r>
                        <a:rPr sz="1000" b="0">
                          <a:solidFill>
                            <a:srgbClr val="1F2733"/>
                          </a:solidFill>
                          <a:latin typeface="Meiryo"/>
                        </a:rPr>
                        <a:t>AM058/057</a:t>
                      </a:r>
                    </a:p>
                  </a:txBody>
                  <a:tcPr marL="36576" marR="36576" marT="18288" marB="18288" anchor="ctr">
                    <a:solidFill>
                      <a:srgbClr val="FFFFFF"/>
                    </a:solidFill>
                  </a:tcPr>
                </a:tc>
                <a:tc>
                  <a:txBody>
                    <a:bodyPr wrap="square"/>
                    <a:lstStyle/>
                    <a:p>
                      <a:pPr algn="ctr"/>
                      <a:r>
                        <a:rPr sz="1000" b="0">
                          <a:solidFill>
                            <a:srgbClr val="1F2733"/>
                          </a:solidFill>
                          <a:latin typeface="Meiryo"/>
                        </a:rPr>
                        <a:t>MEX</a:t>
                      </a:r>
                    </a:p>
                  </a:txBody>
                  <a:tcPr marL="36576" marR="36576" marT="18288" marB="18288" anchor="ctr">
                    <a:solidFill>
                      <a:srgbClr val="FFFFFF"/>
                    </a:solidFill>
                  </a:tcPr>
                </a:tc>
                <a:tc>
                  <a:txBody>
                    <a:bodyPr wrap="square"/>
                    <a:lstStyle/>
                    <a:p>
                      <a:pPr algn="ctr"/>
                      <a:r>
                        <a:rPr sz="1000" b="0">
                          <a:solidFill>
                            <a:srgbClr val="1F2733"/>
                          </a:solidFill>
                          <a:latin typeface="Meiryo"/>
                        </a:rPr>
                        <a:t>06:30</a:t>
                      </a:r>
                    </a:p>
                  </a:txBody>
                  <a:tcPr marL="36576" marR="36576" marT="18288" marB="18288" anchor="ctr">
                    <a:solidFill>
                      <a:srgbClr val="FFFFFF"/>
                    </a:solidFill>
                  </a:tcPr>
                </a:tc>
                <a:tc>
                  <a:txBody>
                    <a:bodyPr wrap="square"/>
                    <a:lstStyle/>
                    <a:p>
                      <a:pPr algn="ctr"/>
                      <a:r>
                        <a:rPr sz="1000" b="0">
                          <a:solidFill>
                            <a:srgbClr val="1F2733"/>
                          </a:solidFill>
                          <a:latin typeface="Meiryo"/>
                        </a:rPr>
                        <a:t>09:35</a:t>
                      </a:r>
                    </a:p>
                  </a:txBody>
                  <a:tcPr marL="36576" marR="36576" marT="18288" marB="18288" anchor="ctr">
                    <a:solidFill>
                      <a:srgbClr val="FFFFFF"/>
                    </a:solidFill>
                  </a:tcPr>
                </a:tc>
                <a:tc>
                  <a:txBody>
                    <a:bodyPr wrap="square"/>
                    <a:lstStyle/>
                    <a:p>
                      <a:pPr algn="ctr"/>
                      <a:r>
                        <a:rPr sz="1000" b="0">
                          <a:solidFill>
                            <a:srgbClr val="1F2733"/>
                          </a:solidFill>
                          <a:latin typeface="Meiryo"/>
                        </a:rPr>
                        <a:t>06:30</a:t>
                      </a:r>
                    </a:p>
                  </a:txBody>
                  <a:tcPr marL="36576" marR="36576" marT="18288" marB="18288" anchor="ctr">
                    <a:solidFill>
                      <a:srgbClr val="FFFFFF"/>
                    </a:solidFill>
                  </a:tcPr>
                </a:tc>
                <a:tc>
                  <a:txBody>
                    <a:bodyPr wrap="square"/>
                    <a:lstStyle/>
                    <a:p>
                      <a:pPr algn="ctr"/>
                      <a:r>
                        <a:rPr sz="1000" b="0">
                          <a:solidFill>
                            <a:srgbClr val="1F2733"/>
                          </a:solidFill>
                          <a:latin typeface="Meiryo"/>
                        </a:rPr>
                        <a:t>朝</a:t>
                      </a:r>
                    </a:p>
                  </a:txBody>
                  <a:tcPr marL="36576" marR="36576" marT="18288" marB="18288" anchor="ctr">
                    <a:solidFill>
                      <a:srgbClr val="FFFFFF"/>
                    </a:solidFill>
                  </a:tcPr>
                </a:tc>
                <a:tc>
                  <a:txBody>
                    <a:bodyPr wrap="square"/>
                    <a:lstStyle/>
                    <a:p>
                      <a:pPr algn="ctr"/>
                      <a:r>
                        <a:rPr sz="1000" b="0">
                          <a:solidFill>
                            <a:srgbClr val="1F2733"/>
                          </a:solidFill>
                          <a:latin typeface="Meiryo"/>
                        </a:rPr>
                        <a:t>◯ 朝ピーク配置</a:t>
                      </a:r>
                    </a:p>
                  </a:txBody>
                  <a:tcPr marL="36576" marR="36576" marT="18288" marB="18288" anchor="ctr">
                    <a:solidFill>
                      <a:srgbClr val="FFFFFF"/>
                    </a:solidFill>
                  </a:tcPr>
                </a:tc>
              </a:tr>
              <a:tr h="265175">
                <a:tc>
                  <a:txBody>
                    <a:bodyPr wrap="square"/>
                    <a:lstStyle/>
                    <a:p>
                      <a:pPr algn="ctr"/>
                      <a:r>
                        <a:rPr sz="1000" b="1">
                          <a:solidFill>
                            <a:srgbClr val="1F2733"/>
                          </a:solidFill>
                          <a:latin typeface="Meiryo"/>
                        </a:rPr>
                        <a:t>VJ</a:t>
                      </a:r>
                    </a:p>
                  </a:txBody>
                  <a:tcPr marL="36576" marR="36576" marT="18288" marB="18288" anchor="ctr">
                    <a:solidFill>
                      <a:srgbClr val="FFFFFF"/>
                    </a:solidFill>
                  </a:tcPr>
                </a:tc>
                <a:tc>
                  <a:txBody>
                    <a:bodyPr wrap="square"/>
                    <a:lstStyle/>
                    <a:p>
                      <a:pPr algn="ctr"/>
                      <a:r>
                        <a:rPr sz="1000" b="0">
                          <a:solidFill>
                            <a:srgbClr val="1F2733"/>
                          </a:solidFill>
                          <a:latin typeface="Meiryo"/>
                        </a:rPr>
                        <a:t>VJ822/823</a:t>
                      </a:r>
                    </a:p>
                  </a:txBody>
                  <a:tcPr marL="36576" marR="36576" marT="18288" marB="18288" anchor="ctr">
                    <a:solidFill>
                      <a:srgbClr val="FFFFFF"/>
                    </a:solidFill>
                  </a:tcPr>
                </a:tc>
                <a:tc>
                  <a:txBody>
                    <a:bodyPr wrap="square"/>
                    <a:lstStyle/>
                    <a:p>
                      <a:pPr algn="ctr"/>
                      <a:r>
                        <a:rPr sz="1000" b="0">
                          <a:solidFill>
                            <a:srgbClr val="1F2733"/>
                          </a:solidFill>
                          <a:latin typeface="Meiryo"/>
                        </a:rPr>
                        <a:t>SGN</a:t>
                      </a:r>
                    </a:p>
                  </a:txBody>
                  <a:tcPr marL="36576" marR="36576" marT="18288" marB="18288" anchor="ctr">
                    <a:solidFill>
                      <a:srgbClr val="FFFFFF"/>
                    </a:solidFill>
                  </a:tcPr>
                </a:tc>
                <a:tc>
                  <a:txBody>
                    <a:bodyPr wrap="square"/>
                    <a:lstStyle/>
                    <a:p>
                      <a:pPr algn="ctr"/>
                      <a:r>
                        <a:rPr sz="1000" b="0">
                          <a:solidFill>
                            <a:srgbClr val="1F2733"/>
                          </a:solidFill>
                          <a:latin typeface="Meiryo"/>
                        </a:rPr>
                        <a:t>07:40</a:t>
                      </a:r>
                    </a:p>
                  </a:txBody>
                  <a:tcPr marL="36576" marR="36576" marT="18288" marB="18288" anchor="ctr">
                    <a:solidFill>
                      <a:srgbClr val="FFFFFF"/>
                    </a:solidFill>
                  </a:tcPr>
                </a:tc>
                <a:tc>
                  <a:txBody>
                    <a:bodyPr wrap="square"/>
                    <a:lstStyle/>
                    <a:p>
                      <a:pPr algn="ctr"/>
                      <a:r>
                        <a:rPr sz="1000" b="0">
                          <a:solidFill>
                            <a:srgbClr val="1F2733"/>
                          </a:solidFill>
                          <a:latin typeface="Meiryo"/>
                        </a:rPr>
                        <a:t>08:55</a:t>
                      </a:r>
                    </a:p>
                  </a:txBody>
                  <a:tcPr marL="36576" marR="36576" marT="18288" marB="18288" anchor="ctr">
                    <a:solidFill>
                      <a:srgbClr val="FFFFFF"/>
                    </a:solidFill>
                  </a:tcPr>
                </a:tc>
                <a:tc>
                  <a:txBody>
                    <a:bodyPr wrap="square"/>
                    <a:lstStyle/>
                    <a:p>
                      <a:pPr algn="ctr"/>
                      <a:r>
                        <a:rPr sz="1000" b="0">
                          <a:solidFill>
                            <a:srgbClr val="1F2733"/>
                          </a:solidFill>
                          <a:latin typeface="Meiryo"/>
                        </a:rPr>
                        <a:t>05:55</a:t>
                      </a:r>
                    </a:p>
                  </a:txBody>
                  <a:tcPr marL="36576" marR="36576" marT="18288" marB="18288" anchor="ctr">
                    <a:solidFill>
                      <a:srgbClr val="FFFFFF"/>
                    </a:solidFill>
                  </a:tcPr>
                </a:tc>
                <a:tc>
                  <a:txBody>
                    <a:bodyPr wrap="square"/>
                    <a:lstStyle/>
                    <a:p>
                      <a:pPr algn="ctr"/>
                      <a:r>
                        <a:rPr sz="1000" b="0">
                          <a:solidFill>
                            <a:srgbClr val="1F2733"/>
                          </a:solidFill>
                          <a:latin typeface="Meiryo"/>
                        </a:rPr>
                        <a:t>朝</a:t>
                      </a:r>
                    </a:p>
                  </a:txBody>
                  <a:tcPr marL="36576" marR="36576" marT="18288" marB="18288" anchor="ctr">
                    <a:solidFill>
                      <a:srgbClr val="FFFFFF"/>
                    </a:solidFill>
                  </a:tcPr>
                </a:tc>
                <a:tc>
                  <a:txBody>
                    <a:bodyPr wrap="square"/>
                    <a:lstStyle/>
                    <a:p>
                      <a:pPr algn="ctr"/>
                      <a:r>
                        <a:rPr sz="1000" b="0">
                          <a:solidFill>
                            <a:srgbClr val="1F2733"/>
                          </a:solidFill>
                          <a:latin typeface="Meiryo"/>
                        </a:rPr>
                        <a:t>◯ 朝ピーク配置</a:t>
                      </a:r>
                    </a:p>
                  </a:txBody>
                  <a:tcPr marL="36576" marR="36576" marT="18288" marB="18288" anchor="ctr">
                    <a:solidFill>
                      <a:srgbClr val="FFFFFF"/>
                    </a:solidFill>
                  </a:tcPr>
                </a:tc>
              </a:tr>
              <a:tr h="265175">
                <a:tc>
                  <a:txBody>
                    <a:bodyPr wrap="square"/>
                    <a:lstStyle/>
                    <a:p>
                      <a:pPr algn="ctr"/>
                      <a:r>
                        <a:rPr sz="1000" b="1">
                          <a:solidFill>
                            <a:srgbClr val="1F2733"/>
                          </a:solidFill>
                          <a:latin typeface="Meiryo"/>
                        </a:rPr>
                        <a:t>VN</a:t>
                      </a:r>
                    </a:p>
                  </a:txBody>
                  <a:tcPr marL="36576" marR="36576" marT="18288" marB="18288" anchor="ctr">
                    <a:solidFill>
                      <a:srgbClr val="FFFFFF"/>
                    </a:solidFill>
                  </a:tcPr>
                </a:tc>
                <a:tc>
                  <a:txBody>
                    <a:bodyPr wrap="square"/>
                    <a:lstStyle/>
                    <a:p>
                      <a:pPr algn="ctr"/>
                      <a:r>
                        <a:rPr sz="1000" b="0">
                          <a:solidFill>
                            <a:srgbClr val="1F2733"/>
                          </a:solidFill>
                          <a:latin typeface="Meiryo"/>
                        </a:rPr>
                        <a:t>VN318/319</a:t>
                      </a:r>
                    </a:p>
                  </a:txBody>
                  <a:tcPr marL="36576" marR="36576" marT="18288" marB="18288" anchor="ctr">
                    <a:solidFill>
                      <a:srgbClr val="FFFFFF"/>
                    </a:solidFill>
                  </a:tcPr>
                </a:tc>
                <a:tc>
                  <a:txBody>
                    <a:bodyPr wrap="square"/>
                    <a:lstStyle/>
                    <a:p>
                      <a:pPr algn="ctr"/>
                      <a:r>
                        <a:rPr sz="1000" b="0">
                          <a:solidFill>
                            <a:srgbClr val="1F2733"/>
                          </a:solidFill>
                          <a:latin typeface="Meiryo"/>
                        </a:rPr>
                        <a:t>DAD</a:t>
                      </a:r>
                    </a:p>
                  </a:txBody>
                  <a:tcPr marL="36576" marR="36576" marT="18288" marB="18288" anchor="ctr">
                    <a:solidFill>
                      <a:srgbClr val="FFFFFF"/>
                    </a:solidFill>
                  </a:tcPr>
                </a:tc>
                <a:tc>
                  <a:txBody>
                    <a:bodyPr wrap="square"/>
                    <a:lstStyle/>
                    <a:p>
                      <a:pPr algn="ctr"/>
                      <a:r>
                        <a:rPr sz="1000" b="0">
                          <a:solidFill>
                            <a:srgbClr val="1F2733"/>
                          </a:solidFill>
                          <a:latin typeface="Meiryo"/>
                        </a:rPr>
                        <a:t>07:35</a:t>
                      </a:r>
                    </a:p>
                  </a:txBody>
                  <a:tcPr marL="36576" marR="36576" marT="18288" marB="18288" anchor="ctr">
                    <a:solidFill>
                      <a:srgbClr val="FFFFFF"/>
                    </a:solidFill>
                  </a:tcPr>
                </a:tc>
                <a:tc>
                  <a:txBody>
                    <a:bodyPr wrap="square"/>
                    <a:lstStyle/>
                    <a:p>
                      <a:pPr algn="ctr"/>
                      <a:r>
                        <a:rPr sz="1000" b="0">
                          <a:solidFill>
                            <a:srgbClr val="1F2733"/>
                          </a:solidFill>
                          <a:latin typeface="Meiryo"/>
                        </a:rPr>
                        <a:t>09:00</a:t>
                      </a:r>
                    </a:p>
                  </a:txBody>
                  <a:tcPr marL="36576" marR="36576" marT="18288" marB="18288" anchor="ctr">
                    <a:solidFill>
                      <a:srgbClr val="FFFFFF"/>
                    </a:solidFill>
                  </a:tcPr>
                </a:tc>
                <a:tc>
                  <a:txBody>
                    <a:bodyPr wrap="square"/>
                    <a:lstStyle/>
                    <a:p>
                      <a:pPr algn="ctr"/>
                      <a:r>
                        <a:rPr sz="1000" b="0">
                          <a:solidFill>
                            <a:srgbClr val="1F2733"/>
                          </a:solidFill>
                          <a:latin typeface="Meiryo"/>
                        </a:rPr>
                        <a:t>06:00</a:t>
                      </a:r>
                    </a:p>
                  </a:txBody>
                  <a:tcPr marL="36576" marR="36576" marT="18288" marB="18288" anchor="ctr">
                    <a:solidFill>
                      <a:srgbClr val="FFFFFF"/>
                    </a:solidFill>
                  </a:tcPr>
                </a:tc>
                <a:tc>
                  <a:txBody>
                    <a:bodyPr wrap="square"/>
                    <a:lstStyle/>
                    <a:p>
                      <a:pPr algn="ctr"/>
                      <a:r>
                        <a:rPr sz="1000" b="0">
                          <a:solidFill>
                            <a:srgbClr val="1F2733"/>
                          </a:solidFill>
                          <a:latin typeface="Meiryo"/>
                        </a:rPr>
                        <a:t>朝</a:t>
                      </a:r>
                    </a:p>
                  </a:txBody>
                  <a:tcPr marL="36576" marR="36576" marT="18288" marB="18288" anchor="ctr">
                    <a:solidFill>
                      <a:srgbClr val="FFFFFF"/>
                    </a:solidFill>
                  </a:tcPr>
                </a:tc>
                <a:tc>
                  <a:txBody>
                    <a:bodyPr wrap="square"/>
                    <a:lstStyle/>
                    <a:p>
                      <a:pPr algn="ctr"/>
                      <a:r>
                        <a:rPr sz="1000" b="0">
                          <a:solidFill>
                            <a:srgbClr val="1F2733"/>
                          </a:solidFill>
                          <a:latin typeface="Meiryo"/>
                        </a:rPr>
                        <a:t>◯ 朝ピーク配置</a:t>
                      </a:r>
                    </a:p>
                  </a:txBody>
                  <a:tcPr marL="36576" marR="36576" marT="18288" marB="18288" anchor="ctr">
                    <a:solidFill>
                      <a:srgbClr val="FFFFFF"/>
                    </a:solidFill>
                  </a:tcPr>
                </a:tc>
              </a:tr>
              <a:tr h="265175">
                <a:tc>
                  <a:txBody>
                    <a:bodyPr wrap="square"/>
                    <a:lstStyle/>
                    <a:p>
                      <a:pPr algn="ctr"/>
                      <a:r>
                        <a:rPr sz="1000" b="1">
                          <a:solidFill>
                            <a:srgbClr val="1F2733"/>
                          </a:solidFill>
                          <a:latin typeface="Meiryo"/>
                        </a:rPr>
                        <a:t>VN</a:t>
                      </a:r>
                    </a:p>
                  </a:txBody>
                  <a:tcPr marL="36576" marR="36576" marT="18288" marB="18288" anchor="ctr">
                    <a:solidFill>
                      <a:srgbClr val="FFFFFF"/>
                    </a:solidFill>
                  </a:tcPr>
                </a:tc>
                <a:tc>
                  <a:txBody>
                    <a:bodyPr wrap="square"/>
                    <a:lstStyle/>
                    <a:p>
                      <a:pPr algn="ctr"/>
                      <a:r>
                        <a:rPr sz="1000" b="0">
                          <a:solidFill>
                            <a:srgbClr val="1F2733"/>
                          </a:solidFill>
                          <a:latin typeface="Meiryo"/>
                        </a:rPr>
                        <a:t>VN310/311</a:t>
                      </a:r>
                    </a:p>
                  </a:txBody>
                  <a:tcPr marL="36576" marR="36576" marT="18288" marB="18288" anchor="ctr">
                    <a:solidFill>
                      <a:srgbClr val="FFFFFF"/>
                    </a:solidFill>
                  </a:tcPr>
                </a:tc>
                <a:tc>
                  <a:txBody>
                    <a:bodyPr wrap="square"/>
                    <a:lstStyle/>
                    <a:p>
                      <a:pPr algn="ctr"/>
                      <a:r>
                        <a:rPr sz="1000" b="0">
                          <a:solidFill>
                            <a:srgbClr val="1F2733"/>
                          </a:solidFill>
                          <a:latin typeface="Meiryo"/>
                        </a:rPr>
                        <a:t>HAN</a:t>
                      </a:r>
                    </a:p>
                  </a:txBody>
                  <a:tcPr marL="36576" marR="36576" marT="18288" marB="18288" anchor="ctr">
                    <a:solidFill>
                      <a:srgbClr val="FFFFFF"/>
                    </a:solidFill>
                  </a:tcPr>
                </a:tc>
                <a:tc>
                  <a:txBody>
                    <a:bodyPr wrap="square"/>
                    <a:lstStyle/>
                    <a:p>
                      <a:pPr algn="ctr"/>
                      <a:r>
                        <a:rPr sz="1000" b="0">
                          <a:solidFill>
                            <a:srgbClr val="1F2733"/>
                          </a:solidFill>
                          <a:latin typeface="Meiryo"/>
                        </a:rPr>
                        <a:t>07:35</a:t>
                      </a:r>
                    </a:p>
                  </a:txBody>
                  <a:tcPr marL="36576" marR="36576" marT="18288" marB="18288" anchor="ctr">
                    <a:solidFill>
                      <a:srgbClr val="FFFFFF"/>
                    </a:solidFill>
                  </a:tcPr>
                </a:tc>
                <a:tc>
                  <a:txBody>
                    <a:bodyPr wrap="square"/>
                    <a:lstStyle/>
                    <a:p>
                      <a:pPr algn="ctr"/>
                      <a:r>
                        <a:rPr sz="1000" b="0">
                          <a:solidFill>
                            <a:srgbClr val="1F2733"/>
                          </a:solidFill>
                          <a:latin typeface="Meiryo"/>
                        </a:rPr>
                        <a:t>09:30</a:t>
                      </a:r>
                    </a:p>
                  </a:txBody>
                  <a:tcPr marL="36576" marR="36576" marT="18288" marB="18288" anchor="ctr">
                    <a:solidFill>
                      <a:srgbClr val="FFFFFF"/>
                    </a:solidFill>
                  </a:tcPr>
                </a:tc>
                <a:tc>
                  <a:txBody>
                    <a:bodyPr wrap="square"/>
                    <a:lstStyle/>
                    <a:p>
                      <a:pPr algn="ctr"/>
                      <a:r>
                        <a:rPr sz="1000" b="0">
                          <a:solidFill>
                            <a:srgbClr val="1F2733"/>
                          </a:solidFill>
                          <a:latin typeface="Meiryo"/>
                        </a:rPr>
                        <a:t>06:30</a:t>
                      </a:r>
                    </a:p>
                  </a:txBody>
                  <a:tcPr marL="36576" marR="36576" marT="18288" marB="18288" anchor="ctr">
                    <a:solidFill>
                      <a:srgbClr val="FFFFFF"/>
                    </a:solidFill>
                  </a:tcPr>
                </a:tc>
                <a:tc>
                  <a:txBody>
                    <a:bodyPr wrap="square"/>
                    <a:lstStyle/>
                    <a:p>
                      <a:pPr algn="ctr"/>
                      <a:r>
                        <a:rPr sz="1000" b="0">
                          <a:solidFill>
                            <a:srgbClr val="1F2733"/>
                          </a:solidFill>
                          <a:latin typeface="Meiryo"/>
                        </a:rPr>
                        <a:t>朝</a:t>
                      </a:r>
                    </a:p>
                  </a:txBody>
                  <a:tcPr marL="36576" marR="36576" marT="18288" marB="18288" anchor="ctr">
                    <a:solidFill>
                      <a:srgbClr val="FFFFFF"/>
                    </a:solidFill>
                  </a:tcPr>
                </a:tc>
                <a:tc>
                  <a:txBody>
                    <a:bodyPr wrap="square"/>
                    <a:lstStyle/>
                    <a:p>
                      <a:pPr algn="ctr"/>
                      <a:r>
                        <a:rPr sz="1000" b="0">
                          <a:solidFill>
                            <a:srgbClr val="1F2733"/>
                          </a:solidFill>
                          <a:latin typeface="Meiryo"/>
                        </a:rPr>
                        <a:t>◯ 朝ピーク配置</a:t>
                      </a:r>
                    </a:p>
                  </a:txBody>
                  <a:tcPr marL="36576" marR="36576" marT="18288" marB="18288" anchor="ctr">
                    <a:solidFill>
                      <a:srgbClr val="FFFFFF"/>
                    </a:solidFill>
                  </a:tcPr>
                </a:tc>
              </a:tr>
              <a:tr h="265175">
                <a:tc>
                  <a:txBody>
                    <a:bodyPr wrap="square"/>
                    <a:lstStyle/>
                    <a:p>
                      <a:pPr algn="ctr"/>
                      <a:r>
                        <a:rPr sz="1000" b="1">
                          <a:solidFill>
                            <a:srgbClr val="1F2733"/>
                          </a:solidFill>
                          <a:latin typeface="Meiryo"/>
                        </a:rPr>
                        <a:t>VJ</a:t>
                      </a:r>
                    </a:p>
                  </a:txBody>
                  <a:tcPr marL="36576" marR="36576" marT="18288" marB="18288" anchor="ctr">
                    <a:solidFill>
                      <a:srgbClr val="FFFFFF"/>
                    </a:solidFill>
                  </a:tcPr>
                </a:tc>
                <a:tc>
                  <a:txBody>
                    <a:bodyPr wrap="square"/>
                    <a:lstStyle/>
                    <a:p>
                      <a:pPr algn="ctr"/>
                      <a:r>
                        <a:rPr sz="1000" b="0">
                          <a:solidFill>
                            <a:srgbClr val="1F2733"/>
                          </a:solidFill>
                          <a:latin typeface="Meiryo"/>
                        </a:rPr>
                        <a:t>VJ932/933</a:t>
                      </a:r>
                    </a:p>
                  </a:txBody>
                  <a:tcPr marL="36576" marR="36576" marT="18288" marB="18288" anchor="ctr">
                    <a:solidFill>
                      <a:srgbClr val="FFFFFF"/>
                    </a:solidFill>
                  </a:tcPr>
                </a:tc>
                <a:tc>
                  <a:txBody>
                    <a:bodyPr wrap="square"/>
                    <a:lstStyle/>
                    <a:p>
                      <a:pPr algn="ctr"/>
                      <a:r>
                        <a:rPr sz="1000" b="0">
                          <a:solidFill>
                            <a:srgbClr val="1F2733"/>
                          </a:solidFill>
                          <a:latin typeface="Meiryo"/>
                        </a:rPr>
                        <a:t>HAN</a:t>
                      </a:r>
                    </a:p>
                  </a:txBody>
                  <a:tcPr marL="36576" marR="36576" marT="18288" marB="18288" anchor="ctr">
                    <a:solidFill>
                      <a:srgbClr val="FFFFFF"/>
                    </a:solidFill>
                  </a:tcPr>
                </a:tc>
                <a:tc>
                  <a:txBody>
                    <a:bodyPr wrap="square"/>
                    <a:lstStyle/>
                    <a:p>
                      <a:pPr algn="ctr"/>
                      <a:r>
                        <a:rPr sz="1000" b="0">
                          <a:solidFill>
                            <a:srgbClr val="1F2733"/>
                          </a:solidFill>
                          <a:latin typeface="Meiryo"/>
                        </a:rPr>
                        <a:t>08:00</a:t>
                      </a:r>
                    </a:p>
                  </a:txBody>
                  <a:tcPr marL="36576" marR="36576" marT="18288" marB="18288" anchor="ctr">
                    <a:solidFill>
                      <a:srgbClr val="FFFFFF"/>
                    </a:solidFill>
                  </a:tcPr>
                </a:tc>
                <a:tc>
                  <a:txBody>
                    <a:bodyPr wrap="square"/>
                    <a:lstStyle/>
                    <a:p>
                      <a:pPr algn="ctr"/>
                      <a:r>
                        <a:rPr sz="1000" b="0">
                          <a:solidFill>
                            <a:srgbClr val="1F2733"/>
                          </a:solidFill>
                          <a:latin typeface="Meiryo"/>
                        </a:rPr>
                        <a:t>09:30</a:t>
                      </a:r>
                    </a:p>
                  </a:txBody>
                  <a:tcPr marL="36576" marR="36576" marT="18288" marB="18288" anchor="ctr">
                    <a:solidFill>
                      <a:srgbClr val="FFFFFF"/>
                    </a:solidFill>
                  </a:tcPr>
                </a:tc>
                <a:tc>
                  <a:txBody>
                    <a:bodyPr wrap="square"/>
                    <a:lstStyle/>
                    <a:p>
                      <a:pPr algn="ctr"/>
                      <a:r>
                        <a:rPr sz="1000" b="0">
                          <a:solidFill>
                            <a:srgbClr val="1F2733"/>
                          </a:solidFill>
                          <a:latin typeface="Meiryo"/>
                        </a:rPr>
                        <a:t>06:30</a:t>
                      </a:r>
                    </a:p>
                  </a:txBody>
                  <a:tcPr marL="36576" marR="36576" marT="18288" marB="18288" anchor="ctr">
                    <a:solidFill>
                      <a:srgbClr val="FFFFFF"/>
                    </a:solidFill>
                  </a:tcPr>
                </a:tc>
                <a:tc>
                  <a:txBody>
                    <a:bodyPr wrap="square"/>
                    <a:lstStyle/>
                    <a:p>
                      <a:pPr algn="ctr"/>
                      <a:r>
                        <a:rPr sz="1000" b="0">
                          <a:solidFill>
                            <a:srgbClr val="1F2733"/>
                          </a:solidFill>
                          <a:latin typeface="Meiryo"/>
                        </a:rPr>
                        <a:t>朝</a:t>
                      </a:r>
                    </a:p>
                  </a:txBody>
                  <a:tcPr marL="36576" marR="36576" marT="18288" marB="18288" anchor="ctr">
                    <a:solidFill>
                      <a:srgbClr val="FFFFFF"/>
                    </a:solidFill>
                  </a:tcPr>
                </a:tc>
                <a:tc>
                  <a:txBody>
                    <a:bodyPr wrap="square"/>
                    <a:lstStyle/>
                    <a:p>
                      <a:pPr algn="ctr"/>
                      <a:r>
                        <a:rPr sz="1000" b="0">
                          <a:solidFill>
                            <a:srgbClr val="1F2733"/>
                          </a:solidFill>
                          <a:latin typeface="Meiryo"/>
                        </a:rPr>
                        <a:t>◯ 朝ピーク配置</a:t>
                      </a:r>
                    </a:p>
                  </a:txBody>
                  <a:tcPr marL="36576" marR="36576" marT="18288" marB="18288" anchor="ctr">
                    <a:solidFill>
                      <a:srgbClr val="FFFFFF"/>
                    </a:solidFill>
                  </a:tcPr>
                </a:tc>
              </a:tr>
              <a:tr h="265175">
                <a:tc>
                  <a:txBody>
                    <a:bodyPr wrap="square"/>
                    <a:lstStyle/>
                    <a:p>
                      <a:pPr algn="ctr"/>
                      <a:r>
                        <a:rPr sz="1000" b="1">
                          <a:solidFill>
                            <a:srgbClr val="1F2733"/>
                          </a:solidFill>
                          <a:latin typeface="Meiryo"/>
                        </a:rPr>
                        <a:t>VN</a:t>
                      </a:r>
                    </a:p>
                  </a:txBody>
                  <a:tcPr marL="36576" marR="36576" marT="18288" marB="18288" anchor="ctr">
                    <a:solidFill>
                      <a:srgbClr val="FFFFFF"/>
                    </a:solidFill>
                  </a:tcPr>
                </a:tc>
                <a:tc>
                  <a:txBody>
                    <a:bodyPr wrap="square"/>
                    <a:lstStyle/>
                    <a:p>
                      <a:pPr algn="ctr"/>
                      <a:r>
                        <a:rPr sz="1000" b="0">
                          <a:solidFill>
                            <a:srgbClr val="1F2733"/>
                          </a:solidFill>
                          <a:latin typeface="Meiryo"/>
                        </a:rPr>
                        <a:t>VN306/307</a:t>
                      </a:r>
                    </a:p>
                  </a:txBody>
                  <a:tcPr marL="36576" marR="36576" marT="18288" marB="18288" anchor="ctr">
                    <a:solidFill>
                      <a:srgbClr val="FFFFFF"/>
                    </a:solidFill>
                  </a:tcPr>
                </a:tc>
                <a:tc>
                  <a:txBody>
                    <a:bodyPr wrap="square"/>
                    <a:lstStyle/>
                    <a:p>
                      <a:pPr algn="ctr"/>
                      <a:r>
                        <a:rPr sz="1000" b="0">
                          <a:solidFill>
                            <a:srgbClr val="1F2733"/>
                          </a:solidFill>
                          <a:latin typeface="Meiryo"/>
                        </a:rPr>
                        <a:t>SGN</a:t>
                      </a:r>
                    </a:p>
                  </a:txBody>
                  <a:tcPr marL="36576" marR="36576" marT="18288" marB="18288" anchor="ctr">
                    <a:solidFill>
                      <a:srgbClr val="FFFFFF"/>
                    </a:solidFill>
                  </a:tcPr>
                </a:tc>
                <a:tc>
                  <a:txBody>
                    <a:bodyPr wrap="square"/>
                    <a:lstStyle/>
                    <a:p>
                      <a:pPr algn="ctr"/>
                      <a:r>
                        <a:rPr sz="1000" b="0">
                          <a:solidFill>
                            <a:srgbClr val="1F2733"/>
                          </a:solidFill>
                          <a:latin typeface="Meiryo"/>
                        </a:rPr>
                        <a:t>08:00</a:t>
                      </a:r>
                    </a:p>
                  </a:txBody>
                  <a:tcPr marL="36576" marR="36576" marT="18288" marB="18288" anchor="ctr">
                    <a:solidFill>
                      <a:srgbClr val="FFFFFF"/>
                    </a:solidFill>
                  </a:tcPr>
                </a:tc>
                <a:tc>
                  <a:txBody>
                    <a:bodyPr wrap="square"/>
                    <a:lstStyle/>
                    <a:p>
                      <a:pPr algn="ctr"/>
                      <a:r>
                        <a:rPr sz="1000" b="0">
                          <a:solidFill>
                            <a:srgbClr val="1F2733"/>
                          </a:solidFill>
                          <a:latin typeface="Meiryo"/>
                        </a:rPr>
                        <a:t>09:30</a:t>
                      </a:r>
                    </a:p>
                  </a:txBody>
                  <a:tcPr marL="36576" marR="36576" marT="18288" marB="18288" anchor="ctr">
                    <a:solidFill>
                      <a:srgbClr val="FFFFFF"/>
                    </a:solidFill>
                  </a:tcPr>
                </a:tc>
                <a:tc>
                  <a:txBody>
                    <a:bodyPr wrap="square"/>
                    <a:lstStyle/>
                    <a:p>
                      <a:pPr algn="ctr"/>
                      <a:r>
                        <a:rPr sz="1000" b="0">
                          <a:solidFill>
                            <a:srgbClr val="1F2733"/>
                          </a:solidFill>
                          <a:latin typeface="Meiryo"/>
                        </a:rPr>
                        <a:t>06:30</a:t>
                      </a:r>
                    </a:p>
                  </a:txBody>
                  <a:tcPr marL="36576" marR="36576" marT="18288" marB="18288" anchor="ctr">
                    <a:solidFill>
                      <a:srgbClr val="FFFFFF"/>
                    </a:solidFill>
                  </a:tcPr>
                </a:tc>
                <a:tc>
                  <a:txBody>
                    <a:bodyPr wrap="square"/>
                    <a:lstStyle/>
                    <a:p>
                      <a:pPr algn="ctr"/>
                      <a:r>
                        <a:rPr sz="1000" b="0">
                          <a:solidFill>
                            <a:srgbClr val="1F2733"/>
                          </a:solidFill>
                          <a:latin typeface="Meiryo"/>
                        </a:rPr>
                        <a:t>朝</a:t>
                      </a:r>
                    </a:p>
                  </a:txBody>
                  <a:tcPr marL="36576" marR="36576" marT="18288" marB="18288" anchor="ctr">
                    <a:solidFill>
                      <a:srgbClr val="FFFFFF"/>
                    </a:solidFill>
                  </a:tcPr>
                </a:tc>
                <a:tc>
                  <a:txBody>
                    <a:bodyPr wrap="square"/>
                    <a:lstStyle/>
                    <a:p>
                      <a:pPr algn="ctr"/>
                      <a:r>
                        <a:rPr sz="1000" b="0">
                          <a:solidFill>
                            <a:srgbClr val="1F2733"/>
                          </a:solidFill>
                          <a:latin typeface="Meiryo"/>
                        </a:rPr>
                        <a:t>◯ 朝ピーク配置</a:t>
                      </a:r>
                    </a:p>
                  </a:txBody>
                  <a:tcPr marL="36576" marR="36576" marT="18288" marB="18288" anchor="ctr">
                    <a:solidFill>
                      <a:srgbClr val="FFFFFF"/>
                    </a:solidFill>
                  </a:tcPr>
                </a:tc>
              </a:tr>
              <a:tr h="265175">
                <a:tc>
                  <a:txBody>
                    <a:bodyPr wrap="square"/>
                    <a:lstStyle/>
                    <a:p>
                      <a:pPr algn="ctr"/>
                      <a:r>
                        <a:rPr sz="1000" b="1">
                          <a:solidFill>
                            <a:srgbClr val="1F2733"/>
                          </a:solidFill>
                          <a:latin typeface="Meiryo"/>
                        </a:rPr>
                        <a:t>5J</a:t>
                      </a:r>
                    </a:p>
                  </a:txBody>
                  <a:tcPr marL="36576" marR="36576" marT="18288" marB="18288" anchor="ctr">
                    <a:solidFill>
                      <a:srgbClr val="FFFFFF"/>
                    </a:solidFill>
                  </a:tcPr>
                </a:tc>
                <a:tc>
                  <a:txBody>
                    <a:bodyPr wrap="square"/>
                    <a:lstStyle/>
                    <a:p>
                      <a:pPr algn="ctr"/>
                      <a:r>
                        <a:rPr sz="1000" b="0">
                          <a:solidFill>
                            <a:srgbClr val="1F2733"/>
                          </a:solidFill>
                          <a:latin typeface="Meiryo"/>
                        </a:rPr>
                        <a:t>5J5062/063</a:t>
                      </a:r>
                    </a:p>
                  </a:txBody>
                  <a:tcPr marL="36576" marR="36576" marT="18288" marB="18288" anchor="ctr">
                    <a:solidFill>
                      <a:srgbClr val="FFFFFF"/>
                    </a:solidFill>
                  </a:tcPr>
                </a:tc>
                <a:tc>
                  <a:txBody>
                    <a:bodyPr wrap="square"/>
                    <a:lstStyle/>
                    <a:p>
                      <a:pPr algn="ctr"/>
                      <a:r>
                        <a:rPr sz="1000" b="0">
                          <a:solidFill>
                            <a:srgbClr val="1F2733"/>
                          </a:solidFill>
                          <a:latin typeface="Meiryo"/>
                        </a:rPr>
                        <a:t>CEB</a:t>
                      </a:r>
                    </a:p>
                  </a:txBody>
                  <a:tcPr marL="36576" marR="36576" marT="18288" marB="18288" anchor="ctr">
                    <a:solidFill>
                      <a:srgbClr val="FFFFFF"/>
                    </a:solidFill>
                  </a:tcPr>
                </a:tc>
                <a:tc>
                  <a:txBody>
                    <a:bodyPr wrap="square"/>
                    <a:lstStyle/>
                    <a:p>
                      <a:pPr algn="ctr"/>
                      <a:r>
                        <a:rPr sz="1000" b="0">
                          <a:solidFill>
                            <a:srgbClr val="1F2733"/>
                          </a:solidFill>
                          <a:latin typeface="Meiryo"/>
                        </a:rPr>
                        <a:t>08:10</a:t>
                      </a:r>
                    </a:p>
                  </a:txBody>
                  <a:tcPr marL="36576" marR="36576" marT="18288" marB="18288" anchor="ctr">
                    <a:solidFill>
                      <a:srgbClr val="FFFFFF"/>
                    </a:solidFill>
                  </a:tcPr>
                </a:tc>
                <a:tc>
                  <a:txBody>
                    <a:bodyPr wrap="square"/>
                    <a:lstStyle/>
                    <a:p>
                      <a:pPr algn="ctr"/>
                      <a:r>
                        <a:rPr sz="1000" b="0">
                          <a:solidFill>
                            <a:srgbClr val="1F2733"/>
                          </a:solidFill>
                          <a:latin typeface="Meiryo"/>
                        </a:rPr>
                        <a:t>08:55</a:t>
                      </a:r>
                    </a:p>
                  </a:txBody>
                  <a:tcPr marL="36576" marR="36576" marT="18288" marB="18288" anchor="ctr">
                    <a:solidFill>
                      <a:srgbClr val="FFFFFF"/>
                    </a:solidFill>
                  </a:tcPr>
                </a:tc>
                <a:tc>
                  <a:txBody>
                    <a:bodyPr wrap="square"/>
                    <a:lstStyle/>
                    <a:p>
                      <a:pPr algn="ctr"/>
                      <a:r>
                        <a:rPr sz="1000" b="0">
                          <a:solidFill>
                            <a:srgbClr val="1F2733"/>
                          </a:solidFill>
                          <a:latin typeface="Meiryo"/>
                        </a:rPr>
                        <a:t>05:55</a:t>
                      </a:r>
                    </a:p>
                  </a:txBody>
                  <a:tcPr marL="36576" marR="36576" marT="18288" marB="18288" anchor="ctr">
                    <a:solidFill>
                      <a:srgbClr val="FFFFFF"/>
                    </a:solidFill>
                  </a:tcPr>
                </a:tc>
                <a:tc>
                  <a:txBody>
                    <a:bodyPr wrap="square"/>
                    <a:lstStyle/>
                    <a:p>
                      <a:pPr algn="ctr"/>
                      <a:r>
                        <a:rPr sz="1000" b="0">
                          <a:solidFill>
                            <a:srgbClr val="1F2733"/>
                          </a:solidFill>
                          <a:latin typeface="Meiryo"/>
                        </a:rPr>
                        <a:t>朝</a:t>
                      </a:r>
                    </a:p>
                  </a:txBody>
                  <a:tcPr marL="36576" marR="36576" marT="18288" marB="18288" anchor="ctr">
                    <a:solidFill>
                      <a:srgbClr val="FFFFFF"/>
                    </a:solidFill>
                  </a:tcPr>
                </a:tc>
                <a:tc>
                  <a:txBody>
                    <a:bodyPr wrap="square"/>
                    <a:lstStyle/>
                    <a:p>
                      <a:pPr algn="ctr"/>
                      <a:r>
                        <a:rPr sz="1000" b="0">
                          <a:solidFill>
                            <a:srgbClr val="1F2733"/>
                          </a:solidFill>
                          <a:latin typeface="Meiryo"/>
                        </a:rPr>
                        <a:t>◯ 朝ピーク配置</a:t>
                      </a:r>
                    </a:p>
                  </a:txBody>
                  <a:tcPr marL="36576" marR="36576" marT="18288" marB="18288" anchor="ctr">
                    <a:solidFill>
                      <a:srgbClr val="FFFFFF"/>
                    </a:solidFill>
                  </a:tcPr>
                </a:tc>
              </a:tr>
              <a:tr h="265175">
                <a:tc>
                  <a:txBody>
                    <a:bodyPr wrap="square"/>
                    <a:lstStyle/>
                    <a:p>
                      <a:pPr algn="ctr"/>
                      <a:r>
                        <a:rPr sz="1000" b="1">
                          <a:solidFill>
                            <a:srgbClr val="1F2733"/>
                          </a:solidFill>
                          <a:latin typeface="Meiryo"/>
                        </a:rPr>
                        <a:t>UL</a:t>
                      </a:r>
                    </a:p>
                  </a:txBody>
                  <a:tcPr marL="36576" marR="36576" marT="18288" marB="18288" anchor="ctr">
                    <a:solidFill>
                      <a:srgbClr val="FFFFFF"/>
                    </a:solidFill>
                  </a:tcPr>
                </a:tc>
                <a:tc>
                  <a:txBody>
                    <a:bodyPr wrap="square"/>
                    <a:lstStyle/>
                    <a:p>
                      <a:pPr algn="ctr"/>
                      <a:r>
                        <a:rPr sz="1000" b="0">
                          <a:solidFill>
                            <a:srgbClr val="1F2733"/>
                          </a:solidFill>
                          <a:latin typeface="Meiryo"/>
                        </a:rPr>
                        <a:t>UL454/455</a:t>
                      </a:r>
                    </a:p>
                  </a:txBody>
                  <a:tcPr marL="36576" marR="36576" marT="18288" marB="18288" anchor="ctr">
                    <a:solidFill>
                      <a:srgbClr val="FFFFFF"/>
                    </a:solidFill>
                  </a:tcPr>
                </a:tc>
                <a:tc>
                  <a:txBody>
                    <a:bodyPr wrap="square"/>
                    <a:lstStyle/>
                    <a:p>
                      <a:pPr algn="ctr"/>
                      <a:r>
                        <a:rPr sz="1000" b="0">
                          <a:solidFill>
                            <a:srgbClr val="1F2733"/>
                          </a:solidFill>
                          <a:latin typeface="Meiryo"/>
                        </a:rPr>
                        <a:t>CMB</a:t>
                      </a:r>
                    </a:p>
                  </a:txBody>
                  <a:tcPr marL="36576" marR="36576" marT="18288" marB="18288" anchor="ctr">
                    <a:solidFill>
                      <a:srgbClr val="FFFFFF"/>
                    </a:solidFill>
                  </a:tcPr>
                </a:tc>
                <a:tc>
                  <a:txBody>
                    <a:bodyPr wrap="square"/>
                    <a:lstStyle/>
                    <a:p>
                      <a:pPr algn="ctr"/>
                      <a:r>
                        <a:rPr sz="1000" b="0">
                          <a:solidFill>
                            <a:srgbClr val="1F2733"/>
                          </a:solidFill>
                          <a:latin typeface="Meiryo"/>
                        </a:rPr>
                        <a:t>08:10</a:t>
                      </a:r>
                    </a:p>
                  </a:txBody>
                  <a:tcPr marL="36576" marR="36576" marT="18288" marB="18288" anchor="ctr">
                    <a:solidFill>
                      <a:srgbClr val="FFFFFF"/>
                    </a:solidFill>
                  </a:tcPr>
                </a:tc>
                <a:tc>
                  <a:txBody>
                    <a:bodyPr wrap="square"/>
                    <a:lstStyle/>
                    <a:p>
                      <a:pPr algn="ctr"/>
                      <a:r>
                        <a:rPr sz="1000" b="0">
                          <a:solidFill>
                            <a:srgbClr val="1F2733"/>
                          </a:solidFill>
                          <a:latin typeface="Meiryo"/>
                        </a:rPr>
                        <a:t>11:15</a:t>
                      </a:r>
                    </a:p>
                  </a:txBody>
                  <a:tcPr marL="36576" marR="36576" marT="18288" marB="18288" anchor="ctr">
                    <a:solidFill>
                      <a:srgbClr val="FFFFFF"/>
                    </a:solidFill>
                  </a:tcPr>
                </a:tc>
                <a:tc>
                  <a:txBody>
                    <a:bodyPr wrap="square"/>
                    <a:lstStyle/>
                    <a:p>
                      <a:pPr algn="ctr"/>
                      <a:r>
                        <a:rPr sz="1000" b="0">
                          <a:solidFill>
                            <a:srgbClr val="1F2733"/>
                          </a:solidFill>
                          <a:latin typeface="Meiryo"/>
                        </a:rPr>
                        <a:t>08:15</a:t>
                      </a:r>
                    </a:p>
                  </a:txBody>
                  <a:tcPr marL="36576" marR="36576" marT="18288" marB="18288" anchor="ctr">
                    <a:solidFill>
                      <a:srgbClr val="FFFFFF"/>
                    </a:solidFill>
                  </a:tcPr>
                </a:tc>
                <a:tc>
                  <a:txBody>
                    <a:bodyPr wrap="square"/>
                    <a:lstStyle/>
                    <a:p>
                      <a:pPr algn="ctr"/>
                      <a:r>
                        <a:rPr sz="1000" b="0">
                          <a:solidFill>
                            <a:srgbClr val="1F2733"/>
                          </a:solidFill>
                          <a:latin typeface="Meiryo"/>
                        </a:rPr>
                        <a:t>朝</a:t>
                      </a:r>
                    </a:p>
                  </a:txBody>
                  <a:tcPr marL="36576" marR="36576" marT="18288" marB="18288" anchor="ctr">
                    <a:solidFill>
                      <a:srgbClr val="FFFFFF"/>
                    </a:solidFill>
                  </a:tcPr>
                </a:tc>
                <a:tc>
                  <a:txBody>
                    <a:bodyPr wrap="square"/>
                    <a:lstStyle/>
                    <a:p>
                      <a:pPr algn="ctr"/>
                      <a:r>
                        <a:rPr sz="1000" b="0">
                          <a:solidFill>
                            <a:srgbClr val="1F2733"/>
                          </a:solidFill>
                          <a:latin typeface="Meiryo"/>
                        </a:rPr>
                        <a:t>◯ 朝ピーク配置</a:t>
                      </a:r>
                    </a:p>
                  </a:txBody>
                  <a:tcPr marL="36576" marR="36576" marT="18288" marB="18288" anchor="ctr">
                    <a:solidFill>
                      <a:srgbClr val="FFFFFF"/>
                    </a:solidFill>
                  </a:tcPr>
                </a:tc>
              </a:tr>
              <a:tr h="265175">
                <a:tc>
                  <a:txBody>
                    <a:bodyPr wrap="square"/>
                    <a:lstStyle/>
                    <a:p>
                      <a:pPr algn="ctr"/>
                      <a:r>
                        <a:rPr sz="1000" b="1">
                          <a:solidFill>
                            <a:srgbClr val="1F2733"/>
                          </a:solidFill>
                          <a:latin typeface="Meiryo"/>
                        </a:rPr>
                        <a:t>VN</a:t>
                      </a:r>
                    </a:p>
                  </a:txBody>
                  <a:tcPr marL="36576" marR="36576" marT="18288" marB="18288" anchor="ctr">
                    <a:solidFill>
                      <a:srgbClr val="FFFFFF"/>
                    </a:solidFill>
                  </a:tcPr>
                </a:tc>
                <a:tc>
                  <a:txBody>
                    <a:bodyPr wrap="square"/>
                    <a:lstStyle/>
                    <a:p>
                      <a:pPr algn="ctr"/>
                      <a:r>
                        <a:rPr sz="1000" b="0">
                          <a:solidFill>
                            <a:srgbClr val="1F2733"/>
                          </a:solidFill>
                          <a:latin typeface="Meiryo"/>
                        </a:rPr>
                        <a:t>VN316/317</a:t>
                      </a:r>
                    </a:p>
                  </a:txBody>
                  <a:tcPr marL="36576" marR="36576" marT="18288" marB="18288" anchor="ctr">
                    <a:solidFill>
                      <a:srgbClr val="FFFFFF"/>
                    </a:solidFill>
                  </a:tcPr>
                </a:tc>
                <a:tc>
                  <a:txBody>
                    <a:bodyPr wrap="square"/>
                    <a:lstStyle/>
                    <a:p>
                      <a:pPr algn="ctr"/>
                      <a:r>
                        <a:rPr sz="1000" b="0">
                          <a:solidFill>
                            <a:srgbClr val="1F2733"/>
                          </a:solidFill>
                          <a:latin typeface="Meiryo"/>
                        </a:rPr>
                        <a:t>DAD</a:t>
                      </a:r>
                    </a:p>
                  </a:txBody>
                  <a:tcPr marL="36576" marR="36576" marT="18288" marB="18288" anchor="ctr">
                    <a:solidFill>
                      <a:srgbClr val="FFFFFF"/>
                    </a:solidFill>
                  </a:tcPr>
                </a:tc>
                <a:tc>
                  <a:txBody>
                    <a:bodyPr wrap="square"/>
                    <a:lstStyle/>
                    <a:p>
                      <a:pPr algn="ctr"/>
                      <a:r>
                        <a:rPr sz="1000" b="0">
                          <a:solidFill>
                            <a:srgbClr val="1F2733"/>
                          </a:solidFill>
                          <a:latin typeface="Meiryo"/>
                        </a:rPr>
                        <a:t>08:30</a:t>
                      </a:r>
                    </a:p>
                  </a:txBody>
                  <a:tcPr marL="36576" marR="36576" marT="18288" marB="18288" anchor="ctr">
                    <a:solidFill>
                      <a:srgbClr val="FFFFFF"/>
                    </a:solidFill>
                  </a:tcPr>
                </a:tc>
                <a:tc>
                  <a:txBody>
                    <a:bodyPr wrap="square"/>
                    <a:lstStyle/>
                    <a:p>
                      <a:pPr algn="ctr"/>
                      <a:r>
                        <a:rPr sz="1000" b="0">
                          <a:solidFill>
                            <a:srgbClr val="1F2733"/>
                          </a:solidFill>
                          <a:latin typeface="Meiryo"/>
                        </a:rPr>
                        <a:t>10:30</a:t>
                      </a:r>
                    </a:p>
                  </a:txBody>
                  <a:tcPr marL="36576" marR="36576" marT="18288" marB="18288" anchor="ctr">
                    <a:solidFill>
                      <a:srgbClr val="FFFFFF"/>
                    </a:solidFill>
                  </a:tcPr>
                </a:tc>
                <a:tc>
                  <a:txBody>
                    <a:bodyPr wrap="square"/>
                    <a:lstStyle/>
                    <a:p>
                      <a:pPr algn="ctr"/>
                      <a:r>
                        <a:rPr sz="1000" b="0">
                          <a:solidFill>
                            <a:srgbClr val="1F2733"/>
                          </a:solidFill>
                          <a:latin typeface="Meiryo"/>
                        </a:rPr>
                        <a:t>07:30</a:t>
                      </a:r>
                    </a:p>
                  </a:txBody>
                  <a:tcPr marL="36576" marR="36576" marT="18288" marB="18288" anchor="ctr">
                    <a:solidFill>
                      <a:srgbClr val="FFFFFF"/>
                    </a:solidFill>
                  </a:tcPr>
                </a:tc>
                <a:tc>
                  <a:txBody>
                    <a:bodyPr wrap="square"/>
                    <a:lstStyle/>
                    <a:p>
                      <a:pPr algn="ctr"/>
                      <a:r>
                        <a:rPr sz="1000" b="0">
                          <a:solidFill>
                            <a:srgbClr val="1F2733"/>
                          </a:solidFill>
                          <a:latin typeface="Meiryo"/>
                        </a:rPr>
                        <a:t>朝</a:t>
                      </a:r>
                    </a:p>
                  </a:txBody>
                  <a:tcPr marL="36576" marR="36576" marT="18288" marB="18288" anchor="ctr">
                    <a:solidFill>
                      <a:srgbClr val="FFFFFF"/>
                    </a:solidFill>
                  </a:tcPr>
                </a:tc>
                <a:tc>
                  <a:txBody>
                    <a:bodyPr wrap="square"/>
                    <a:lstStyle/>
                    <a:p>
                      <a:pPr algn="ctr"/>
                      <a:r>
                        <a:rPr sz="1000" b="0">
                          <a:solidFill>
                            <a:srgbClr val="1F2733"/>
                          </a:solidFill>
                          <a:latin typeface="Meiryo"/>
                        </a:rPr>
                        <a:t>◯ 朝ピーク配置</a:t>
                      </a:r>
                    </a:p>
                  </a:txBody>
                  <a:tcPr marL="36576" marR="36576" marT="18288" marB="18288" anchor="ctr">
                    <a:solidFill>
                      <a:srgbClr val="FFFFFF"/>
                    </a:solidFill>
                  </a:tcPr>
                </a:tc>
              </a:tr>
              <a:tr h="265175">
                <a:tc>
                  <a:txBody>
                    <a:bodyPr wrap="square"/>
                    <a:lstStyle/>
                    <a:p>
                      <a:pPr algn="ctr"/>
                      <a:r>
                        <a:rPr sz="1000" b="1">
                          <a:solidFill>
                            <a:srgbClr val="1F2733"/>
                          </a:solidFill>
                          <a:latin typeface="Meiryo"/>
                        </a:rPr>
                        <a:t>RF</a:t>
                      </a:r>
                    </a:p>
                  </a:txBody>
                  <a:tcPr marL="36576" marR="36576" marT="18288" marB="18288" anchor="ctr">
                    <a:solidFill>
                      <a:srgbClr val="FFFFFF"/>
                    </a:solidFill>
                  </a:tcPr>
                </a:tc>
                <a:tc>
                  <a:txBody>
                    <a:bodyPr wrap="square"/>
                    <a:lstStyle/>
                    <a:p>
                      <a:pPr algn="ctr"/>
                      <a:r>
                        <a:rPr sz="1000" b="0">
                          <a:solidFill>
                            <a:srgbClr val="1F2733"/>
                          </a:solidFill>
                          <a:latin typeface="Meiryo"/>
                        </a:rPr>
                        <a:t>RF392/391</a:t>
                      </a:r>
                    </a:p>
                  </a:txBody>
                  <a:tcPr marL="36576" marR="36576" marT="18288" marB="18288" anchor="ctr">
                    <a:solidFill>
                      <a:srgbClr val="FFFFFF"/>
                    </a:solidFill>
                  </a:tcPr>
                </a:tc>
                <a:tc>
                  <a:txBody>
                    <a:bodyPr wrap="square"/>
                    <a:lstStyle/>
                    <a:p>
                      <a:pPr algn="ctr"/>
                      <a:r>
                        <a:rPr sz="1000" b="0">
                          <a:solidFill>
                            <a:srgbClr val="1F2733"/>
                          </a:solidFill>
                          <a:latin typeface="Meiryo"/>
                        </a:rPr>
                        <a:t>CJJ</a:t>
                      </a:r>
                    </a:p>
                  </a:txBody>
                  <a:tcPr marL="36576" marR="36576" marT="18288" marB="18288" anchor="ctr">
                    <a:solidFill>
                      <a:srgbClr val="FFFFFF"/>
                    </a:solidFill>
                  </a:tcPr>
                </a:tc>
                <a:tc>
                  <a:txBody>
                    <a:bodyPr wrap="square"/>
                    <a:lstStyle/>
                    <a:p>
                      <a:pPr algn="ctr"/>
                      <a:r>
                        <a:rPr sz="1000" b="0">
                          <a:solidFill>
                            <a:srgbClr val="1F2733"/>
                          </a:solidFill>
                          <a:latin typeface="Meiryo"/>
                        </a:rPr>
                        <a:t>09:40</a:t>
                      </a:r>
                    </a:p>
                  </a:txBody>
                  <a:tcPr marL="36576" marR="36576" marT="18288" marB="18288" anchor="ctr">
                    <a:solidFill>
                      <a:srgbClr val="FFFFFF"/>
                    </a:solidFill>
                  </a:tcPr>
                </a:tc>
                <a:tc>
                  <a:txBody>
                    <a:bodyPr wrap="square"/>
                    <a:lstStyle/>
                    <a:p>
                      <a:pPr algn="ctr"/>
                      <a:r>
                        <a:rPr sz="1000" b="0">
                          <a:solidFill>
                            <a:srgbClr val="1F2733"/>
                          </a:solidFill>
                          <a:latin typeface="Meiryo"/>
                        </a:rPr>
                        <a:t>10:40</a:t>
                      </a:r>
                    </a:p>
                  </a:txBody>
                  <a:tcPr marL="36576" marR="36576" marT="18288" marB="18288" anchor="ctr">
                    <a:solidFill>
                      <a:srgbClr val="FFFFFF"/>
                    </a:solidFill>
                  </a:tcPr>
                </a:tc>
                <a:tc>
                  <a:txBody>
                    <a:bodyPr wrap="square"/>
                    <a:lstStyle/>
                    <a:p>
                      <a:pPr algn="ctr"/>
                      <a:r>
                        <a:rPr sz="1000" b="0">
                          <a:solidFill>
                            <a:srgbClr val="1F2733"/>
                          </a:solidFill>
                          <a:latin typeface="Meiryo"/>
                        </a:rPr>
                        <a:t>08:10</a:t>
                      </a:r>
                    </a:p>
                  </a:txBody>
                  <a:tcPr marL="36576" marR="36576" marT="18288" marB="18288" anchor="ctr">
                    <a:solidFill>
                      <a:srgbClr val="FFFFFF"/>
                    </a:solidFill>
                  </a:tcPr>
                </a:tc>
                <a:tc>
                  <a:txBody>
                    <a:bodyPr wrap="square"/>
                    <a:lstStyle/>
                    <a:p>
                      <a:pPr algn="ctr"/>
                      <a:r>
                        <a:rPr sz="1000" b="0">
                          <a:solidFill>
                            <a:srgbClr val="1F2733"/>
                          </a:solidFill>
                          <a:latin typeface="Meiryo"/>
                        </a:rPr>
                        <a:t>朝</a:t>
                      </a:r>
                    </a:p>
                  </a:txBody>
                  <a:tcPr marL="36576" marR="36576" marT="18288" marB="18288" anchor="ctr">
                    <a:solidFill>
                      <a:srgbClr val="FFFFFF"/>
                    </a:solidFill>
                  </a:tcPr>
                </a:tc>
                <a:tc>
                  <a:txBody>
                    <a:bodyPr wrap="square"/>
                    <a:lstStyle/>
                    <a:p>
                      <a:pPr algn="ctr"/>
                      <a:r>
                        <a:rPr sz="1000" b="0">
                          <a:solidFill>
                            <a:srgbClr val="1F2733"/>
                          </a:solidFill>
                          <a:latin typeface="Meiryo"/>
                        </a:rPr>
                        <a:t>◯ 朝ピーク配置</a:t>
                      </a:r>
                    </a:p>
                  </a:txBody>
                  <a:tcPr marL="36576" marR="36576" marT="18288" marB="18288" anchor="ctr">
                    <a:solidFill>
                      <a:srgbClr val="FFFFFF"/>
                    </a:solidFill>
                  </a:tcPr>
                </a:tc>
              </a:tr>
              <a:tr h="265175">
                <a:tc>
                  <a:txBody>
                    <a:bodyPr wrap="square"/>
                    <a:lstStyle/>
                    <a:p>
                      <a:pPr algn="ctr"/>
                      <a:r>
                        <a:rPr sz="1000" b="1">
                          <a:solidFill>
                            <a:srgbClr val="1F2733"/>
                          </a:solidFill>
                          <a:latin typeface="Meiryo"/>
                        </a:rPr>
                        <a:t>5J</a:t>
                      </a:r>
                    </a:p>
                  </a:txBody>
                  <a:tcPr marL="36576" marR="36576" marT="18288" marB="18288" anchor="ctr">
                    <a:solidFill>
                      <a:srgbClr val="FFFFFF"/>
                    </a:solidFill>
                  </a:tcPr>
                </a:tc>
                <a:tc>
                  <a:txBody>
                    <a:bodyPr wrap="square"/>
                    <a:lstStyle/>
                    <a:p>
                      <a:pPr algn="ctr"/>
                      <a:r>
                        <a:rPr sz="1000" b="0">
                          <a:solidFill>
                            <a:srgbClr val="1F2733"/>
                          </a:solidFill>
                          <a:latin typeface="Meiryo"/>
                        </a:rPr>
                        <a:t>5J5068/069</a:t>
                      </a:r>
                    </a:p>
                  </a:txBody>
                  <a:tcPr marL="36576" marR="36576" marT="18288" marB="18288" anchor="ctr">
                    <a:solidFill>
                      <a:srgbClr val="FFFFFF"/>
                    </a:solidFill>
                  </a:tcPr>
                </a:tc>
                <a:tc>
                  <a:txBody>
                    <a:bodyPr wrap="square"/>
                    <a:lstStyle/>
                    <a:p>
                      <a:pPr algn="ctr"/>
                      <a:r>
                        <a:rPr sz="1000" b="0">
                          <a:solidFill>
                            <a:srgbClr val="1F2733"/>
                          </a:solidFill>
                          <a:latin typeface="Meiryo"/>
                        </a:rPr>
                        <a:t>CRK</a:t>
                      </a:r>
                    </a:p>
                  </a:txBody>
                  <a:tcPr marL="36576" marR="36576" marT="18288" marB="18288" anchor="ctr">
                    <a:solidFill>
                      <a:srgbClr val="FFFFFF"/>
                    </a:solidFill>
                  </a:tcPr>
                </a:tc>
                <a:tc>
                  <a:txBody>
                    <a:bodyPr wrap="square"/>
                    <a:lstStyle/>
                    <a:p>
                      <a:pPr algn="ctr"/>
                      <a:r>
                        <a:rPr sz="1000" b="0">
                          <a:solidFill>
                            <a:srgbClr val="1F2733"/>
                          </a:solidFill>
                          <a:latin typeface="Meiryo"/>
                        </a:rPr>
                        <a:t>10:25</a:t>
                      </a:r>
                    </a:p>
                  </a:txBody>
                  <a:tcPr marL="36576" marR="36576" marT="18288" marB="18288" anchor="ctr">
                    <a:solidFill>
                      <a:srgbClr val="FFFFFF"/>
                    </a:solidFill>
                  </a:tcPr>
                </a:tc>
                <a:tc>
                  <a:txBody>
                    <a:bodyPr wrap="square"/>
                    <a:lstStyle/>
                    <a:p>
                      <a:pPr algn="ctr"/>
                      <a:r>
                        <a:rPr sz="1000" b="0">
                          <a:solidFill>
                            <a:srgbClr val="1F2733"/>
                          </a:solidFill>
                          <a:latin typeface="Meiryo"/>
                        </a:rPr>
                        <a:t>11:15</a:t>
                      </a:r>
                    </a:p>
                  </a:txBody>
                  <a:tcPr marL="36576" marR="36576" marT="18288" marB="18288" anchor="ctr">
                    <a:solidFill>
                      <a:srgbClr val="FFFFFF"/>
                    </a:solidFill>
                  </a:tcPr>
                </a:tc>
                <a:tc>
                  <a:txBody>
                    <a:bodyPr wrap="square"/>
                    <a:lstStyle/>
                    <a:p>
                      <a:pPr algn="ctr"/>
                      <a:r>
                        <a:rPr sz="1000" b="0">
                          <a:solidFill>
                            <a:srgbClr val="1F2733"/>
                          </a:solidFill>
                          <a:latin typeface="Meiryo"/>
                        </a:rPr>
                        <a:t>08:15</a:t>
                      </a:r>
                    </a:p>
                  </a:txBody>
                  <a:tcPr marL="36576" marR="36576" marT="18288" marB="18288" anchor="ctr">
                    <a:solidFill>
                      <a:srgbClr val="FFFFFF"/>
                    </a:solidFill>
                  </a:tcPr>
                </a:tc>
                <a:tc>
                  <a:txBody>
                    <a:bodyPr wrap="square"/>
                    <a:lstStyle/>
                    <a:p>
                      <a:pPr algn="ctr"/>
                      <a:r>
                        <a:rPr sz="1000" b="0">
                          <a:solidFill>
                            <a:srgbClr val="1F2733"/>
                          </a:solidFill>
                          <a:latin typeface="Meiryo"/>
                        </a:rPr>
                        <a:t>朝</a:t>
                      </a:r>
                    </a:p>
                  </a:txBody>
                  <a:tcPr marL="36576" marR="36576" marT="18288" marB="18288" anchor="ctr">
                    <a:solidFill>
                      <a:srgbClr val="FFFFFF"/>
                    </a:solidFill>
                  </a:tcPr>
                </a:tc>
                <a:tc>
                  <a:txBody>
                    <a:bodyPr wrap="square"/>
                    <a:lstStyle/>
                    <a:p>
                      <a:pPr algn="ctr"/>
                      <a:r>
                        <a:rPr sz="1000" b="0">
                          <a:solidFill>
                            <a:srgbClr val="1F2733"/>
                          </a:solidFill>
                          <a:latin typeface="Meiryo"/>
                        </a:rPr>
                        <a:t>◯ 朝ピーク配置</a:t>
                      </a:r>
                    </a:p>
                  </a:txBody>
                  <a:tcPr marL="36576" marR="36576" marT="18288" marB="18288" anchor="ctr">
                    <a:solidFill>
                      <a:srgbClr val="FFFFFF"/>
                    </a:solidFill>
                  </a:tcPr>
                </a:tc>
              </a:tr>
              <a:tr h="265175">
                <a:tc>
                  <a:txBody>
                    <a:bodyPr wrap="square"/>
                    <a:lstStyle/>
                    <a:p>
                      <a:pPr algn="ctr"/>
                      <a:r>
                        <a:rPr sz="1000" b="1">
                          <a:solidFill>
                            <a:srgbClr val="1F2733"/>
                          </a:solidFill>
                          <a:latin typeface="Meiryo"/>
                        </a:rPr>
                        <a:t>5J</a:t>
                      </a:r>
                    </a:p>
                  </a:txBody>
                  <a:tcPr marL="36576" marR="36576" marT="18288" marB="18288" anchor="ctr">
                    <a:solidFill>
                      <a:srgbClr val="FBEAD2"/>
                    </a:solidFill>
                  </a:tcPr>
                </a:tc>
                <a:tc>
                  <a:txBody>
                    <a:bodyPr wrap="square"/>
                    <a:lstStyle/>
                    <a:p>
                      <a:pPr algn="ctr"/>
                      <a:r>
                        <a:rPr sz="1000" b="0">
                          <a:solidFill>
                            <a:srgbClr val="1F2733"/>
                          </a:solidFill>
                          <a:latin typeface="Meiryo"/>
                        </a:rPr>
                        <a:t>5J5054/055</a:t>
                      </a:r>
                    </a:p>
                  </a:txBody>
                  <a:tcPr marL="36576" marR="36576" marT="18288" marB="18288" anchor="ctr">
                    <a:solidFill>
                      <a:srgbClr val="FBEAD2"/>
                    </a:solidFill>
                  </a:tcPr>
                </a:tc>
                <a:tc>
                  <a:txBody>
                    <a:bodyPr wrap="square"/>
                    <a:lstStyle/>
                    <a:p>
                      <a:pPr algn="ctr"/>
                      <a:r>
                        <a:rPr sz="1000" b="0">
                          <a:solidFill>
                            <a:srgbClr val="1F2733"/>
                          </a:solidFill>
                          <a:latin typeface="Meiryo"/>
                        </a:rPr>
                        <a:t>MNL</a:t>
                      </a:r>
                    </a:p>
                  </a:txBody>
                  <a:tcPr marL="36576" marR="36576" marT="18288" marB="18288" anchor="ctr">
                    <a:solidFill>
                      <a:srgbClr val="FBEAD2"/>
                    </a:solidFill>
                  </a:tcPr>
                </a:tc>
                <a:tc>
                  <a:txBody>
                    <a:bodyPr wrap="square"/>
                    <a:lstStyle/>
                    <a:p>
                      <a:pPr algn="ctr"/>
                      <a:r>
                        <a:rPr sz="1000" b="0">
                          <a:solidFill>
                            <a:srgbClr val="1F2733"/>
                          </a:solidFill>
                          <a:latin typeface="Meiryo"/>
                        </a:rPr>
                        <a:t>12:25</a:t>
                      </a:r>
                    </a:p>
                  </a:txBody>
                  <a:tcPr marL="36576" marR="36576" marT="18288" marB="18288" anchor="ctr">
                    <a:solidFill>
                      <a:srgbClr val="FBEAD2"/>
                    </a:solidFill>
                  </a:tcPr>
                </a:tc>
                <a:tc>
                  <a:txBody>
                    <a:bodyPr wrap="square"/>
                    <a:lstStyle/>
                    <a:p>
                      <a:pPr algn="ctr"/>
                      <a:r>
                        <a:rPr sz="1000" b="0">
                          <a:solidFill>
                            <a:srgbClr val="1F2733"/>
                          </a:solidFill>
                          <a:latin typeface="Meiryo"/>
                        </a:rPr>
                        <a:t>13:45</a:t>
                      </a:r>
                    </a:p>
                  </a:txBody>
                  <a:tcPr marL="36576" marR="36576" marT="18288" marB="18288" anchor="ctr">
                    <a:solidFill>
                      <a:srgbClr val="FBEAD2"/>
                    </a:solidFill>
                  </a:tcPr>
                </a:tc>
                <a:tc>
                  <a:txBody>
                    <a:bodyPr wrap="square"/>
                    <a:lstStyle/>
                    <a:p>
                      <a:pPr algn="ctr"/>
                      <a:r>
                        <a:rPr sz="1000" b="0">
                          <a:solidFill>
                            <a:srgbClr val="1F2733"/>
                          </a:solidFill>
                          <a:latin typeface="Meiryo"/>
                        </a:rPr>
                        <a:t>10:45</a:t>
                      </a:r>
                    </a:p>
                  </a:txBody>
                  <a:tcPr marL="36576" marR="36576" marT="18288" marB="18288" anchor="ctr">
                    <a:solidFill>
                      <a:srgbClr val="FBEAD2"/>
                    </a:solidFill>
                  </a:tcPr>
                </a:tc>
                <a:tc>
                  <a:txBody>
                    <a:bodyPr wrap="square"/>
                    <a:lstStyle/>
                    <a:p>
                      <a:pPr algn="ctr"/>
                      <a:r>
                        <a:rPr sz="1000" b="0">
                          <a:solidFill>
                            <a:srgbClr val="1F2733"/>
                          </a:solidFill>
                          <a:latin typeface="Meiryo"/>
                        </a:rPr>
                        <a:t>昼</a:t>
                      </a:r>
                    </a:p>
                  </a:txBody>
                  <a:tcPr marL="36576" marR="36576" marT="18288" marB="18288" anchor="ctr">
                    <a:solidFill>
                      <a:srgbClr val="FBEAD2"/>
                    </a:solidFill>
                  </a:tcPr>
                </a:tc>
                <a:tc>
                  <a:txBody>
                    <a:bodyPr wrap="square"/>
                    <a:lstStyle/>
                    <a:p>
                      <a:pPr algn="ctr"/>
                      <a:r>
                        <a:rPr sz="1000" b="0">
                          <a:solidFill>
                            <a:srgbClr val="1F2733"/>
                          </a:solidFill>
                          <a:latin typeface="Meiryo"/>
                        </a:rPr>
                        <a:t>△ 昼便</a:t>
                      </a:r>
                    </a:p>
                  </a:txBody>
                  <a:tcPr marL="36576" marR="36576" marT="18288" marB="18288" anchor="ctr">
                    <a:solidFill>
                      <a:srgbClr val="FBEAD2"/>
                    </a:solidFill>
                  </a:tcPr>
                </a:tc>
              </a:tr>
              <a:tr h="265175">
                <a:tc>
                  <a:txBody>
                    <a:bodyPr wrap="square"/>
                    <a:lstStyle/>
                    <a:p>
                      <a:pPr algn="ctr"/>
                      <a:r>
                        <a:rPr sz="1000" b="1">
                          <a:solidFill>
                            <a:srgbClr val="1F2733"/>
                          </a:solidFill>
                          <a:latin typeface="Meiryo"/>
                        </a:rPr>
                        <a:t>VJ</a:t>
                      </a:r>
                    </a:p>
                  </a:txBody>
                  <a:tcPr marL="36576" marR="36576" marT="18288" marB="18288" anchor="ctr">
                    <a:solidFill>
                      <a:srgbClr val="FBEAD2"/>
                    </a:solidFill>
                  </a:tcPr>
                </a:tc>
                <a:tc>
                  <a:txBody>
                    <a:bodyPr wrap="square"/>
                    <a:lstStyle/>
                    <a:p>
                      <a:pPr algn="ctr"/>
                      <a:r>
                        <a:rPr sz="1000" b="0">
                          <a:solidFill>
                            <a:srgbClr val="1F2733"/>
                          </a:solidFill>
                          <a:latin typeface="Meiryo"/>
                        </a:rPr>
                        <a:t>VJ934/935</a:t>
                      </a:r>
                    </a:p>
                  </a:txBody>
                  <a:tcPr marL="36576" marR="36576" marT="18288" marB="18288" anchor="ctr">
                    <a:solidFill>
                      <a:srgbClr val="FBEAD2"/>
                    </a:solidFill>
                  </a:tcPr>
                </a:tc>
                <a:tc>
                  <a:txBody>
                    <a:bodyPr wrap="square"/>
                    <a:lstStyle/>
                    <a:p>
                      <a:pPr algn="ctr"/>
                      <a:r>
                        <a:rPr sz="1000" b="0">
                          <a:solidFill>
                            <a:srgbClr val="1F2733"/>
                          </a:solidFill>
                          <a:latin typeface="Meiryo"/>
                        </a:rPr>
                        <a:t>HAN</a:t>
                      </a:r>
                    </a:p>
                  </a:txBody>
                  <a:tcPr marL="36576" marR="36576" marT="18288" marB="18288" anchor="ctr">
                    <a:solidFill>
                      <a:srgbClr val="FBEAD2"/>
                    </a:solidFill>
                  </a:tcPr>
                </a:tc>
                <a:tc>
                  <a:txBody>
                    <a:bodyPr wrap="square"/>
                    <a:lstStyle/>
                    <a:p>
                      <a:pPr algn="ctr"/>
                      <a:r>
                        <a:rPr sz="1000" b="0">
                          <a:solidFill>
                            <a:srgbClr val="1F2733"/>
                          </a:solidFill>
                          <a:latin typeface="Meiryo"/>
                        </a:rPr>
                        <a:t>15:30</a:t>
                      </a:r>
                    </a:p>
                  </a:txBody>
                  <a:tcPr marL="36576" marR="36576" marT="18288" marB="18288" anchor="ctr">
                    <a:solidFill>
                      <a:srgbClr val="FBEAD2"/>
                    </a:solidFill>
                  </a:tcPr>
                </a:tc>
                <a:tc>
                  <a:txBody>
                    <a:bodyPr wrap="square"/>
                    <a:lstStyle/>
                    <a:p>
                      <a:pPr algn="ctr"/>
                      <a:r>
                        <a:rPr sz="1000" b="0">
                          <a:solidFill>
                            <a:srgbClr val="1F2733"/>
                          </a:solidFill>
                          <a:latin typeface="Meiryo"/>
                        </a:rPr>
                        <a:t>16:30</a:t>
                      </a:r>
                    </a:p>
                  </a:txBody>
                  <a:tcPr marL="36576" marR="36576" marT="18288" marB="18288" anchor="ctr">
                    <a:solidFill>
                      <a:srgbClr val="FBEAD2"/>
                    </a:solidFill>
                  </a:tcPr>
                </a:tc>
                <a:tc>
                  <a:txBody>
                    <a:bodyPr wrap="square"/>
                    <a:lstStyle/>
                    <a:p>
                      <a:pPr algn="ctr"/>
                      <a:r>
                        <a:rPr sz="1000" b="0">
                          <a:solidFill>
                            <a:srgbClr val="1F2733"/>
                          </a:solidFill>
                          <a:latin typeface="Meiryo"/>
                        </a:rPr>
                        <a:t>13:30</a:t>
                      </a:r>
                    </a:p>
                  </a:txBody>
                  <a:tcPr marL="36576" marR="36576" marT="18288" marB="18288" anchor="ctr">
                    <a:solidFill>
                      <a:srgbClr val="FBEAD2"/>
                    </a:solidFill>
                  </a:tcPr>
                </a:tc>
                <a:tc>
                  <a:txBody>
                    <a:bodyPr wrap="square"/>
                    <a:lstStyle/>
                    <a:p>
                      <a:pPr algn="ctr"/>
                      <a:r>
                        <a:rPr sz="1000" b="0">
                          <a:solidFill>
                            <a:srgbClr val="1F2733"/>
                          </a:solidFill>
                          <a:latin typeface="Meiryo"/>
                        </a:rPr>
                        <a:t>夕</a:t>
                      </a:r>
                    </a:p>
                  </a:txBody>
                  <a:tcPr marL="36576" marR="36576" marT="18288" marB="18288" anchor="ctr">
                    <a:solidFill>
                      <a:srgbClr val="FBEAD2"/>
                    </a:solidFill>
                  </a:tcPr>
                </a:tc>
                <a:tc>
                  <a:txBody>
                    <a:bodyPr wrap="square"/>
                    <a:lstStyle/>
                    <a:p>
                      <a:pPr algn="ctr"/>
                      <a:r>
                        <a:rPr sz="1000" b="0">
                          <a:solidFill>
                            <a:srgbClr val="1F2733"/>
                          </a:solidFill>
                          <a:latin typeface="Meiryo"/>
                        </a:rPr>
                        <a:t>△ Winter条件付</a:t>
                      </a:r>
                    </a:p>
                  </a:txBody>
                  <a:tcPr marL="36576" marR="36576" marT="18288" marB="18288" anchor="ctr">
                    <a:solidFill>
                      <a:srgbClr val="FBEAD2"/>
                    </a:solidFill>
                  </a:tcPr>
                </a:tc>
              </a:tr>
              <a:tr h="265189">
                <a:tc>
                  <a:txBody>
                    <a:bodyPr wrap="square"/>
                    <a:lstStyle/>
                    <a:p>
                      <a:pPr algn="ctr"/>
                      <a:r>
                        <a:rPr sz="1000" b="1">
                          <a:solidFill>
                            <a:srgbClr val="1F2733"/>
                          </a:solidFill>
                          <a:latin typeface="Meiryo"/>
                        </a:rPr>
                        <a:t>5J</a:t>
                      </a:r>
                    </a:p>
                  </a:txBody>
                  <a:tcPr marL="36576" marR="36576" marT="18288" marB="18288" anchor="ctr">
                    <a:solidFill>
                      <a:srgbClr val="FBEAD2"/>
                    </a:solidFill>
                  </a:tcPr>
                </a:tc>
                <a:tc>
                  <a:txBody>
                    <a:bodyPr wrap="square"/>
                    <a:lstStyle/>
                    <a:p>
                      <a:pPr algn="ctr"/>
                      <a:r>
                        <a:rPr sz="1000" b="0">
                          <a:solidFill>
                            <a:srgbClr val="1F2733"/>
                          </a:solidFill>
                          <a:latin typeface="Meiryo"/>
                        </a:rPr>
                        <a:t>5J5056/057</a:t>
                      </a:r>
                    </a:p>
                  </a:txBody>
                  <a:tcPr marL="36576" marR="36576" marT="18288" marB="18288" anchor="ctr">
                    <a:solidFill>
                      <a:srgbClr val="FBEAD2"/>
                    </a:solidFill>
                  </a:tcPr>
                </a:tc>
                <a:tc>
                  <a:txBody>
                    <a:bodyPr wrap="square"/>
                    <a:lstStyle/>
                    <a:p>
                      <a:pPr algn="ctr"/>
                      <a:r>
                        <a:rPr sz="1000" b="0">
                          <a:solidFill>
                            <a:srgbClr val="1F2733"/>
                          </a:solidFill>
                          <a:latin typeface="Meiryo"/>
                        </a:rPr>
                        <a:t>MNL</a:t>
                      </a:r>
                    </a:p>
                  </a:txBody>
                  <a:tcPr marL="36576" marR="36576" marT="18288" marB="18288" anchor="ctr">
                    <a:solidFill>
                      <a:srgbClr val="FBEAD2"/>
                    </a:solidFill>
                  </a:tcPr>
                </a:tc>
                <a:tc>
                  <a:txBody>
                    <a:bodyPr wrap="square"/>
                    <a:lstStyle/>
                    <a:p>
                      <a:pPr algn="ctr"/>
                      <a:r>
                        <a:rPr sz="1000" b="0">
                          <a:solidFill>
                            <a:srgbClr val="1F2733"/>
                          </a:solidFill>
                          <a:latin typeface="Meiryo"/>
                        </a:rPr>
                        <a:t>18:00</a:t>
                      </a:r>
                    </a:p>
                  </a:txBody>
                  <a:tcPr marL="36576" marR="36576" marT="18288" marB="18288" anchor="ctr">
                    <a:solidFill>
                      <a:srgbClr val="FBEAD2"/>
                    </a:solidFill>
                  </a:tcPr>
                </a:tc>
                <a:tc>
                  <a:txBody>
                    <a:bodyPr wrap="square"/>
                    <a:lstStyle/>
                    <a:p>
                      <a:pPr algn="ctr"/>
                      <a:r>
                        <a:rPr sz="1000" b="0">
                          <a:solidFill>
                            <a:srgbClr val="1F2733"/>
                          </a:solidFill>
                          <a:latin typeface="Meiryo"/>
                        </a:rPr>
                        <a:t>19:15</a:t>
                      </a:r>
                    </a:p>
                  </a:txBody>
                  <a:tcPr marL="36576" marR="36576" marT="18288" marB="18288" anchor="ctr">
                    <a:solidFill>
                      <a:srgbClr val="FBEAD2"/>
                    </a:solidFill>
                  </a:tcPr>
                </a:tc>
                <a:tc>
                  <a:txBody>
                    <a:bodyPr wrap="square"/>
                    <a:lstStyle/>
                    <a:p>
                      <a:pPr algn="ctr"/>
                      <a:r>
                        <a:rPr sz="1000" b="0">
                          <a:solidFill>
                            <a:srgbClr val="1F2733"/>
                          </a:solidFill>
                          <a:latin typeface="Meiryo"/>
                        </a:rPr>
                        <a:t>16:15</a:t>
                      </a:r>
                    </a:p>
                  </a:txBody>
                  <a:tcPr marL="36576" marR="36576" marT="18288" marB="18288" anchor="ctr">
                    <a:solidFill>
                      <a:srgbClr val="FBEAD2"/>
                    </a:solidFill>
                  </a:tcPr>
                </a:tc>
                <a:tc>
                  <a:txBody>
                    <a:bodyPr wrap="square"/>
                    <a:lstStyle/>
                    <a:p>
                      <a:pPr algn="ctr"/>
                      <a:r>
                        <a:rPr sz="1000" b="0">
                          <a:solidFill>
                            <a:srgbClr val="1F2733"/>
                          </a:solidFill>
                          <a:latin typeface="Meiryo"/>
                        </a:rPr>
                        <a:t>夕</a:t>
                      </a:r>
                    </a:p>
                  </a:txBody>
                  <a:tcPr marL="36576" marR="36576" marT="18288" marB="18288" anchor="ctr">
                    <a:solidFill>
                      <a:srgbClr val="FBEAD2"/>
                    </a:solidFill>
                  </a:tcPr>
                </a:tc>
                <a:tc>
                  <a:txBody>
                    <a:bodyPr wrap="square"/>
                    <a:lstStyle/>
                    <a:p>
                      <a:pPr algn="ctr"/>
                      <a:r>
                        <a:rPr sz="1000" b="0">
                          <a:solidFill>
                            <a:srgbClr val="1F2733"/>
                          </a:solidFill>
                          <a:latin typeface="Meiryo"/>
                        </a:rPr>
                        <a:t>△ 夕便</a:t>
                      </a:r>
                    </a:p>
                  </a:txBody>
                  <a:tcPr marL="36576" marR="36576" marT="18288" marB="18288" anchor="ctr">
                    <a:solidFill>
                      <a:srgbClr val="FBEAD2"/>
                    </a:solidFill>
                  </a:tcPr>
                </a:tc>
              </a:tr>
            </a:tbl>
          </a:graphicData>
        </a:graphic>
      </p:graphicFrame>
      <p:sp>
        <p:nvSpPr>
          <p:cNvPr id="6" name="Rectangle 5"/>
          <p:cNvSpPr/>
          <p:nvPr/>
        </p:nvSpPr>
        <p:spPr>
          <a:xfrm>
            <a:off x="502920" y="6053328"/>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900" b="0">
                <a:solidFill>
                  <a:srgbClr val="9AA6B8"/>
                </a:solidFill>
                <a:latin typeface="Meiryo"/>
              </a:rPr>
              <a:t>◯＝朝ピークの配置候補（VN/AM/RF/5J/UL/VJ）。VJ934/935（夕方HAN）はWinter運休時は対象外、運航時は別途候補。時刻は線表の実データ。</a:t>
            </a:r>
          </a:p>
        </p:txBody>
      </p:sp>
      <p:sp>
        <p:nvSpPr>
          <p:cNvPr id="7" name="Rectangle 6"/>
          <p:cNvSpPr/>
          <p:nvPr/>
        </p:nvSpPr>
        <p:spPr>
          <a:xfrm>
            <a:off x="457200" y="6419088"/>
            <a:ext cx="5486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900" b="0">
                <a:solidFill>
                  <a:srgbClr val="6B7686"/>
                </a:solidFill>
                <a:latin typeface="Meiryo"/>
              </a:rPr>
              <a:t>短時間勤務者採用 説明会</a:t>
            </a:r>
          </a:p>
        </p:txBody>
      </p:sp>
      <p:sp>
        <p:nvSpPr>
          <p:cNvPr id="8" name="Rectangle 7"/>
          <p:cNvSpPr/>
          <p:nvPr/>
        </p:nvSpPr>
        <p:spPr>
          <a:xfrm>
            <a:off x="11155680" y="6419088"/>
            <a:ext cx="6400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r">
              <a:spcBef>
                <a:spcPts val="0"/>
              </a:spcBef>
              <a:spcAft>
                <a:spcPts val="200"/>
              </a:spcAft>
            </a:pPr>
            <a:r>
              <a:rPr sz="900" b="0">
                <a:solidFill>
                  <a:srgbClr val="6B7686"/>
                </a:solidFill>
                <a:latin typeface="Meiryo"/>
              </a:rPr>
              <a:t>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078992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300" b="1">
                <a:solidFill>
                  <a:srgbClr val="2E5AAC"/>
                </a:solidFill>
                <a:latin typeface="Meiryo"/>
              </a:rPr>
              <a:t>経営者目線①</a:t>
            </a:r>
          </a:p>
        </p:txBody>
      </p:sp>
      <p:sp>
        <p:nvSpPr>
          <p:cNvPr id="3" name="Rectangle 2"/>
          <p:cNvSpPr/>
          <p:nvPr/>
        </p:nvSpPr>
        <p:spPr>
          <a:xfrm>
            <a:off x="548640" y="841248"/>
            <a:ext cx="1106424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3000" b="1">
                <a:solidFill>
                  <a:srgbClr val="1B2A4A"/>
                </a:solidFill>
                <a:latin typeface="Meiryo"/>
              </a:rPr>
              <a:t>満席のレストランは、経営に成功しているのか？</a:t>
            </a:r>
          </a:p>
        </p:txBody>
      </p:sp>
      <p:sp>
        <p:nvSpPr>
          <p:cNvPr id="4" name="Rectangle 3"/>
          <p:cNvSpPr/>
          <p:nvPr/>
        </p:nvSpPr>
        <p:spPr>
          <a:xfrm>
            <a:off x="548640" y="2148840"/>
            <a:ext cx="5212080" cy="3291840"/>
          </a:xfrm>
          <a:prstGeom prst="rect">
            <a:avLst/>
          </a:prstGeom>
          <a:solidFill>
            <a:srgbClr val="E3F0EA"/>
          </a:solidFill>
          <a:ln w="12700">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p>
        </p:txBody>
      </p:sp>
      <p:sp>
        <p:nvSpPr>
          <p:cNvPr id="5" name="Rectangle 4"/>
          <p:cNvSpPr/>
          <p:nvPr/>
        </p:nvSpPr>
        <p:spPr>
          <a:xfrm>
            <a:off x="822960" y="2331720"/>
            <a:ext cx="46634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500" b="1">
                <a:solidFill>
                  <a:srgbClr val="2C6E49"/>
                </a:solidFill>
                <a:latin typeface="Meiryo"/>
              </a:rPr>
              <a:t>見えている姿</a:t>
            </a:r>
          </a:p>
        </p:txBody>
      </p:sp>
      <p:sp>
        <p:nvSpPr>
          <p:cNvPr id="6" name="Rectangle 5"/>
          <p:cNvSpPr/>
          <p:nvPr/>
        </p:nvSpPr>
        <p:spPr>
          <a:xfrm>
            <a:off x="960120" y="2880360"/>
            <a:ext cx="4572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400" b="0">
                <a:solidFill>
                  <a:srgbClr val="1F2733"/>
                </a:solidFill>
                <a:latin typeface="Meiryo"/>
              </a:rPr>
              <a:t>・ 満席（お客様でいっぱい）</a:t>
            </a:r>
          </a:p>
        </p:txBody>
      </p:sp>
      <p:sp>
        <p:nvSpPr>
          <p:cNvPr id="7" name="Rectangle 6"/>
          <p:cNvSpPr/>
          <p:nvPr/>
        </p:nvSpPr>
        <p:spPr>
          <a:xfrm>
            <a:off x="960120" y="3447288"/>
            <a:ext cx="4572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400" b="0">
                <a:solidFill>
                  <a:srgbClr val="1F2733"/>
                </a:solidFill>
                <a:latin typeface="Meiryo"/>
              </a:rPr>
              <a:t>・ 料理も好評</a:t>
            </a:r>
          </a:p>
        </p:txBody>
      </p:sp>
      <p:sp>
        <p:nvSpPr>
          <p:cNvPr id="8" name="Rectangle 7"/>
          <p:cNvSpPr/>
          <p:nvPr/>
        </p:nvSpPr>
        <p:spPr>
          <a:xfrm>
            <a:off x="960120" y="4014215"/>
            <a:ext cx="4572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400" b="0">
                <a:solidFill>
                  <a:srgbClr val="1F2733"/>
                </a:solidFill>
                <a:latin typeface="Meiryo"/>
              </a:rPr>
              <a:t>・ サービスも高評価</a:t>
            </a:r>
          </a:p>
        </p:txBody>
      </p:sp>
      <p:sp>
        <p:nvSpPr>
          <p:cNvPr id="9" name="Rectangle 8"/>
          <p:cNvSpPr/>
          <p:nvPr/>
        </p:nvSpPr>
        <p:spPr>
          <a:xfrm>
            <a:off x="960120" y="4581144"/>
            <a:ext cx="4572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400" b="0">
                <a:solidFill>
                  <a:srgbClr val="1F2733"/>
                </a:solidFill>
                <a:latin typeface="Meiryo"/>
              </a:rPr>
              <a:t>・ スタッフも一生懸命</a:t>
            </a:r>
          </a:p>
        </p:txBody>
      </p:sp>
      <p:sp>
        <p:nvSpPr>
          <p:cNvPr id="10" name="Rectangle 9"/>
          <p:cNvSpPr/>
          <p:nvPr/>
        </p:nvSpPr>
        <p:spPr>
          <a:xfrm>
            <a:off x="5989320" y="3246120"/>
            <a:ext cx="82296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200"/>
              </a:spcAft>
            </a:pPr>
            <a:r>
              <a:rPr sz="3000" b="1">
                <a:solidFill>
                  <a:srgbClr val="9AA6B8"/>
                </a:solidFill>
                <a:latin typeface="Meiryo"/>
              </a:rPr>
              <a:t>→</a:t>
            </a:r>
          </a:p>
        </p:txBody>
      </p:sp>
      <p:sp>
        <p:nvSpPr>
          <p:cNvPr id="11" name="Rectangle 10"/>
          <p:cNvSpPr/>
          <p:nvPr/>
        </p:nvSpPr>
        <p:spPr>
          <a:xfrm>
            <a:off x="6903720" y="2148840"/>
            <a:ext cx="4709160" cy="3291840"/>
          </a:xfrm>
          <a:prstGeom prst="rect">
            <a:avLst/>
          </a:prstGeom>
          <a:solidFill>
            <a:srgbClr val="F7E7E4"/>
          </a:solidFill>
          <a:ln w="12700">
            <a:solidFill>
              <a:srgbClr val="E4B9B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p>
        </p:txBody>
      </p:sp>
      <p:sp>
        <p:nvSpPr>
          <p:cNvPr id="12" name="Rectangle 11"/>
          <p:cNvSpPr/>
          <p:nvPr/>
        </p:nvSpPr>
        <p:spPr>
          <a:xfrm>
            <a:off x="7178040" y="2331720"/>
            <a:ext cx="42062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500" b="1">
                <a:solidFill>
                  <a:srgbClr val="C0392B"/>
                </a:solidFill>
                <a:latin typeface="Meiryo"/>
              </a:rPr>
              <a:t>しかし――</a:t>
            </a:r>
          </a:p>
        </p:txBody>
      </p:sp>
      <p:sp>
        <p:nvSpPr>
          <p:cNvPr id="13" name="Rectangle 12"/>
          <p:cNvSpPr/>
          <p:nvPr/>
        </p:nvSpPr>
        <p:spPr>
          <a:xfrm>
            <a:off x="7178040" y="3246120"/>
            <a:ext cx="420624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200"/>
              </a:spcAft>
            </a:pPr>
            <a:r>
              <a:rPr sz="3400" b="1">
                <a:solidFill>
                  <a:srgbClr val="C0392B"/>
                </a:solidFill>
                <a:latin typeface="Meiryo"/>
              </a:rPr>
              <a:t>売上 ＜ 原価</a:t>
            </a:r>
          </a:p>
        </p:txBody>
      </p:sp>
      <p:sp>
        <p:nvSpPr>
          <p:cNvPr id="14" name="Rectangle 13"/>
          <p:cNvSpPr/>
          <p:nvPr/>
        </p:nvSpPr>
        <p:spPr>
          <a:xfrm>
            <a:off x="7178040" y="4434840"/>
            <a:ext cx="4206240"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1300" b="0">
                <a:solidFill>
                  <a:srgbClr val="1F2733"/>
                </a:solidFill>
                <a:latin typeface="Meiryo"/>
              </a:rPr>
              <a:t>良い材料・十分な人員で</a:t>
            </a:r>
          </a:p>
          <a:p>
            <a:pPr algn="ctr">
              <a:spcBef>
                <a:spcPts val="0"/>
              </a:spcBef>
              <a:spcAft>
                <a:spcPts val="200"/>
              </a:spcAft>
            </a:pPr>
            <a:r>
              <a:rPr sz="1300" b="0">
                <a:solidFill>
                  <a:srgbClr val="1F2733"/>
                </a:solidFill>
                <a:latin typeface="Meiryo"/>
              </a:rPr>
              <a:t>原価が売上を上回っていた</a:t>
            </a:r>
          </a:p>
        </p:txBody>
      </p:sp>
      <p:sp>
        <p:nvSpPr>
          <p:cNvPr id="15" name="Rounded Rectangle 14"/>
          <p:cNvSpPr/>
          <p:nvPr/>
        </p:nvSpPr>
        <p:spPr>
          <a:xfrm>
            <a:off x="548640" y="5623560"/>
            <a:ext cx="11064240" cy="68580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200"/>
              </a:spcAft>
            </a:pPr>
            <a:r>
              <a:rPr sz="1700" b="1">
                <a:solidFill>
                  <a:srgbClr val="FFFFFF"/>
                </a:solidFill>
                <a:latin typeface="Meiryo"/>
              </a:rPr>
              <a:t>問い：これは経営として「成功」と言えるでしょうか？</a:t>
            </a:r>
          </a:p>
        </p:txBody>
      </p:sp>
      <p:sp>
        <p:nvSpPr>
          <p:cNvPr id="16" name="Rectangle 15"/>
          <p:cNvSpPr/>
          <p:nvPr/>
        </p:nvSpPr>
        <p:spPr>
          <a:xfrm>
            <a:off x="457200" y="6419088"/>
            <a:ext cx="5486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900" b="0">
                <a:solidFill>
                  <a:srgbClr val="6B7686"/>
                </a:solidFill>
                <a:latin typeface="Meiryo"/>
              </a:rPr>
              <a:t>短時間勤務者採用 説明会</a:t>
            </a:r>
          </a:p>
        </p:txBody>
      </p:sp>
      <p:sp>
        <p:nvSpPr>
          <p:cNvPr id="17" name="Rectangle 16"/>
          <p:cNvSpPr/>
          <p:nvPr/>
        </p:nvSpPr>
        <p:spPr>
          <a:xfrm>
            <a:off x="11155680" y="6419088"/>
            <a:ext cx="6400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r">
              <a:spcBef>
                <a:spcPts val="0"/>
              </a:spcBef>
              <a:spcAft>
                <a:spcPts val="200"/>
              </a:spcAft>
            </a:pPr>
            <a:r>
              <a:rPr sz="900" b="0">
                <a:solidFill>
                  <a:srgbClr val="6B7686"/>
                </a:solidFill>
                <a:latin typeface="Meiryo"/>
              </a:rPr>
              <a:t>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078992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300" b="1">
                <a:solidFill>
                  <a:srgbClr val="2E5AAC"/>
                </a:solidFill>
                <a:latin typeface="Meiryo"/>
              </a:rPr>
              <a:t>経営者目線②</a:t>
            </a:r>
          </a:p>
        </p:txBody>
      </p:sp>
      <p:sp>
        <p:nvSpPr>
          <p:cNvPr id="3" name="Rectangle 2"/>
          <p:cNvSpPr/>
          <p:nvPr/>
        </p:nvSpPr>
        <p:spPr>
          <a:xfrm>
            <a:off x="548640" y="841248"/>
            <a:ext cx="1106424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3000" b="1">
                <a:solidFill>
                  <a:srgbClr val="1B2A4A"/>
                </a:solidFill>
                <a:latin typeface="Meiryo"/>
              </a:rPr>
              <a:t>良いサービス ≠ 良い経営</a:t>
            </a:r>
          </a:p>
        </p:txBody>
      </p:sp>
      <p:sp>
        <p:nvSpPr>
          <p:cNvPr id="4" name="Rectangle 3"/>
          <p:cNvSpPr/>
          <p:nvPr/>
        </p:nvSpPr>
        <p:spPr>
          <a:xfrm>
            <a:off x="548640" y="2148840"/>
            <a:ext cx="5349240" cy="548640"/>
          </a:xfrm>
          <a:prstGeom prst="rect">
            <a:avLst/>
          </a:prstGeom>
          <a:solidFill>
            <a:srgbClr val="F3F4F7"/>
          </a:solidFill>
          <a:ln w="12700">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600" b="1">
                <a:solidFill>
                  <a:srgbClr val="2C6E49"/>
                </a:solidFill>
                <a:latin typeface="Meiryo"/>
              </a:rPr>
              <a:t>【レストラン】</a:t>
            </a:r>
          </a:p>
        </p:txBody>
      </p:sp>
      <p:sp>
        <p:nvSpPr>
          <p:cNvPr id="5" name="Rectangle 4"/>
          <p:cNvSpPr/>
          <p:nvPr/>
        </p:nvSpPr>
        <p:spPr>
          <a:xfrm>
            <a:off x="685800" y="2834640"/>
            <a:ext cx="50749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400" b="0">
                <a:solidFill>
                  <a:srgbClr val="1F2733"/>
                </a:solidFill>
                <a:latin typeface="Meiryo"/>
              </a:rPr>
              <a:t>・ 満席</a:t>
            </a:r>
          </a:p>
        </p:txBody>
      </p:sp>
      <p:sp>
        <p:nvSpPr>
          <p:cNvPr id="6" name="Rectangle 5"/>
          <p:cNvSpPr/>
          <p:nvPr/>
        </p:nvSpPr>
        <p:spPr>
          <a:xfrm>
            <a:off x="685800" y="3383280"/>
            <a:ext cx="50749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400" b="0">
                <a:solidFill>
                  <a:srgbClr val="1F2733"/>
                </a:solidFill>
                <a:latin typeface="Meiryo"/>
              </a:rPr>
              <a:t>・ 料理がおいしい</a:t>
            </a:r>
          </a:p>
        </p:txBody>
      </p:sp>
      <p:sp>
        <p:nvSpPr>
          <p:cNvPr id="7" name="Rectangle 6"/>
          <p:cNvSpPr/>
          <p:nvPr/>
        </p:nvSpPr>
        <p:spPr>
          <a:xfrm>
            <a:off x="685800" y="3931920"/>
            <a:ext cx="50749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400" b="0">
                <a:solidFill>
                  <a:srgbClr val="1F2733"/>
                </a:solidFill>
                <a:latin typeface="Meiryo"/>
              </a:rPr>
              <a:t>・ 評判がいい</a:t>
            </a:r>
          </a:p>
        </p:txBody>
      </p:sp>
      <p:sp>
        <p:nvSpPr>
          <p:cNvPr id="8" name="Rectangle 7"/>
          <p:cNvSpPr/>
          <p:nvPr/>
        </p:nvSpPr>
        <p:spPr>
          <a:xfrm>
            <a:off x="685800" y="4480560"/>
            <a:ext cx="50749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400" b="0">
                <a:solidFill>
                  <a:srgbClr val="1F2733"/>
                </a:solidFill>
                <a:latin typeface="Meiryo"/>
              </a:rPr>
              <a:t>・ 十分なスタッフ</a:t>
            </a:r>
          </a:p>
        </p:txBody>
      </p:sp>
      <p:sp>
        <p:nvSpPr>
          <p:cNvPr id="9" name="Rectangle 8"/>
          <p:cNvSpPr/>
          <p:nvPr/>
        </p:nvSpPr>
        <p:spPr>
          <a:xfrm>
            <a:off x="548640" y="5074920"/>
            <a:ext cx="5349240" cy="685800"/>
          </a:xfrm>
          <a:prstGeom prst="rect">
            <a:avLst/>
          </a:prstGeom>
          <a:solidFill>
            <a:srgbClr val="F7E7E4"/>
          </a:solidFill>
          <a:ln w="12700">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200"/>
              </a:spcAft>
            </a:pPr>
            <a:r>
              <a:rPr sz="1600" b="1">
                <a:solidFill>
                  <a:srgbClr val="C0392B"/>
                </a:solidFill>
                <a:latin typeface="Meiryo"/>
              </a:rPr>
              <a:t>しかし 売上 ＜ 原価</a:t>
            </a:r>
          </a:p>
        </p:txBody>
      </p:sp>
      <p:sp>
        <p:nvSpPr>
          <p:cNvPr id="10" name="Rectangle 9"/>
          <p:cNvSpPr/>
          <p:nvPr/>
        </p:nvSpPr>
        <p:spPr>
          <a:xfrm>
            <a:off x="6263640" y="2148840"/>
            <a:ext cx="5349240" cy="548640"/>
          </a:xfrm>
          <a:prstGeom prst="rect">
            <a:avLst/>
          </a:prstGeom>
          <a:solidFill>
            <a:srgbClr val="F3F4F7"/>
          </a:solidFill>
          <a:ln w="12700">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600" b="1">
                <a:solidFill>
                  <a:srgbClr val="2E5AAC"/>
                </a:solidFill>
                <a:latin typeface="Meiryo"/>
              </a:rPr>
              <a:t>【空港】</a:t>
            </a:r>
          </a:p>
        </p:txBody>
      </p:sp>
      <p:sp>
        <p:nvSpPr>
          <p:cNvPr id="11" name="Rectangle 10"/>
          <p:cNvSpPr/>
          <p:nvPr/>
        </p:nvSpPr>
        <p:spPr>
          <a:xfrm>
            <a:off x="6400800" y="2834640"/>
            <a:ext cx="50749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400" b="0">
                <a:solidFill>
                  <a:srgbClr val="1F2733"/>
                </a:solidFill>
                <a:latin typeface="Meiryo"/>
              </a:rPr>
              <a:t>・ 安定したオペレーション</a:t>
            </a:r>
          </a:p>
        </p:txBody>
      </p:sp>
      <p:sp>
        <p:nvSpPr>
          <p:cNvPr id="12" name="Rectangle 11"/>
          <p:cNvSpPr/>
          <p:nvPr/>
        </p:nvSpPr>
        <p:spPr>
          <a:xfrm>
            <a:off x="6400800" y="3383280"/>
            <a:ext cx="50749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400" b="0">
                <a:solidFill>
                  <a:srgbClr val="1F2733"/>
                </a:solidFill>
                <a:latin typeface="Meiryo"/>
              </a:rPr>
              <a:t>・ 十分な人員配置</a:t>
            </a:r>
          </a:p>
        </p:txBody>
      </p:sp>
      <p:sp>
        <p:nvSpPr>
          <p:cNvPr id="13" name="Rectangle 12"/>
          <p:cNvSpPr/>
          <p:nvPr/>
        </p:nvSpPr>
        <p:spPr>
          <a:xfrm>
            <a:off x="6400800" y="3931920"/>
            <a:ext cx="50749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400" b="0">
                <a:solidFill>
                  <a:srgbClr val="1F2733"/>
                </a:solidFill>
                <a:latin typeface="Meiryo"/>
              </a:rPr>
              <a:t>・ 高いサービス品質</a:t>
            </a:r>
          </a:p>
        </p:txBody>
      </p:sp>
      <p:sp>
        <p:nvSpPr>
          <p:cNvPr id="14" name="Rectangle 13"/>
          <p:cNvSpPr/>
          <p:nvPr/>
        </p:nvSpPr>
        <p:spPr>
          <a:xfrm>
            <a:off x="6400800" y="4480560"/>
            <a:ext cx="50749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400" b="0">
                <a:solidFill>
                  <a:srgbClr val="1F2733"/>
                </a:solidFill>
                <a:latin typeface="Meiryo"/>
              </a:rPr>
              <a:t>・ 現場の努力</a:t>
            </a:r>
          </a:p>
        </p:txBody>
      </p:sp>
      <p:sp>
        <p:nvSpPr>
          <p:cNvPr id="15" name="Rectangle 14"/>
          <p:cNvSpPr/>
          <p:nvPr/>
        </p:nvSpPr>
        <p:spPr>
          <a:xfrm>
            <a:off x="6263640" y="5074920"/>
            <a:ext cx="5349240" cy="685800"/>
          </a:xfrm>
          <a:prstGeom prst="rect">
            <a:avLst/>
          </a:prstGeom>
          <a:solidFill>
            <a:srgbClr val="F7E7E4"/>
          </a:solidFill>
          <a:ln w="12700">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200"/>
              </a:spcAft>
            </a:pPr>
            <a:r>
              <a:rPr sz="1600" b="1">
                <a:solidFill>
                  <a:srgbClr val="C0392B"/>
                </a:solidFill>
                <a:latin typeface="Meiryo"/>
              </a:rPr>
              <a:t>しかし 収入 ＜ 原価</a:t>
            </a:r>
          </a:p>
        </p:txBody>
      </p:sp>
      <p:sp>
        <p:nvSpPr>
          <p:cNvPr id="16" name="Rectangle 15"/>
          <p:cNvSpPr/>
          <p:nvPr/>
        </p:nvSpPr>
        <p:spPr>
          <a:xfrm>
            <a:off x="548640" y="5989320"/>
            <a:ext cx="1106424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1500" b="1">
                <a:solidFill>
                  <a:srgbClr val="1B2A4A"/>
                </a:solidFill>
                <a:latin typeface="Meiryo"/>
              </a:rPr>
              <a:t>良いサービスを提供しているだけでは、事業は継続できない。</a:t>
            </a:r>
          </a:p>
        </p:txBody>
      </p:sp>
      <p:sp>
        <p:nvSpPr>
          <p:cNvPr id="17" name="Rectangle 16"/>
          <p:cNvSpPr/>
          <p:nvPr/>
        </p:nvSpPr>
        <p:spPr>
          <a:xfrm>
            <a:off x="457200" y="6419088"/>
            <a:ext cx="5486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900" b="0">
                <a:solidFill>
                  <a:srgbClr val="6B7686"/>
                </a:solidFill>
                <a:latin typeface="Meiryo"/>
              </a:rPr>
              <a:t>短時間勤務者採用 説明会</a:t>
            </a:r>
          </a:p>
        </p:txBody>
      </p:sp>
      <p:sp>
        <p:nvSpPr>
          <p:cNvPr id="18" name="Rectangle 17"/>
          <p:cNvSpPr/>
          <p:nvPr/>
        </p:nvSpPr>
        <p:spPr>
          <a:xfrm>
            <a:off x="11155680" y="6419088"/>
            <a:ext cx="6400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r">
              <a:spcBef>
                <a:spcPts val="0"/>
              </a:spcBef>
              <a:spcAft>
                <a:spcPts val="200"/>
              </a:spcAft>
            </a:pPr>
            <a:r>
              <a:rPr sz="900" b="0">
                <a:solidFill>
                  <a:srgbClr val="6B7686"/>
                </a:solidFill>
                <a:latin typeface="Meiryo"/>
              </a:rPr>
              <a:t>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078992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300" b="1">
                <a:solidFill>
                  <a:srgbClr val="2E5AAC"/>
                </a:solidFill>
                <a:latin typeface="Meiryo"/>
              </a:rPr>
              <a:t>経営者目線③</a:t>
            </a:r>
          </a:p>
        </p:txBody>
      </p:sp>
      <p:sp>
        <p:nvSpPr>
          <p:cNvPr id="3" name="Rectangle 2"/>
          <p:cNvSpPr/>
          <p:nvPr/>
        </p:nvSpPr>
        <p:spPr>
          <a:xfrm>
            <a:off x="548640" y="841248"/>
            <a:ext cx="1106424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3000" b="1">
                <a:solidFill>
                  <a:srgbClr val="1B2A4A"/>
                </a:solidFill>
                <a:latin typeface="Meiryo"/>
              </a:rPr>
              <a:t>「売上を増やす」だけを、待つことはできない</a:t>
            </a:r>
          </a:p>
        </p:txBody>
      </p:sp>
      <p:sp>
        <p:nvSpPr>
          <p:cNvPr id="4" name="Rectangle 3"/>
          <p:cNvSpPr/>
          <p:nvPr/>
        </p:nvSpPr>
        <p:spPr>
          <a:xfrm>
            <a:off x="548640" y="2148840"/>
            <a:ext cx="5349240" cy="548640"/>
          </a:xfrm>
          <a:prstGeom prst="rect">
            <a:avLst/>
          </a:prstGeom>
          <a:solidFill>
            <a:srgbClr val="E5ECF7"/>
          </a:solidFill>
          <a:ln w="12700">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600" b="1">
                <a:solidFill>
                  <a:srgbClr val="2E5AAC"/>
                </a:solidFill>
                <a:latin typeface="Meiryo"/>
              </a:rPr>
              <a:t>売上を増やす</a:t>
            </a:r>
          </a:p>
        </p:txBody>
      </p:sp>
      <p:sp>
        <p:nvSpPr>
          <p:cNvPr id="5" name="Rectangle 4"/>
          <p:cNvSpPr/>
          <p:nvPr/>
        </p:nvSpPr>
        <p:spPr>
          <a:xfrm>
            <a:off x="685800" y="2834640"/>
            <a:ext cx="50749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400" b="0">
                <a:solidFill>
                  <a:srgbClr val="1F2733"/>
                </a:solidFill>
                <a:latin typeface="Meiryo"/>
              </a:rPr>
              <a:t>・ 営業強化</a:t>
            </a:r>
          </a:p>
        </p:txBody>
      </p:sp>
      <p:sp>
        <p:nvSpPr>
          <p:cNvPr id="6" name="Rectangle 5"/>
          <p:cNvSpPr/>
          <p:nvPr/>
        </p:nvSpPr>
        <p:spPr>
          <a:xfrm>
            <a:off x="685800" y="3364992"/>
            <a:ext cx="50749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400" b="0">
                <a:solidFill>
                  <a:srgbClr val="1F2733"/>
                </a:solidFill>
                <a:latin typeface="Meiryo"/>
              </a:rPr>
              <a:t>・ 新規受託</a:t>
            </a:r>
          </a:p>
        </p:txBody>
      </p:sp>
      <p:sp>
        <p:nvSpPr>
          <p:cNvPr id="7" name="Rectangle 6"/>
          <p:cNvSpPr/>
          <p:nvPr/>
        </p:nvSpPr>
        <p:spPr>
          <a:xfrm>
            <a:off x="685800" y="3895344"/>
            <a:ext cx="50749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400" b="0">
                <a:solidFill>
                  <a:srgbClr val="1F2733"/>
                </a:solidFill>
                <a:latin typeface="Meiryo"/>
              </a:rPr>
              <a:t>・ 増便</a:t>
            </a:r>
          </a:p>
        </p:txBody>
      </p:sp>
      <p:sp>
        <p:nvSpPr>
          <p:cNvPr id="8" name="Rectangle 7"/>
          <p:cNvSpPr/>
          <p:nvPr/>
        </p:nvSpPr>
        <p:spPr>
          <a:xfrm>
            <a:off x="685800" y="4425696"/>
            <a:ext cx="50749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400" b="0">
                <a:solidFill>
                  <a:srgbClr val="1F2733"/>
                </a:solidFill>
                <a:latin typeface="Meiryo"/>
              </a:rPr>
              <a:t>・ 単価改善</a:t>
            </a:r>
          </a:p>
        </p:txBody>
      </p:sp>
      <p:sp>
        <p:nvSpPr>
          <p:cNvPr id="9" name="Rectangle 8"/>
          <p:cNvSpPr/>
          <p:nvPr/>
        </p:nvSpPr>
        <p:spPr>
          <a:xfrm>
            <a:off x="548640" y="5029200"/>
            <a:ext cx="5349240" cy="548640"/>
          </a:xfrm>
          <a:prstGeom prst="rect">
            <a:avLst/>
          </a:prstGeom>
          <a:solidFill>
            <a:srgbClr val="F3F4F7"/>
          </a:solidFill>
          <a:ln w="12700">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200"/>
              </a:spcAft>
            </a:pPr>
            <a:r>
              <a:rPr sz="1400" b="1">
                <a:solidFill>
                  <a:srgbClr val="1F2733"/>
                </a:solidFill>
                <a:latin typeface="Meiryo"/>
              </a:rPr>
              <a:t>→ 当然、必要（時間はかかる）</a:t>
            </a:r>
          </a:p>
        </p:txBody>
      </p:sp>
      <p:sp>
        <p:nvSpPr>
          <p:cNvPr id="10" name="Rectangle 9"/>
          <p:cNvSpPr/>
          <p:nvPr/>
        </p:nvSpPr>
        <p:spPr>
          <a:xfrm>
            <a:off x="6263640" y="2148840"/>
            <a:ext cx="5349240" cy="548640"/>
          </a:xfrm>
          <a:prstGeom prst="rect">
            <a:avLst/>
          </a:prstGeom>
          <a:solidFill>
            <a:srgbClr val="E3F0EA"/>
          </a:solidFill>
          <a:ln w="12700">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600" b="1">
                <a:solidFill>
                  <a:srgbClr val="2C6E49"/>
                </a:solidFill>
                <a:latin typeface="Meiryo"/>
              </a:rPr>
              <a:t>原価を適正化する</a:t>
            </a:r>
          </a:p>
        </p:txBody>
      </p:sp>
      <p:sp>
        <p:nvSpPr>
          <p:cNvPr id="11" name="Rectangle 10"/>
          <p:cNvSpPr/>
          <p:nvPr/>
        </p:nvSpPr>
        <p:spPr>
          <a:xfrm>
            <a:off x="6400800" y="2834640"/>
            <a:ext cx="50749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400" b="0">
                <a:solidFill>
                  <a:srgbClr val="1F2733"/>
                </a:solidFill>
                <a:latin typeface="Meiryo"/>
              </a:rPr>
              <a:t>・ 必要人数の見直し</a:t>
            </a:r>
          </a:p>
        </p:txBody>
      </p:sp>
      <p:sp>
        <p:nvSpPr>
          <p:cNvPr id="12" name="Rectangle 11"/>
          <p:cNvSpPr/>
          <p:nvPr/>
        </p:nvSpPr>
        <p:spPr>
          <a:xfrm>
            <a:off x="6400800" y="3364992"/>
            <a:ext cx="50749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400" b="0">
                <a:solidFill>
                  <a:srgbClr val="1F2733"/>
                </a:solidFill>
                <a:latin typeface="Meiryo"/>
              </a:rPr>
              <a:t>・ 時間帯別の配置</a:t>
            </a:r>
          </a:p>
        </p:txBody>
      </p:sp>
      <p:sp>
        <p:nvSpPr>
          <p:cNvPr id="13" name="Rectangle 12"/>
          <p:cNvSpPr/>
          <p:nvPr/>
        </p:nvSpPr>
        <p:spPr>
          <a:xfrm>
            <a:off x="6400800" y="3895344"/>
            <a:ext cx="50749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400" b="0">
                <a:solidFill>
                  <a:srgbClr val="1F2733"/>
                </a:solidFill>
                <a:latin typeface="Meiryo"/>
              </a:rPr>
              <a:t>・ 雇用形態の組み合わせ</a:t>
            </a:r>
          </a:p>
        </p:txBody>
      </p:sp>
      <p:sp>
        <p:nvSpPr>
          <p:cNvPr id="14" name="Rectangle 13"/>
          <p:cNvSpPr/>
          <p:nvPr/>
        </p:nvSpPr>
        <p:spPr>
          <a:xfrm>
            <a:off x="6400800" y="4425696"/>
            <a:ext cx="50749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400" b="0">
                <a:solidFill>
                  <a:srgbClr val="1F2733"/>
                </a:solidFill>
                <a:latin typeface="Meiryo"/>
              </a:rPr>
              <a:t>・ 短時間勤務者の活用</a:t>
            </a:r>
          </a:p>
        </p:txBody>
      </p:sp>
      <p:sp>
        <p:nvSpPr>
          <p:cNvPr id="15" name="Rectangle 14"/>
          <p:cNvSpPr/>
          <p:nvPr/>
        </p:nvSpPr>
        <p:spPr>
          <a:xfrm>
            <a:off x="6263640" y="5029200"/>
            <a:ext cx="5349240" cy="548640"/>
          </a:xfrm>
          <a:prstGeom prst="rect">
            <a:avLst/>
          </a:prstGeom>
          <a:solidFill>
            <a:srgbClr val="E3F0EA"/>
          </a:solidFill>
          <a:ln w="12700">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200"/>
              </a:spcAft>
            </a:pPr>
            <a:r>
              <a:rPr sz="1400" b="1">
                <a:solidFill>
                  <a:srgbClr val="2C6E49"/>
                </a:solidFill>
                <a:latin typeface="Meiryo"/>
              </a:rPr>
              <a:t>→ 今すぐ、自分たちでできる</a:t>
            </a:r>
          </a:p>
        </p:txBody>
      </p:sp>
      <p:sp>
        <p:nvSpPr>
          <p:cNvPr id="16" name="Rounded Rectangle 15"/>
          <p:cNvSpPr/>
          <p:nvPr/>
        </p:nvSpPr>
        <p:spPr>
          <a:xfrm>
            <a:off x="548640" y="5897880"/>
            <a:ext cx="11064240" cy="50292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200"/>
              </a:spcAft>
            </a:pPr>
            <a:r>
              <a:rPr sz="1600" b="1">
                <a:solidFill>
                  <a:srgbClr val="FFFFFF"/>
                </a:solidFill>
                <a:latin typeface="Meiryo"/>
              </a:rPr>
              <a:t>営業と原価改善は、どちらか一方ではない。両方やる。</a:t>
            </a:r>
          </a:p>
        </p:txBody>
      </p:sp>
      <p:sp>
        <p:nvSpPr>
          <p:cNvPr id="17" name="Rectangle 16"/>
          <p:cNvSpPr/>
          <p:nvPr/>
        </p:nvSpPr>
        <p:spPr>
          <a:xfrm>
            <a:off x="457200" y="6419088"/>
            <a:ext cx="5486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900" b="0">
                <a:solidFill>
                  <a:srgbClr val="6B7686"/>
                </a:solidFill>
                <a:latin typeface="Meiryo"/>
              </a:rPr>
              <a:t>短時間勤務者採用 説明会</a:t>
            </a:r>
          </a:p>
        </p:txBody>
      </p:sp>
      <p:sp>
        <p:nvSpPr>
          <p:cNvPr id="18" name="Rectangle 17"/>
          <p:cNvSpPr/>
          <p:nvPr/>
        </p:nvSpPr>
        <p:spPr>
          <a:xfrm>
            <a:off x="11155680" y="6419088"/>
            <a:ext cx="6400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r">
              <a:spcBef>
                <a:spcPts val="0"/>
              </a:spcBef>
              <a:spcAft>
                <a:spcPts val="200"/>
              </a:spcAft>
            </a:pPr>
            <a:r>
              <a:rPr sz="900" b="0">
                <a:solidFill>
                  <a:srgbClr val="6B7686"/>
                </a:solidFill>
                <a:latin typeface="Meiryo"/>
              </a:rPr>
              <a:t>12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0058400" cy="320040"/>
          </a:xfrm>
          <a:prstGeom prst="rect">
            <a:avLst/>
          </a:prstGeom>
          <a:noFill/>
          <a:ln/>
        </p:spPr>
        <p:txBody>
          <a:bodyPr wrap="square" rtlCol="0" anchor="ctr"/>
          <a:lstStyle/>
          <a:p>
            <a:pPr indent="0" marL="0">
              <a:buNone/>
            </a:pPr>
            <a:r>
              <a:rPr lang="en-US" sz="1300" b="1" spc="200" kern="0" dirty="0">
                <a:solidFill>
                  <a:srgbClr val="2E5AAC"/>
                </a:solidFill>
                <a:latin typeface="Meiryo" pitchFamily="34" charset="0"/>
                <a:ea typeface="Meiryo" pitchFamily="34" charset="-122"/>
                <a:cs typeface="Meiryo" pitchFamily="34" charset="-120"/>
              </a:rPr>
              <a:t>人員の持ち方の転換</a:t>
            </a:r>
            <a:endParaRPr lang="en-US" sz="1300" dirty="0"/>
          </a:p>
        </p:txBody>
      </p:sp>
      <p:sp>
        <p:nvSpPr>
          <p:cNvPr id="3" name="Text 1"/>
          <p:cNvSpPr/>
          <p:nvPr/>
        </p:nvSpPr>
        <p:spPr>
          <a:xfrm>
            <a:off x="548640" y="841248"/>
            <a:ext cx="11064240" cy="822960"/>
          </a:xfrm>
          <a:prstGeom prst="rect">
            <a:avLst/>
          </a:prstGeom>
          <a:noFill/>
          <a:ln/>
        </p:spPr>
        <p:txBody>
          <a:bodyPr wrap="square" rtlCol="0" anchor="ctr"/>
          <a:lstStyle/>
          <a:p>
            <a:pPr algn="l" indent="0" marL="0">
              <a:buNone/>
            </a:pPr>
            <a:r>
              <a:rPr lang="en-US" sz="3000" b="1" dirty="0">
                <a:solidFill>
                  <a:srgbClr val="1B2A4A"/>
                </a:solidFill>
                <a:latin typeface="Meiryo" pitchFamily="34" charset="0"/>
                <a:ea typeface="Meiryo" pitchFamily="34" charset="-122"/>
                <a:cs typeface="Meiryo" pitchFamily="34" charset="-120"/>
              </a:rPr>
              <a:t>「人数」ではなく「時間 × 人数」で見る</a:t>
            </a:r>
            <a:endParaRPr lang="en-US" sz="3000" dirty="0"/>
          </a:p>
        </p:txBody>
      </p:sp>
      <p:sp>
        <p:nvSpPr>
          <p:cNvPr id="4" name="Shape 2"/>
          <p:cNvSpPr/>
          <p:nvPr/>
        </p:nvSpPr>
        <p:spPr>
          <a:xfrm>
            <a:off x="548640" y="2194560"/>
            <a:ext cx="5349240" cy="3749040"/>
          </a:xfrm>
          <a:prstGeom prst="roundRect">
            <a:avLst>
              <a:gd name="adj" fmla="val 1951"/>
            </a:avLst>
          </a:prstGeom>
          <a:solidFill>
            <a:srgbClr val="F3F4F7"/>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5" name="Text 3"/>
          <p:cNvSpPr/>
          <p:nvPr/>
        </p:nvSpPr>
        <p:spPr>
          <a:xfrm>
            <a:off x="822960" y="2423160"/>
            <a:ext cx="3657600" cy="365760"/>
          </a:xfrm>
          <a:prstGeom prst="rect">
            <a:avLst/>
          </a:prstGeom>
          <a:noFill/>
          <a:ln/>
        </p:spPr>
        <p:txBody>
          <a:bodyPr wrap="square" rtlCol="0" anchor="ctr"/>
          <a:lstStyle/>
          <a:p>
            <a:pPr indent="0" marL="0">
              <a:buNone/>
            </a:pPr>
            <a:r>
              <a:rPr lang="en-US" sz="1600" b="1" dirty="0">
                <a:solidFill>
                  <a:srgbClr val="6B7686"/>
                </a:solidFill>
                <a:latin typeface="Meiryo" pitchFamily="34" charset="0"/>
                <a:ea typeface="Meiryo" pitchFamily="34" charset="-122"/>
                <a:cs typeface="Meiryo" pitchFamily="34" charset="-120"/>
              </a:rPr>
              <a:t>これまで</a:t>
            </a:r>
            <a:endParaRPr lang="en-US" sz="1600" dirty="0"/>
          </a:p>
        </p:txBody>
      </p:sp>
      <p:sp>
        <p:nvSpPr>
          <p:cNvPr id="6" name="Text 4"/>
          <p:cNvSpPr/>
          <p:nvPr/>
        </p:nvSpPr>
        <p:spPr>
          <a:xfrm>
            <a:off x="822960" y="2834640"/>
            <a:ext cx="4846320" cy="640080"/>
          </a:xfrm>
          <a:prstGeom prst="rect">
            <a:avLst/>
          </a:prstGeom>
          <a:noFill/>
          <a:ln/>
        </p:spPr>
        <p:txBody>
          <a:bodyPr wrap="square" rtlCol="0" anchor="ctr"/>
          <a:lstStyle/>
          <a:p>
            <a:pPr indent="0" marL="0">
              <a:lnSpc>
                <a:spcPct val="110000"/>
              </a:lnSpc>
              <a:buNone/>
            </a:pPr>
            <a:r>
              <a:rPr lang="en-US" sz="1800" b="1" dirty="0">
                <a:solidFill>
                  <a:srgbClr val="1F2733"/>
                </a:solidFill>
                <a:latin typeface="Meiryo" pitchFamily="34" charset="0"/>
                <a:ea typeface="Meiryo" pitchFamily="34" charset="-122"/>
                <a:cs typeface="Meiryo" pitchFamily="34" charset="-120"/>
              </a:rPr>
              <a:t>「人が足りない」→ フルタイム社員を補充</a:t>
            </a:r>
            <a:endParaRPr lang="en-US" sz="1800" dirty="0"/>
          </a:p>
        </p:txBody>
      </p:sp>
      <p:sp>
        <p:nvSpPr>
          <p:cNvPr id="7" name="Text 5"/>
          <p:cNvSpPr/>
          <p:nvPr/>
        </p:nvSpPr>
        <p:spPr>
          <a:xfrm>
            <a:off x="1051560" y="3657600"/>
            <a:ext cx="4572000" cy="457200"/>
          </a:xfrm>
          <a:prstGeom prst="rect">
            <a:avLst/>
          </a:prstGeom>
          <a:noFill/>
          <a:ln/>
        </p:spPr>
        <p:txBody>
          <a:bodyPr wrap="square" rtlCol="0" anchor="ctr"/>
          <a:lstStyle/>
          <a:p>
            <a:pPr marL="177800" indent="-177800">
              <a:buSzPct val="100000"/>
              <a:buChar char="–"/>
            </a:pPr>
            <a:r>
              <a:rPr lang="en-US" sz="1350" dirty="0">
                <a:solidFill>
                  <a:srgbClr val="1F2733"/>
                </a:solidFill>
                <a:latin typeface="Meiryo" pitchFamily="34" charset="0"/>
                <a:ea typeface="Meiryo" pitchFamily="34" charset="-122"/>
                <a:cs typeface="Meiryo" pitchFamily="34" charset="-120"/>
              </a:rPr>
              <a:t>便が増える・退職が出れば正社員で穴埋め</a:t>
            </a:r>
            <a:endParaRPr lang="en-US" sz="1350" dirty="0"/>
          </a:p>
        </p:txBody>
      </p:sp>
      <p:sp>
        <p:nvSpPr>
          <p:cNvPr id="8" name="Text 6"/>
          <p:cNvSpPr/>
          <p:nvPr/>
        </p:nvSpPr>
        <p:spPr>
          <a:xfrm>
            <a:off x="1051560" y="4224528"/>
            <a:ext cx="4572000" cy="457200"/>
          </a:xfrm>
          <a:prstGeom prst="rect">
            <a:avLst/>
          </a:prstGeom>
          <a:noFill/>
          <a:ln/>
        </p:spPr>
        <p:txBody>
          <a:bodyPr wrap="square" rtlCol="0" anchor="ctr"/>
          <a:lstStyle/>
          <a:p>
            <a:pPr marL="177800" indent="-177800">
              <a:buSzPct val="100000"/>
              <a:buChar char="–"/>
            </a:pPr>
            <a:r>
              <a:rPr lang="en-US" sz="1350" dirty="0">
                <a:solidFill>
                  <a:srgbClr val="1F2733"/>
                </a:solidFill>
                <a:latin typeface="Meiryo" pitchFamily="34" charset="0"/>
                <a:ea typeface="Meiryo" pitchFamily="34" charset="-122"/>
                <a:cs typeface="Meiryo" pitchFamily="34" charset="-120"/>
              </a:rPr>
              <a:t>朝のピークのために8時間勤務者を増やす</a:t>
            </a:r>
            <a:endParaRPr lang="en-US" sz="1350" dirty="0"/>
          </a:p>
        </p:txBody>
      </p:sp>
      <p:sp>
        <p:nvSpPr>
          <p:cNvPr id="9" name="Text 7"/>
          <p:cNvSpPr/>
          <p:nvPr/>
        </p:nvSpPr>
        <p:spPr>
          <a:xfrm>
            <a:off x="1051560" y="4791456"/>
            <a:ext cx="4572000" cy="457200"/>
          </a:xfrm>
          <a:prstGeom prst="rect">
            <a:avLst/>
          </a:prstGeom>
          <a:noFill/>
          <a:ln/>
        </p:spPr>
        <p:txBody>
          <a:bodyPr wrap="square" rtlCol="0" anchor="ctr"/>
          <a:lstStyle/>
          <a:p>
            <a:pPr marL="177800" indent="-177800">
              <a:buSzPct val="100000"/>
              <a:buChar char="–"/>
            </a:pPr>
            <a:r>
              <a:rPr lang="en-US" sz="1350" dirty="0">
                <a:solidFill>
                  <a:srgbClr val="1F2733"/>
                </a:solidFill>
                <a:latin typeface="Meiryo" pitchFamily="34" charset="0"/>
                <a:ea typeface="Meiryo" pitchFamily="34" charset="-122"/>
                <a:cs typeface="Meiryo" pitchFamily="34" charset="-120"/>
              </a:rPr>
              <a:t>ピーク後の時間にも人件費が発生し続ける</a:t>
            </a:r>
            <a:endParaRPr lang="en-US" sz="1350" dirty="0"/>
          </a:p>
        </p:txBody>
      </p:sp>
      <p:sp>
        <p:nvSpPr>
          <p:cNvPr id="10" name="Shape 8"/>
          <p:cNvSpPr/>
          <p:nvPr/>
        </p:nvSpPr>
        <p:spPr>
          <a:xfrm>
            <a:off x="6053328" y="3657600"/>
            <a:ext cx="777240" cy="822960"/>
          </a:xfrm>
          <a:prstGeom prst="rightArrow">
            <a:avLst/>
          </a:prstGeom>
          <a:solidFill>
            <a:srgbClr val="B8891B"/>
          </a:solidFill>
          <a:ln/>
        </p:spPr>
        <p:txBody>
          <a:bodyPr/>
          <a:p/>
        </p:txBody>
      </p:sp>
      <p:sp>
        <p:nvSpPr>
          <p:cNvPr id="11" name="Shape 9"/>
          <p:cNvSpPr/>
          <p:nvPr/>
        </p:nvSpPr>
        <p:spPr>
          <a:xfrm>
            <a:off x="6995160" y="2194560"/>
            <a:ext cx="4645152" cy="3749040"/>
          </a:xfrm>
          <a:prstGeom prst="roundRect">
            <a:avLst>
              <a:gd name="adj" fmla="val 1951"/>
            </a:avLst>
          </a:prstGeom>
          <a:solidFill>
            <a:srgbClr val="E3F0EA"/>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2" name="Text 10"/>
          <p:cNvSpPr/>
          <p:nvPr/>
        </p:nvSpPr>
        <p:spPr>
          <a:xfrm>
            <a:off x="7269480" y="2423160"/>
            <a:ext cx="3657600" cy="365760"/>
          </a:xfrm>
          <a:prstGeom prst="rect">
            <a:avLst/>
          </a:prstGeom>
          <a:noFill/>
          <a:ln/>
        </p:spPr>
        <p:txBody>
          <a:bodyPr wrap="square" rtlCol="0" anchor="ctr"/>
          <a:lstStyle/>
          <a:p>
            <a:pPr indent="0" marL="0">
              <a:buNone/>
            </a:pPr>
            <a:r>
              <a:rPr lang="en-US" sz="1600" b="1" dirty="0">
                <a:solidFill>
                  <a:srgbClr val="1E7A5A"/>
                </a:solidFill>
                <a:latin typeface="Meiryo" pitchFamily="34" charset="0"/>
                <a:ea typeface="Meiryo" pitchFamily="34" charset="-122"/>
                <a:cs typeface="Meiryo" pitchFamily="34" charset="-120"/>
              </a:rPr>
              <a:t>これから</a:t>
            </a:r>
            <a:endParaRPr lang="en-US" sz="1600" dirty="0"/>
          </a:p>
        </p:txBody>
      </p:sp>
      <p:sp>
        <p:nvSpPr>
          <p:cNvPr id="13" name="Text 11"/>
          <p:cNvSpPr/>
          <p:nvPr/>
        </p:nvSpPr>
        <p:spPr>
          <a:xfrm>
            <a:off x="7269480" y="2834640"/>
            <a:ext cx="4114800" cy="640080"/>
          </a:xfrm>
          <a:prstGeom prst="rect">
            <a:avLst/>
          </a:prstGeom>
          <a:noFill/>
          <a:ln/>
        </p:spPr>
        <p:txBody>
          <a:bodyPr wrap="square" rtlCol="0" anchor="ctr"/>
          <a:lstStyle/>
          <a:p>
            <a:pPr indent="0" marL="0">
              <a:lnSpc>
                <a:spcPct val="110000"/>
              </a:lnSpc>
              <a:buNone/>
            </a:pPr>
            <a:r>
              <a:rPr lang="en-US" sz="1800" b="1" dirty="0">
                <a:solidFill>
                  <a:srgbClr val="1F2733"/>
                </a:solidFill>
                <a:latin typeface="Meiryo" pitchFamily="34" charset="0"/>
                <a:ea typeface="Meiryo" pitchFamily="34" charset="-122"/>
                <a:cs typeface="Meiryo" pitchFamily="34" charset="-120"/>
              </a:rPr>
              <a:t>「何時に・どこで・何人足りないか」を確認</a:t>
            </a:r>
            <a:endParaRPr lang="en-US" sz="1800" dirty="0"/>
          </a:p>
        </p:txBody>
      </p:sp>
      <p:sp>
        <p:nvSpPr>
          <p:cNvPr id="14" name="Text 12"/>
          <p:cNvSpPr/>
          <p:nvPr/>
        </p:nvSpPr>
        <p:spPr>
          <a:xfrm>
            <a:off x="7498080" y="3657600"/>
            <a:ext cx="3931920" cy="457200"/>
          </a:xfrm>
          <a:prstGeom prst="rect">
            <a:avLst/>
          </a:prstGeom>
          <a:noFill/>
          <a:ln/>
        </p:spPr>
        <p:txBody>
          <a:bodyPr wrap="square" rtlCol="0" anchor="ctr"/>
          <a:lstStyle/>
          <a:p>
            <a:pPr marL="177800" indent="-177800">
              <a:buSzPct val="100000"/>
              <a:buChar char="✓"/>
            </a:pPr>
            <a:r>
              <a:rPr lang="en-US" sz="1350" dirty="0">
                <a:solidFill>
                  <a:srgbClr val="1F2733"/>
                </a:solidFill>
                <a:latin typeface="Meiryo" pitchFamily="34" charset="0"/>
                <a:ea typeface="Meiryo" pitchFamily="34" charset="-122"/>
                <a:cs typeface="Meiryo" pitchFamily="34" charset="-120"/>
              </a:rPr>
              <a:t>何人・何時から何時まで・どのポジションかまで分解</a:t>
            </a:r>
            <a:endParaRPr lang="en-US" sz="1350" dirty="0"/>
          </a:p>
        </p:txBody>
      </p:sp>
      <p:sp>
        <p:nvSpPr>
          <p:cNvPr id="15" name="Text 13"/>
          <p:cNvSpPr/>
          <p:nvPr/>
        </p:nvSpPr>
        <p:spPr>
          <a:xfrm>
            <a:off x="7498080" y="4224528"/>
            <a:ext cx="3931920" cy="457200"/>
          </a:xfrm>
          <a:prstGeom prst="rect">
            <a:avLst/>
          </a:prstGeom>
          <a:noFill/>
          <a:ln/>
        </p:spPr>
        <p:txBody>
          <a:bodyPr wrap="square" rtlCol="0" anchor="ctr"/>
          <a:lstStyle/>
          <a:p>
            <a:pPr marL="177800" indent="-177800">
              <a:buSzPct val="100000"/>
              <a:buChar char="✓"/>
            </a:pPr>
            <a:r>
              <a:rPr lang="en-US" sz="1350" dirty="0">
                <a:solidFill>
                  <a:srgbClr val="1F2733"/>
                </a:solidFill>
                <a:latin typeface="Meiryo" pitchFamily="34" charset="0"/>
                <a:ea typeface="Meiryo" pitchFamily="34" charset="-122"/>
                <a:cs typeface="Meiryo" pitchFamily="34" charset="-120"/>
              </a:rPr>
              <a:t>正社員＋経験者＋短時間勤務者を組み合わせる</a:t>
            </a:r>
            <a:endParaRPr lang="en-US" sz="1350" dirty="0"/>
          </a:p>
        </p:txBody>
      </p:sp>
      <p:sp>
        <p:nvSpPr>
          <p:cNvPr id="16" name="Text 14"/>
          <p:cNvSpPr/>
          <p:nvPr/>
        </p:nvSpPr>
        <p:spPr>
          <a:xfrm>
            <a:off x="7498080" y="4791456"/>
            <a:ext cx="3931920" cy="457200"/>
          </a:xfrm>
          <a:prstGeom prst="rect">
            <a:avLst/>
          </a:prstGeom>
          <a:noFill/>
          <a:ln/>
        </p:spPr>
        <p:txBody>
          <a:bodyPr wrap="square" rtlCol="0" anchor="ctr"/>
          <a:lstStyle/>
          <a:p>
            <a:pPr marL="177800" indent="-177800">
              <a:buSzPct val="100000"/>
              <a:buChar char="✓"/>
            </a:pPr>
            <a:r>
              <a:rPr lang="en-US" sz="1350" dirty="0">
                <a:solidFill>
                  <a:srgbClr val="1F2733"/>
                </a:solidFill>
                <a:latin typeface="Meiryo" pitchFamily="34" charset="0"/>
                <a:ea typeface="Meiryo" pitchFamily="34" charset="-122"/>
                <a:cs typeface="Meiryo" pitchFamily="34" charset="-120"/>
              </a:rPr>
              <a:t>必要な時間に、必要な出面だけを確保する</a:t>
            </a:r>
            <a:endParaRPr lang="en-US" sz="1350" dirty="0"/>
          </a:p>
        </p:txBody>
      </p:sp>
      <p:sp>
        <p:nvSpPr>
          <p:cNvPr id="17" name="Text 15"/>
          <p:cNvSpPr/>
          <p:nvPr/>
        </p:nvSpPr>
        <p:spPr>
          <a:xfrm>
            <a:off x="457200" y="6419088"/>
            <a:ext cx="5486400" cy="274320"/>
          </a:xfrm>
          <a:prstGeom prst="rect">
            <a:avLst/>
          </a:prstGeom>
          <a:noFill/>
          <a:ln/>
        </p:spPr>
        <p:txBody>
          <a:bodyPr wrap="square" rtlCol="0" anchor="ctr"/>
          <a:lstStyle/>
          <a:p>
            <a:pPr algn="l" indent="0" marL="0">
              <a:buNone/>
            </a:pPr>
            <a:r>
              <a:rPr lang="en-US" sz="900" dirty="0">
                <a:solidFill>
                  <a:srgbClr val="6B7686"/>
                </a:solidFill>
                <a:latin typeface="Meiryo" pitchFamily="34" charset="0"/>
                <a:ea typeface="Meiryo" pitchFamily="34" charset="-122"/>
                <a:cs typeface="Meiryo" pitchFamily="34" charset="-120"/>
              </a:rPr>
              <a:t>短時間勤務者採用 説明会</a:t>
            </a:r>
            <a:endParaRPr lang="en-US" sz="900" dirty="0"/>
          </a:p>
        </p:txBody>
      </p:sp>
      <p:sp>
        <p:nvSpPr>
          <p:cNvPr id="18" name="Text 16"/>
          <p:cNvSpPr/>
          <p:nvPr/>
        </p:nvSpPr>
        <p:spPr>
          <a:xfrm>
            <a:off x="11338560" y="6419088"/>
            <a:ext cx="457200" cy="274320"/>
          </a:xfrm>
          <a:prstGeom prst="rect">
            <a:avLst/>
          </a:prstGeom>
          <a:noFill/>
          <a:ln/>
        </p:spPr>
        <p:txBody>
          <a:bodyPr wrap="square" rtlCol="0" anchor="ctr"/>
          <a:lstStyle/>
          <a:p>
            <a:pPr algn="r" indent="0" marL="0">
              <a:buNone/>
            </a:pPr>
            <a:r>
              <a:rPr lang="en-US" sz="900" dirty="0">
                <a:solidFill>
                  <a:srgbClr val="6B7686"/>
                </a:solidFill>
                <a:latin typeface="Meiryo" pitchFamily="34" charset="0"/>
                <a:ea typeface="Meiryo" pitchFamily="34" charset="-122"/>
                <a:cs typeface="Meiryo" pitchFamily="34" charset="-120"/>
              </a:rPr>
              <a:t>13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502920"/>
            <a:ext cx="10058400" cy="320040"/>
          </a:xfrm>
          <a:prstGeom prst="rect">
            <a:avLst/>
          </a:prstGeom>
          <a:noFill/>
          <a:ln/>
        </p:spPr>
        <p:txBody>
          <a:bodyPr wrap="square" rtlCol="0" anchor="ctr"/>
          <a:lstStyle/>
          <a:p>
            <a:pPr indent="0" marL="0">
              <a:buNone/>
            </a:pPr>
            <a:r>
              <a:rPr lang="en-US" sz="1300" b="1" spc="200" kern="0" dirty="0">
                <a:solidFill>
                  <a:srgbClr val="2E5AAC"/>
                </a:solidFill>
                <a:latin typeface="Meiryo" pitchFamily="34" charset="0"/>
                <a:ea typeface="Meiryo" pitchFamily="34" charset="-122"/>
                <a:cs typeface="Meiryo" pitchFamily="34" charset="-120"/>
              </a:rPr>
              <a:t>考え方の具体例</a:t>
            </a:r>
            <a:endParaRPr lang="en-US" sz="1300" dirty="0"/>
          </a:p>
        </p:txBody>
      </p:sp>
      <p:sp>
        <p:nvSpPr>
          <p:cNvPr id="3" name="Text 1"/>
          <p:cNvSpPr/>
          <p:nvPr/>
        </p:nvSpPr>
        <p:spPr>
          <a:xfrm>
            <a:off x="548640" y="841248"/>
            <a:ext cx="11064240" cy="822960"/>
          </a:xfrm>
          <a:prstGeom prst="rect">
            <a:avLst/>
          </a:prstGeom>
          <a:noFill/>
          <a:ln/>
        </p:spPr>
        <p:txBody>
          <a:bodyPr wrap="square" rtlCol="0" anchor="ctr"/>
          <a:lstStyle/>
          <a:p>
            <a:pPr algn="l" indent="0" marL="0">
              <a:buNone/>
            </a:pPr>
            <a:r>
              <a:rPr lang="en-US" sz="3000" b="1" dirty="0">
                <a:solidFill>
                  <a:srgbClr val="1B2A4A"/>
                </a:solidFill>
                <a:latin typeface="Meiryo" pitchFamily="34" charset="0"/>
                <a:ea typeface="Meiryo" pitchFamily="34" charset="-122"/>
                <a:cs typeface="Meiryo" pitchFamily="34" charset="-120"/>
              </a:rPr>
              <a:t>必要なのは「10人の社員」ではなく</a:t>
            </a:r>
            <a:endParaRPr lang="en-US" sz="3000" dirty="0"/>
          </a:p>
          <a:p>
            <a:pPr algn="l" indent="0" marL="0">
              <a:buNone/>
            </a:pPr>
            <a:r>
              <a:rPr lang="en-US" sz="3000" b="1" dirty="0">
                <a:solidFill>
                  <a:srgbClr val="1B2A4A"/>
                </a:solidFill>
                <a:latin typeface="Meiryo" pitchFamily="34" charset="0"/>
                <a:ea typeface="Meiryo" pitchFamily="34" charset="-122"/>
                <a:cs typeface="Meiryo" pitchFamily="34" charset="-120"/>
              </a:rPr>
              <a:t>「4時間 × 10人分の出面」</a:t>
            </a:r>
            <a:endParaRPr lang="en-US" sz="3000" dirty="0"/>
          </a:p>
        </p:txBody>
      </p:sp>
      <p:sp>
        <p:nvSpPr>
          <p:cNvPr id="4" name="Shape 2"/>
          <p:cNvSpPr/>
          <p:nvPr/>
        </p:nvSpPr>
        <p:spPr>
          <a:xfrm>
            <a:off x="548640" y="2514600"/>
            <a:ext cx="11091672" cy="1371600"/>
          </a:xfrm>
          <a:prstGeom prst="roundRect">
            <a:avLst>
              <a:gd name="adj" fmla="val 5333"/>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5" name="Text 3"/>
          <p:cNvSpPr/>
          <p:nvPr/>
        </p:nvSpPr>
        <p:spPr>
          <a:xfrm>
            <a:off x="914400" y="2788920"/>
            <a:ext cx="10332720" cy="822960"/>
          </a:xfrm>
          <a:prstGeom prst="rect">
            <a:avLst/>
          </a:prstGeom>
          <a:noFill/>
          <a:ln/>
        </p:spPr>
        <p:txBody>
          <a:bodyPr wrap="square" rtlCol="0" anchor="ctr"/>
          <a:lstStyle/>
          <a:p>
            <a:pPr indent="0" marL="0">
              <a:buNone/>
            </a:pPr>
            <a:r>
              <a:rPr lang="en-US" sz="1800" dirty="0">
                <a:solidFill>
                  <a:srgbClr val="1F2733"/>
                </a:solidFill>
                <a:latin typeface="Meiryo" pitchFamily="34" charset="0"/>
                <a:ea typeface="Meiryo" pitchFamily="34" charset="-122"/>
                <a:cs typeface="Meiryo" pitchFamily="34" charset="-120"/>
              </a:rPr>
              <a:t>例）朝 6:00〜10:00 の 4時間 だけ、</a:t>
            </a:r>
            <a:pPr indent="0" marL="0">
              <a:buNone/>
            </a:pPr>
            <a:r>
              <a:rPr lang="en-US" sz="2000" b="1" dirty="0">
                <a:solidFill>
                  <a:srgbClr val="C0392B"/>
                </a:solidFill>
                <a:latin typeface="Meiryo" pitchFamily="34" charset="0"/>
                <a:ea typeface="Meiryo" pitchFamily="34" charset="-122"/>
                <a:cs typeface="Meiryo" pitchFamily="34" charset="-120"/>
              </a:rPr>
              <a:t>10人不足</a:t>
            </a:r>
            <a:pPr indent="0" marL="0">
              <a:buNone/>
            </a:pPr>
            <a:r>
              <a:rPr lang="en-US" sz="1800" dirty="0">
                <a:solidFill>
                  <a:srgbClr val="1F2733"/>
                </a:solidFill>
                <a:latin typeface="Meiryo" pitchFamily="34" charset="0"/>
                <a:ea typeface="Meiryo" pitchFamily="34" charset="-122"/>
                <a:cs typeface="Meiryo" pitchFamily="34" charset="-120"/>
              </a:rPr>
              <a:t> しているとする</a:t>
            </a:r>
            <a:endParaRPr lang="en-US" sz="1800" dirty="0"/>
          </a:p>
        </p:txBody>
      </p:sp>
      <p:sp>
        <p:nvSpPr>
          <p:cNvPr id="6" name="Shape 4"/>
          <p:cNvSpPr/>
          <p:nvPr/>
        </p:nvSpPr>
        <p:spPr>
          <a:xfrm>
            <a:off x="548640" y="4114800"/>
            <a:ext cx="5349240" cy="1920240"/>
          </a:xfrm>
          <a:prstGeom prst="roundRect">
            <a:avLst>
              <a:gd name="adj" fmla="val 3810"/>
            </a:avLst>
          </a:prstGeom>
          <a:solidFill>
            <a:srgbClr val="F3F4F7"/>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7" name="Text 5"/>
          <p:cNvSpPr/>
          <p:nvPr/>
        </p:nvSpPr>
        <p:spPr>
          <a:xfrm>
            <a:off x="822960" y="4297680"/>
            <a:ext cx="3657600" cy="365760"/>
          </a:xfrm>
          <a:prstGeom prst="rect">
            <a:avLst/>
          </a:prstGeom>
          <a:noFill/>
          <a:ln/>
        </p:spPr>
        <p:txBody>
          <a:bodyPr wrap="square" rtlCol="0" anchor="ctr"/>
          <a:lstStyle/>
          <a:p>
            <a:pPr indent="0" marL="0">
              <a:buNone/>
            </a:pPr>
            <a:r>
              <a:rPr lang="en-US" sz="1400" b="1" dirty="0">
                <a:solidFill>
                  <a:srgbClr val="6B7686"/>
                </a:solidFill>
                <a:latin typeface="Meiryo" pitchFamily="34" charset="0"/>
                <a:ea typeface="Meiryo" pitchFamily="34" charset="-122"/>
                <a:cs typeface="Meiryo" pitchFamily="34" charset="-120"/>
              </a:rPr>
              <a:t>従来の発想</a:t>
            </a:r>
            <a:endParaRPr lang="en-US" sz="1400" dirty="0"/>
          </a:p>
        </p:txBody>
      </p:sp>
      <p:sp>
        <p:nvSpPr>
          <p:cNvPr id="8" name="Text 6"/>
          <p:cNvSpPr/>
          <p:nvPr/>
        </p:nvSpPr>
        <p:spPr>
          <a:xfrm>
            <a:off x="822960" y="4709160"/>
            <a:ext cx="4846320" cy="640080"/>
          </a:xfrm>
          <a:prstGeom prst="rect">
            <a:avLst/>
          </a:prstGeom>
          <a:noFill/>
          <a:ln/>
        </p:spPr>
        <p:txBody>
          <a:bodyPr wrap="square" rtlCol="0" anchor="ctr"/>
          <a:lstStyle/>
          <a:p>
            <a:pPr indent="0" marL="0">
              <a:lnSpc>
                <a:spcPct val="110000"/>
              </a:lnSpc>
              <a:buNone/>
            </a:pPr>
            <a:r>
              <a:rPr lang="en-US" sz="1600" b="1" dirty="0">
                <a:solidFill>
                  <a:srgbClr val="1F2733"/>
                </a:solidFill>
                <a:latin typeface="Meiryo" pitchFamily="34" charset="0"/>
                <a:ea typeface="Meiryo" pitchFamily="34" charset="-122"/>
                <a:cs typeface="Meiryo" pitchFamily="34" charset="-120"/>
              </a:rPr>
              <a:t>8時間勤務のフルタイム社員を10人採用</a:t>
            </a:r>
            <a:endParaRPr lang="en-US" sz="1600" dirty="0"/>
          </a:p>
        </p:txBody>
      </p:sp>
      <p:sp>
        <p:nvSpPr>
          <p:cNvPr id="9" name="Text 7"/>
          <p:cNvSpPr/>
          <p:nvPr/>
        </p:nvSpPr>
        <p:spPr>
          <a:xfrm>
            <a:off x="822960" y="5440680"/>
            <a:ext cx="4846320" cy="457200"/>
          </a:xfrm>
          <a:prstGeom prst="rect">
            <a:avLst/>
          </a:prstGeom>
          <a:noFill/>
          <a:ln/>
        </p:spPr>
        <p:txBody>
          <a:bodyPr wrap="square" rtlCol="0" anchor="ctr"/>
          <a:lstStyle/>
          <a:p>
            <a:pPr indent="0" marL="0">
              <a:buNone/>
            </a:pPr>
            <a:r>
              <a:rPr lang="en-US" sz="1300" dirty="0">
                <a:solidFill>
                  <a:srgbClr val="C0392B"/>
                </a:solidFill>
                <a:latin typeface="Meiryo" pitchFamily="34" charset="0"/>
                <a:ea typeface="Meiryo" pitchFamily="34" charset="-122"/>
                <a:cs typeface="Meiryo" pitchFamily="34" charset="-120"/>
              </a:rPr>
              <a:t>→ ピークが終わった残り時間にも人件費が発生</a:t>
            </a:r>
            <a:endParaRPr lang="en-US" sz="1300" dirty="0"/>
          </a:p>
        </p:txBody>
      </p:sp>
      <p:sp>
        <p:nvSpPr>
          <p:cNvPr id="10" name="Shape 8"/>
          <p:cNvSpPr/>
          <p:nvPr/>
        </p:nvSpPr>
        <p:spPr>
          <a:xfrm>
            <a:off x="6995160" y="4114800"/>
            <a:ext cx="4645152" cy="1920240"/>
          </a:xfrm>
          <a:prstGeom prst="roundRect">
            <a:avLst>
              <a:gd name="adj" fmla="val 3810"/>
            </a:avLst>
          </a:prstGeom>
          <a:solidFill>
            <a:srgbClr val="E3F0EA"/>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1" name="Text 9"/>
          <p:cNvSpPr/>
          <p:nvPr/>
        </p:nvSpPr>
        <p:spPr>
          <a:xfrm>
            <a:off x="7269480" y="4297680"/>
            <a:ext cx="3657600" cy="365760"/>
          </a:xfrm>
          <a:prstGeom prst="rect">
            <a:avLst/>
          </a:prstGeom>
          <a:noFill/>
          <a:ln/>
        </p:spPr>
        <p:txBody>
          <a:bodyPr wrap="square" rtlCol="0" anchor="ctr"/>
          <a:lstStyle/>
          <a:p>
            <a:pPr indent="0" marL="0">
              <a:buNone/>
            </a:pPr>
            <a:r>
              <a:rPr lang="en-US" sz="1400" b="1" dirty="0">
                <a:solidFill>
                  <a:srgbClr val="1E7A5A"/>
                </a:solidFill>
                <a:latin typeface="Meiryo" pitchFamily="34" charset="0"/>
                <a:ea typeface="Meiryo" pitchFamily="34" charset="-122"/>
                <a:cs typeface="Meiryo" pitchFamily="34" charset="-120"/>
              </a:rPr>
              <a:t>これからの発想</a:t>
            </a:r>
            <a:endParaRPr lang="en-US" sz="1400" dirty="0"/>
          </a:p>
        </p:txBody>
      </p:sp>
      <p:sp>
        <p:nvSpPr>
          <p:cNvPr id="12" name="Text 10"/>
          <p:cNvSpPr/>
          <p:nvPr/>
        </p:nvSpPr>
        <p:spPr>
          <a:xfrm>
            <a:off x="7269480" y="4709160"/>
            <a:ext cx="4206240" cy="640080"/>
          </a:xfrm>
          <a:prstGeom prst="rect">
            <a:avLst/>
          </a:prstGeom>
          <a:noFill/>
          <a:ln/>
        </p:spPr>
        <p:txBody>
          <a:bodyPr wrap="square" rtlCol="0" anchor="ctr"/>
          <a:lstStyle/>
          <a:p>
            <a:pPr indent="0" marL="0">
              <a:lnSpc>
                <a:spcPct val="110000"/>
              </a:lnSpc>
              <a:buNone/>
            </a:pPr>
            <a:r>
              <a:rPr lang="en-US" sz="1600" b="1" dirty="0">
                <a:solidFill>
                  <a:srgbClr val="1F2733"/>
                </a:solidFill>
                <a:latin typeface="Meiryo" pitchFamily="34" charset="0"/>
                <a:ea typeface="Meiryo" pitchFamily="34" charset="-122"/>
                <a:cs typeface="Meiryo" pitchFamily="34" charset="-120"/>
              </a:rPr>
              <a:t>ピークの4〜5時間だけ働く人を配置</a:t>
            </a:r>
            <a:endParaRPr lang="en-US" sz="1600" dirty="0"/>
          </a:p>
        </p:txBody>
      </p:sp>
      <p:sp>
        <p:nvSpPr>
          <p:cNvPr id="13" name="Text 11"/>
          <p:cNvSpPr/>
          <p:nvPr/>
        </p:nvSpPr>
        <p:spPr>
          <a:xfrm>
            <a:off x="7269480" y="5440680"/>
            <a:ext cx="4114800" cy="457200"/>
          </a:xfrm>
          <a:prstGeom prst="rect">
            <a:avLst/>
          </a:prstGeom>
          <a:noFill/>
          <a:ln/>
        </p:spPr>
        <p:txBody>
          <a:bodyPr wrap="square" rtlCol="0" anchor="ctr"/>
          <a:lstStyle/>
          <a:p>
            <a:pPr indent="0" marL="0">
              <a:buNone/>
            </a:pPr>
            <a:r>
              <a:rPr lang="en-US" sz="1300" dirty="0">
                <a:solidFill>
                  <a:srgbClr val="1E7A5A"/>
                </a:solidFill>
                <a:latin typeface="Meiryo" pitchFamily="34" charset="0"/>
                <a:ea typeface="Meiryo" pitchFamily="34" charset="-122"/>
                <a:cs typeface="Meiryo" pitchFamily="34" charset="-120"/>
              </a:rPr>
              <a:t>→ 必要な時間だけに人件費を集中でき、合理的</a:t>
            </a:r>
            <a:endParaRPr lang="en-US" sz="1300" dirty="0"/>
          </a:p>
        </p:txBody>
      </p:sp>
      <p:sp>
        <p:nvSpPr>
          <p:cNvPr id="14" name="Text 12"/>
          <p:cNvSpPr/>
          <p:nvPr/>
        </p:nvSpPr>
        <p:spPr>
          <a:xfrm>
            <a:off x="457200" y="6419088"/>
            <a:ext cx="5486400" cy="274320"/>
          </a:xfrm>
          <a:prstGeom prst="rect">
            <a:avLst/>
          </a:prstGeom>
          <a:noFill/>
          <a:ln/>
        </p:spPr>
        <p:txBody>
          <a:bodyPr wrap="square" rtlCol="0" anchor="ctr"/>
          <a:lstStyle/>
          <a:p>
            <a:pPr algn="l" indent="0" marL="0">
              <a:buNone/>
            </a:pPr>
            <a:r>
              <a:rPr lang="en-US" sz="900" dirty="0">
                <a:solidFill>
                  <a:srgbClr val="6B7686"/>
                </a:solidFill>
                <a:latin typeface="Meiryo" pitchFamily="34" charset="0"/>
                <a:ea typeface="Meiryo" pitchFamily="34" charset="-122"/>
                <a:cs typeface="Meiryo" pitchFamily="34" charset="-120"/>
              </a:rPr>
              <a:t>短時間勤務者採用 説明会</a:t>
            </a:r>
            <a:endParaRPr lang="en-US" sz="900" dirty="0"/>
          </a:p>
        </p:txBody>
      </p:sp>
      <p:sp>
        <p:nvSpPr>
          <p:cNvPr id="15" name="Text 13"/>
          <p:cNvSpPr/>
          <p:nvPr/>
        </p:nvSpPr>
        <p:spPr>
          <a:xfrm>
            <a:off x="11338560" y="6419088"/>
            <a:ext cx="457200" cy="274320"/>
          </a:xfrm>
          <a:prstGeom prst="rect">
            <a:avLst/>
          </a:prstGeom>
          <a:noFill/>
          <a:ln/>
        </p:spPr>
        <p:txBody>
          <a:bodyPr wrap="square" rtlCol="0" anchor="ctr"/>
          <a:lstStyle/>
          <a:p>
            <a:pPr algn="r" indent="0" marL="0">
              <a:buNone/>
            </a:pPr>
            <a:r>
              <a:rPr lang="en-US" sz="900" dirty="0">
                <a:solidFill>
                  <a:srgbClr val="6B7686"/>
                </a:solidFill>
                <a:latin typeface="Meiryo" pitchFamily="34" charset="0"/>
                <a:ea typeface="Meiryo" pitchFamily="34" charset="-122"/>
                <a:cs typeface="Meiryo" pitchFamily="34" charset="-120"/>
              </a:rPr>
              <a:t>14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0058400" cy="320040"/>
          </a:xfrm>
          <a:prstGeom prst="rect">
            <a:avLst/>
          </a:prstGeom>
          <a:noFill/>
          <a:ln/>
        </p:spPr>
        <p:txBody>
          <a:bodyPr wrap="square" rtlCol="0" anchor="ctr"/>
          <a:lstStyle/>
          <a:p>
            <a:pPr indent="0" marL="0">
              <a:buNone/>
            </a:pPr>
            <a:r>
              <a:rPr lang="en-US" sz="1300" b="1" spc="200" kern="0" dirty="0">
                <a:solidFill>
                  <a:srgbClr val="2E5AAC"/>
                </a:solidFill>
                <a:latin typeface="Meiryo" pitchFamily="34" charset="0"/>
                <a:ea typeface="Meiryo" pitchFamily="34" charset="-122"/>
                <a:cs typeface="Meiryo" pitchFamily="34" charset="-120"/>
              </a:rPr>
              <a:t>短時間勤務者の基本設計</a:t>
            </a:r>
            <a:endParaRPr lang="en-US" sz="1300" dirty="0"/>
          </a:p>
        </p:txBody>
      </p:sp>
      <p:sp>
        <p:nvSpPr>
          <p:cNvPr id="3" name="Text 1"/>
          <p:cNvSpPr/>
          <p:nvPr/>
        </p:nvSpPr>
        <p:spPr>
          <a:xfrm>
            <a:off x="548640" y="841248"/>
            <a:ext cx="11064240" cy="822960"/>
          </a:xfrm>
          <a:prstGeom prst="rect">
            <a:avLst/>
          </a:prstGeom>
          <a:noFill/>
          <a:ln/>
        </p:spPr>
        <p:txBody>
          <a:bodyPr wrap="square" rtlCol="0" anchor="ctr"/>
          <a:lstStyle/>
          <a:p>
            <a:pPr algn="l" indent="0" marL="0">
              <a:buNone/>
            </a:pPr>
            <a:r>
              <a:rPr lang="en-US" sz="3000" b="1" dirty="0">
                <a:solidFill>
                  <a:srgbClr val="1B2A4A"/>
                </a:solidFill>
                <a:latin typeface="Meiryo" pitchFamily="34" charset="0"/>
                <a:ea typeface="Meiryo" pitchFamily="34" charset="-122"/>
                <a:cs typeface="Meiryo" pitchFamily="34" charset="-120"/>
              </a:rPr>
              <a:t>基本イメージ ―「決定」と「検討中」を分けて進める</a:t>
            </a:r>
            <a:endParaRPr lang="en-US" sz="3000" dirty="0"/>
          </a:p>
        </p:txBody>
      </p:sp>
      <p:sp>
        <p:nvSpPr>
          <p:cNvPr id="4" name="Shape 2"/>
          <p:cNvSpPr/>
          <p:nvPr/>
        </p:nvSpPr>
        <p:spPr>
          <a:xfrm>
            <a:off x="548640" y="2194560"/>
            <a:ext cx="6309360" cy="3749040"/>
          </a:xfrm>
          <a:prstGeom prst="roundRect">
            <a:avLst>
              <a:gd name="adj" fmla="val 1951"/>
            </a:avLst>
          </a:prstGeom>
          <a:solidFill>
            <a:srgbClr val="E9EEF8"/>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5" name="Text 3"/>
          <p:cNvSpPr/>
          <p:nvPr/>
        </p:nvSpPr>
        <p:spPr>
          <a:xfrm>
            <a:off x="822960" y="2377440"/>
            <a:ext cx="5486400" cy="365760"/>
          </a:xfrm>
          <a:prstGeom prst="rect">
            <a:avLst/>
          </a:prstGeom>
          <a:noFill/>
          <a:ln/>
        </p:spPr>
        <p:txBody>
          <a:bodyPr wrap="square" rtlCol="0" anchor="ctr"/>
          <a:lstStyle/>
          <a:p>
            <a:pPr indent="0" marL="0">
              <a:buNone/>
            </a:pPr>
            <a:r>
              <a:rPr lang="en-US" sz="1500" b="1" dirty="0">
                <a:solidFill>
                  <a:srgbClr val="2E5AAC"/>
                </a:solidFill>
                <a:latin typeface="Meiryo" pitchFamily="34" charset="0"/>
                <a:ea typeface="Meiryo" pitchFamily="34" charset="-122"/>
                <a:cs typeface="Meiryo" pitchFamily="34" charset="-120"/>
              </a:rPr>
              <a:t>決定・想定している方向</a:t>
            </a:r>
            <a:endParaRPr lang="en-US" sz="1500" dirty="0"/>
          </a:p>
        </p:txBody>
      </p:sp>
      <p:sp>
        <p:nvSpPr>
          <p:cNvPr id="6" name="Text 4"/>
          <p:cNvSpPr/>
          <p:nvPr/>
        </p:nvSpPr>
        <p:spPr>
          <a:xfrm>
            <a:off x="868680" y="2880360"/>
            <a:ext cx="1554480" cy="548640"/>
          </a:xfrm>
          <a:prstGeom prst="rect">
            <a:avLst/>
          </a:prstGeom>
          <a:noFill/>
          <a:ln/>
        </p:spPr>
        <p:txBody>
          <a:bodyPr wrap="square" rtlCol="0" anchor="ctr"/>
          <a:lstStyle/>
          <a:p>
            <a:pPr indent="0" marL="0">
              <a:buNone/>
            </a:pPr>
            <a:r>
              <a:rPr lang="en-US" sz="1350" b="1" dirty="0">
                <a:solidFill>
                  <a:srgbClr val="1F2733"/>
                </a:solidFill>
                <a:latin typeface="Meiryo" pitchFamily="34" charset="0"/>
                <a:ea typeface="Meiryo" pitchFamily="34" charset="-122"/>
                <a:cs typeface="Meiryo" pitchFamily="34" charset="-120"/>
              </a:rPr>
              <a:t>勤務時間</a:t>
            </a:r>
            <a:endParaRPr lang="en-US" sz="1350" dirty="0"/>
          </a:p>
        </p:txBody>
      </p:sp>
      <p:sp>
        <p:nvSpPr>
          <p:cNvPr id="7" name="Text 5"/>
          <p:cNvSpPr/>
          <p:nvPr/>
        </p:nvSpPr>
        <p:spPr>
          <a:xfrm>
            <a:off x="2514600" y="2880360"/>
            <a:ext cx="4206240" cy="548640"/>
          </a:xfrm>
          <a:prstGeom prst="rect">
            <a:avLst/>
          </a:prstGeom>
          <a:noFill/>
          <a:ln/>
        </p:spPr>
        <p:txBody>
          <a:bodyPr wrap="square" rtlCol="0" anchor="ctr"/>
          <a:lstStyle/>
          <a:p>
            <a:pPr indent="0" marL="0">
              <a:buNone/>
            </a:pPr>
            <a:r>
              <a:rPr lang="en-US" sz="1350" dirty="0">
                <a:solidFill>
                  <a:srgbClr val="1F2733"/>
                </a:solidFill>
                <a:latin typeface="Meiryo" pitchFamily="34" charset="0"/>
                <a:ea typeface="Meiryo" pitchFamily="34" charset="-122"/>
                <a:cs typeface="Meiryo" pitchFamily="34" charset="-120"/>
              </a:rPr>
              <a:t>1日 4〜5時間程度を基本</a:t>
            </a:r>
            <a:endParaRPr lang="en-US" sz="1350" dirty="0"/>
          </a:p>
        </p:txBody>
      </p:sp>
      <p:sp>
        <p:nvSpPr>
          <p:cNvPr id="8" name="Shape 6"/>
          <p:cNvSpPr/>
          <p:nvPr/>
        </p:nvSpPr>
        <p:spPr>
          <a:xfrm>
            <a:off x="868680" y="3447288"/>
            <a:ext cx="5852160" cy="0"/>
          </a:xfrm>
          <a:prstGeom prst="line">
            <a:avLst/>
          </a:prstGeom>
          <a:noFill/>
          <a:ln w="9525">
            <a:solidFill>
              <a:srgbClr val="C7D3E8"/>
            </a:solidFill>
            <a:prstDash val="solid"/>
          </a:ln>
        </p:spPr>
        <p:txBody>
          <a:bodyPr/>
          <a:p/>
        </p:txBody>
      </p:sp>
      <p:sp>
        <p:nvSpPr>
          <p:cNvPr id="9" name="Text 7"/>
          <p:cNvSpPr/>
          <p:nvPr/>
        </p:nvSpPr>
        <p:spPr>
          <a:xfrm>
            <a:off x="868680" y="3538728"/>
            <a:ext cx="1554480" cy="548640"/>
          </a:xfrm>
          <a:prstGeom prst="rect">
            <a:avLst/>
          </a:prstGeom>
          <a:noFill/>
          <a:ln/>
        </p:spPr>
        <p:txBody>
          <a:bodyPr wrap="square" rtlCol="0" anchor="ctr"/>
          <a:lstStyle/>
          <a:p>
            <a:pPr indent="0" marL="0">
              <a:buNone/>
            </a:pPr>
            <a:r>
              <a:rPr lang="en-US" sz="1350" b="1" dirty="0">
                <a:solidFill>
                  <a:srgbClr val="1F2733"/>
                </a:solidFill>
                <a:latin typeface="Meiryo" pitchFamily="34" charset="0"/>
                <a:ea typeface="Meiryo" pitchFamily="34" charset="-122"/>
                <a:cs typeface="Meiryo" pitchFamily="34" charset="-120"/>
              </a:rPr>
              <a:t>勤務日数</a:t>
            </a:r>
            <a:endParaRPr lang="en-US" sz="1350" dirty="0"/>
          </a:p>
        </p:txBody>
      </p:sp>
      <p:sp>
        <p:nvSpPr>
          <p:cNvPr id="10" name="Text 8"/>
          <p:cNvSpPr/>
          <p:nvPr/>
        </p:nvSpPr>
        <p:spPr>
          <a:xfrm>
            <a:off x="2514600" y="3538728"/>
            <a:ext cx="4206240" cy="548640"/>
          </a:xfrm>
          <a:prstGeom prst="rect">
            <a:avLst/>
          </a:prstGeom>
          <a:noFill/>
          <a:ln/>
        </p:spPr>
        <p:txBody>
          <a:bodyPr wrap="square" rtlCol="0" anchor="ctr"/>
          <a:lstStyle/>
          <a:p>
            <a:pPr indent="0" marL="0">
              <a:buNone/>
            </a:pPr>
            <a:r>
              <a:rPr lang="en-US" sz="1350" dirty="0">
                <a:solidFill>
                  <a:srgbClr val="1F2733"/>
                </a:solidFill>
                <a:latin typeface="Meiryo" pitchFamily="34" charset="0"/>
                <a:ea typeface="Meiryo" pitchFamily="34" charset="-122"/>
                <a:cs typeface="Meiryo" pitchFamily="34" charset="-120"/>
              </a:rPr>
              <a:t>週3日程度〜／原則 週20時間未満</a:t>
            </a:r>
            <a:endParaRPr lang="en-US" sz="1350" dirty="0"/>
          </a:p>
        </p:txBody>
      </p:sp>
      <p:sp>
        <p:nvSpPr>
          <p:cNvPr id="11" name="Shape 9"/>
          <p:cNvSpPr/>
          <p:nvPr/>
        </p:nvSpPr>
        <p:spPr>
          <a:xfrm>
            <a:off x="868680" y="4105656"/>
            <a:ext cx="5852160" cy="0"/>
          </a:xfrm>
          <a:prstGeom prst="line">
            <a:avLst/>
          </a:prstGeom>
          <a:noFill/>
          <a:ln w="9525">
            <a:solidFill>
              <a:srgbClr val="C7D3E8"/>
            </a:solidFill>
            <a:prstDash val="solid"/>
          </a:ln>
        </p:spPr>
        <p:txBody>
          <a:bodyPr/>
          <a:p/>
        </p:txBody>
      </p:sp>
      <p:sp>
        <p:nvSpPr>
          <p:cNvPr id="12" name="Text 10"/>
          <p:cNvSpPr/>
          <p:nvPr/>
        </p:nvSpPr>
        <p:spPr>
          <a:xfrm>
            <a:off x="868680" y="4197096"/>
            <a:ext cx="1554480" cy="548640"/>
          </a:xfrm>
          <a:prstGeom prst="rect">
            <a:avLst/>
          </a:prstGeom>
          <a:noFill/>
          <a:ln/>
        </p:spPr>
        <p:txBody>
          <a:bodyPr wrap="square" rtlCol="0" anchor="ctr"/>
          <a:lstStyle/>
          <a:p>
            <a:pPr indent="0" marL="0">
              <a:buNone/>
            </a:pPr>
            <a:r>
              <a:rPr lang="en-US" sz="1350" b="1" dirty="0">
                <a:solidFill>
                  <a:srgbClr val="1F2733"/>
                </a:solidFill>
                <a:latin typeface="Meiryo" pitchFamily="34" charset="0"/>
                <a:ea typeface="Meiryo" pitchFamily="34" charset="-122"/>
                <a:cs typeface="Meiryo" pitchFamily="34" charset="-120"/>
              </a:rPr>
              <a:t>配置</a:t>
            </a:r>
            <a:endParaRPr lang="en-US" sz="1350" dirty="0"/>
          </a:p>
        </p:txBody>
      </p:sp>
      <p:sp>
        <p:nvSpPr>
          <p:cNvPr id="13" name="Text 11"/>
          <p:cNvSpPr/>
          <p:nvPr/>
        </p:nvSpPr>
        <p:spPr>
          <a:xfrm>
            <a:off x="2514600" y="4197096"/>
            <a:ext cx="4206240" cy="548640"/>
          </a:xfrm>
          <a:prstGeom prst="rect">
            <a:avLst/>
          </a:prstGeom>
          <a:noFill/>
          <a:ln/>
        </p:spPr>
        <p:txBody>
          <a:bodyPr wrap="square" rtlCol="0" anchor="ctr"/>
          <a:lstStyle/>
          <a:p>
            <a:pPr indent="0" marL="0">
              <a:buNone/>
            </a:pPr>
            <a:r>
              <a:rPr lang="en-US" sz="1350" dirty="0">
                <a:solidFill>
                  <a:srgbClr val="1F2733"/>
                </a:solidFill>
                <a:latin typeface="Meiryo" pitchFamily="34" charset="0"/>
                <a:ea typeface="Meiryo" pitchFamily="34" charset="-122"/>
                <a:cs typeface="Meiryo" pitchFamily="34" charset="-120"/>
              </a:rPr>
              <a:t>各支店のピーク時間帯を中心に</a:t>
            </a:r>
            <a:endParaRPr lang="en-US" sz="1350" dirty="0"/>
          </a:p>
        </p:txBody>
      </p:sp>
      <p:sp>
        <p:nvSpPr>
          <p:cNvPr id="14" name="Shape 12"/>
          <p:cNvSpPr/>
          <p:nvPr/>
        </p:nvSpPr>
        <p:spPr>
          <a:xfrm>
            <a:off x="868680" y="4764024"/>
            <a:ext cx="5852160" cy="0"/>
          </a:xfrm>
          <a:prstGeom prst="line">
            <a:avLst/>
          </a:prstGeom>
          <a:noFill/>
          <a:ln w="9525">
            <a:solidFill>
              <a:srgbClr val="C7D3E8"/>
            </a:solidFill>
            <a:prstDash val="solid"/>
          </a:ln>
        </p:spPr>
        <p:txBody>
          <a:bodyPr/>
          <a:p/>
        </p:txBody>
      </p:sp>
      <p:sp>
        <p:nvSpPr>
          <p:cNvPr id="15" name="Text 13"/>
          <p:cNvSpPr/>
          <p:nvPr/>
        </p:nvSpPr>
        <p:spPr>
          <a:xfrm>
            <a:off x="868680" y="4855464"/>
            <a:ext cx="1554480" cy="548640"/>
          </a:xfrm>
          <a:prstGeom prst="rect">
            <a:avLst/>
          </a:prstGeom>
          <a:noFill/>
          <a:ln/>
        </p:spPr>
        <p:txBody>
          <a:bodyPr wrap="square" rtlCol="0" anchor="ctr"/>
          <a:lstStyle/>
          <a:p>
            <a:pPr indent="0" marL="0">
              <a:buNone/>
            </a:pPr>
            <a:r>
              <a:rPr lang="en-US" sz="1350" b="1" dirty="0">
                <a:solidFill>
                  <a:srgbClr val="1F2733"/>
                </a:solidFill>
                <a:latin typeface="Meiryo" pitchFamily="34" charset="0"/>
                <a:ea typeface="Meiryo" pitchFamily="34" charset="-122"/>
                <a:cs typeface="Meiryo" pitchFamily="34" charset="-120"/>
              </a:rPr>
              <a:t>対象</a:t>
            </a:r>
            <a:endParaRPr lang="en-US" sz="1350" dirty="0"/>
          </a:p>
        </p:txBody>
      </p:sp>
      <p:sp>
        <p:nvSpPr>
          <p:cNvPr id="16" name="Text 14"/>
          <p:cNvSpPr/>
          <p:nvPr/>
        </p:nvSpPr>
        <p:spPr>
          <a:xfrm>
            <a:off x="2514600" y="4855464"/>
            <a:ext cx="4206240" cy="548640"/>
          </a:xfrm>
          <a:prstGeom prst="rect">
            <a:avLst/>
          </a:prstGeom>
          <a:noFill/>
          <a:ln/>
        </p:spPr>
        <p:txBody>
          <a:bodyPr wrap="square" rtlCol="0" anchor="ctr"/>
          <a:lstStyle/>
          <a:p>
            <a:pPr indent="0" marL="0">
              <a:buNone/>
            </a:pPr>
            <a:r>
              <a:rPr lang="en-US" sz="1350" dirty="0">
                <a:solidFill>
                  <a:srgbClr val="1F2733"/>
                </a:solidFill>
                <a:latin typeface="Meiryo" pitchFamily="34" charset="0"/>
                <a:ea typeface="Meiryo" pitchFamily="34" charset="-122"/>
                <a:cs typeface="Meiryo" pitchFamily="34" charset="-120"/>
              </a:rPr>
              <a:t>経験者を積極採用、一部 未経験者も</a:t>
            </a:r>
            <a:endParaRPr lang="en-US" sz="1350" dirty="0"/>
          </a:p>
        </p:txBody>
      </p:sp>
      <p:sp>
        <p:nvSpPr>
          <p:cNvPr id="17" name="Shape 15"/>
          <p:cNvSpPr/>
          <p:nvPr/>
        </p:nvSpPr>
        <p:spPr>
          <a:xfrm>
            <a:off x="868680" y="5422392"/>
            <a:ext cx="5852160" cy="0"/>
          </a:xfrm>
          <a:prstGeom prst="line">
            <a:avLst/>
          </a:prstGeom>
          <a:noFill/>
          <a:ln w="9525">
            <a:solidFill>
              <a:srgbClr val="C7D3E8"/>
            </a:solidFill>
            <a:prstDash val="solid"/>
          </a:ln>
        </p:spPr>
        <p:txBody>
          <a:bodyPr/>
          <a:p/>
        </p:txBody>
      </p:sp>
      <p:sp>
        <p:nvSpPr>
          <p:cNvPr id="18" name="Shape 16"/>
          <p:cNvSpPr/>
          <p:nvPr/>
        </p:nvSpPr>
        <p:spPr>
          <a:xfrm>
            <a:off x="7040880" y="2194560"/>
            <a:ext cx="4599432" cy="3749040"/>
          </a:xfrm>
          <a:prstGeom prst="roundRect">
            <a:avLst>
              <a:gd name="adj" fmla="val 1951"/>
            </a:avLst>
          </a:prstGeom>
          <a:solidFill>
            <a:srgbClr val="F6EEDC"/>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9" name="Text 17"/>
          <p:cNvSpPr/>
          <p:nvPr/>
        </p:nvSpPr>
        <p:spPr>
          <a:xfrm>
            <a:off x="7315200" y="2377440"/>
            <a:ext cx="4114800" cy="365760"/>
          </a:xfrm>
          <a:prstGeom prst="rect">
            <a:avLst/>
          </a:prstGeom>
          <a:noFill/>
          <a:ln/>
        </p:spPr>
        <p:txBody>
          <a:bodyPr wrap="square" rtlCol="0" anchor="ctr"/>
          <a:lstStyle/>
          <a:p>
            <a:pPr indent="0" marL="0">
              <a:buNone/>
            </a:pPr>
            <a:r>
              <a:rPr lang="en-US" sz="1500" b="1" dirty="0">
                <a:solidFill>
                  <a:srgbClr val="B8891B"/>
                </a:solidFill>
                <a:latin typeface="Meiryo" pitchFamily="34" charset="0"/>
                <a:ea typeface="Meiryo" pitchFamily="34" charset="-122"/>
                <a:cs typeface="Meiryo" pitchFamily="34" charset="-120"/>
              </a:rPr>
              <a:t>検討中（整理を進めている）</a:t>
            </a:r>
            <a:endParaRPr lang="en-US" sz="1500" dirty="0"/>
          </a:p>
        </p:txBody>
      </p:sp>
      <p:sp>
        <p:nvSpPr>
          <p:cNvPr id="20" name="Text 18"/>
          <p:cNvSpPr/>
          <p:nvPr/>
        </p:nvSpPr>
        <p:spPr>
          <a:xfrm>
            <a:off x="7360920" y="2971800"/>
            <a:ext cx="4023360" cy="548640"/>
          </a:xfrm>
          <a:prstGeom prst="rect">
            <a:avLst/>
          </a:prstGeom>
          <a:noFill/>
          <a:ln/>
        </p:spPr>
        <p:txBody>
          <a:bodyPr wrap="square" rtlCol="0" anchor="ctr"/>
          <a:lstStyle/>
          <a:p>
            <a:pPr marL="203200" indent="-203200">
              <a:buSzPct val="100000"/>
              <a:buChar char="○"/>
            </a:pPr>
            <a:r>
              <a:rPr lang="en-US" sz="1400" dirty="0">
                <a:solidFill>
                  <a:srgbClr val="1F2733"/>
                </a:solidFill>
                <a:latin typeface="Meiryo" pitchFamily="34" charset="0"/>
                <a:ea typeface="Meiryo" pitchFamily="34" charset="-122"/>
                <a:cs typeface="Meiryo" pitchFamily="34" charset="-120"/>
              </a:rPr>
              <a:t>教育・本社研修のあり方</a:t>
            </a:r>
            <a:endParaRPr lang="en-US" sz="1400" dirty="0"/>
          </a:p>
        </p:txBody>
      </p:sp>
      <p:sp>
        <p:nvSpPr>
          <p:cNvPr id="21" name="Text 19"/>
          <p:cNvSpPr/>
          <p:nvPr/>
        </p:nvSpPr>
        <p:spPr>
          <a:xfrm>
            <a:off x="7360920" y="3630168"/>
            <a:ext cx="4023360" cy="548640"/>
          </a:xfrm>
          <a:prstGeom prst="rect">
            <a:avLst/>
          </a:prstGeom>
          <a:noFill/>
          <a:ln/>
        </p:spPr>
        <p:txBody>
          <a:bodyPr wrap="square" rtlCol="0" anchor="ctr"/>
          <a:lstStyle/>
          <a:p>
            <a:pPr marL="203200" indent="-203200">
              <a:buSzPct val="100000"/>
              <a:buChar char="○"/>
            </a:pPr>
            <a:r>
              <a:rPr lang="en-US" sz="1400" dirty="0">
                <a:solidFill>
                  <a:srgbClr val="1F2733"/>
                </a:solidFill>
                <a:latin typeface="Meiryo" pitchFamily="34" charset="0"/>
                <a:ea typeface="Meiryo" pitchFamily="34" charset="-122"/>
                <a:cs typeface="Meiryo" pitchFamily="34" charset="-120"/>
              </a:rPr>
              <a:t>交通費の取扱い</a:t>
            </a:r>
            <a:endParaRPr lang="en-US" sz="1400" dirty="0"/>
          </a:p>
        </p:txBody>
      </p:sp>
      <p:sp>
        <p:nvSpPr>
          <p:cNvPr id="22" name="Text 20"/>
          <p:cNvSpPr/>
          <p:nvPr/>
        </p:nvSpPr>
        <p:spPr>
          <a:xfrm>
            <a:off x="7360920" y="4288536"/>
            <a:ext cx="4023360" cy="548640"/>
          </a:xfrm>
          <a:prstGeom prst="rect">
            <a:avLst/>
          </a:prstGeom>
          <a:noFill/>
          <a:ln/>
        </p:spPr>
        <p:txBody>
          <a:bodyPr wrap="square" rtlCol="0" anchor="ctr"/>
          <a:lstStyle/>
          <a:p>
            <a:pPr marL="203200" indent="-203200">
              <a:buSzPct val="100000"/>
              <a:buChar char="○"/>
            </a:pPr>
            <a:r>
              <a:rPr lang="en-US" sz="1400" dirty="0">
                <a:solidFill>
                  <a:srgbClr val="1F2733"/>
                </a:solidFill>
                <a:latin typeface="Meiryo" pitchFamily="34" charset="0"/>
                <a:ea typeface="Meiryo" pitchFamily="34" charset="-122"/>
                <a:cs typeface="Meiryo" pitchFamily="34" charset="-120"/>
              </a:rPr>
              <a:t>資格付与・既存資格の確認</a:t>
            </a:r>
            <a:endParaRPr lang="en-US" sz="1400" dirty="0"/>
          </a:p>
        </p:txBody>
      </p:sp>
      <p:sp>
        <p:nvSpPr>
          <p:cNvPr id="23" name="Text 21"/>
          <p:cNvSpPr/>
          <p:nvPr/>
        </p:nvSpPr>
        <p:spPr>
          <a:xfrm>
            <a:off x="7360920" y="4946904"/>
            <a:ext cx="4023360" cy="548640"/>
          </a:xfrm>
          <a:prstGeom prst="rect">
            <a:avLst/>
          </a:prstGeom>
          <a:noFill/>
          <a:ln/>
        </p:spPr>
        <p:txBody>
          <a:bodyPr wrap="square" rtlCol="0" anchor="ctr"/>
          <a:lstStyle/>
          <a:p>
            <a:pPr marL="203200" indent="-203200">
              <a:buSzPct val="100000"/>
              <a:buChar char="○"/>
            </a:pPr>
            <a:r>
              <a:rPr lang="en-US" sz="1400" dirty="0">
                <a:solidFill>
                  <a:srgbClr val="1F2733"/>
                </a:solidFill>
                <a:latin typeface="Meiryo" pitchFamily="34" charset="0"/>
                <a:ea typeface="Meiryo" pitchFamily="34" charset="-122"/>
                <a:cs typeface="Meiryo" pitchFamily="34" charset="-120"/>
              </a:rPr>
              <a:t>シフトへの組込み</a:t>
            </a:r>
            <a:endParaRPr lang="en-US" sz="1400" dirty="0"/>
          </a:p>
        </p:txBody>
      </p:sp>
      <p:sp>
        <p:nvSpPr>
          <p:cNvPr id="24" name="Text 22"/>
          <p:cNvSpPr/>
          <p:nvPr/>
        </p:nvSpPr>
        <p:spPr>
          <a:xfrm>
            <a:off x="566928" y="6080760"/>
            <a:ext cx="11064240" cy="320040"/>
          </a:xfrm>
          <a:prstGeom prst="rect">
            <a:avLst/>
          </a:prstGeom>
          <a:noFill/>
          <a:ln/>
        </p:spPr>
        <p:txBody>
          <a:bodyPr wrap="square" rtlCol="0" anchor="ctr"/>
          <a:lstStyle/>
          <a:p>
            <a:pPr indent="0" marL="0">
              <a:buNone/>
            </a:pPr>
            <a:r>
              <a:rPr lang="en-US" sz="1100" i="1" dirty="0">
                <a:solidFill>
                  <a:srgbClr val="6B7686"/>
                </a:solidFill>
                <a:latin typeface="Meiryo" pitchFamily="34" charset="0"/>
                <a:ea typeface="Meiryo" pitchFamily="34" charset="-122"/>
                <a:cs typeface="Meiryo" pitchFamily="34" charset="-120"/>
              </a:rPr>
              <a:t>※ CKIN・GATE・ARR 等、資格・経験に応じた業務へ配置。制度の詳細は決定事項と検討事項を分けながら進めます。</a:t>
            </a:r>
            <a:endParaRPr lang="en-US" sz="1100" dirty="0"/>
          </a:p>
        </p:txBody>
      </p:sp>
      <p:sp>
        <p:nvSpPr>
          <p:cNvPr id="25" name="Text 23"/>
          <p:cNvSpPr/>
          <p:nvPr/>
        </p:nvSpPr>
        <p:spPr>
          <a:xfrm>
            <a:off x="457200" y="6419088"/>
            <a:ext cx="5486400" cy="274320"/>
          </a:xfrm>
          <a:prstGeom prst="rect">
            <a:avLst/>
          </a:prstGeom>
          <a:noFill/>
          <a:ln/>
        </p:spPr>
        <p:txBody>
          <a:bodyPr wrap="square" rtlCol="0" anchor="ctr"/>
          <a:lstStyle/>
          <a:p>
            <a:pPr algn="l" indent="0" marL="0">
              <a:buNone/>
            </a:pPr>
            <a:r>
              <a:rPr lang="en-US" sz="900" dirty="0">
                <a:solidFill>
                  <a:srgbClr val="6B7686"/>
                </a:solidFill>
                <a:latin typeface="Meiryo" pitchFamily="34" charset="0"/>
                <a:ea typeface="Meiryo" pitchFamily="34" charset="-122"/>
                <a:cs typeface="Meiryo" pitchFamily="34" charset="-120"/>
              </a:rPr>
              <a:t>短時間勤務者採用 説明会</a:t>
            </a:r>
            <a:endParaRPr lang="en-US" sz="900" dirty="0"/>
          </a:p>
        </p:txBody>
      </p:sp>
      <p:sp>
        <p:nvSpPr>
          <p:cNvPr id="26" name="Text 24"/>
          <p:cNvSpPr/>
          <p:nvPr/>
        </p:nvSpPr>
        <p:spPr>
          <a:xfrm>
            <a:off x="11338560" y="6419088"/>
            <a:ext cx="457200" cy="274320"/>
          </a:xfrm>
          <a:prstGeom prst="rect">
            <a:avLst/>
          </a:prstGeom>
          <a:noFill/>
          <a:ln/>
        </p:spPr>
        <p:txBody>
          <a:bodyPr wrap="square" rtlCol="0" anchor="ctr"/>
          <a:lstStyle/>
          <a:p>
            <a:pPr algn="r" indent="0" marL="0">
              <a:buNone/>
            </a:pPr>
            <a:r>
              <a:rPr lang="en-US" sz="900" dirty="0">
                <a:solidFill>
                  <a:srgbClr val="6B7686"/>
                </a:solidFill>
                <a:latin typeface="Meiryo" pitchFamily="34" charset="0"/>
                <a:ea typeface="Meiryo" pitchFamily="34" charset="-122"/>
                <a:cs typeface="Meiryo" pitchFamily="34" charset="-120"/>
              </a:rPr>
              <a:t>15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502920"/>
            <a:ext cx="10058400" cy="320040"/>
          </a:xfrm>
          <a:prstGeom prst="rect">
            <a:avLst/>
          </a:prstGeom>
          <a:noFill/>
          <a:ln/>
        </p:spPr>
        <p:txBody>
          <a:bodyPr wrap="square" rtlCol="0" anchor="ctr"/>
          <a:lstStyle/>
          <a:p>
            <a:pPr indent="0" marL="0">
              <a:buNone/>
            </a:pPr>
            <a:r>
              <a:rPr lang="en-US" sz="1300" b="1" spc="200" kern="0" dirty="0">
                <a:solidFill>
                  <a:srgbClr val="9FB0CC"/>
                </a:solidFill>
                <a:latin typeface="Meiryo" pitchFamily="34" charset="0"/>
                <a:ea typeface="Meiryo" pitchFamily="34" charset="-122"/>
                <a:cs typeface="Meiryo" pitchFamily="34" charset="-120"/>
              </a:rPr>
              <a:t>現場での活用方法</a:t>
            </a:r>
            <a:endParaRPr lang="en-US" sz="1300" dirty="0"/>
          </a:p>
        </p:txBody>
      </p:sp>
      <p:sp>
        <p:nvSpPr>
          <p:cNvPr id="3" name="Text 1"/>
          <p:cNvSpPr/>
          <p:nvPr/>
        </p:nvSpPr>
        <p:spPr>
          <a:xfrm>
            <a:off x="548640" y="841248"/>
            <a:ext cx="11064240" cy="822960"/>
          </a:xfrm>
          <a:prstGeom prst="rect">
            <a:avLst/>
          </a:prstGeom>
          <a:noFill/>
          <a:ln/>
        </p:spPr>
        <p:txBody>
          <a:bodyPr wrap="square" rtlCol="0" anchor="ctr"/>
          <a:lstStyle/>
          <a:p>
            <a:pPr algn="l" indent="0" marL="0">
              <a:buNone/>
            </a:pPr>
            <a:r>
              <a:rPr lang="en-US" sz="3000" b="1" dirty="0">
                <a:solidFill>
                  <a:srgbClr val="FFFFFF"/>
                </a:solidFill>
                <a:latin typeface="Meiryo" pitchFamily="34" charset="0"/>
                <a:ea typeface="Meiryo" pitchFamily="34" charset="-122"/>
                <a:cs typeface="Meiryo" pitchFamily="34" charset="-120"/>
              </a:rPr>
              <a:t>「何人採るか」から考えない</a:t>
            </a:r>
            <a:endParaRPr lang="en-US" sz="3000" dirty="0"/>
          </a:p>
        </p:txBody>
      </p:sp>
      <p:sp>
        <p:nvSpPr>
          <p:cNvPr id="4" name="Text 2"/>
          <p:cNvSpPr/>
          <p:nvPr/>
        </p:nvSpPr>
        <p:spPr>
          <a:xfrm>
            <a:off x="548640" y="1600200"/>
            <a:ext cx="10789920" cy="365760"/>
          </a:xfrm>
          <a:prstGeom prst="rect">
            <a:avLst/>
          </a:prstGeom>
          <a:noFill/>
          <a:ln/>
        </p:spPr>
        <p:txBody>
          <a:bodyPr wrap="square" rtlCol="0" anchor="ctr"/>
          <a:lstStyle/>
          <a:p>
            <a:pPr indent="0" marL="0">
              <a:buNone/>
            </a:pPr>
            <a:r>
              <a:rPr lang="en-US" sz="1500" i="1" dirty="0">
                <a:solidFill>
                  <a:srgbClr val="CADCFC"/>
                </a:solidFill>
                <a:latin typeface="Meiryo" pitchFamily="34" charset="0"/>
                <a:ea typeface="Meiryo" pitchFamily="34" charset="-122"/>
                <a:cs typeface="Meiryo" pitchFamily="34" charset="-120"/>
              </a:rPr>
              <a:t>採用人数を先に決めず、必要な「時間 × 人数」から逆算する</a:t>
            </a:r>
            <a:endParaRPr lang="en-US" sz="1500" dirty="0"/>
          </a:p>
        </p:txBody>
      </p:sp>
      <p:sp>
        <p:nvSpPr>
          <p:cNvPr id="5" name="Shape 3"/>
          <p:cNvSpPr/>
          <p:nvPr/>
        </p:nvSpPr>
        <p:spPr>
          <a:xfrm>
            <a:off x="548640" y="2651760"/>
            <a:ext cx="1365069" cy="1554480"/>
          </a:xfrm>
          <a:prstGeom prst="roundRect">
            <a:avLst>
              <a:gd name="adj" fmla="val 5359"/>
            </a:avLst>
          </a:prstGeom>
          <a:solidFill>
            <a:srgbClr val="2E4270"/>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6" name="Shape 4"/>
          <p:cNvSpPr/>
          <p:nvPr/>
        </p:nvSpPr>
        <p:spPr>
          <a:xfrm>
            <a:off x="548640" y="2651760"/>
            <a:ext cx="1365069" cy="1554480"/>
          </a:xfrm>
          <a:prstGeom prst="rect">
            <a:avLst/>
          </a:prstGeom>
          <a:solidFill>
            <a:srgbClr val="2E4270"/>
          </a:solidFill>
          <a:ln/>
        </p:spPr>
        <p:txBody>
          <a:bodyPr/>
          <a:p/>
        </p:txBody>
      </p:sp>
      <p:sp>
        <p:nvSpPr>
          <p:cNvPr id="7" name="Text 5"/>
          <p:cNvSpPr/>
          <p:nvPr/>
        </p:nvSpPr>
        <p:spPr>
          <a:xfrm>
            <a:off x="640080" y="2761488"/>
            <a:ext cx="1182189" cy="320040"/>
          </a:xfrm>
          <a:prstGeom prst="rect">
            <a:avLst/>
          </a:prstGeom>
          <a:noFill/>
          <a:ln/>
        </p:spPr>
        <p:txBody>
          <a:bodyPr wrap="square" rtlCol="0" anchor="ctr"/>
          <a:lstStyle/>
          <a:p>
            <a:pPr algn="ctr" indent="0" marL="0">
              <a:buNone/>
            </a:pPr>
            <a:r>
              <a:rPr lang="en-US" sz="1200" b="1" dirty="0">
                <a:solidFill>
                  <a:srgbClr val="7C93C6"/>
                </a:solidFill>
                <a:latin typeface="Meiryo" pitchFamily="34" charset="0"/>
                <a:ea typeface="Meiryo" pitchFamily="34" charset="-122"/>
                <a:cs typeface="Meiryo" pitchFamily="34" charset="-120"/>
              </a:rPr>
              <a:t>1</a:t>
            </a:r>
            <a:endParaRPr lang="en-US" sz="1200" dirty="0"/>
          </a:p>
        </p:txBody>
      </p:sp>
      <p:sp>
        <p:nvSpPr>
          <p:cNvPr id="8" name="Text 6"/>
          <p:cNvSpPr/>
          <p:nvPr/>
        </p:nvSpPr>
        <p:spPr>
          <a:xfrm>
            <a:off x="594360" y="3108960"/>
            <a:ext cx="1273629" cy="914400"/>
          </a:xfrm>
          <a:prstGeom prst="rect">
            <a:avLst/>
          </a:prstGeom>
          <a:noFill/>
          <a:ln/>
        </p:spPr>
        <p:txBody>
          <a:bodyPr wrap="square" rtlCol="0" anchor="ctr"/>
          <a:lstStyle/>
          <a:p>
            <a:pPr algn="ctr" indent="0" marL="0">
              <a:lnSpc>
                <a:spcPct val="95000"/>
              </a:lnSpc>
              <a:buNone/>
            </a:pPr>
            <a:r>
              <a:rPr lang="en-US" sz="1350" b="1" dirty="0">
                <a:solidFill>
                  <a:srgbClr val="FFFFFF"/>
                </a:solidFill>
                <a:latin typeface="Meiryo" pitchFamily="34" charset="0"/>
                <a:ea typeface="Meiryo" pitchFamily="34" charset="-122"/>
                <a:cs typeface="Meiryo" pitchFamily="34" charset="-120"/>
              </a:rPr>
              <a:t>Flight</a:t>
            </a:r>
            <a:endParaRPr lang="en-US" sz="1350" dirty="0"/>
          </a:p>
          <a:p>
            <a:pPr algn="ctr" indent="0" marL="0">
              <a:lnSpc>
                <a:spcPct val="95000"/>
              </a:lnSpc>
              <a:buNone/>
            </a:pPr>
            <a:r>
              <a:rPr lang="en-US" sz="1350" b="1" dirty="0">
                <a:solidFill>
                  <a:srgbClr val="FFFFFF"/>
                </a:solidFill>
                <a:latin typeface="Meiryo" pitchFamily="34" charset="0"/>
                <a:ea typeface="Meiryo" pitchFamily="34" charset="-122"/>
                <a:cs typeface="Meiryo" pitchFamily="34" charset="-120"/>
              </a:rPr>
              <a:t>Schedule</a:t>
            </a:r>
            <a:endParaRPr lang="en-US" sz="1350" dirty="0"/>
          </a:p>
        </p:txBody>
      </p:sp>
      <p:sp>
        <p:nvSpPr>
          <p:cNvPr id="9" name="Text 7"/>
          <p:cNvSpPr/>
          <p:nvPr/>
        </p:nvSpPr>
        <p:spPr>
          <a:xfrm>
            <a:off x="1895421" y="2651760"/>
            <a:ext cx="292608" cy="1554480"/>
          </a:xfrm>
          <a:prstGeom prst="rect">
            <a:avLst/>
          </a:prstGeom>
          <a:noFill/>
          <a:ln/>
        </p:spPr>
        <p:txBody>
          <a:bodyPr wrap="square" rtlCol="0" anchor="ctr"/>
          <a:lstStyle/>
          <a:p>
            <a:pPr algn="ctr" indent="0" marL="0">
              <a:buNone/>
            </a:pPr>
            <a:r>
              <a:rPr lang="en-US" sz="2200" b="1" dirty="0">
                <a:solidFill>
                  <a:srgbClr val="7C93C6"/>
                </a:solidFill>
                <a:latin typeface="Meiryo" pitchFamily="34" charset="0"/>
                <a:ea typeface="Meiryo" pitchFamily="34" charset="-122"/>
                <a:cs typeface="Meiryo" pitchFamily="34" charset="-120"/>
              </a:rPr>
              <a:t>›</a:t>
            </a:r>
            <a:endParaRPr lang="en-US" sz="2200" dirty="0"/>
          </a:p>
        </p:txBody>
      </p:sp>
      <p:sp>
        <p:nvSpPr>
          <p:cNvPr id="10" name="Shape 8"/>
          <p:cNvSpPr/>
          <p:nvPr/>
        </p:nvSpPr>
        <p:spPr>
          <a:xfrm>
            <a:off x="2169741" y="2651760"/>
            <a:ext cx="1365069" cy="1554480"/>
          </a:xfrm>
          <a:prstGeom prst="roundRect">
            <a:avLst>
              <a:gd name="adj" fmla="val 5359"/>
            </a:avLst>
          </a:prstGeom>
          <a:solidFill>
            <a:srgbClr val="2E4270"/>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1" name="Shape 9"/>
          <p:cNvSpPr/>
          <p:nvPr/>
        </p:nvSpPr>
        <p:spPr>
          <a:xfrm>
            <a:off x="2169741" y="2651760"/>
            <a:ext cx="1365069" cy="1554480"/>
          </a:xfrm>
          <a:prstGeom prst="rect">
            <a:avLst/>
          </a:prstGeom>
          <a:solidFill>
            <a:srgbClr val="2E4270"/>
          </a:solidFill>
          <a:ln/>
        </p:spPr>
        <p:txBody>
          <a:bodyPr/>
          <a:p/>
        </p:txBody>
      </p:sp>
      <p:sp>
        <p:nvSpPr>
          <p:cNvPr id="12" name="Text 10"/>
          <p:cNvSpPr/>
          <p:nvPr/>
        </p:nvSpPr>
        <p:spPr>
          <a:xfrm>
            <a:off x="2261181" y="2761488"/>
            <a:ext cx="1182189" cy="320040"/>
          </a:xfrm>
          <a:prstGeom prst="rect">
            <a:avLst/>
          </a:prstGeom>
          <a:noFill/>
          <a:ln/>
        </p:spPr>
        <p:txBody>
          <a:bodyPr wrap="square" rtlCol="0" anchor="ctr"/>
          <a:lstStyle/>
          <a:p>
            <a:pPr algn="ctr" indent="0" marL="0">
              <a:buNone/>
            </a:pPr>
            <a:r>
              <a:rPr lang="en-US" sz="1200" b="1" dirty="0">
                <a:solidFill>
                  <a:srgbClr val="7C93C6"/>
                </a:solidFill>
                <a:latin typeface="Meiryo" pitchFamily="34" charset="0"/>
                <a:ea typeface="Meiryo" pitchFamily="34" charset="-122"/>
                <a:cs typeface="Meiryo" pitchFamily="34" charset="-120"/>
              </a:rPr>
              <a:t>2</a:t>
            </a:r>
            <a:endParaRPr lang="en-US" sz="1200" dirty="0"/>
          </a:p>
        </p:txBody>
      </p:sp>
      <p:sp>
        <p:nvSpPr>
          <p:cNvPr id="13" name="Text 11"/>
          <p:cNvSpPr/>
          <p:nvPr/>
        </p:nvSpPr>
        <p:spPr>
          <a:xfrm>
            <a:off x="2215461" y="3108960"/>
            <a:ext cx="1273629" cy="914400"/>
          </a:xfrm>
          <a:prstGeom prst="rect">
            <a:avLst/>
          </a:prstGeom>
          <a:noFill/>
          <a:ln/>
        </p:spPr>
        <p:txBody>
          <a:bodyPr wrap="square" rtlCol="0" anchor="ctr"/>
          <a:lstStyle/>
          <a:p>
            <a:pPr algn="ctr" indent="0" marL="0">
              <a:lnSpc>
                <a:spcPct val="95000"/>
              </a:lnSpc>
              <a:buNone/>
            </a:pPr>
            <a:r>
              <a:rPr lang="en-US" sz="1350" b="1" dirty="0">
                <a:solidFill>
                  <a:srgbClr val="FFFFFF"/>
                </a:solidFill>
                <a:latin typeface="Meiryo" pitchFamily="34" charset="0"/>
                <a:ea typeface="Meiryo" pitchFamily="34" charset="-122"/>
                <a:cs typeface="Meiryo" pitchFamily="34" charset="-120"/>
              </a:rPr>
              <a:t>必要</a:t>
            </a:r>
            <a:endParaRPr lang="en-US" sz="1350" dirty="0"/>
          </a:p>
          <a:p>
            <a:pPr algn="ctr" indent="0" marL="0">
              <a:lnSpc>
                <a:spcPct val="95000"/>
              </a:lnSpc>
              <a:buNone/>
            </a:pPr>
            <a:r>
              <a:rPr lang="en-US" sz="1350" b="1" dirty="0">
                <a:solidFill>
                  <a:srgbClr val="FFFFFF"/>
                </a:solidFill>
                <a:latin typeface="Meiryo" pitchFamily="34" charset="0"/>
                <a:ea typeface="Meiryo" pitchFamily="34" charset="-122"/>
                <a:cs typeface="Meiryo" pitchFamily="34" charset="-120"/>
              </a:rPr>
              <a:t>ポジション</a:t>
            </a:r>
            <a:endParaRPr lang="en-US" sz="1350" dirty="0"/>
          </a:p>
        </p:txBody>
      </p:sp>
      <p:sp>
        <p:nvSpPr>
          <p:cNvPr id="14" name="Text 12"/>
          <p:cNvSpPr/>
          <p:nvPr/>
        </p:nvSpPr>
        <p:spPr>
          <a:xfrm>
            <a:off x="3516521" y="2651760"/>
            <a:ext cx="292608" cy="1554480"/>
          </a:xfrm>
          <a:prstGeom prst="rect">
            <a:avLst/>
          </a:prstGeom>
          <a:noFill/>
          <a:ln/>
        </p:spPr>
        <p:txBody>
          <a:bodyPr wrap="square" rtlCol="0" anchor="ctr"/>
          <a:lstStyle/>
          <a:p>
            <a:pPr algn="ctr" indent="0" marL="0">
              <a:buNone/>
            </a:pPr>
            <a:r>
              <a:rPr lang="en-US" sz="2200" b="1" dirty="0">
                <a:solidFill>
                  <a:srgbClr val="7C93C6"/>
                </a:solidFill>
                <a:latin typeface="Meiryo" pitchFamily="34" charset="0"/>
                <a:ea typeface="Meiryo" pitchFamily="34" charset="-122"/>
                <a:cs typeface="Meiryo" pitchFamily="34" charset="-120"/>
              </a:rPr>
              <a:t>›</a:t>
            </a:r>
            <a:endParaRPr lang="en-US" sz="2200" dirty="0"/>
          </a:p>
        </p:txBody>
      </p:sp>
      <p:sp>
        <p:nvSpPr>
          <p:cNvPr id="15" name="Shape 13"/>
          <p:cNvSpPr/>
          <p:nvPr/>
        </p:nvSpPr>
        <p:spPr>
          <a:xfrm>
            <a:off x="3790841" y="2651760"/>
            <a:ext cx="1365069" cy="1554480"/>
          </a:xfrm>
          <a:prstGeom prst="roundRect">
            <a:avLst>
              <a:gd name="adj" fmla="val 5359"/>
            </a:avLst>
          </a:prstGeom>
          <a:solidFill>
            <a:srgbClr val="2E4270"/>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6" name="Shape 14"/>
          <p:cNvSpPr/>
          <p:nvPr/>
        </p:nvSpPr>
        <p:spPr>
          <a:xfrm>
            <a:off x="3790841" y="2651760"/>
            <a:ext cx="1365069" cy="1554480"/>
          </a:xfrm>
          <a:prstGeom prst="rect">
            <a:avLst/>
          </a:prstGeom>
          <a:solidFill>
            <a:srgbClr val="2E4270"/>
          </a:solidFill>
          <a:ln/>
        </p:spPr>
        <p:txBody>
          <a:bodyPr/>
          <a:p/>
        </p:txBody>
      </p:sp>
      <p:sp>
        <p:nvSpPr>
          <p:cNvPr id="17" name="Text 15"/>
          <p:cNvSpPr/>
          <p:nvPr/>
        </p:nvSpPr>
        <p:spPr>
          <a:xfrm>
            <a:off x="3882281" y="2761488"/>
            <a:ext cx="1182189" cy="320040"/>
          </a:xfrm>
          <a:prstGeom prst="rect">
            <a:avLst/>
          </a:prstGeom>
          <a:noFill/>
          <a:ln/>
        </p:spPr>
        <p:txBody>
          <a:bodyPr wrap="square" rtlCol="0" anchor="ctr"/>
          <a:lstStyle/>
          <a:p>
            <a:pPr algn="ctr" indent="0" marL="0">
              <a:buNone/>
            </a:pPr>
            <a:r>
              <a:rPr lang="en-US" sz="1200" b="1" dirty="0">
                <a:solidFill>
                  <a:srgbClr val="7C93C6"/>
                </a:solidFill>
                <a:latin typeface="Meiryo" pitchFamily="34" charset="0"/>
                <a:ea typeface="Meiryo" pitchFamily="34" charset="-122"/>
                <a:cs typeface="Meiryo" pitchFamily="34" charset="-120"/>
              </a:rPr>
              <a:t>3</a:t>
            </a:r>
            <a:endParaRPr lang="en-US" sz="1200" dirty="0"/>
          </a:p>
        </p:txBody>
      </p:sp>
      <p:sp>
        <p:nvSpPr>
          <p:cNvPr id="18" name="Text 16"/>
          <p:cNvSpPr/>
          <p:nvPr/>
        </p:nvSpPr>
        <p:spPr>
          <a:xfrm>
            <a:off x="3836561" y="3108960"/>
            <a:ext cx="1273629" cy="914400"/>
          </a:xfrm>
          <a:prstGeom prst="rect">
            <a:avLst/>
          </a:prstGeom>
          <a:noFill/>
          <a:ln/>
        </p:spPr>
        <p:txBody>
          <a:bodyPr wrap="square" rtlCol="0" anchor="ctr"/>
          <a:lstStyle/>
          <a:p>
            <a:pPr algn="ctr" indent="0" marL="0">
              <a:lnSpc>
                <a:spcPct val="95000"/>
              </a:lnSpc>
              <a:buNone/>
            </a:pPr>
            <a:r>
              <a:rPr lang="en-US" sz="1350" b="1" dirty="0">
                <a:solidFill>
                  <a:srgbClr val="FFFFFF"/>
                </a:solidFill>
                <a:latin typeface="Meiryo" pitchFamily="34" charset="0"/>
                <a:ea typeface="Meiryo" pitchFamily="34" charset="-122"/>
                <a:cs typeface="Meiryo" pitchFamily="34" charset="-120"/>
              </a:rPr>
              <a:t>必要人数</a:t>
            </a:r>
            <a:endParaRPr lang="en-US" sz="1350" dirty="0"/>
          </a:p>
        </p:txBody>
      </p:sp>
      <p:sp>
        <p:nvSpPr>
          <p:cNvPr id="19" name="Text 17"/>
          <p:cNvSpPr/>
          <p:nvPr/>
        </p:nvSpPr>
        <p:spPr>
          <a:xfrm>
            <a:off x="5137622" y="2651760"/>
            <a:ext cx="292608" cy="1554480"/>
          </a:xfrm>
          <a:prstGeom prst="rect">
            <a:avLst/>
          </a:prstGeom>
          <a:noFill/>
          <a:ln/>
        </p:spPr>
        <p:txBody>
          <a:bodyPr wrap="square" rtlCol="0" anchor="ctr"/>
          <a:lstStyle/>
          <a:p>
            <a:pPr algn="ctr" indent="0" marL="0">
              <a:buNone/>
            </a:pPr>
            <a:r>
              <a:rPr lang="en-US" sz="2200" b="1" dirty="0">
                <a:solidFill>
                  <a:srgbClr val="7C93C6"/>
                </a:solidFill>
                <a:latin typeface="Meiryo" pitchFamily="34" charset="0"/>
                <a:ea typeface="Meiryo" pitchFamily="34" charset="-122"/>
                <a:cs typeface="Meiryo" pitchFamily="34" charset="-120"/>
              </a:rPr>
              <a:t>›</a:t>
            </a:r>
            <a:endParaRPr lang="en-US" sz="2200" dirty="0"/>
          </a:p>
        </p:txBody>
      </p:sp>
      <p:sp>
        <p:nvSpPr>
          <p:cNvPr id="20" name="Shape 18"/>
          <p:cNvSpPr/>
          <p:nvPr/>
        </p:nvSpPr>
        <p:spPr>
          <a:xfrm>
            <a:off x="5411942" y="2651760"/>
            <a:ext cx="1365069" cy="1554480"/>
          </a:xfrm>
          <a:prstGeom prst="roundRect">
            <a:avLst>
              <a:gd name="adj" fmla="val 5359"/>
            </a:avLst>
          </a:prstGeom>
          <a:solidFill>
            <a:srgbClr val="2E4270"/>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21" name="Shape 19"/>
          <p:cNvSpPr/>
          <p:nvPr/>
        </p:nvSpPr>
        <p:spPr>
          <a:xfrm>
            <a:off x="5411942" y="2651760"/>
            <a:ext cx="1365069" cy="1554480"/>
          </a:xfrm>
          <a:prstGeom prst="rect">
            <a:avLst/>
          </a:prstGeom>
          <a:solidFill>
            <a:srgbClr val="2E4270"/>
          </a:solidFill>
          <a:ln/>
        </p:spPr>
        <p:txBody>
          <a:bodyPr/>
          <a:p/>
        </p:txBody>
      </p:sp>
      <p:sp>
        <p:nvSpPr>
          <p:cNvPr id="22" name="Text 20"/>
          <p:cNvSpPr/>
          <p:nvPr/>
        </p:nvSpPr>
        <p:spPr>
          <a:xfrm>
            <a:off x="5503382" y="2761488"/>
            <a:ext cx="1182189" cy="320040"/>
          </a:xfrm>
          <a:prstGeom prst="rect">
            <a:avLst/>
          </a:prstGeom>
          <a:noFill/>
          <a:ln/>
        </p:spPr>
        <p:txBody>
          <a:bodyPr wrap="square" rtlCol="0" anchor="ctr"/>
          <a:lstStyle/>
          <a:p>
            <a:pPr algn="ctr" indent="0" marL="0">
              <a:buNone/>
            </a:pPr>
            <a:r>
              <a:rPr lang="en-US" sz="1200" b="1" dirty="0">
                <a:solidFill>
                  <a:srgbClr val="7C93C6"/>
                </a:solidFill>
                <a:latin typeface="Meiryo" pitchFamily="34" charset="0"/>
                <a:ea typeface="Meiryo" pitchFamily="34" charset="-122"/>
                <a:cs typeface="Meiryo" pitchFamily="34" charset="-120"/>
              </a:rPr>
              <a:t>4</a:t>
            </a:r>
            <a:endParaRPr lang="en-US" sz="1200" dirty="0"/>
          </a:p>
        </p:txBody>
      </p:sp>
      <p:sp>
        <p:nvSpPr>
          <p:cNvPr id="23" name="Text 21"/>
          <p:cNvSpPr/>
          <p:nvPr/>
        </p:nvSpPr>
        <p:spPr>
          <a:xfrm>
            <a:off x="5457662" y="3108960"/>
            <a:ext cx="1273629" cy="914400"/>
          </a:xfrm>
          <a:prstGeom prst="rect">
            <a:avLst/>
          </a:prstGeom>
          <a:noFill/>
          <a:ln/>
        </p:spPr>
        <p:txBody>
          <a:bodyPr wrap="square" rtlCol="0" anchor="ctr"/>
          <a:lstStyle/>
          <a:p>
            <a:pPr algn="ctr" indent="0" marL="0">
              <a:lnSpc>
                <a:spcPct val="95000"/>
              </a:lnSpc>
              <a:buNone/>
            </a:pPr>
            <a:r>
              <a:rPr lang="en-US" sz="1350" b="1" dirty="0">
                <a:solidFill>
                  <a:srgbClr val="FFFFFF"/>
                </a:solidFill>
                <a:latin typeface="Meiryo" pitchFamily="34" charset="0"/>
                <a:ea typeface="Meiryo" pitchFamily="34" charset="-122"/>
                <a:cs typeface="Meiryo" pitchFamily="34" charset="-120"/>
              </a:rPr>
              <a:t>必要</a:t>
            </a:r>
            <a:endParaRPr lang="en-US" sz="1350" dirty="0"/>
          </a:p>
          <a:p>
            <a:pPr algn="ctr" indent="0" marL="0">
              <a:lnSpc>
                <a:spcPct val="95000"/>
              </a:lnSpc>
              <a:buNone/>
            </a:pPr>
            <a:r>
              <a:rPr lang="en-US" sz="1350" b="1" dirty="0">
                <a:solidFill>
                  <a:srgbClr val="FFFFFF"/>
                </a:solidFill>
                <a:latin typeface="Meiryo" pitchFamily="34" charset="0"/>
                <a:ea typeface="Meiryo" pitchFamily="34" charset="-122"/>
                <a:cs typeface="Meiryo" pitchFamily="34" charset="-120"/>
              </a:rPr>
              <a:t>時間帯</a:t>
            </a:r>
            <a:endParaRPr lang="en-US" sz="1350" dirty="0"/>
          </a:p>
        </p:txBody>
      </p:sp>
      <p:sp>
        <p:nvSpPr>
          <p:cNvPr id="24" name="Text 22"/>
          <p:cNvSpPr/>
          <p:nvPr/>
        </p:nvSpPr>
        <p:spPr>
          <a:xfrm>
            <a:off x="6758722" y="2651760"/>
            <a:ext cx="292608" cy="1554480"/>
          </a:xfrm>
          <a:prstGeom prst="rect">
            <a:avLst/>
          </a:prstGeom>
          <a:noFill/>
          <a:ln/>
        </p:spPr>
        <p:txBody>
          <a:bodyPr wrap="square" rtlCol="0" anchor="ctr"/>
          <a:lstStyle/>
          <a:p>
            <a:pPr algn="ctr" indent="0" marL="0">
              <a:buNone/>
            </a:pPr>
            <a:r>
              <a:rPr lang="en-US" sz="2200" b="1" dirty="0">
                <a:solidFill>
                  <a:srgbClr val="7C93C6"/>
                </a:solidFill>
                <a:latin typeface="Meiryo" pitchFamily="34" charset="0"/>
                <a:ea typeface="Meiryo" pitchFamily="34" charset="-122"/>
                <a:cs typeface="Meiryo" pitchFamily="34" charset="-120"/>
              </a:rPr>
              <a:t>›</a:t>
            </a:r>
            <a:endParaRPr lang="en-US" sz="2200" dirty="0"/>
          </a:p>
        </p:txBody>
      </p:sp>
      <p:sp>
        <p:nvSpPr>
          <p:cNvPr id="25" name="Shape 23"/>
          <p:cNvSpPr/>
          <p:nvPr/>
        </p:nvSpPr>
        <p:spPr>
          <a:xfrm>
            <a:off x="7033042" y="2651760"/>
            <a:ext cx="1365069" cy="1554480"/>
          </a:xfrm>
          <a:prstGeom prst="roundRect">
            <a:avLst>
              <a:gd name="adj" fmla="val 5359"/>
            </a:avLst>
          </a:prstGeom>
          <a:solidFill>
            <a:srgbClr val="2E4270"/>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26" name="Shape 24"/>
          <p:cNvSpPr/>
          <p:nvPr/>
        </p:nvSpPr>
        <p:spPr>
          <a:xfrm>
            <a:off x="7033042" y="2651760"/>
            <a:ext cx="1365069" cy="1554480"/>
          </a:xfrm>
          <a:prstGeom prst="rect">
            <a:avLst/>
          </a:prstGeom>
          <a:solidFill>
            <a:srgbClr val="2E4270"/>
          </a:solidFill>
          <a:ln/>
        </p:spPr>
        <p:txBody>
          <a:bodyPr/>
          <a:p/>
        </p:txBody>
      </p:sp>
      <p:sp>
        <p:nvSpPr>
          <p:cNvPr id="27" name="Text 25"/>
          <p:cNvSpPr/>
          <p:nvPr/>
        </p:nvSpPr>
        <p:spPr>
          <a:xfrm>
            <a:off x="7124482" y="2761488"/>
            <a:ext cx="1182189" cy="320040"/>
          </a:xfrm>
          <a:prstGeom prst="rect">
            <a:avLst/>
          </a:prstGeom>
          <a:noFill/>
          <a:ln/>
        </p:spPr>
        <p:txBody>
          <a:bodyPr wrap="square" rtlCol="0" anchor="ctr"/>
          <a:lstStyle/>
          <a:p>
            <a:pPr algn="ctr" indent="0" marL="0">
              <a:buNone/>
            </a:pPr>
            <a:r>
              <a:rPr lang="en-US" sz="1200" b="1" dirty="0">
                <a:solidFill>
                  <a:srgbClr val="7C93C6"/>
                </a:solidFill>
                <a:latin typeface="Meiryo" pitchFamily="34" charset="0"/>
                <a:ea typeface="Meiryo" pitchFamily="34" charset="-122"/>
                <a:cs typeface="Meiryo" pitchFamily="34" charset="-120"/>
              </a:rPr>
              <a:t>5</a:t>
            </a:r>
            <a:endParaRPr lang="en-US" sz="1200" dirty="0"/>
          </a:p>
        </p:txBody>
      </p:sp>
      <p:sp>
        <p:nvSpPr>
          <p:cNvPr id="28" name="Text 26"/>
          <p:cNvSpPr/>
          <p:nvPr/>
        </p:nvSpPr>
        <p:spPr>
          <a:xfrm>
            <a:off x="7078762" y="3108960"/>
            <a:ext cx="1273629" cy="914400"/>
          </a:xfrm>
          <a:prstGeom prst="rect">
            <a:avLst/>
          </a:prstGeom>
          <a:noFill/>
          <a:ln/>
        </p:spPr>
        <p:txBody>
          <a:bodyPr wrap="square" rtlCol="0" anchor="ctr"/>
          <a:lstStyle/>
          <a:p>
            <a:pPr algn="ctr" indent="0" marL="0">
              <a:lnSpc>
                <a:spcPct val="95000"/>
              </a:lnSpc>
              <a:buNone/>
            </a:pPr>
            <a:r>
              <a:rPr lang="en-US" sz="1350" b="1" dirty="0">
                <a:solidFill>
                  <a:srgbClr val="FFFFFF"/>
                </a:solidFill>
                <a:latin typeface="Meiryo" pitchFamily="34" charset="0"/>
                <a:ea typeface="Meiryo" pitchFamily="34" charset="-122"/>
                <a:cs typeface="Meiryo" pitchFamily="34" charset="-120"/>
              </a:rPr>
              <a:t>既存在籍で</a:t>
            </a:r>
            <a:endParaRPr lang="en-US" sz="1350" dirty="0"/>
          </a:p>
          <a:p>
            <a:pPr algn="ctr" indent="0" marL="0">
              <a:lnSpc>
                <a:spcPct val="95000"/>
              </a:lnSpc>
              <a:buNone/>
            </a:pPr>
            <a:r>
              <a:rPr lang="en-US" sz="1350" b="1" dirty="0">
                <a:solidFill>
                  <a:srgbClr val="FFFFFF"/>
                </a:solidFill>
                <a:latin typeface="Meiryo" pitchFamily="34" charset="0"/>
                <a:ea typeface="Meiryo" pitchFamily="34" charset="-122"/>
                <a:cs typeface="Meiryo" pitchFamily="34" charset="-120"/>
              </a:rPr>
              <a:t>カバー</a:t>
            </a:r>
            <a:endParaRPr lang="en-US" sz="1350" dirty="0"/>
          </a:p>
        </p:txBody>
      </p:sp>
      <p:sp>
        <p:nvSpPr>
          <p:cNvPr id="29" name="Text 27"/>
          <p:cNvSpPr/>
          <p:nvPr/>
        </p:nvSpPr>
        <p:spPr>
          <a:xfrm>
            <a:off x="8379823" y="2651760"/>
            <a:ext cx="292608" cy="1554480"/>
          </a:xfrm>
          <a:prstGeom prst="rect">
            <a:avLst/>
          </a:prstGeom>
          <a:noFill/>
          <a:ln/>
        </p:spPr>
        <p:txBody>
          <a:bodyPr wrap="square" rtlCol="0" anchor="ctr"/>
          <a:lstStyle/>
          <a:p>
            <a:pPr algn="ctr" indent="0" marL="0">
              <a:buNone/>
            </a:pPr>
            <a:r>
              <a:rPr lang="en-US" sz="2200" b="1" dirty="0">
                <a:solidFill>
                  <a:srgbClr val="7C93C6"/>
                </a:solidFill>
                <a:latin typeface="Meiryo" pitchFamily="34" charset="0"/>
                <a:ea typeface="Meiryo" pitchFamily="34" charset="-122"/>
                <a:cs typeface="Meiryo" pitchFamily="34" charset="-120"/>
              </a:rPr>
              <a:t>›</a:t>
            </a:r>
            <a:endParaRPr lang="en-US" sz="2200" dirty="0"/>
          </a:p>
        </p:txBody>
      </p:sp>
      <p:sp>
        <p:nvSpPr>
          <p:cNvPr id="30" name="Shape 28"/>
          <p:cNvSpPr/>
          <p:nvPr/>
        </p:nvSpPr>
        <p:spPr>
          <a:xfrm>
            <a:off x="8654143" y="2651760"/>
            <a:ext cx="1365069" cy="1554480"/>
          </a:xfrm>
          <a:prstGeom prst="roundRect">
            <a:avLst>
              <a:gd name="adj" fmla="val 5359"/>
            </a:avLst>
          </a:prstGeom>
          <a:solidFill>
            <a:srgbClr val="2E4270"/>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31" name="Shape 29"/>
          <p:cNvSpPr/>
          <p:nvPr/>
        </p:nvSpPr>
        <p:spPr>
          <a:xfrm>
            <a:off x="8654143" y="2651760"/>
            <a:ext cx="1365069" cy="1554480"/>
          </a:xfrm>
          <a:prstGeom prst="rect">
            <a:avLst/>
          </a:prstGeom>
          <a:solidFill>
            <a:srgbClr val="2E4270"/>
          </a:solidFill>
          <a:ln/>
        </p:spPr>
        <p:txBody>
          <a:bodyPr/>
          <a:p/>
        </p:txBody>
      </p:sp>
      <p:sp>
        <p:nvSpPr>
          <p:cNvPr id="32" name="Text 30"/>
          <p:cNvSpPr/>
          <p:nvPr/>
        </p:nvSpPr>
        <p:spPr>
          <a:xfrm>
            <a:off x="8745583" y="2761488"/>
            <a:ext cx="1182189" cy="320040"/>
          </a:xfrm>
          <a:prstGeom prst="rect">
            <a:avLst/>
          </a:prstGeom>
          <a:noFill/>
          <a:ln/>
        </p:spPr>
        <p:txBody>
          <a:bodyPr wrap="square" rtlCol="0" anchor="ctr"/>
          <a:lstStyle/>
          <a:p>
            <a:pPr algn="ctr" indent="0" marL="0">
              <a:buNone/>
            </a:pPr>
            <a:r>
              <a:rPr lang="en-US" sz="1200" b="1" dirty="0">
                <a:solidFill>
                  <a:srgbClr val="7C93C6"/>
                </a:solidFill>
                <a:latin typeface="Meiryo" pitchFamily="34" charset="0"/>
                <a:ea typeface="Meiryo" pitchFamily="34" charset="-122"/>
                <a:cs typeface="Meiryo" pitchFamily="34" charset="-120"/>
              </a:rPr>
              <a:t>6</a:t>
            </a:r>
            <a:endParaRPr lang="en-US" sz="1200" dirty="0"/>
          </a:p>
        </p:txBody>
      </p:sp>
      <p:sp>
        <p:nvSpPr>
          <p:cNvPr id="33" name="Text 31"/>
          <p:cNvSpPr/>
          <p:nvPr/>
        </p:nvSpPr>
        <p:spPr>
          <a:xfrm>
            <a:off x="8699863" y="3108960"/>
            <a:ext cx="1273629" cy="914400"/>
          </a:xfrm>
          <a:prstGeom prst="rect">
            <a:avLst/>
          </a:prstGeom>
          <a:noFill/>
          <a:ln/>
        </p:spPr>
        <p:txBody>
          <a:bodyPr wrap="square" rtlCol="0" anchor="ctr"/>
          <a:lstStyle/>
          <a:p>
            <a:pPr algn="ctr" indent="0" marL="0">
              <a:lnSpc>
                <a:spcPct val="95000"/>
              </a:lnSpc>
              <a:buNone/>
            </a:pPr>
            <a:r>
              <a:rPr lang="en-US" sz="1350" b="1" dirty="0">
                <a:solidFill>
                  <a:srgbClr val="FFFFFF"/>
                </a:solidFill>
                <a:latin typeface="Meiryo" pitchFamily="34" charset="0"/>
                <a:ea typeface="Meiryo" pitchFamily="34" charset="-122"/>
                <a:cs typeface="Meiryo" pitchFamily="34" charset="-120"/>
              </a:rPr>
              <a:t>不足する</a:t>
            </a:r>
            <a:endParaRPr lang="en-US" sz="1350" dirty="0"/>
          </a:p>
          <a:p>
            <a:pPr algn="ctr" indent="0" marL="0">
              <a:lnSpc>
                <a:spcPct val="95000"/>
              </a:lnSpc>
              <a:buNone/>
            </a:pPr>
            <a:r>
              <a:rPr lang="en-US" sz="1350" b="1" dirty="0">
                <a:solidFill>
                  <a:srgbClr val="FFFFFF"/>
                </a:solidFill>
                <a:latin typeface="Meiryo" pitchFamily="34" charset="0"/>
                <a:ea typeface="Meiryo" pitchFamily="34" charset="-122"/>
                <a:cs typeface="Meiryo" pitchFamily="34" charset="-120"/>
              </a:rPr>
              <a:t>出面</a:t>
            </a:r>
            <a:endParaRPr lang="en-US" sz="1350" dirty="0"/>
          </a:p>
        </p:txBody>
      </p:sp>
      <p:sp>
        <p:nvSpPr>
          <p:cNvPr id="34" name="Text 32"/>
          <p:cNvSpPr/>
          <p:nvPr/>
        </p:nvSpPr>
        <p:spPr>
          <a:xfrm>
            <a:off x="10000923" y="2651760"/>
            <a:ext cx="292608" cy="1554480"/>
          </a:xfrm>
          <a:prstGeom prst="rect">
            <a:avLst/>
          </a:prstGeom>
          <a:noFill/>
          <a:ln/>
        </p:spPr>
        <p:txBody>
          <a:bodyPr wrap="square" rtlCol="0" anchor="ctr"/>
          <a:lstStyle/>
          <a:p>
            <a:pPr algn="ctr" indent="0" marL="0">
              <a:buNone/>
            </a:pPr>
            <a:r>
              <a:rPr lang="en-US" sz="2200" b="1" dirty="0">
                <a:solidFill>
                  <a:srgbClr val="7C93C6"/>
                </a:solidFill>
                <a:latin typeface="Meiryo" pitchFamily="34" charset="0"/>
                <a:ea typeface="Meiryo" pitchFamily="34" charset="-122"/>
                <a:cs typeface="Meiryo" pitchFamily="34" charset="-120"/>
              </a:rPr>
              <a:t>›</a:t>
            </a:r>
            <a:endParaRPr lang="en-US" sz="2200" dirty="0"/>
          </a:p>
        </p:txBody>
      </p:sp>
      <p:sp>
        <p:nvSpPr>
          <p:cNvPr id="35" name="Shape 33"/>
          <p:cNvSpPr/>
          <p:nvPr/>
        </p:nvSpPr>
        <p:spPr>
          <a:xfrm>
            <a:off x="10275243" y="2651760"/>
            <a:ext cx="1365069" cy="1554480"/>
          </a:xfrm>
          <a:prstGeom prst="roundRect">
            <a:avLst>
              <a:gd name="adj" fmla="val 5359"/>
            </a:avLst>
          </a:prstGeom>
          <a:solidFill>
            <a:srgbClr val="B8891B"/>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36" name="Shape 34"/>
          <p:cNvSpPr/>
          <p:nvPr/>
        </p:nvSpPr>
        <p:spPr>
          <a:xfrm>
            <a:off x="10275243" y="2651760"/>
            <a:ext cx="1365069" cy="1554480"/>
          </a:xfrm>
          <a:prstGeom prst="rect">
            <a:avLst/>
          </a:prstGeom>
          <a:solidFill>
            <a:srgbClr val="B8891B"/>
          </a:solidFill>
          <a:ln/>
        </p:spPr>
        <p:txBody>
          <a:bodyPr/>
          <a:p/>
        </p:txBody>
      </p:sp>
      <p:sp>
        <p:nvSpPr>
          <p:cNvPr id="37" name="Text 35"/>
          <p:cNvSpPr/>
          <p:nvPr/>
        </p:nvSpPr>
        <p:spPr>
          <a:xfrm>
            <a:off x="10366683" y="2761488"/>
            <a:ext cx="1182189" cy="320040"/>
          </a:xfrm>
          <a:prstGeom prst="rect">
            <a:avLst/>
          </a:prstGeom>
          <a:noFill/>
          <a:ln/>
        </p:spPr>
        <p:txBody>
          <a:bodyPr wrap="square" rtlCol="0" anchor="ctr"/>
          <a:lstStyle/>
          <a:p>
            <a:pPr algn="ctr" indent="0" marL="0">
              <a:buNone/>
            </a:pPr>
            <a:r>
              <a:rPr lang="en-US" sz="1200" b="1" dirty="0">
                <a:solidFill>
                  <a:srgbClr val="5A430A"/>
                </a:solidFill>
                <a:latin typeface="Meiryo" pitchFamily="34" charset="0"/>
                <a:ea typeface="Meiryo" pitchFamily="34" charset="-122"/>
                <a:cs typeface="Meiryo" pitchFamily="34" charset="-120"/>
              </a:rPr>
              <a:t>13</a:t>
            </a:r>
            <a:endParaRPr lang="en-US" sz="1200" dirty="0"/>
          </a:p>
        </p:txBody>
      </p:sp>
      <p:sp>
        <p:nvSpPr>
          <p:cNvPr id="38" name="Text 36"/>
          <p:cNvSpPr/>
          <p:nvPr/>
        </p:nvSpPr>
        <p:spPr>
          <a:xfrm>
            <a:off x="10320963" y="3108960"/>
            <a:ext cx="1273629" cy="914400"/>
          </a:xfrm>
          <a:prstGeom prst="rect">
            <a:avLst/>
          </a:prstGeom>
          <a:noFill/>
          <a:ln/>
        </p:spPr>
        <p:txBody>
          <a:bodyPr wrap="square" rtlCol="0" anchor="ctr"/>
          <a:lstStyle/>
          <a:p>
            <a:pPr algn="ctr" indent="0" marL="0">
              <a:lnSpc>
                <a:spcPct val="95000"/>
              </a:lnSpc>
              <a:buNone/>
            </a:pPr>
            <a:r>
              <a:rPr lang="en-US" sz="1350" b="1" dirty="0">
                <a:solidFill>
                  <a:srgbClr val="1B2A4A"/>
                </a:solidFill>
                <a:latin typeface="Meiryo" pitchFamily="34" charset="0"/>
                <a:ea typeface="Meiryo" pitchFamily="34" charset="-122"/>
                <a:cs typeface="Meiryo" pitchFamily="34" charset="-120"/>
              </a:rPr>
              <a:t>採用人数</a:t>
            </a:r>
            <a:endParaRPr lang="en-US" sz="1350" dirty="0"/>
          </a:p>
        </p:txBody>
      </p:sp>
      <p:sp>
        <p:nvSpPr>
          <p:cNvPr id="39" name="Shape 37"/>
          <p:cNvSpPr/>
          <p:nvPr/>
        </p:nvSpPr>
        <p:spPr>
          <a:xfrm>
            <a:off x="548640" y="4754880"/>
            <a:ext cx="11091672" cy="1280160"/>
          </a:xfrm>
          <a:prstGeom prst="roundRect">
            <a:avLst>
              <a:gd name="adj" fmla="val 5714"/>
            </a:avLst>
          </a:prstGeom>
          <a:solidFill>
            <a:srgbClr val="2E4270"/>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40" name="Shape 38"/>
          <p:cNvSpPr/>
          <p:nvPr/>
        </p:nvSpPr>
        <p:spPr>
          <a:xfrm>
            <a:off x="548640" y="4754880"/>
            <a:ext cx="11091672" cy="1280160"/>
          </a:xfrm>
          <a:prstGeom prst="rect">
            <a:avLst/>
          </a:prstGeom>
          <a:solidFill>
            <a:srgbClr val="22345B"/>
          </a:solidFill>
          <a:ln/>
        </p:spPr>
        <p:txBody>
          <a:bodyPr/>
          <a:p/>
        </p:txBody>
      </p:sp>
      <p:sp>
        <p:nvSpPr>
          <p:cNvPr id="41" name="Text 39"/>
          <p:cNvSpPr/>
          <p:nvPr/>
        </p:nvSpPr>
        <p:spPr>
          <a:xfrm>
            <a:off x="868680" y="4937760"/>
            <a:ext cx="10515600" cy="502920"/>
          </a:xfrm>
          <a:prstGeom prst="rect">
            <a:avLst/>
          </a:prstGeom>
          <a:noFill/>
          <a:ln/>
        </p:spPr>
        <p:txBody>
          <a:bodyPr wrap="square" rtlCol="0" anchor="ctr"/>
          <a:lstStyle/>
          <a:p>
            <a:pPr indent="0" marL="0">
              <a:buNone/>
            </a:pPr>
            <a:r>
              <a:rPr lang="en-US" sz="1700" b="1" dirty="0">
                <a:solidFill>
                  <a:srgbClr val="FF9E93"/>
                </a:solidFill>
                <a:latin typeface="Meiryo" pitchFamily="34" charset="0"/>
                <a:ea typeface="Meiryo" pitchFamily="34" charset="-122"/>
                <a:cs typeface="Meiryo" pitchFamily="34" charset="-120"/>
              </a:rPr>
              <a:t>× 「うちは5人ほしい」   </a:t>
            </a:r>
            <a:pPr indent="0" marL="0">
              <a:buNone/>
            </a:pPr>
            <a:r>
              <a:rPr lang="en-US" sz="1600" dirty="0">
                <a:solidFill>
                  <a:srgbClr val="CADCFC"/>
                </a:solidFill>
                <a:latin typeface="Meiryo" pitchFamily="34" charset="0"/>
                <a:ea typeface="Meiryo" pitchFamily="34" charset="-122"/>
                <a:cs typeface="Meiryo" pitchFamily="34" charset="-120"/>
              </a:rPr>
              <a:t>→   </a:t>
            </a:r>
            <a:pPr indent="0" marL="0">
              <a:buNone/>
            </a:pPr>
            <a:r>
              <a:rPr lang="en-US" sz="1700" b="1" dirty="0">
                <a:solidFill>
                  <a:srgbClr val="9FE3C4"/>
                </a:solidFill>
                <a:latin typeface="Meiryo" pitchFamily="34" charset="0"/>
                <a:ea typeface="Meiryo" pitchFamily="34" charset="-122"/>
                <a:cs typeface="Meiryo" pitchFamily="34" charset="-120"/>
              </a:rPr>
              <a:t>○ 「6〜10時に3人、7〜12時に2人 不足」</a:t>
            </a:r>
            <a:endParaRPr lang="en-US" sz="1700" dirty="0"/>
          </a:p>
        </p:txBody>
      </p:sp>
      <p:sp>
        <p:nvSpPr>
          <p:cNvPr id="42" name="Text 40"/>
          <p:cNvSpPr/>
          <p:nvPr/>
        </p:nvSpPr>
        <p:spPr>
          <a:xfrm>
            <a:off x="868680" y="5440680"/>
            <a:ext cx="10424160" cy="457200"/>
          </a:xfrm>
          <a:prstGeom prst="rect">
            <a:avLst/>
          </a:prstGeom>
          <a:noFill/>
          <a:ln/>
        </p:spPr>
        <p:txBody>
          <a:bodyPr wrap="square" rtlCol="0" anchor="ctr"/>
          <a:lstStyle/>
          <a:p>
            <a:pPr indent="0" marL="0">
              <a:buNone/>
            </a:pPr>
            <a:r>
              <a:rPr lang="en-US" sz="1300" dirty="0">
                <a:solidFill>
                  <a:srgbClr val="E5ECF7"/>
                </a:solidFill>
                <a:latin typeface="Meiryo" pitchFamily="34" charset="0"/>
                <a:ea typeface="Meiryo" pitchFamily="34" charset="-122"/>
                <a:cs typeface="Meiryo" pitchFamily="34" charset="-120"/>
              </a:rPr>
              <a:t>この形で見ていただかないと、人件費が全く変わります。現場と人事が一緒に作らないと、この施策は成功しません。</a:t>
            </a:r>
            <a:endParaRPr lang="en-US" sz="1300" dirty="0"/>
          </a:p>
        </p:txBody>
      </p:sp>
      <p:sp>
        <p:nvSpPr>
          <p:cNvPr id="43" name="Text 41"/>
          <p:cNvSpPr/>
          <p:nvPr/>
        </p:nvSpPr>
        <p:spPr>
          <a:xfrm>
            <a:off x="457200" y="6419088"/>
            <a:ext cx="5486400" cy="274320"/>
          </a:xfrm>
          <a:prstGeom prst="rect">
            <a:avLst/>
          </a:prstGeom>
          <a:noFill/>
          <a:ln/>
        </p:spPr>
        <p:txBody>
          <a:bodyPr wrap="square" rtlCol="0" anchor="ctr"/>
          <a:lstStyle/>
          <a:p>
            <a:pPr algn="l" indent="0" marL="0">
              <a:buNone/>
            </a:pPr>
            <a:r>
              <a:rPr lang="en-US" sz="900" dirty="0">
                <a:solidFill>
                  <a:srgbClr val="9FB0CC"/>
                </a:solidFill>
                <a:latin typeface="Meiryo" pitchFamily="34" charset="0"/>
                <a:ea typeface="Meiryo" pitchFamily="34" charset="-122"/>
                <a:cs typeface="Meiryo" pitchFamily="34" charset="-120"/>
              </a:rPr>
              <a:t>短時間勤務者採用 説明会</a:t>
            </a:r>
            <a:endParaRPr lang="en-US" sz="900" dirty="0"/>
          </a:p>
        </p:txBody>
      </p:sp>
      <p:sp>
        <p:nvSpPr>
          <p:cNvPr id="44" name="Text 42"/>
          <p:cNvSpPr/>
          <p:nvPr/>
        </p:nvSpPr>
        <p:spPr>
          <a:xfrm>
            <a:off x="11338560" y="6419088"/>
            <a:ext cx="457200" cy="274320"/>
          </a:xfrm>
          <a:prstGeom prst="rect">
            <a:avLst/>
          </a:prstGeom>
          <a:noFill/>
          <a:ln/>
        </p:spPr>
        <p:txBody>
          <a:bodyPr wrap="square" rtlCol="0" anchor="ctr"/>
          <a:lstStyle/>
          <a:p>
            <a:pPr algn="r" indent="0" marL="0">
              <a:buNone/>
            </a:pPr>
            <a:r>
              <a:rPr lang="en-US" sz="900" dirty="0">
                <a:solidFill>
                  <a:srgbClr val="9FB0CC"/>
                </a:solidFill>
                <a:latin typeface="Meiryo" pitchFamily="34" charset="0"/>
                <a:ea typeface="Meiryo" pitchFamily="34" charset="-122"/>
                <a:cs typeface="Meiryo" pitchFamily="34" charset="-120"/>
              </a:rPr>
              <a:t>16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0058400" cy="320040"/>
          </a:xfrm>
          <a:prstGeom prst="rect">
            <a:avLst/>
          </a:prstGeom>
          <a:noFill/>
          <a:ln/>
        </p:spPr>
        <p:txBody>
          <a:bodyPr wrap="square" rtlCol="0" anchor="ctr"/>
          <a:lstStyle/>
          <a:p>
            <a:pPr indent="0" marL="0">
              <a:buNone/>
            </a:pPr>
            <a:r>
              <a:rPr lang="en-US" sz="1300" b="1" spc="200" kern="0" dirty="0">
                <a:solidFill>
                  <a:srgbClr val="2E5AAC"/>
                </a:solidFill>
                <a:latin typeface="Meiryo" pitchFamily="34" charset="0"/>
                <a:ea typeface="Meiryo" pitchFamily="34" charset="-122"/>
                <a:cs typeface="Meiryo" pitchFamily="34" charset="-120"/>
              </a:rPr>
              <a:t>正社員採用との関係</a:t>
            </a:r>
            <a:endParaRPr lang="en-US" sz="1300" dirty="0"/>
          </a:p>
        </p:txBody>
      </p:sp>
      <p:sp>
        <p:nvSpPr>
          <p:cNvPr id="3" name="Text 1"/>
          <p:cNvSpPr/>
          <p:nvPr/>
        </p:nvSpPr>
        <p:spPr>
          <a:xfrm>
            <a:off x="548640" y="841248"/>
            <a:ext cx="11064240" cy="822960"/>
          </a:xfrm>
          <a:prstGeom prst="rect">
            <a:avLst/>
          </a:prstGeom>
          <a:noFill/>
          <a:ln/>
        </p:spPr>
        <p:txBody>
          <a:bodyPr wrap="square" rtlCol="0" anchor="ctr"/>
          <a:lstStyle/>
          <a:p>
            <a:pPr algn="l" indent="0" marL="0">
              <a:buNone/>
            </a:pPr>
            <a:r>
              <a:rPr lang="en-US" sz="3000" b="1" dirty="0">
                <a:solidFill>
                  <a:srgbClr val="1B2A4A"/>
                </a:solidFill>
                <a:latin typeface="Meiryo" pitchFamily="34" charset="0"/>
                <a:ea typeface="Meiryo" pitchFamily="34" charset="-122"/>
                <a:cs typeface="Meiryo" pitchFamily="34" charset="-120"/>
              </a:rPr>
              <a:t>正社員を否定しない。役割を分けて組み合わせる</a:t>
            </a:r>
            <a:endParaRPr lang="en-US" sz="3000" dirty="0"/>
          </a:p>
        </p:txBody>
      </p:sp>
      <p:sp>
        <p:nvSpPr>
          <p:cNvPr id="4" name="Shape 2"/>
          <p:cNvSpPr/>
          <p:nvPr/>
        </p:nvSpPr>
        <p:spPr>
          <a:xfrm>
            <a:off x="548640" y="2240280"/>
            <a:ext cx="5486400" cy="3657600"/>
          </a:xfrm>
          <a:prstGeom prst="roundRect">
            <a:avLst>
              <a:gd name="adj" fmla="val 2000"/>
            </a:avLst>
          </a:prstGeom>
          <a:solidFill>
            <a:srgbClr val="E9EEF8"/>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5" name="Shape 3"/>
          <p:cNvSpPr/>
          <p:nvPr/>
        </p:nvSpPr>
        <p:spPr>
          <a:xfrm>
            <a:off x="822960" y="2514600"/>
            <a:ext cx="457200" cy="457200"/>
          </a:xfrm>
          <a:prstGeom prst="roundRect">
            <a:avLst>
              <a:gd name="adj" fmla="val 50000"/>
            </a:avLst>
          </a:prstGeom>
          <a:solidFill>
            <a:srgbClr val="2E5AAC"/>
          </a:solidFill>
          <a:ln/>
        </p:spPr>
        <p:txBody>
          <a:bodyPr/>
          <a:p/>
        </p:txBody>
      </p:sp>
      <p:sp>
        <p:nvSpPr>
          <p:cNvPr id="6" name="Text 4"/>
          <p:cNvSpPr/>
          <p:nvPr/>
        </p:nvSpPr>
        <p:spPr>
          <a:xfrm>
            <a:off x="822960" y="2514600"/>
            <a:ext cx="457200" cy="457200"/>
          </a:xfrm>
          <a:prstGeom prst="rect">
            <a:avLst/>
          </a:prstGeom>
          <a:noFill/>
          <a:ln/>
        </p:spPr>
        <p:txBody>
          <a:bodyPr wrap="square"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正</a:t>
            </a:r>
            <a:endParaRPr lang="en-US" sz="1600" dirty="0"/>
          </a:p>
        </p:txBody>
      </p:sp>
      <p:sp>
        <p:nvSpPr>
          <p:cNvPr id="7" name="Text 5"/>
          <p:cNvSpPr/>
          <p:nvPr/>
        </p:nvSpPr>
        <p:spPr>
          <a:xfrm>
            <a:off x="1417320" y="2514600"/>
            <a:ext cx="4297680" cy="457200"/>
          </a:xfrm>
          <a:prstGeom prst="rect">
            <a:avLst/>
          </a:prstGeom>
          <a:noFill/>
          <a:ln/>
        </p:spPr>
        <p:txBody>
          <a:bodyPr wrap="square" rtlCol="0" anchor="ctr"/>
          <a:lstStyle/>
          <a:p>
            <a:pPr indent="0" marL="0">
              <a:buNone/>
            </a:pPr>
            <a:r>
              <a:rPr lang="en-US" sz="1900" b="1" dirty="0">
                <a:solidFill>
                  <a:srgbClr val="1F2733"/>
                </a:solidFill>
                <a:latin typeface="Meiryo" pitchFamily="34" charset="0"/>
                <a:ea typeface="Meiryo" pitchFamily="34" charset="-122"/>
                <a:cs typeface="Meiryo" pitchFamily="34" charset="-120"/>
              </a:rPr>
              <a:t>フルタイム社員</a:t>
            </a:r>
            <a:endParaRPr lang="en-US" sz="1900" dirty="0"/>
          </a:p>
        </p:txBody>
      </p:sp>
      <p:sp>
        <p:nvSpPr>
          <p:cNvPr id="8" name="Text 6"/>
          <p:cNvSpPr/>
          <p:nvPr/>
        </p:nvSpPr>
        <p:spPr>
          <a:xfrm>
            <a:off x="914400" y="3200400"/>
            <a:ext cx="4846320" cy="502920"/>
          </a:xfrm>
          <a:prstGeom prst="rect">
            <a:avLst/>
          </a:prstGeom>
          <a:noFill/>
          <a:ln/>
        </p:spPr>
        <p:txBody>
          <a:bodyPr wrap="square" rtlCol="0" anchor="ctr"/>
          <a:lstStyle/>
          <a:p>
            <a:pPr marL="177800" indent="-177800">
              <a:buSzPct val="100000"/>
              <a:buChar char="•"/>
            </a:pPr>
            <a:r>
              <a:rPr lang="en-US" sz="1400" dirty="0">
                <a:solidFill>
                  <a:srgbClr val="1F2733"/>
                </a:solidFill>
                <a:latin typeface="Meiryo" pitchFamily="34" charset="0"/>
                <a:ea typeface="Meiryo" pitchFamily="34" charset="-122"/>
                <a:cs typeface="Meiryo" pitchFamily="34" charset="-120"/>
              </a:rPr>
              <a:t>コア業務・安定運営の中心</a:t>
            </a:r>
            <a:endParaRPr lang="en-US" sz="1400" dirty="0"/>
          </a:p>
        </p:txBody>
      </p:sp>
      <p:sp>
        <p:nvSpPr>
          <p:cNvPr id="9" name="Text 7"/>
          <p:cNvSpPr/>
          <p:nvPr/>
        </p:nvSpPr>
        <p:spPr>
          <a:xfrm>
            <a:off x="914400" y="3822192"/>
            <a:ext cx="4846320" cy="502920"/>
          </a:xfrm>
          <a:prstGeom prst="rect">
            <a:avLst/>
          </a:prstGeom>
          <a:noFill/>
          <a:ln/>
        </p:spPr>
        <p:txBody>
          <a:bodyPr wrap="square" rtlCol="0" anchor="ctr"/>
          <a:lstStyle/>
          <a:p>
            <a:pPr marL="177800" indent="-177800">
              <a:buSzPct val="100000"/>
              <a:buChar char="•"/>
            </a:pPr>
            <a:r>
              <a:rPr lang="en-US" sz="1400" dirty="0">
                <a:solidFill>
                  <a:srgbClr val="1F2733"/>
                </a:solidFill>
                <a:latin typeface="Meiryo" pitchFamily="34" charset="0"/>
                <a:ea typeface="Meiryo" pitchFamily="34" charset="-122"/>
                <a:cs typeface="Meiryo" pitchFamily="34" charset="-120"/>
              </a:rPr>
              <a:t>資格保有者・責任者</a:t>
            </a:r>
            <a:endParaRPr lang="en-US" sz="1400" dirty="0"/>
          </a:p>
        </p:txBody>
      </p:sp>
      <p:sp>
        <p:nvSpPr>
          <p:cNvPr id="10" name="Text 8"/>
          <p:cNvSpPr/>
          <p:nvPr/>
        </p:nvSpPr>
        <p:spPr>
          <a:xfrm>
            <a:off x="914400" y="4443984"/>
            <a:ext cx="4846320" cy="502920"/>
          </a:xfrm>
          <a:prstGeom prst="rect">
            <a:avLst/>
          </a:prstGeom>
          <a:noFill/>
          <a:ln/>
        </p:spPr>
        <p:txBody>
          <a:bodyPr wrap="square" rtlCol="0" anchor="ctr"/>
          <a:lstStyle/>
          <a:p>
            <a:pPr marL="177800" indent="-177800">
              <a:buSzPct val="100000"/>
              <a:buChar char="•"/>
            </a:pPr>
            <a:r>
              <a:rPr lang="en-US" sz="1400" dirty="0">
                <a:solidFill>
                  <a:srgbClr val="1F2733"/>
                </a:solidFill>
                <a:latin typeface="Meiryo" pitchFamily="34" charset="0"/>
                <a:ea typeface="Meiryo" pitchFamily="34" charset="-122"/>
                <a:cs typeface="Meiryo" pitchFamily="34" charset="-120"/>
              </a:rPr>
              <a:t>イレギュラー時に対応できる体制</a:t>
            </a:r>
            <a:endParaRPr lang="en-US" sz="1400" dirty="0"/>
          </a:p>
        </p:txBody>
      </p:sp>
      <p:sp>
        <p:nvSpPr>
          <p:cNvPr id="11" name="Text 9"/>
          <p:cNvSpPr/>
          <p:nvPr/>
        </p:nvSpPr>
        <p:spPr>
          <a:xfrm>
            <a:off x="914400" y="5065776"/>
            <a:ext cx="4846320" cy="502920"/>
          </a:xfrm>
          <a:prstGeom prst="rect">
            <a:avLst/>
          </a:prstGeom>
          <a:noFill/>
          <a:ln/>
        </p:spPr>
        <p:txBody>
          <a:bodyPr wrap="square" rtlCol="0" anchor="ctr"/>
          <a:lstStyle/>
          <a:p>
            <a:pPr marL="177800" indent="-177800">
              <a:buSzPct val="100000"/>
              <a:buChar char="•"/>
            </a:pPr>
            <a:r>
              <a:rPr lang="en-US" sz="1400" dirty="0">
                <a:solidFill>
                  <a:srgbClr val="1F2733"/>
                </a:solidFill>
                <a:latin typeface="Meiryo" pitchFamily="34" charset="0"/>
                <a:ea typeface="Meiryo" pitchFamily="34" charset="-122"/>
                <a:cs typeface="Meiryo" pitchFamily="34" charset="-120"/>
              </a:rPr>
              <a:t>中途採用は原則抑制、即戦力は個別判断</a:t>
            </a:r>
            <a:endParaRPr lang="en-US" sz="1400" dirty="0"/>
          </a:p>
        </p:txBody>
      </p:sp>
      <p:sp>
        <p:nvSpPr>
          <p:cNvPr id="12" name="Shape 10"/>
          <p:cNvSpPr/>
          <p:nvPr/>
        </p:nvSpPr>
        <p:spPr>
          <a:xfrm>
            <a:off x="6172200" y="2240280"/>
            <a:ext cx="5468112" cy="3657600"/>
          </a:xfrm>
          <a:prstGeom prst="roundRect">
            <a:avLst>
              <a:gd name="adj" fmla="val 2000"/>
            </a:avLst>
          </a:prstGeom>
          <a:solidFill>
            <a:srgbClr val="E3F0EA"/>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3" name="Shape 11"/>
          <p:cNvSpPr/>
          <p:nvPr/>
        </p:nvSpPr>
        <p:spPr>
          <a:xfrm>
            <a:off x="6446520" y="2514600"/>
            <a:ext cx="457200" cy="457200"/>
          </a:xfrm>
          <a:prstGeom prst="roundRect">
            <a:avLst>
              <a:gd name="adj" fmla="val 50000"/>
            </a:avLst>
          </a:prstGeom>
          <a:solidFill>
            <a:srgbClr val="1E7A5A"/>
          </a:solidFill>
          <a:ln/>
        </p:spPr>
        <p:txBody>
          <a:bodyPr/>
          <a:p/>
        </p:txBody>
      </p:sp>
      <p:sp>
        <p:nvSpPr>
          <p:cNvPr id="14" name="Text 12"/>
          <p:cNvSpPr/>
          <p:nvPr/>
        </p:nvSpPr>
        <p:spPr>
          <a:xfrm>
            <a:off x="6446520" y="2514600"/>
            <a:ext cx="457200" cy="457200"/>
          </a:xfrm>
          <a:prstGeom prst="rect">
            <a:avLst/>
          </a:prstGeom>
          <a:noFill/>
          <a:ln/>
        </p:spPr>
        <p:txBody>
          <a:bodyPr wrap="square"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時</a:t>
            </a:r>
            <a:endParaRPr lang="en-US" sz="1500" dirty="0"/>
          </a:p>
        </p:txBody>
      </p:sp>
      <p:sp>
        <p:nvSpPr>
          <p:cNvPr id="15" name="Text 13"/>
          <p:cNvSpPr/>
          <p:nvPr/>
        </p:nvSpPr>
        <p:spPr>
          <a:xfrm>
            <a:off x="7040880" y="2514600"/>
            <a:ext cx="4297680" cy="457200"/>
          </a:xfrm>
          <a:prstGeom prst="rect">
            <a:avLst/>
          </a:prstGeom>
          <a:noFill/>
          <a:ln/>
        </p:spPr>
        <p:txBody>
          <a:bodyPr wrap="square" rtlCol="0" anchor="ctr"/>
          <a:lstStyle/>
          <a:p>
            <a:pPr indent="0" marL="0">
              <a:buNone/>
            </a:pPr>
            <a:r>
              <a:rPr lang="en-US" sz="1900" b="1" dirty="0">
                <a:solidFill>
                  <a:srgbClr val="1F2733"/>
                </a:solidFill>
                <a:latin typeface="Meiryo" pitchFamily="34" charset="0"/>
                <a:ea typeface="Meiryo" pitchFamily="34" charset="-122"/>
                <a:cs typeface="Meiryo" pitchFamily="34" charset="-120"/>
              </a:rPr>
              <a:t>短時間勤務者</a:t>
            </a:r>
            <a:endParaRPr lang="en-US" sz="1900" dirty="0"/>
          </a:p>
        </p:txBody>
      </p:sp>
      <p:sp>
        <p:nvSpPr>
          <p:cNvPr id="16" name="Text 14"/>
          <p:cNvSpPr/>
          <p:nvPr/>
        </p:nvSpPr>
        <p:spPr>
          <a:xfrm>
            <a:off x="6537960" y="3200400"/>
            <a:ext cx="4846320" cy="502920"/>
          </a:xfrm>
          <a:prstGeom prst="rect">
            <a:avLst/>
          </a:prstGeom>
          <a:noFill/>
          <a:ln/>
        </p:spPr>
        <p:txBody>
          <a:bodyPr wrap="square" rtlCol="0" anchor="ctr"/>
          <a:lstStyle/>
          <a:p>
            <a:pPr marL="177800" indent="-177800">
              <a:buSzPct val="100000"/>
              <a:buChar char="•"/>
            </a:pPr>
            <a:r>
              <a:rPr lang="en-US" sz="1400" dirty="0">
                <a:solidFill>
                  <a:srgbClr val="1F2733"/>
                </a:solidFill>
                <a:latin typeface="Meiryo" pitchFamily="34" charset="0"/>
                <a:ea typeface="Meiryo" pitchFamily="34" charset="-122"/>
                <a:cs typeface="Meiryo" pitchFamily="34" charset="-120"/>
              </a:rPr>
              <a:t>ピーク時間帯の補完</a:t>
            </a:r>
            <a:endParaRPr lang="en-US" sz="1400" dirty="0"/>
          </a:p>
        </p:txBody>
      </p:sp>
      <p:sp>
        <p:nvSpPr>
          <p:cNvPr id="17" name="Text 15"/>
          <p:cNvSpPr/>
          <p:nvPr/>
        </p:nvSpPr>
        <p:spPr>
          <a:xfrm>
            <a:off x="6537960" y="3822192"/>
            <a:ext cx="4846320" cy="502920"/>
          </a:xfrm>
          <a:prstGeom prst="rect">
            <a:avLst/>
          </a:prstGeom>
          <a:noFill/>
          <a:ln/>
        </p:spPr>
        <p:txBody>
          <a:bodyPr wrap="square" rtlCol="0" anchor="ctr"/>
          <a:lstStyle/>
          <a:p>
            <a:pPr marL="177800" indent="-177800">
              <a:buSzPct val="100000"/>
              <a:buChar char="•"/>
            </a:pPr>
            <a:r>
              <a:rPr lang="en-US" sz="1400" dirty="0">
                <a:solidFill>
                  <a:srgbClr val="1F2733"/>
                </a:solidFill>
                <a:latin typeface="Meiryo" pitchFamily="34" charset="0"/>
                <a:ea typeface="Meiryo" pitchFamily="34" charset="-122"/>
                <a:cs typeface="Meiryo" pitchFamily="34" charset="-120"/>
              </a:rPr>
              <a:t>定型業務・資格に応じたライン配置</a:t>
            </a:r>
            <a:endParaRPr lang="en-US" sz="1400" dirty="0"/>
          </a:p>
        </p:txBody>
      </p:sp>
      <p:sp>
        <p:nvSpPr>
          <p:cNvPr id="18" name="Text 16"/>
          <p:cNvSpPr/>
          <p:nvPr/>
        </p:nvSpPr>
        <p:spPr>
          <a:xfrm>
            <a:off x="6537960" y="4443984"/>
            <a:ext cx="4846320" cy="502920"/>
          </a:xfrm>
          <a:prstGeom prst="rect">
            <a:avLst/>
          </a:prstGeom>
          <a:noFill/>
          <a:ln/>
        </p:spPr>
        <p:txBody>
          <a:bodyPr wrap="square" rtlCol="0" anchor="ctr"/>
          <a:lstStyle/>
          <a:p>
            <a:pPr marL="177800" indent="-177800">
              <a:buSzPct val="100000"/>
              <a:buChar char="•"/>
            </a:pPr>
            <a:r>
              <a:rPr lang="en-US" sz="1400" dirty="0">
                <a:solidFill>
                  <a:srgbClr val="1F2733"/>
                </a:solidFill>
                <a:latin typeface="Meiryo" pitchFamily="34" charset="0"/>
                <a:ea typeface="Meiryo" pitchFamily="34" charset="-122"/>
                <a:cs typeface="Meiryo" pitchFamily="34" charset="-120"/>
              </a:rPr>
              <a:t>朝の数時間だけの不足をカバー</a:t>
            </a:r>
            <a:endParaRPr lang="en-US" sz="1400" dirty="0"/>
          </a:p>
        </p:txBody>
      </p:sp>
      <p:sp>
        <p:nvSpPr>
          <p:cNvPr id="19" name="Text 17"/>
          <p:cNvSpPr/>
          <p:nvPr/>
        </p:nvSpPr>
        <p:spPr>
          <a:xfrm>
            <a:off x="6537960" y="5065776"/>
            <a:ext cx="4846320" cy="502920"/>
          </a:xfrm>
          <a:prstGeom prst="rect">
            <a:avLst/>
          </a:prstGeom>
          <a:noFill/>
          <a:ln/>
        </p:spPr>
        <p:txBody>
          <a:bodyPr wrap="square" rtlCol="0" anchor="ctr"/>
          <a:lstStyle/>
          <a:p>
            <a:pPr marL="177800" indent="-177800">
              <a:buSzPct val="100000"/>
              <a:buChar char="•"/>
            </a:pPr>
            <a:r>
              <a:rPr lang="en-US" sz="1400" dirty="0">
                <a:solidFill>
                  <a:srgbClr val="1F2733"/>
                </a:solidFill>
                <a:latin typeface="Meiryo" pitchFamily="34" charset="0"/>
                <a:ea typeface="Meiryo" pitchFamily="34" charset="-122"/>
                <a:cs typeface="Meiryo" pitchFamily="34" charset="-120"/>
              </a:rPr>
              <a:t>フルタイム採用の代わりに機動的に配置</a:t>
            </a:r>
            <a:endParaRPr lang="en-US" sz="1400" dirty="0"/>
          </a:p>
        </p:txBody>
      </p:sp>
      <p:sp>
        <p:nvSpPr>
          <p:cNvPr id="20" name="Text 18"/>
          <p:cNvSpPr/>
          <p:nvPr/>
        </p:nvSpPr>
        <p:spPr>
          <a:xfrm>
            <a:off x="457200" y="6419088"/>
            <a:ext cx="5486400" cy="274320"/>
          </a:xfrm>
          <a:prstGeom prst="rect">
            <a:avLst/>
          </a:prstGeom>
          <a:noFill/>
          <a:ln/>
        </p:spPr>
        <p:txBody>
          <a:bodyPr wrap="square" rtlCol="0" anchor="ctr"/>
          <a:lstStyle/>
          <a:p>
            <a:pPr algn="l" indent="0" marL="0">
              <a:buNone/>
            </a:pPr>
            <a:r>
              <a:rPr lang="en-US" sz="900" dirty="0">
                <a:solidFill>
                  <a:srgbClr val="6B7686"/>
                </a:solidFill>
                <a:latin typeface="Meiryo" pitchFamily="34" charset="0"/>
                <a:ea typeface="Meiryo" pitchFamily="34" charset="-122"/>
                <a:cs typeface="Meiryo" pitchFamily="34" charset="-120"/>
              </a:rPr>
              <a:t>短時間勤務者採用 説明会</a:t>
            </a:r>
            <a:endParaRPr lang="en-US" sz="900" dirty="0"/>
          </a:p>
        </p:txBody>
      </p:sp>
      <p:sp>
        <p:nvSpPr>
          <p:cNvPr id="21" name="Text 19"/>
          <p:cNvSpPr/>
          <p:nvPr/>
        </p:nvSpPr>
        <p:spPr>
          <a:xfrm>
            <a:off x="11338560" y="6419088"/>
            <a:ext cx="457200" cy="274320"/>
          </a:xfrm>
          <a:prstGeom prst="rect">
            <a:avLst/>
          </a:prstGeom>
          <a:noFill/>
          <a:ln/>
        </p:spPr>
        <p:txBody>
          <a:bodyPr wrap="square" rtlCol="0" anchor="ctr"/>
          <a:lstStyle/>
          <a:p>
            <a:pPr algn="r" indent="0" marL="0">
              <a:buNone/>
            </a:pPr>
            <a:r>
              <a:rPr lang="en-US" sz="900" dirty="0">
                <a:solidFill>
                  <a:srgbClr val="6B7686"/>
                </a:solidFill>
                <a:latin typeface="Meiryo" pitchFamily="34" charset="0"/>
                <a:ea typeface="Meiryo" pitchFamily="34" charset="-122"/>
                <a:cs typeface="Meiryo" pitchFamily="34" charset="-120"/>
              </a:rPr>
              <a:t>17</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502920"/>
            <a:ext cx="10058400" cy="320040"/>
          </a:xfrm>
          <a:prstGeom prst="rect">
            <a:avLst/>
          </a:prstGeom>
          <a:noFill/>
          <a:ln/>
        </p:spPr>
        <p:txBody>
          <a:bodyPr wrap="square" rtlCol="0" anchor="ctr"/>
          <a:lstStyle/>
          <a:p>
            <a:pPr indent="0" marL="0">
              <a:buNone/>
            </a:pPr>
            <a:r>
              <a:rPr lang="en-US" sz="1300" b="1" spc="200" kern="0" dirty="0">
                <a:solidFill>
                  <a:srgbClr val="2E5AAC"/>
                </a:solidFill>
                <a:latin typeface="Meiryo" pitchFamily="34" charset="0"/>
                <a:ea typeface="Meiryo" pitchFamily="34" charset="-122"/>
                <a:cs typeface="Meiryo" pitchFamily="34" charset="-120"/>
              </a:rPr>
              <a:t>現在の採用状況</a:t>
            </a:r>
            <a:endParaRPr lang="en-US" sz="1300" dirty="0"/>
          </a:p>
        </p:txBody>
      </p:sp>
      <p:sp>
        <p:nvSpPr>
          <p:cNvPr id="3" name="Text 1"/>
          <p:cNvSpPr/>
          <p:nvPr/>
        </p:nvSpPr>
        <p:spPr>
          <a:xfrm>
            <a:off x="548640" y="841248"/>
            <a:ext cx="11064240" cy="822960"/>
          </a:xfrm>
          <a:prstGeom prst="rect">
            <a:avLst/>
          </a:prstGeom>
          <a:noFill/>
          <a:ln/>
        </p:spPr>
        <p:txBody>
          <a:bodyPr wrap="square" rtlCol="0" anchor="ctr"/>
          <a:lstStyle/>
          <a:p>
            <a:pPr algn="l" indent="0" marL="0">
              <a:buNone/>
            </a:pPr>
            <a:r>
              <a:rPr lang="en-US" sz="3000" b="1" dirty="0">
                <a:solidFill>
                  <a:srgbClr val="1B2A4A"/>
                </a:solidFill>
                <a:latin typeface="Meiryo" pitchFamily="34" charset="0"/>
                <a:ea typeface="Meiryo" pitchFamily="34" charset="-122"/>
                <a:cs typeface="Meiryo" pitchFamily="34" charset="-120"/>
              </a:rPr>
              <a:t>成田・新千歳から先行して募集開始</a:t>
            </a:r>
            <a:endParaRPr lang="en-US" sz="3000" dirty="0"/>
          </a:p>
        </p:txBody>
      </p:sp>
      <p:sp>
        <p:nvSpPr>
          <p:cNvPr id="4" name="Shape 2"/>
          <p:cNvSpPr/>
          <p:nvPr/>
        </p:nvSpPr>
        <p:spPr>
          <a:xfrm>
            <a:off x="548640" y="2286000"/>
            <a:ext cx="3657600" cy="2103120"/>
          </a:xfrm>
          <a:prstGeom prst="roundRect">
            <a:avLst>
              <a:gd name="adj" fmla="val 3478"/>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5" name="Text 3"/>
          <p:cNvSpPr/>
          <p:nvPr/>
        </p:nvSpPr>
        <p:spPr>
          <a:xfrm>
            <a:off x="822960" y="2560320"/>
            <a:ext cx="3108960" cy="365760"/>
          </a:xfrm>
          <a:prstGeom prst="rect">
            <a:avLst/>
          </a:prstGeom>
          <a:noFill/>
          <a:ln/>
        </p:spPr>
        <p:txBody>
          <a:bodyPr wrap="square" rtlCol="0" anchor="ctr"/>
          <a:lstStyle/>
          <a:p>
            <a:pPr indent="0" marL="0">
              <a:buNone/>
            </a:pPr>
            <a:r>
              <a:rPr lang="en-US" sz="1500" b="1" dirty="0">
                <a:solidFill>
                  <a:srgbClr val="6B7686"/>
                </a:solidFill>
                <a:latin typeface="Meiryo" pitchFamily="34" charset="0"/>
                <a:ea typeface="Meiryo" pitchFamily="34" charset="-122"/>
                <a:cs typeface="Meiryo" pitchFamily="34" charset="-120"/>
              </a:rPr>
              <a:t>成田</a:t>
            </a:r>
            <a:endParaRPr lang="en-US" sz="1500" dirty="0"/>
          </a:p>
        </p:txBody>
      </p:sp>
      <p:sp>
        <p:nvSpPr>
          <p:cNvPr id="6" name="Text 4"/>
          <p:cNvSpPr/>
          <p:nvPr/>
        </p:nvSpPr>
        <p:spPr>
          <a:xfrm>
            <a:off x="822960" y="2971800"/>
            <a:ext cx="3108960" cy="777240"/>
          </a:xfrm>
          <a:prstGeom prst="rect">
            <a:avLst/>
          </a:prstGeom>
          <a:noFill/>
          <a:ln/>
        </p:spPr>
        <p:txBody>
          <a:bodyPr wrap="square" rtlCol="0" anchor="ctr"/>
          <a:lstStyle/>
          <a:p>
            <a:pPr indent="0" marL="0">
              <a:buNone/>
            </a:pPr>
            <a:r>
              <a:rPr lang="en-US" sz="4400" b="1" dirty="0">
                <a:solidFill>
                  <a:srgbClr val="1B2A4A"/>
                </a:solidFill>
                <a:latin typeface="Meiryo" pitchFamily="34" charset="0"/>
                <a:ea typeface="Meiryo" pitchFamily="34" charset="-122"/>
                <a:cs typeface="Meiryo" pitchFamily="34" charset="-120"/>
              </a:rPr>
              <a:t>10名</a:t>
            </a:r>
            <a:endParaRPr lang="en-US" sz="4400" dirty="0"/>
          </a:p>
        </p:txBody>
      </p:sp>
      <p:sp>
        <p:nvSpPr>
          <p:cNvPr id="7" name="Text 5"/>
          <p:cNvSpPr/>
          <p:nvPr/>
        </p:nvSpPr>
        <p:spPr>
          <a:xfrm>
            <a:off x="822960" y="3840480"/>
            <a:ext cx="3108960" cy="457200"/>
          </a:xfrm>
          <a:prstGeom prst="rect">
            <a:avLst/>
          </a:prstGeom>
          <a:noFill/>
          <a:ln/>
        </p:spPr>
        <p:txBody>
          <a:bodyPr wrap="square" rtlCol="0" anchor="ctr"/>
          <a:lstStyle/>
          <a:p>
            <a:pPr indent="0" marL="0">
              <a:buNone/>
            </a:pPr>
            <a:r>
              <a:rPr lang="en-US" sz="1200" dirty="0">
                <a:solidFill>
                  <a:srgbClr val="6B7686"/>
                </a:solidFill>
                <a:latin typeface="Meiryo" pitchFamily="34" charset="0"/>
                <a:ea typeface="Meiryo" pitchFamily="34" charset="-122"/>
                <a:cs typeface="Meiryo" pitchFamily="34" charset="-120"/>
              </a:rPr>
              <a:t>採用目標（当面）</a:t>
            </a:r>
            <a:endParaRPr lang="en-US" sz="1200" dirty="0"/>
          </a:p>
        </p:txBody>
      </p:sp>
      <p:sp>
        <p:nvSpPr>
          <p:cNvPr id="8" name="Shape 6"/>
          <p:cNvSpPr/>
          <p:nvPr/>
        </p:nvSpPr>
        <p:spPr>
          <a:xfrm>
            <a:off x="4526280" y="2286000"/>
            <a:ext cx="3657600" cy="2103120"/>
          </a:xfrm>
          <a:prstGeom prst="roundRect">
            <a:avLst>
              <a:gd name="adj" fmla="val 3478"/>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9" name="Text 7"/>
          <p:cNvSpPr/>
          <p:nvPr/>
        </p:nvSpPr>
        <p:spPr>
          <a:xfrm>
            <a:off x="4800600" y="2560320"/>
            <a:ext cx="3108960" cy="365760"/>
          </a:xfrm>
          <a:prstGeom prst="rect">
            <a:avLst/>
          </a:prstGeom>
          <a:noFill/>
          <a:ln/>
        </p:spPr>
        <p:txBody>
          <a:bodyPr wrap="square" rtlCol="0" anchor="ctr"/>
          <a:lstStyle/>
          <a:p>
            <a:pPr indent="0" marL="0">
              <a:buNone/>
            </a:pPr>
            <a:r>
              <a:rPr lang="en-US" sz="1500" b="1" dirty="0">
                <a:solidFill>
                  <a:srgbClr val="6B7686"/>
                </a:solidFill>
                <a:latin typeface="Meiryo" pitchFamily="34" charset="0"/>
                <a:ea typeface="Meiryo" pitchFamily="34" charset="-122"/>
                <a:cs typeface="Meiryo" pitchFamily="34" charset="-120"/>
              </a:rPr>
              <a:t>新千歳</a:t>
            </a:r>
            <a:endParaRPr lang="en-US" sz="1500" dirty="0"/>
          </a:p>
        </p:txBody>
      </p:sp>
      <p:sp>
        <p:nvSpPr>
          <p:cNvPr id="10" name="Text 8"/>
          <p:cNvSpPr/>
          <p:nvPr/>
        </p:nvSpPr>
        <p:spPr>
          <a:xfrm>
            <a:off x="4800600" y="2971800"/>
            <a:ext cx="3108960" cy="777240"/>
          </a:xfrm>
          <a:prstGeom prst="rect">
            <a:avLst/>
          </a:prstGeom>
          <a:noFill/>
          <a:ln/>
        </p:spPr>
        <p:txBody>
          <a:bodyPr wrap="square" rtlCol="0" anchor="ctr"/>
          <a:lstStyle/>
          <a:p>
            <a:pPr indent="0" marL="0">
              <a:buNone/>
            </a:pPr>
            <a:r>
              <a:rPr lang="en-US" sz="4400" b="1" dirty="0">
                <a:solidFill>
                  <a:srgbClr val="1B2A4A"/>
                </a:solidFill>
                <a:latin typeface="Meiryo" pitchFamily="34" charset="0"/>
                <a:ea typeface="Meiryo" pitchFamily="34" charset="-122"/>
                <a:cs typeface="Meiryo" pitchFamily="34" charset="-120"/>
              </a:rPr>
              <a:t>10名</a:t>
            </a:r>
            <a:endParaRPr lang="en-US" sz="4400" dirty="0"/>
          </a:p>
        </p:txBody>
      </p:sp>
      <p:sp>
        <p:nvSpPr>
          <p:cNvPr id="11" name="Text 9"/>
          <p:cNvSpPr/>
          <p:nvPr/>
        </p:nvSpPr>
        <p:spPr>
          <a:xfrm>
            <a:off x="4800600" y="3840480"/>
            <a:ext cx="3108960" cy="457200"/>
          </a:xfrm>
          <a:prstGeom prst="rect">
            <a:avLst/>
          </a:prstGeom>
          <a:noFill/>
          <a:ln/>
        </p:spPr>
        <p:txBody>
          <a:bodyPr wrap="square" rtlCol="0" anchor="ctr"/>
          <a:lstStyle/>
          <a:p>
            <a:pPr indent="0" marL="0">
              <a:buNone/>
            </a:pPr>
            <a:r>
              <a:rPr lang="en-US" sz="1200" dirty="0">
                <a:solidFill>
                  <a:srgbClr val="6B7686"/>
                </a:solidFill>
                <a:latin typeface="Meiryo" pitchFamily="34" charset="0"/>
                <a:ea typeface="Meiryo" pitchFamily="34" charset="-122"/>
                <a:cs typeface="Meiryo" pitchFamily="34" charset="-120"/>
              </a:rPr>
              <a:t>採用目標（当面）</a:t>
            </a:r>
            <a:endParaRPr lang="en-US" sz="1200" dirty="0"/>
          </a:p>
        </p:txBody>
      </p:sp>
      <p:sp>
        <p:nvSpPr>
          <p:cNvPr id="12" name="Shape 10"/>
          <p:cNvSpPr/>
          <p:nvPr/>
        </p:nvSpPr>
        <p:spPr>
          <a:xfrm>
            <a:off x="8503920" y="2286000"/>
            <a:ext cx="3657600" cy="2103120"/>
          </a:xfrm>
          <a:prstGeom prst="roundRect">
            <a:avLst>
              <a:gd name="adj" fmla="val 3478"/>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3" name="Text 11"/>
          <p:cNvSpPr/>
          <p:nvPr/>
        </p:nvSpPr>
        <p:spPr>
          <a:xfrm>
            <a:off x="8778240" y="2560320"/>
            <a:ext cx="3108960" cy="365760"/>
          </a:xfrm>
          <a:prstGeom prst="rect">
            <a:avLst/>
          </a:prstGeom>
          <a:noFill/>
          <a:ln/>
        </p:spPr>
        <p:txBody>
          <a:bodyPr wrap="square" rtlCol="0" anchor="ctr"/>
          <a:lstStyle/>
          <a:p>
            <a:pPr indent="0" marL="0">
              <a:buNone/>
            </a:pPr>
            <a:r>
              <a:rPr lang="en-US" sz="1500" b="1" dirty="0">
                <a:solidFill>
                  <a:srgbClr val="6B7686"/>
                </a:solidFill>
                <a:latin typeface="Meiryo" pitchFamily="34" charset="0"/>
                <a:ea typeface="Meiryo" pitchFamily="34" charset="-122"/>
                <a:cs typeface="Meiryo" pitchFamily="34" charset="-120"/>
              </a:rPr>
              <a:t>成田・経験者</a:t>
            </a:r>
            <a:endParaRPr lang="en-US" sz="1500" dirty="0"/>
          </a:p>
        </p:txBody>
      </p:sp>
      <p:sp>
        <p:nvSpPr>
          <p:cNvPr id="14" name="Text 12"/>
          <p:cNvSpPr/>
          <p:nvPr/>
        </p:nvSpPr>
        <p:spPr>
          <a:xfrm>
            <a:off x="8778240" y="2971800"/>
            <a:ext cx="3108960" cy="777240"/>
          </a:xfrm>
          <a:prstGeom prst="rect">
            <a:avLst/>
          </a:prstGeom>
          <a:noFill/>
          <a:ln/>
        </p:spPr>
        <p:txBody>
          <a:bodyPr wrap="square" rtlCol="0" anchor="ctr"/>
          <a:lstStyle/>
          <a:p>
            <a:pPr indent="0" marL="0">
              <a:buNone/>
            </a:pPr>
            <a:r>
              <a:rPr lang="en-US" sz="2600" b="1" dirty="0">
                <a:solidFill>
                  <a:srgbClr val="B8891B"/>
                </a:solidFill>
                <a:latin typeface="Meiryo" pitchFamily="34" charset="0"/>
                <a:ea typeface="Meiryo" pitchFamily="34" charset="-122"/>
                <a:cs typeface="Meiryo" pitchFamily="34" charset="-120"/>
              </a:rPr>
              <a:t>1,800〜2,100円</a:t>
            </a:r>
            <a:endParaRPr lang="en-US" sz="2600" dirty="0"/>
          </a:p>
        </p:txBody>
      </p:sp>
      <p:sp>
        <p:nvSpPr>
          <p:cNvPr id="15" name="Text 13"/>
          <p:cNvSpPr/>
          <p:nvPr/>
        </p:nvSpPr>
        <p:spPr>
          <a:xfrm>
            <a:off x="8778240" y="3840480"/>
            <a:ext cx="3108960" cy="457200"/>
          </a:xfrm>
          <a:prstGeom prst="rect">
            <a:avLst/>
          </a:prstGeom>
          <a:noFill/>
          <a:ln/>
        </p:spPr>
        <p:txBody>
          <a:bodyPr wrap="square" rtlCol="0" anchor="ctr"/>
          <a:lstStyle/>
          <a:p>
            <a:pPr indent="0" marL="0">
              <a:buNone/>
            </a:pPr>
            <a:r>
              <a:rPr lang="en-US" sz="1200" dirty="0">
                <a:solidFill>
                  <a:srgbClr val="6B7686"/>
                </a:solidFill>
                <a:latin typeface="Meiryo" pitchFamily="34" charset="0"/>
                <a:ea typeface="Meiryo" pitchFamily="34" charset="-122"/>
                <a:cs typeface="Meiryo" pitchFamily="34" charset="-120"/>
              </a:rPr>
              <a:t>想定時給（経験・資格に応じ設定）</a:t>
            </a:r>
            <a:endParaRPr lang="en-US" sz="1200" dirty="0"/>
          </a:p>
        </p:txBody>
      </p:sp>
      <p:sp>
        <p:nvSpPr>
          <p:cNvPr id="16" name="Shape 14"/>
          <p:cNvSpPr/>
          <p:nvPr/>
        </p:nvSpPr>
        <p:spPr>
          <a:xfrm>
            <a:off x="548640" y="4709160"/>
            <a:ext cx="11091672" cy="1325880"/>
          </a:xfrm>
          <a:prstGeom prst="roundRect">
            <a:avLst>
              <a:gd name="adj" fmla="val 5517"/>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7" name="Text 15"/>
          <p:cNvSpPr/>
          <p:nvPr/>
        </p:nvSpPr>
        <p:spPr>
          <a:xfrm>
            <a:off x="868680" y="4892040"/>
            <a:ext cx="10424160" cy="411480"/>
          </a:xfrm>
          <a:prstGeom prst="rect">
            <a:avLst/>
          </a:prstGeom>
          <a:noFill/>
          <a:ln/>
        </p:spPr>
        <p:txBody>
          <a:bodyPr wrap="square" rtlCol="0" anchor="ctr"/>
          <a:lstStyle/>
          <a:p>
            <a:pPr indent="0" marL="0">
              <a:buNone/>
            </a:pPr>
            <a:r>
              <a:rPr lang="en-US" sz="1600" b="1" dirty="0">
                <a:solidFill>
                  <a:srgbClr val="1F2733"/>
                </a:solidFill>
                <a:latin typeface="Meiryo" pitchFamily="34" charset="0"/>
                <a:ea typeface="Meiryo" pitchFamily="34" charset="-122"/>
                <a:cs typeface="Meiryo" pitchFamily="34" charset="-120"/>
              </a:rPr>
              <a:t>この「10名」は固定ではありません</a:t>
            </a:r>
            <a:endParaRPr lang="en-US" sz="1600" dirty="0"/>
          </a:p>
        </p:txBody>
      </p:sp>
      <p:sp>
        <p:nvSpPr>
          <p:cNvPr id="18" name="Text 16"/>
          <p:cNvSpPr/>
          <p:nvPr/>
        </p:nvSpPr>
        <p:spPr>
          <a:xfrm>
            <a:off x="868680" y="5303520"/>
            <a:ext cx="10515600" cy="640080"/>
          </a:xfrm>
          <a:prstGeom prst="rect">
            <a:avLst/>
          </a:prstGeom>
          <a:noFill/>
          <a:ln/>
        </p:spPr>
        <p:txBody>
          <a:bodyPr wrap="square" rtlCol="0" anchor="ctr"/>
          <a:lstStyle/>
          <a:p>
            <a:pPr indent="0" marL="0">
              <a:lnSpc>
                <a:spcPct val="115000"/>
              </a:lnSpc>
              <a:buNone/>
            </a:pPr>
            <a:r>
              <a:rPr lang="en-US" sz="1350" dirty="0">
                <a:solidFill>
                  <a:srgbClr val="6B7686"/>
                </a:solidFill>
                <a:latin typeface="Meiryo" pitchFamily="34" charset="0"/>
                <a:ea typeface="Meiryo" pitchFamily="34" charset="-122"/>
                <a:cs typeface="Meiryo" pitchFamily="34" charset="-120"/>
              </a:rPr>
              <a:t>最終的には Winter Schedule を見ながら、各支店で実際に「何時に何人不足するか」を確認して必要人数を決めます。経験者は経験・資格に応じた時給で即戦力層の採用を強化します。</a:t>
            </a:r>
            <a:endParaRPr lang="en-US" sz="1350" dirty="0"/>
          </a:p>
        </p:txBody>
      </p:sp>
      <p:sp>
        <p:nvSpPr>
          <p:cNvPr id="19" name="Text 17"/>
          <p:cNvSpPr/>
          <p:nvPr/>
        </p:nvSpPr>
        <p:spPr>
          <a:xfrm>
            <a:off x="457200" y="6419088"/>
            <a:ext cx="5486400" cy="274320"/>
          </a:xfrm>
          <a:prstGeom prst="rect">
            <a:avLst/>
          </a:prstGeom>
          <a:noFill/>
          <a:ln/>
        </p:spPr>
        <p:txBody>
          <a:bodyPr wrap="square" rtlCol="0" anchor="ctr"/>
          <a:lstStyle/>
          <a:p>
            <a:pPr algn="l" indent="0" marL="0">
              <a:buNone/>
            </a:pPr>
            <a:r>
              <a:rPr lang="en-US" sz="900" dirty="0">
                <a:solidFill>
                  <a:srgbClr val="6B7686"/>
                </a:solidFill>
                <a:latin typeface="Meiryo" pitchFamily="34" charset="0"/>
                <a:ea typeface="Meiryo" pitchFamily="34" charset="-122"/>
                <a:cs typeface="Meiryo" pitchFamily="34" charset="-120"/>
              </a:rPr>
              <a:t>短時間勤務者採用 説明会</a:t>
            </a:r>
            <a:endParaRPr lang="en-US" sz="900" dirty="0"/>
          </a:p>
        </p:txBody>
      </p:sp>
      <p:sp>
        <p:nvSpPr>
          <p:cNvPr id="20" name="Text 18"/>
          <p:cNvSpPr/>
          <p:nvPr/>
        </p:nvSpPr>
        <p:spPr>
          <a:xfrm>
            <a:off x="11338560" y="6419088"/>
            <a:ext cx="457200" cy="274320"/>
          </a:xfrm>
          <a:prstGeom prst="rect">
            <a:avLst/>
          </a:prstGeom>
          <a:noFill/>
          <a:ln/>
        </p:spPr>
        <p:txBody>
          <a:bodyPr wrap="square" rtlCol="0" anchor="ctr"/>
          <a:lstStyle/>
          <a:p>
            <a:pPr algn="r" indent="0" marL="0">
              <a:buNone/>
            </a:pPr>
            <a:r>
              <a:rPr lang="en-US" sz="900" dirty="0">
                <a:solidFill>
                  <a:srgbClr val="6B7686"/>
                </a:solidFill>
                <a:latin typeface="Meiryo" pitchFamily="34" charset="0"/>
                <a:ea typeface="Meiryo" pitchFamily="34" charset="-122"/>
                <a:cs typeface="Meiryo" pitchFamily="34" charset="-120"/>
              </a:rPr>
              <a:t>18</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0058400" cy="320040"/>
          </a:xfrm>
          <a:prstGeom prst="rect">
            <a:avLst/>
          </a:prstGeom>
          <a:noFill/>
          <a:ln/>
        </p:spPr>
        <p:txBody>
          <a:bodyPr wrap="square" rtlCol="0" anchor="ctr"/>
          <a:lstStyle/>
          <a:p>
            <a:pPr indent="0" marL="0">
              <a:buNone/>
            </a:pPr>
            <a:r>
              <a:rPr lang="en-US" sz="1300" b="1" spc="200" kern="0" dirty="0">
                <a:solidFill>
                  <a:srgbClr val="2E5AAC"/>
                </a:solidFill>
                <a:latin typeface="Meiryo" pitchFamily="34" charset="0"/>
                <a:ea typeface="Meiryo" pitchFamily="34" charset="-122"/>
                <a:cs typeface="Meiryo" pitchFamily="34" charset="-120"/>
              </a:rPr>
              <a:t>現在整理している課題</a:t>
            </a:r>
            <a:endParaRPr lang="en-US" sz="1300" dirty="0"/>
          </a:p>
        </p:txBody>
      </p:sp>
      <p:sp>
        <p:nvSpPr>
          <p:cNvPr id="3" name="Text 1"/>
          <p:cNvSpPr/>
          <p:nvPr/>
        </p:nvSpPr>
        <p:spPr>
          <a:xfrm>
            <a:off x="548640" y="841248"/>
            <a:ext cx="11064240" cy="822960"/>
          </a:xfrm>
          <a:prstGeom prst="rect">
            <a:avLst/>
          </a:prstGeom>
          <a:noFill/>
          <a:ln/>
        </p:spPr>
        <p:txBody>
          <a:bodyPr wrap="square" rtlCol="0" anchor="ctr"/>
          <a:lstStyle/>
          <a:p>
            <a:pPr algn="l" indent="0" marL="0">
              <a:buNone/>
            </a:pPr>
            <a:r>
              <a:rPr lang="en-US" sz="3000" b="1" dirty="0">
                <a:solidFill>
                  <a:srgbClr val="1B2A4A"/>
                </a:solidFill>
                <a:latin typeface="Meiryo" pitchFamily="34" charset="0"/>
                <a:ea typeface="Meiryo" pitchFamily="34" charset="-122"/>
                <a:cs typeface="Meiryo" pitchFamily="34" charset="-120"/>
              </a:rPr>
              <a:t>「採って終わり」にしない ― 整理中の論点</a:t>
            </a:r>
            <a:endParaRPr lang="en-US" sz="3000" dirty="0"/>
          </a:p>
        </p:txBody>
      </p:sp>
      <p:sp>
        <p:nvSpPr>
          <p:cNvPr id="4" name="Shape 2"/>
          <p:cNvSpPr/>
          <p:nvPr/>
        </p:nvSpPr>
        <p:spPr>
          <a:xfrm>
            <a:off x="548640" y="2286000"/>
            <a:ext cx="3566160" cy="1600200"/>
          </a:xfrm>
          <a:prstGeom prst="roundRect">
            <a:avLst>
              <a:gd name="adj" fmla="val 4571"/>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5" name="Shape 3"/>
          <p:cNvSpPr/>
          <p:nvPr/>
        </p:nvSpPr>
        <p:spPr>
          <a:xfrm>
            <a:off x="804672" y="2542032"/>
            <a:ext cx="411480" cy="411480"/>
          </a:xfrm>
          <a:prstGeom prst="roundRect">
            <a:avLst>
              <a:gd name="adj" fmla="val 22222"/>
            </a:avLst>
          </a:prstGeom>
          <a:solidFill>
            <a:srgbClr val="E9EEF8"/>
          </a:solidFill>
          <a:ln/>
        </p:spPr>
        <p:txBody>
          <a:bodyPr/>
          <a:p/>
        </p:txBody>
      </p:sp>
      <p:sp>
        <p:nvSpPr>
          <p:cNvPr id="6" name="Text 4"/>
          <p:cNvSpPr/>
          <p:nvPr/>
        </p:nvSpPr>
        <p:spPr>
          <a:xfrm>
            <a:off x="804672" y="2542032"/>
            <a:ext cx="411480" cy="411480"/>
          </a:xfrm>
          <a:prstGeom prst="rect">
            <a:avLst/>
          </a:prstGeom>
          <a:noFill/>
          <a:ln/>
        </p:spPr>
        <p:txBody>
          <a:bodyPr wrap="square" rtlCol="0" anchor="ctr"/>
          <a:lstStyle/>
          <a:p>
            <a:pPr algn="ctr" indent="0" marL="0">
              <a:buNone/>
            </a:pPr>
            <a:r>
              <a:rPr lang="en-US" sz="1400" b="1" dirty="0">
                <a:solidFill>
                  <a:srgbClr val="2E5AAC"/>
                </a:solidFill>
                <a:latin typeface="Meiryo" pitchFamily="34" charset="0"/>
                <a:ea typeface="Meiryo" pitchFamily="34" charset="-122"/>
                <a:cs typeface="Meiryo" pitchFamily="34" charset="-120"/>
              </a:rPr>
              <a:t>1</a:t>
            </a:r>
            <a:endParaRPr lang="en-US" sz="1400" dirty="0"/>
          </a:p>
        </p:txBody>
      </p:sp>
      <p:sp>
        <p:nvSpPr>
          <p:cNvPr id="7" name="Text 5"/>
          <p:cNvSpPr/>
          <p:nvPr/>
        </p:nvSpPr>
        <p:spPr>
          <a:xfrm>
            <a:off x="1325880" y="2542032"/>
            <a:ext cx="2560320" cy="457200"/>
          </a:xfrm>
          <a:prstGeom prst="rect">
            <a:avLst/>
          </a:prstGeom>
          <a:noFill/>
          <a:ln/>
        </p:spPr>
        <p:txBody>
          <a:bodyPr wrap="square" rtlCol="0" anchor="ctr"/>
          <a:lstStyle/>
          <a:p>
            <a:pPr indent="0" marL="0">
              <a:buNone/>
            </a:pPr>
            <a:r>
              <a:rPr lang="en-US" sz="1500" b="1" dirty="0">
                <a:solidFill>
                  <a:srgbClr val="1F2733"/>
                </a:solidFill>
                <a:latin typeface="Meiryo" pitchFamily="34" charset="0"/>
                <a:ea typeface="Meiryo" pitchFamily="34" charset="-122"/>
                <a:cs typeface="Meiryo" pitchFamily="34" charset="-120"/>
              </a:rPr>
              <a:t>教育・本社研修</a:t>
            </a:r>
            <a:endParaRPr lang="en-US" sz="1500" dirty="0"/>
          </a:p>
        </p:txBody>
      </p:sp>
      <p:sp>
        <p:nvSpPr>
          <p:cNvPr id="8" name="Text 6"/>
          <p:cNvSpPr/>
          <p:nvPr/>
        </p:nvSpPr>
        <p:spPr>
          <a:xfrm>
            <a:off x="822960" y="3090672"/>
            <a:ext cx="3017520" cy="640080"/>
          </a:xfrm>
          <a:prstGeom prst="rect">
            <a:avLst/>
          </a:prstGeom>
          <a:noFill/>
          <a:ln/>
        </p:spPr>
        <p:txBody>
          <a:bodyPr wrap="square" rtlCol="0" anchor="ctr"/>
          <a:lstStyle/>
          <a:p>
            <a:pPr indent="0" marL="0">
              <a:lnSpc>
                <a:spcPct val="110000"/>
              </a:lnSpc>
              <a:buNone/>
            </a:pPr>
            <a:r>
              <a:rPr lang="en-US" sz="1250" dirty="0">
                <a:solidFill>
                  <a:srgbClr val="6B7686"/>
                </a:solidFill>
                <a:latin typeface="Meiryo" pitchFamily="34" charset="0"/>
                <a:ea typeface="Meiryo" pitchFamily="34" charset="-122"/>
                <a:cs typeface="Meiryo" pitchFamily="34" charset="-120"/>
              </a:rPr>
              <a:t>短時間勤務者に合った教育・研修のあり方</a:t>
            </a:r>
            <a:endParaRPr lang="en-US" sz="1250" dirty="0"/>
          </a:p>
        </p:txBody>
      </p:sp>
      <p:sp>
        <p:nvSpPr>
          <p:cNvPr id="9" name="Shape 7"/>
          <p:cNvSpPr/>
          <p:nvPr/>
        </p:nvSpPr>
        <p:spPr>
          <a:xfrm>
            <a:off x="4407408" y="2286000"/>
            <a:ext cx="3566160" cy="1600200"/>
          </a:xfrm>
          <a:prstGeom prst="roundRect">
            <a:avLst>
              <a:gd name="adj" fmla="val 4571"/>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0" name="Shape 8"/>
          <p:cNvSpPr/>
          <p:nvPr/>
        </p:nvSpPr>
        <p:spPr>
          <a:xfrm>
            <a:off x="4663440" y="2542032"/>
            <a:ext cx="411480" cy="411480"/>
          </a:xfrm>
          <a:prstGeom prst="roundRect">
            <a:avLst>
              <a:gd name="adj" fmla="val 22222"/>
            </a:avLst>
          </a:prstGeom>
          <a:solidFill>
            <a:srgbClr val="E9EEF8"/>
          </a:solidFill>
          <a:ln/>
        </p:spPr>
        <p:txBody>
          <a:bodyPr/>
          <a:p/>
        </p:txBody>
      </p:sp>
      <p:sp>
        <p:nvSpPr>
          <p:cNvPr id="11" name="Text 9"/>
          <p:cNvSpPr/>
          <p:nvPr/>
        </p:nvSpPr>
        <p:spPr>
          <a:xfrm>
            <a:off x="4663440" y="2542032"/>
            <a:ext cx="411480" cy="411480"/>
          </a:xfrm>
          <a:prstGeom prst="rect">
            <a:avLst/>
          </a:prstGeom>
          <a:noFill/>
          <a:ln/>
        </p:spPr>
        <p:txBody>
          <a:bodyPr wrap="square" rtlCol="0" anchor="ctr"/>
          <a:lstStyle/>
          <a:p>
            <a:pPr algn="ctr" indent="0" marL="0">
              <a:buNone/>
            </a:pPr>
            <a:r>
              <a:rPr lang="en-US" sz="1400" b="1" dirty="0">
                <a:solidFill>
                  <a:srgbClr val="2E5AAC"/>
                </a:solidFill>
                <a:latin typeface="Meiryo" pitchFamily="34" charset="0"/>
                <a:ea typeface="Meiryo" pitchFamily="34" charset="-122"/>
                <a:cs typeface="Meiryo" pitchFamily="34" charset="-120"/>
              </a:rPr>
              <a:t>2</a:t>
            </a:r>
            <a:endParaRPr lang="en-US" sz="1400" dirty="0"/>
          </a:p>
        </p:txBody>
      </p:sp>
      <p:sp>
        <p:nvSpPr>
          <p:cNvPr id="12" name="Text 10"/>
          <p:cNvSpPr/>
          <p:nvPr/>
        </p:nvSpPr>
        <p:spPr>
          <a:xfrm>
            <a:off x="5184648" y="2542032"/>
            <a:ext cx="2560320" cy="457200"/>
          </a:xfrm>
          <a:prstGeom prst="rect">
            <a:avLst/>
          </a:prstGeom>
          <a:noFill/>
          <a:ln/>
        </p:spPr>
        <p:txBody>
          <a:bodyPr wrap="square" rtlCol="0" anchor="ctr"/>
          <a:lstStyle/>
          <a:p>
            <a:pPr indent="0" marL="0">
              <a:buNone/>
            </a:pPr>
            <a:r>
              <a:rPr lang="en-US" sz="1500" b="1" dirty="0">
                <a:solidFill>
                  <a:srgbClr val="1F2733"/>
                </a:solidFill>
                <a:latin typeface="Meiryo" pitchFamily="34" charset="0"/>
                <a:ea typeface="Meiryo" pitchFamily="34" charset="-122"/>
                <a:cs typeface="Meiryo" pitchFamily="34" charset="-120"/>
              </a:rPr>
              <a:t>交通費の取扱い</a:t>
            </a:r>
            <a:endParaRPr lang="en-US" sz="1500" dirty="0"/>
          </a:p>
        </p:txBody>
      </p:sp>
      <p:sp>
        <p:nvSpPr>
          <p:cNvPr id="13" name="Text 11"/>
          <p:cNvSpPr/>
          <p:nvPr/>
        </p:nvSpPr>
        <p:spPr>
          <a:xfrm>
            <a:off x="4681728" y="3090672"/>
            <a:ext cx="3017520" cy="640080"/>
          </a:xfrm>
          <a:prstGeom prst="rect">
            <a:avLst/>
          </a:prstGeom>
          <a:noFill/>
          <a:ln/>
        </p:spPr>
        <p:txBody>
          <a:bodyPr wrap="square" rtlCol="0" anchor="ctr"/>
          <a:lstStyle/>
          <a:p>
            <a:pPr indent="0" marL="0">
              <a:lnSpc>
                <a:spcPct val="110000"/>
              </a:lnSpc>
              <a:buNone/>
            </a:pPr>
            <a:r>
              <a:rPr lang="en-US" sz="1250" dirty="0">
                <a:solidFill>
                  <a:srgbClr val="6B7686"/>
                </a:solidFill>
                <a:latin typeface="Meiryo" pitchFamily="34" charset="0"/>
                <a:ea typeface="Meiryo" pitchFamily="34" charset="-122"/>
                <a:cs typeface="Meiryo" pitchFamily="34" charset="-120"/>
              </a:rPr>
              <a:t>短時間勤務に応じた交通費の考え方</a:t>
            </a:r>
            <a:endParaRPr lang="en-US" sz="1250" dirty="0"/>
          </a:p>
        </p:txBody>
      </p:sp>
      <p:sp>
        <p:nvSpPr>
          <p:cNvPr id="14" name="Shape 12"/>
          <p:cNvSpPr/>
          <p:nvPr/>
        </p:nvSpPr>
        <p:spPr>
          <a:xfrm>
            <a:off x="8266176" y="2286000"/>
            <a:ext cx="3566160" cy="1600200"/>
          </a:xfrm>
          <a:prstGeom prst="roundRect">
            <a:avLst>
              <a:gd name="adj" fmla="val 4571"/>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5" name="Shape 13"/>
          <p:cNvSpPr/>
          <p:nvPr/>
        </p:nvSpPr>
        <p:spPr>
          <a:xfrm>
            <a:off x="8522208" y="2542032"/>
            <a:ext cx="411480" cy="411480"/>
          </a:xfrm>
          <a:prstGeom prst="roundRect">
            <a:avLst>
              <a:gd name="adj" fmla="val 22222"/>
            </a:avLst>
          </a:prstGeom>
          <a:solidFill>
            <a:srgbClr val="E9EEF8"/>
          </a:solidFill>
          <a:ln/>
        </p:spPr>
        <p:txBody>
          <a:bodyPr/>
          <a:p/>
        </p:txBody>
      </p:sp>
      <p:sp>
        <p:nvSpPr>
          <p:cNvPr id="16" name="Text 14"/>
          <p:cNvSpPr/>
          <p:nvPr/>
        </p:nvSpPr>
        <p:spPr>
          <a:xfrm>
            <a:off x="8522208" y="2542032"/>
            <a:ext cx="411480" cy="411480"/>
          </a:xfrm>
          <a:prstGeom prst="rect">
            <a:avLst/>
          </a:prstGeom>
          <a:noFill/>
          <a:ln/>
        </p:spPr>
        <p:txBody>
          <a:bodyPr wrap="square" rtlCol="0" anchor="ctr"/>
          <a:lstStyle/>
          <a:p>
            <a:pPr algn="ctr" indent="0" marL="0">
              <a:buNone/>
            </a:pPr>
            <a:r>
              <a:rPr lang="en-US" sz="1400" b="1" dirty="0">
                <a:solidFill>
                  <a:srgbClr val="2E5AAC"/>
                </a:solidFill>
                <a:latin typeface="Meiryo" pitchFamily="34" charset="0"/>
                <a:ea typeface="Meiryo" pitchFamily="34" charset="-122"/>
                <a:cs typeface="Meiryo" pitchFamily="34" charset="-120"/>
              </a:rPr>
              <a:t>3</a:t>
            </a:r>
            <a:endParaRPr lang="en-US" sz="1400" dirty="0"/>
          </a:p>
        </p:txBody>
      </p:sp>
      <p:sp>
        <p:nvSpPr>
          <p:cNvPr id="17" name="Text 15"/>
          <p:cNvSpPr/>
          <p:nvPr/>
        </p:nvSpPr>
        <p:spPr>
          <a:xfrm>
            <a:off x="9043416" y="2542032"/>
            <a:ext cx="2560320" cy="457200"/>
          </a:xfrm>
          <a:prstGeom prst="rect">
            <a:avLst/>
          </a:prstGeom>
          <a:noFill/>
          <a:ln/>
        </p:spPr>
        <p:txBody>
          <a:bodyPr wrap="square" rtlCol="0" anchor="ctr"/>
          <a:lstStyle/>
          <a:p>
            <a:pPr indent="0" marL="0">
              <a:buNone/>
            </a:pPr>
            <a:r>
              <a:rPr lang="en-US" sz="1500" b="1" dirty="0">
                <a:solidFill>
                  <a:srgbClr val="1F2733"/>
                </a:solidFill>
                <a:latin typeface="Meiryo" pitchFamily="34" charset="0"/>
                <a:ea typeface="Meiryo" pitchFamily="34" charset="-122"/>
                <a:cs typeface="Meiryo" pitchFamily="34" charset="-120"/>
              </a:rPr>
              <a:t>OJT・現場受入</a:t>
            </a:r>
            <a:endParaRPr lang="en-US" sz="1500" dirty="0"/>
          </a:p>
        </p:txBody>
      </p:sp>
      <p:sp>
        <p:nvSpPr>
          <p:cNvPr id="18" name="Text 16"/>
          <p:cNvSpPr/>
          <p:nvPr/>
        </p:nvSpPr>
        <p:spPr>
          <a:xfrm>
            <a:off x="8540496" y="3090672"/>
            <a:ext cx="3017520" cy="640080"/>
          </a:xfrm>
          <a:prstGeom prst="rect">
            <a:avLst/>
          </a:prstGeom>
          <a:noFill/>
          <a:ln/>
        </p:spPr>
        <p:txBody>
          <a:bodyPr wrap="square" rtlCol="0" anchor="ctr"/>
          <a:lstStyle/>
          <a:p>
            <a:pPr indent="0" marL="0">
              <a:lnSpc>
                <a:spcPct val="110000"/>
              </a:lnSpc>
              <a:buNone/>
            </a:pPr>
            <a:r>
              <a:rPr lang="en-US" sz="1250" dirty="0">
                <a:solidFill>
                  <a:srgbClr val="6B7686"/>
                </a:solidFill>
                <a:latin typeface="Meiryo" pitchFamily="34" charset="0"/>
                <a:ea typeface="Meiryo" pitchFamily="34" charset="-122"/>
                <a:cs typeface="Meiryo" pitchFamily="34" charset="-120"/>
              </a:rPr>
              <a:t>現場でのOJTと受入体制の整理</a:t>
            </a:r>
            <a:endParaRPr lang="en-US" sz="1250" dirty="0"/>
          </a:p>
        </p:txBody>
      </p:sp>
      <p:sp>
        <p:nvSpPr>
          <p:cNvPr id="19" name="Shape 17"/>
          <p:cNvSpPr/>
          <p:nvPr/>
        </p:nvSpPr>
        <p:spPr>
          <a:xfrm>
            <a:off x="548640" y="4206240"/>
            <a:ext cx="3566160" cy="1600200"/>
          </a:xfrm>
          <a:prstGeom prst="roundRect">
            <a:avLst>
              <a:gd name="adj" fmla="val 4571"/>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20" name="Shape 18"/>
          <p:cNvSpPr/>
          <p:nvPr/>
        </p:nvSpPr>
        <p:spPr>
          <a:xfrm>
            <a:off x="804672" y="4462272"/>
            <a:ext cx="411480" cy="411480"/>
          </a:xfrm>
          <a:prstGeom prst="roundRect">
            <a:avLst>
              <a:gd name="adj" fmla="val 22222"/>
            </a:avLst>
          </a:prstGeom>
          <a:solidFill>
            <a:srgbClr val="E9EEF8"/>
          </a:solidFill>
          <a:ln/>
        </p:spPr>
        <p:txBody>
          <a:bodyPr/>
          <a:p/>
        </p:txBody>
      </p:sp>
      <p:sp>
        <p:nvSpPr>
          <p:cNvPr id="21" name="Text 19"/>
          <p:cNvSpPr/>
          <p:nvPr/>
        </p:nvSpPr>
        <p:spPr>
          <a:xfrm>
            <a:off x="804672" y="4462272"/>
            <a:ext cx="411480" cy="411480"/>
          </a:xfrm>
          <a:prstGeom prst="rect">
            <a:avLst/>
          </a:prstGeom>
          <a:noFill/>
          <a:ln/>
        </p:spPr>
        <p:txBody>
          <a:bodyPr wrap="square" rtlCol="0" anchor="ctr"/>
          <a:lstStyle/>
          <a:p>
            <a:pPr algn="ctr" indent="0" marL="0">
              <a:buNone/>
            </a:pPr>
            <a:r>
              <a:rPr lang="en-US" sz="1400" b="1" dirty="0">
                <a:solidFill>
                  <a:srgbClr val="2E5AAC"/>
                </a:solidFill>
                <a:latin typeface="Meiryo" pitchFamily="34" charset="0"/>
                <a:ea typeface="Meiryo" pitchFamily="34" charset="-122"/>
                <a:cs typeface="Meiryo" pitchFamily="34" charset="-120"/>
              </a:rPr>
              <a:t>4</a:t>
            </a:r>
            <a:endParaRPr lang="en-US" sz="1400" dirty="0"/>
          </a:p>
        </p:txBody>
      </p:sp>
      <p:sp>
        <p:nvSpPr>
          <p:cNvPr id="22" name="Text 20"/>
          <p:cNvSpPr/>
          <p:nvPr/>
        </p:nvSpPr>
        <p:spPr>
          <a:xfrm>
            <a:off x="1325880" y="4462272"/>
            <a:ext cx="2560320" cy="457200"/>
          </a:xfrm>
          <a:prstGeom prst="rect">
            <a:avLst/>
          </a:prstGeom>
          <a:noFill/>
          <a:ln/>
        </p:spPr>
        <p:txBody>
          <a:bodyPr wrap="square" rtlCol="0" anchor="ctr"/>
          <a:lstStyle/>
          <a:p>
            <a:pPr indent="0" marL="0">
              <a:buNone/>
            </a:pPr>
            <a:r>
              <a:rPr lang="en-US" sz="1500" b="1" dirty="0">
                <a:solidFill>
                  <a:srgbClr val="1F2733"/>
                </a:solidFill>
                <a:latin typeface="Meiryo" pitchFamily="34" charset="0"/>
                <a:ea typeface="Meiryo" pitchFamily="34" charset="-122"/>
                <a:cs typeface="Meiryo" pitchFamily="34" charset="-120"/>
              </a:rPr>
              <a:t>資格付与・確認</a:t>
            </a:r>
            <a:endParaRPr lang="en-US" sz="1500" dirty="0"/>
          </a:p>
        </p:txBody>
      </p:sp>
      <p:sp>
        <p:nvSpPr>
          <p:cNvPr id="23" name="Text 21"/>
          <p:cNvSpPr/>
          <p:nvPr/>
        </p:nvSpPr>
        <p:spPr>
          <a:xfrm>
            <a:off x="822960" y="5010912"/>
            <a:ext cx="3017520" cy="640080"/>
          </a:xfrm>
          <a:prstGeom prst="rect">
            <a:avLst/>
          </a:prstGeom>
          <a:noFill/>
          <a:ln/>
        </p:spPr>
        <p:txBody>
          <a:bodyPr wrap="square" rtlCol="0" anchor="ctr"/>
          <a:lstStyle/>
          <a:p>
            <a:pPr indent="0" marL="0">
              <a:lnSpc>
                <a:spcPct val="110000"/>
              </a:lnSpc>
              <a:buNone/>
            </a:pPr>
            <a:r>
              <a:rPr lang="en-US" sz="1250" dirty="0">
                <a:solidFill>
                  <a:srgbClr val="6B7686"/>
                </a:solidFill>
                <a:latin typeface="Meiryo" pitchFamily="34" charset="0"/>
                <a:ea typeface="Meiryo" pitchFamily="34" charset="-122"/>
                <a:cs typeface="Meiryo" pitchFamily="34" charset="-120"/>
              </a:rPr>
              <a:t>資格付与と既存資格の確認</a:t>
            </a:r>
            <a:endParaRPr lang="en-US" sz="1250" dirty="0"/>
          </a:p>
        </p:txBody>
      </p:sp>
      <p:sp>
        <p:nvSpPr>
          <p:cNvPr id="24" name="Shape 22"/>
          <p:cNvSpPr/>
          <p:nvPr/>
        </p:nvSpPr>
        <p:spPr>
          <a:xfrm>
            <a:off x="4407408" y="4206240"/>
            <a:ext cx="3566160" cy="1600200"/>
          </a:xfrm>
          <a:prstGeom prst="roundRect">
            <a:avLst>
              <a:gd name="adj" fmla="val 4571"/>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25" name="Shape 23"/>
          <p:cNvSpPr/>
          <p:nvPr/>
        </p:nvSpPr>
        <p:spPr>
          <a:xfrm>
            <a:off x="4663440" y="4462272"/>
            <a:ext cx="411480" cy="411480"/>
          </a:xfrm>
          <a:prstGeom prst="roundRect">
            <a:avLst>
              <a:gd name="adj" fmla="val 22222"/>
            </a:avLst>
          </a:prstGeom>
          <a:solidFill>
            <a:srgbClr val="E9EEF8"/>
          </a:solidFill>
          <a:ln/>
        </p:spPr>
        <p:txBody>
          <a:bodyPr/>
          <a:p/>
        </p:txBody>
      </p:sp>
      <p:sp>
        <p:nvSpPr>
          <p:cNvPr id="26" name="Text 24"/>
          <p:cNvSpPr/>
          <p:nvPr/>
        </p:nvSpPr>
        <p:spPr>
          <a:xfrm>
            <a:off x="4663440" y="4462272"/>
            <a:ext cx="411480" cy="411480"/>
          </a:xfrm>
          <a:prstGeom prst="rect">
            <a:avLst/>
          </a:prstGeom>
          <a:noFill/>
          <a:ln/>
        </p:spPr>
        <p:txBody>
          <a:bodyPr wrap="square" rtlCol="0" anchor="ctr"/>
          <a:lstStyle/>
          <a:p>
            <a:pPr algn="ctr" indent="0" marL="0">
              <a:buNone/>
            </a:pPr>
            <a:r>
              <a:rPr lang="en-US" sz="1400" b="1" dirty="0">
                <a:solidFill>
                  <a:srgbClr val="2E5AAC"/>
                </a:solidFill>
                <a:latin typeface="Meiryo" pitchFamily="34" charset="0"/>
                <a:ea typeface="Meiryo" pitchFamily="34" charset="-122"/>
                <a:cs typeface="Meiryo" pitchFamily="34" charset="-120"/>
              </a:rPr>
              <a:t>5</a:t>
            </a:r>
            <a:endParaRPr lang="en-US" sz="1400" dirty="0"/>
          </a:p>
        </p:txBody>
      </p:sp>
      <p:sp>
        <p:nvSpPr>
          <p:cNvPr id="27" name="Text 25"/>
          <p:cNvSpPr/>
          <p:nvPr/>
        </p:nvSpPr>
        <p:spPr>
          <a:xfrm>
            <a:off x="5184648" y="4462272"/>
            <a:ext cx="2560320" cy="457200"/>
          </a:xfrm>
          <a:prstGeom prst="rect">
            <a:avLst/>
          </a:prstGeom>
          <a:noFill/>
          <a:ln/>
        </p:spPr>
        <p:txBody>
          <a:bodyPr wrap="square" rtlCol="0" anchor="ctr"/>
          <a:lstStyle/>
          <a:p>
            <a:pPr indent="0" marL="0">
              <a:buNone/>
            </a:pPr>
            <a:r>
              <a:rPr lang="en-US" sz="1500" b="1" dirty="0">
                <a:solidFill>
                  <a:srgbClr val="1F2733"/>
                </a:solidFill>
                <a:latin typeface="Meiryo" pitchFamily="34" charset="0"/>
                <a:ea typeface="Meiryo" pitchFamily="34" charset="-122"/>
                <a:cs typeface="Meiryo" pitchFamily="34" charset="-120"/>
              </a:rPr>
              <a:t>シフトへの組込み</a:t>
            </a:r>
            <a:endParaRPr lang="en-US" sz="1500" dirty="0"/>
          </a:p>
        </p:txBody>
      </p:sp>
      <p:sp>
        <p:nvSpPr>
          <p:cNvPr id="28" name="Text 26"/>
          <p:cNvSpPr/>
          <p:nvPr/>
        </p:nvSpPr>
        <p:spPr>
          <a:xfrm>
            <a:off x="4681728" y="5010912"/>
            <a:ext cx="3017520" cy="640080"/>
          </a:xfrm>
          <a:prstGeom prst="rect">
            <a:avLst/>
          </a:prstGeom>
          <a:noFill/>
          <a:ln/>
        </p:spPr>
        <p:txBody>
          <a:bodyPr wrap="square" rtlCol="0" anchor="ctr"/>
          <a:lstStyle/>
          <a:p>
            <a:pPr indent="0" marL="0">
              <a:lnSpc>
                <a:spcPct val="110000"/>
              </a:lnSpc>
              <a:buNone/>
            </a:pPr>
            <a:r>
              <a:rPr lang="en-US" sz="1250" dirty="0">
                <a:solidFill>
                  <a:srgbClr val="6B7686"/>
                </a:solidFill>
                <a:latin typeface="Meiryo" pitchFamily="34" charset="0"/>
                <a:ea typeface="Meiryo" pitchFamily="34" charset="-122"/>
                <a:cs typeface="Meiryo" pitchFamily="34" charset="-120"/>
              </a:rPr>
              <a:t>勤務時間・シフトへの落とし込み</a:t>
            </a:r>
            <a:endParaRPr lang="en-US" sz="1250" dirty="0"/>
          </a:p>
        </p:txBody>
      </p:sp>
      <p:sp>
        <p:nvSpPr>
          <p:cNvPr id="29" name="Shape 27"/>
          <p:cNvSpPr/>
          <p:nvPr/>
        </p:nvSpPr>
        <p:spPr>
          <a:xfrm>
            <a:off x="8266176" y="4206240"/>
            <a:ext cx="3566160" cy="1600200"/>
          </a:xfrm>
          <a:prstGeom prst="roundRect">
            <a:avLst>
              <a:gd name="adj" fmla="val 4571"/>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30" name="Shape 28"/>
          <p:cNvSpPr/>
          <p:nvPr/>
        </p:nvSpPr>
        <p:spPr>
          <a:xfrm>
            <a:off x="8522208" y="4462272"/>
            <a:ext cx="411480" cy="411480"/>
          </a:xfrm>
          <a:prstGeom prst="roundRect">
            <a:avLst>
              <a:gd name="adj" fmla="val 22222"/>
            </a:avLst>
          </a:prstGeom>
          <a:solidFill>
            <a:srgbClr val="E9EEF8"/>
          </a:solidFill>
          <a:ln/>
        </p:spPr>
        <p:txBody>
          <a:bodyPr/>
          <a:p/>
        </p:txBody>
      </p:sp>
      <p:sp>
        <p:nvSpPr>
          <p:cNvPr id="31" name="Text 29"/>
          <p:cNvSpPr/>
          <p:nvPr/>
        </p:nvSpPr>
        <p:spPr>
          <a:xfrm>
            <a:off x="8522208" y="4462272"/>
            <a:ext cx="411480" cy="411480"/>
          </a:xfrm>
          <a:prstGeom prst="rect">
            <a:avLst/>
          </a:prstGeom>
          <a:noFill/>
          <a:ln/>
        </p:spPr>
        <p:txBody>
          <a:bodyPr wrap="square" rtlCol="0" anchor="ctr"/>
          <a:lstStyle/>
          <a:p>
            <a:pPr algn="ctr" indent="0" marL="0">
              <a:buNone/>
            </a:pPr>
            <a:r>
              <a:rPr lang="en-US" sz="1400" b="1" dirty="0">
                <a:solidFill>
                  <a:srgbClr val="2E5AAC"/>
                </a:solidFill>
                <a:latin typeface="Meiryo" pitchFamily="34" charset="0"/>
                <a:ea typeface="Meiryo" pitchFamily="34" charset="-122"/>
                <a:cs typeface="Meiryo" pitchFamily="34" charset="-120"/>
              </a:rPr>
              <a:t>6</a:t>
            </a:r>
            <a:endParaRPr lang="en-US" sz="1400" dirty="0"/>
          </a:p>
        </p:txBody>
      </p:sp>
      <p:sp>
        <p:nvSpPr>
          <p:cNvPr id="32" name="Text 30"/>
          <p:cNvSpPr/>
          <p:nvPr/>
        </p:nvSpPr>
        <p:spPr>
          <a:xfrm>
            <a:off x="9043416" y="4462272"/>
            <a:ext cx="2560320" cy="457200"/>
          </a:xfrm>
          <a:prstGeom prst="rect">
            <a:avLst/>
          </a:prstGeom>
          <a:noFill/>
          <a:ln/>
        </p:spPr>
        <p:txBody>
          <a:bodyPr wrap="square" rtlCol="0" anchor="ctr"/>
          <a:lstStyle/>
          <a:p>
            <a:pPr indent="0" marL="0">
              <a:buNone/>
            </a:pPr>
            <a:r>
              <a:rPr lang="en-US" sz="1500" b="1" dirty="0">
                <a:solidFill>
                  <a:srgbClr val="1F2733"/>
                </a:solidFill>
                <a:latin typeface="Meiryo" pitchFamily="34" charset="0"/>
                <a:ea typeface="Meiryo" pitchFamily="34" charset="-122"/>
                <a:cs typeface="Meiryo" pitchFamily="34" charset="-120"/>
              </a:rPr>
              <a:t>配置効果の検証</a:t>
            </a:r>
            <a:endParaRPr lang="en-US" sz="1500" dirty="0"/>
          </a:p>
        </p:txBody>
      </p:sp>
      <p:sp>
        <p:nvSpPr>
          <p:cNvPr id="33" name="Text 31"/>
          <p:cNvSpPr/>
          <p:nvPr/>
        </p:nvSpPr>
        <p:spPr>
          <a:xfrm>
            <a:off x="8540496" y="5010912"/>
            <a:ext cx="3017520" cy="640080"/>
          </a:xfrm>
          <a:prstGeom prst="rect">
            <a:avLst/>
          </a:prstGeom>
          <a:noFill/>
          <a:ln/>
        </p:spPr>
        <p:txBody>
          <a:bodyPr wrap="square" rtlCol="0" anchor="ctr"/>
          <a:lstStyle/>
          <a:p>
            <a:pPr indent="0" marL="0">
              <a:lnSpc>
                <a:spcPct val="110000"/>
              </a:lnSpc>
              <a:buNone/>
            </a:pPr>
            <a:r>
              <a:rPr lang="en-US" sz="1250" dirty="0">
                <a:solidFill>
                  <a:srgbClr val="6B7686"/>
                </a:solidFill>
                <a:latin typeface="Meiryo" pitchFamily="34" charset="0"/>
                <a:ea typeface="Meiryo" pitchFamily="34" charset="-122"/>
                <a:cs typeface="Meiryo" pitchFamily="34" charset="-120"/>
              </a:rPr>
              <a:t>採用後の配置効果を検証する仕組み</a:t>
            </a:r>
            <a:endParaRPr lang="en-US" sz="1250" dirty="0"/>
          </a:p>
        </p:txBody>
      </p:sp>
      <p:sp>
        <p:nvSpPr>
          <p:cNvPr id="34" name="Text 32"/>
          <p:cNvSpPr/>
          <p:nvPr/>
        </p:nvSpPr>
        <p:spPr>
          <a:xfrm>
            <a:off x="457200" y="6419088"/>
            <a:ext cx="5486400" cy="274320"/>
          </a:xfrm>
          <a:prstGeom prst="rect">
            <a:avLst/>
          </a:prstGeom>
          <a:noFill/>
          <a:ln/>
        </p:spPr>
        <p:txBody>
          <a:bodyPr wrap="square" rtlCol="0" anchor="ctr"/>
          <a:lstStyle/>
          <a:p>
            <a:pPr algn="l" indent="0" marL="0">
              <a:buNone/>
            </a:pPr>
            <a:r>
              <a:rPr lang="en-US" sz="900" dirty="0">
                <a:solidFill>
                  <a:srgbClr val="6B7686"/>
                </a:solidFill>
                <a:latin typeface="Meiryo" pitchFamily="34" charset="0"/>
                <a:ea typeface="Meiryo" pitchFamily="34" charset="-122"/>
                <a:cs typeface="Meiryo" pitchFamily="34" charset="-120"/>
              </a:rPr>
              <a:t>短時間勤務者採用 説明会</a:t>
            </a:r>
            <a:endParaRPr lang="en-US" sz="900" dirty="0"/>
          </a:p>
        </p:txBody>
      </p:sp>
      <p:sp>
        <p:nvSpPr>
          <p:cNvPr id="35" name="Text 33"/>
          <p:cNvSpPr/>
          <p:nvPr/>
        </p:nvSpPr>
        <p:spPr>
          <a:xfrm>
            <a:off x="11338560" y="6419088"/>
            <a:ext cx="457200" cy="274320"/>
          </a:xfrm>
          <a:prstGeom prst="rect">
            <a:avLst/>
          </a:prstGeom>
          <a:noFill/>
          <a:ln/>
        </p:spPr>
        <p:txBody>
          <a:bodyPr wrap="square" rtlCol="0" anchor="ctr"/>
          <a:lstStyle/>
          <a:p>
            <a:pPr algn="r" indent="0" marL="0">
              <a:buNone/>
            </a:pPr>
            <a:r>
              <a:rPr lang="en-US" sz="900" dirty="0">
                <a:solidFill>
                  <a:srgbClr val="6B7686"/>
                </a:solidFill>
                <a:latin typeface="Meiryo" pitchFamily="34" charset="0"/>
                <a:ea typeface="Meiryo" pitchFamily="34" charset="-122"/>
                <a:cs typeface="Meiryo" pitchFamily="34" charset="-120"/>
              </a:rPr>
              <a:t>19</a:t>
            </a:r>
            <a:endParaRPr lang="en-US" sz="90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078992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300" b="1">
                <a:solidFill>
                  <a:srgbClr val="2E5AAC"/>
                </a:solidFill>
                <a:latin typeface="Meiryo"/>
              </a:rPr>
              <a:t>現場での活用｜短時間シフトの設計</a:t>
            </a:r>
          </a:p>
        </p:txBody>
      </p:sp>
      <p:sp>
        <p:nvSpPr>
          <p:cNvPr id="3" name="Rectangle 2"/>
          <p:cNvSpPr/>
          <p:nvPr/>
        </p:nvSpPr>
        <p:spPr>
          <a:xfrm>
            <a:off x="548640" y="841248"/>
            <a:ext cx="1106424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3000" b="1">
                <a:solidFill>
                  <a:srgbClr val="1B2A4A"/>
                </a:solidFill>
                <a:latin typeface="Meiryo"/>
              </a:rPr>
              <a:t>朝の山を「早番・中番」の2本で受ける</a:t>
            </a:r>
          </a:p>
        </p:txBody>
      </p:sp>
      <p:sp>
        <p:nvSpPr>
          <p:cNvPr id="4" name="Rounded Rectangle 3"/>
          <p:cNvSpPr/>
          <p:nvPr/>
        </p:nvSpPr>
        <p:spPr>
          <a:xfrm>
            <a:off x="548640" y="1920240"/>
            <a:ext cx="5486400" cy="1024128"/>
          </a:xfrm>
          <a:prstGeom prst="round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Bef>
                <a:spcPts val="0"/>
              </a:spcBef>
              <a:spcAft>
                <a:spcPts val="200"/>
              </a:spcAft>
            </a:pPr>
            <a:r>
              <a:rPr sz="1500" b="1">
                <a:solidFill>
                  <a:srgbClr val="FFFFFF"/>
                </a:solidFill>
                <a:latin typeface="Meiryo"/>
              </a:rPr>
              <a:t>早番A　05:45 – 10:15（4.5h）</a:t>
            </a:r>
          </a:p>
          <a:p>
            <a:pPr algn="l">
              <a:spcBef>
                <a:spcPts val="0"/>
              </a:spcBef>
              <a:spcAft>
                <a:spcPts val="200"/>
              </a:spcAft>
            </a:pPr>
            <a:r>
              <a:rPr sz="1500" b="1">
                <a:solidFill>
                  <a:srgbClr val="FFFFFF"/>
                </a:solidFill>
                <a:latin typeface="Meiryo"/>
              </a:rPr>
              <a:t>開設波（カウンター開設）＋到着ピーク前半</a:t>
            </a:r>
          </a:p>
        </p:txBody>
      </p:sp>
      <p:sp>
        <p:nvSpPr>
          <p:cNvPr id="5" name="Rounded Rectangle 4"/>
          <p:cNvSpPr/>
          <p:nvPr/>
        </p:nvSpPr>
        <p:spPr>
          <a:xfrm>
            <a:off x="6172200" y="1920240"/>
            <a:ext cx="5486400" cy="1024128"/>
          </a:xfrm>
          <a:prstGeom prst="roundRect">
            <a:avLst/>
          </a:prstGeom>
          <a:solidFill>
            <a:srgbClr val="2C6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l">
              <a:spcBef>
                <a:spcPts val="0"/>
              </a:spcBef>
              <a:spcAft>
                <a:spcPts val="200"/>
              </a:spcAft>
            </a:pPr>
            <a:r>
              <a:rPr sz="1500" b="1">
                <a:solidFill>
                  <a:srgbClr val="FFFFFF"/>
                </a:solidFill>
                <a:latin typeface="Meiryo"/>
              </a:rPr>
              <a:t>中番B　07:30 – 12:00（4.5h）</a:t>
            </a:r>
          </a:p>
          <a:p>
            <a:pPr algn="l">
              <a:spcBef>
                <a:spcPts val="0"/>
              </a:spcBef>
              <a:spcAft>
                <a:spcPts val="200"/>
              </a:spcAft>
            </a:pPr>
            <a:r>
              <a:rPr sz="1500" b="1">
                <a:solidFill>
                  <a:srgbClr val="FFFFFF"/>
                </a:solidFill>
                <a:latin typeface="Meiryo"/>
              </a:rPr>
              <a:t>到着ピーク＋10:30以降の後半出発</a:t>
            </a:r>
          </a:p>
        </p:txBody>
      </p:sp>
      <p:sp>
        <p:nvSpPr>
          <p:cNvPr id="6" name="Rectangle 5"/>
          <p:cNvSpPr/>
          <p:nvPr/>
        </p:nvSpPr>
        <p:spPr>
          <a:xfrm>
            <a:off x="1234440" y="3611880"/>
            <a:ext cx="9144" cy="173736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p>
        </p:txBody>
      </p:sp>
      <p:sp>
        <p:nvSpPr>
          <p:cNvPr id="7" name="Rectangle 6"/>
          <p:cNvSpPr/>
          <p:nvPr/>
        </p:nvSpPr>
        <p:spPr>
          <a:xfrm>
            <a:off x="1005840" y="3364992"/>
            <a:ext cx="45720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5</a:t>
            </a:r>
          </a:p>
        </p:txBody>
      </p:sp>
      <p:sp>
        <p:nvSpPr>
          <p:cNvPr id="8" name="Rectangle 7"/>
          <p:cNvSpPr/>
          <p:nvPr/>
        </p:nvSpPr>
        <p:spPr>
          <a:xfrm>
            <a:off x="2697480" y="3611880"/>
            <a:ext cx="9144" cy="173736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p>
        </p:txBody>
      </p:sp>
      <p:sp>
        <p:nvSpPr>
          <p:cNvPr id="9" name="Rectangle 8"/>
          <p:cNvSpPr/>
          <p:nvPr/>
        </p:nvSpPr>
        <p:spPr>
          <a:xfrm>
            <a:off x="2468880" y="3364992"/>
            <a:ext cx="45720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6</a:t>
            </a:r>
          </a:p>
        </p:txBody>
      </p:sp>
      <p:sp>
        <p:nvSpPr>
          <p:cNvPr id="10" name="Rectangle 9"/>
          <p:cNvSpPr/>
          <p:nvPr/>
        </p:nvSpPr>
        <p:spPr>
          <a:xfrm>
            <a:off x="4160520" y="3611880"/>
            <a:ext cx="9144" cy="173736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p>
        </p:txBody>
      </p:sp>
      <p:sp>
        <p:nvSpPr>
          <p:cNvPr id="11" name="Rectangle 10"/>
          <p:cNvSpPr/>
          <p:nvPr/>
        </p:nvSpPr>
        <p:spPr>
          <a:xfrm>
            <a:off x="3931920" y="3364992"/>
            <a:ext cx="45720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7</a:t>
            </a:r>
          </a:p>
        </p:txBody>
      </p:sp>
      <p:sp>
        <p:nvSpPr>
          <p:cNvPr id="12" name="Rectangle 11"/>
          <p:cNvSpPr/>
          <p:nvPr/>
        </p:nvSpPr>
        <p:spPr>
          <a:xfrm>
            <a:off x="5623560" y="3611880"/>
            <a:ext cx="9144" cy="173736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p>
        </p:txBody>
      </p:sp>
      <p:sp>
        <p:nvSpPr>
          <p:cNvPr id="13" name="Rectangle 12"/>
          <p:cNvSpPr/>
          <p:nvPr/>
        </p:nvSpPr>
        <p:spPr>
          <a:xfrm>
            <a:off x="5394960" y="3364992"/>
            <a:ext cx="45720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8</a:t>
            </a:r>
          </a:p>
        </p:txBody>
      </p:sp>
      <p:sp>
        <p:nvSpPr>
          <p:cNvPr id="14" name="Rectangle 13"/>
          <p:cNvSpPr/>
          <p:nvPr/>
        </p:nvSpPr>
        <p:spPr>
          <a:xfrm>
            <a:off x="7086600" y="3611880"/>
            <a:ext cx="9144" cy="173736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p>
        </p:txBody>
      </p:sp>
      <p:sp>
        <p:nvSpPr>
          <p:cNvPr id="15" name="Rectangle 14"/>
          <p:cNvSpPr/>
          <p:nvPr/>
        </p:nvSpPr>
        <p:spPr>
          <a:xfrm>
            <a:off x="6858000" y="3364992"/>
            <a:ext cx="45720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9</a:t>
            </a:r>
          </a:p>
        </p:txBody>
      </p:sp>
      <p:sp>
        <p:nvSpPr>
          <p:cNvPr id="16" name="Rectangle 15"/>
          <p:cNvSpPr/>
          <p:nvPr/>
        </p:nvSpPr>
        <p:spPr>
          <a:xfrm>
            <a:off x="8549640" y="3611880"/>
            <a:ext cx="9144" cy="173736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p>
        </p:txBody>
      </p:sp>
      <p:sp>
        <p:nvSpPr>
          <p:cNvPr id="17" name="Rectangle 16"/>
          <p:cNvSpPr/>
          <p:nvPr/>
        </p:nvSpPr>
        <p:spPr>
          <a:xfrm>
            <a:off x="8321040" y="3364992"/>
            <a:ext cx="45720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10</a:t>
            </a:r>
          </a:p>
        </p:txBody>
      </p:sp>
      <p:sp>
        <p:nvSpPr>
          <p:cNvPr id="18" name="Rectangle 17"/>
          <p:cNvSpPr/>
          <p:nvPr/>
        </p:nvSpPr>
        <p:spPr>
          <a:xfrm>
            <a:off x="10012680" y="3611880"/>
            <a:ext cx="9144" cy="173736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p>
        </p:txBody>
      </p:sp>
      <p:sp>
        <p:nvSpPr>
          <p:cNvPr id="19" name="Rectangle 18"/>
          <p:cNvSpPr/>
          <p:nvPr/>
        </p:nvSpPr>
        <p:spPr>
          <a:xfrm>
            <a:off x="9784080" y="3364992"/>
            <a:ext cx="45720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11</a:t>
            </a:r>
          </a:p>
        </p:txBody>
      </p:sp>
      <p:sp>
        <p:nvSpPr>
          <p:cNvPr id="20" name="Rectangle 19"/>
          <p:cNvSpPr/>
          <p:nvPr/>
        </p:nvSpPr>
        <p:spPr>
          <a:xfrm>
            <a:off x="11475720" y="3611880"/>
            <a:ext cx="9144" cy="1737360"/>
          </a:xfrm>
          <a:prstGeom prst="rect">
            <a:avLst/>
          </a:prstGeom>
          <a:solidFill>
            <a:srgbClr val="D9DF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p>
        </p:txBody>
      </p:sp>
      <p:sp>
        <p:nvSpPr>
          <p:cNvPr id="21" name="Rectangle 20"/>
          <p:cNvSpPr/>
          <p:nvPr/>
        </p:nvSpPr>
        <p:spPr>
          <a:xfrm>
            <a:off x="11247120" y="3364992"/>
            <a:ext cx="457200"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0">
                <a:solidFill>
                  <a:srgbClr val="6B7686"/>
                </a:solidFill>
                <a:latin typeface="Meiryo"/>
              </a:rPr>
              <a:t>12</a:t>
            </a:r>
          </a:p>
        </p:txBody>
      </p:sp>
      <p:sp>
        <p:nvSpPr>
          <p:cNvPr id="22" name="Rectangle 21"/>
          <p:cNvSpPr/>
          <p:nvPr/>
        </p:nvSpPr>
        <p:spPr>
          <a:xfrm>
            <a:off x="2568244" y="3611880"/>
            <a:ext cx="14630" cy="1737360"/>
          </a:xfrm>
          <a:prstGeom prst="rect">
            <a:avLst/>
          </a:prstGeom>
          <a:solidFill>
            <a:srgbClr val="9AA6B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p>
        </p:txBody>
      </p:sp>
      <p:sp>
        <p:nvSpPr>
          <p:cNvPr id="23" name="Rectangle 22"/>
          <p:cNvSpPr/>
          <p:nvPr/>
        </p:nvSpPr>
        <p:spPr>
          <a:xfrm>
            <a:off x="1661160" y="3611880"/>
            <a:ext cx="182880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1">
                <a:solidFill>
                  <a:srgbClr val="9AA6B8"/>
                </a:solidFill>
                <a:latin typeface="Meiryo"/>
              </a:rPr>
              <a:t>開設波 05:55</a:t>
            </a:r>
          </a:p>
        </p:txBody>
      </p:sp>
      <p:sp>
        <p:nvSpPr>
          <p:cNvPr id="24" name="Rectangle 23"/>
          <p:cNvSpPr/>
          <p:nvPr/>
        </p:nvSpPr>
        <p:spPr>
          <a:xfrm>
            <a:off x="6347764" y="3611880"/>
            <a:ext cx="14630" cy="17373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p>
        </p:txBody>
      </p:sp>
      <p:sp>
        <p:nvSpPr>
          <p:cNvPr id="25" name="Rectangle 24"/>
          <p:cNvSpPr/>
          <p:nvPr/>
        </p:nvSpPr>
        <p:spPr>
          <a:xfrm>
            <a:off x="5440680" y="3611880"/>
            <a:ext cx="182880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1">
                <a:solidFill>
                  <a:srgbClr val="C0392B"/>
                </a:solidFill>
                <a:latin typeface="Meiryo"/>
              </a:rPr>
              <a:t>到着ピーク 08:30・同時11便</a:t>
            </a:r>
          </a:p>
        </p:txBody>
      </p:sp>
      <p:sp>
        <p:nvSpPr>
          <p:cNvPr id="26" name="Rectangle 25"/>
          <p:cNvSpPr/>
          <p:nvPr/>
        </p:nvSpPr>
        <p:spPr>
          <a:xfrm>
            <a:off x="10371124" y="3611880"/>
            <a:ext cx="14630" cy="1737360"/>
          </a:xfrm>
          <a:prstGeom prst="rect">
            <a:avLst/>
          </a:prstGeom>
          <a:solidFill>
            <a:srgbClr val="9AA6B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p>
        </p:txBody>
      </p:sp>
      <p:sp>
        <p:nvSpPr>
          <p:cNvPr id="27" name="Rectangle 26"/>
          <p:cNvSpPr/>
          <p:nvPr/>
        </p:nvSpPr>
        <p:spPr>
          <a:xfrm>
            <a:off x="9464040" y="3611880"/>
            <a:ext cx="182880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ctr">
              <a:spcBef>
                <a:spcPts val="0"/>
              </a:spcBef>
              <a:spcAft>
                <a:spcPts val="200"/>
              </a:spcAft>
            </a:pPr>
            <a:r>
              <a:rPr sz="900" b="1">
                <a:solidFill>
                  <a:srgbClr val="9AA6B8"/>
                </a:solidFill>
                <a:latin typeface="Meiryo"/>
              </a:rPr>
              <a:t>後半出発 〜11:15</a:t>
            </a:r>
          </a:p>
        </p:txBody>
      </p:sp>
      <p:sp>
        <p:nvSpPr>
          <p:cNvPr id="28" name="Rounded Rectangle 27"/>
          <p:cNvSpPr/>
          <p:nvPr/>
        </p:nvSpPr>
        <p:spPr>
          <a:xfrm>
            <a:off x="2331720" y="3977639"/>
            <a:ext cx="6583680" cy="502920"/>
          </a:xfrm>
          <a:prstGeom prst="round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200"/>
              </a:spcAft>
            </a:pPr>
            <a:r>
              <a:rPr sz="1200" b="1">
                <a:solidFill>
                  <a:srgbClr val="FFFFFF"/>
                </a:solidFill>
                <a:latin typeface="Meiryo"/>
              </a:rPr>
              <a:t>早番A</a:t>
            </a:r>
          </a:p>
        </p:txBody>
      </p:sp>
      <p:sp>
        <p:nvSpPr>
          <p:cNvPr id="29" name="Rounded Rectangle 28"/>
          <p:cNvSpPr/>
          <p:nvPr/>
        </p:nvSpPr>
        <p:spPr>
          <a:xfrm>
            <a:off x="4892040" y="4617720"/>
            <a:ext cx="6583679" cy="502920"/>
          </a:xfrm>
          <a:prstGeom prst="roundRect">
            <a:avLst/>
          </a:prstGeom>
          <a:solidFill>
            <a:srgbClr val="2C6E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200"/>
              </a:spcAft>
            </a:pPr>
            <a:r>
              <a:rPr sz="1200" b="1">
                <a:solidFill>
                  <a:srgbClr val="FFFFFF"/>
                </a:solidFill>
                <a:latin typeface="Meiryo"/>
              </a:rPr>
              <a:t>中番B</a:t>
            </a:r>
          </a:p>
        </p:txBody>
      </p:sp>
      <p:sp>
        <p:nvSpPr>
          <p:cNvPr id="30" name="Rectangle 29"/>
          <p:cNvSpPr/>
          <p:nvPr/>
        </p:nvSpPr>
        <p:spPr>
          <a:xfrm>
            <a:off x="548640" y="5669280"/>
            <a:ext cx="11064240" cy="502920"/>
          </a:xfrm>
          <a:prstGeom prst="rect">
            <a:avLst/>
          </a:prstGeom>
          <a:solidFill>
            <a:srgbClr val="E5ECF7"/>
          </a:solidFill>
          <a:ln w="12700">
            <a:solidFill>
              <a:srgbClr val="D9DF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200"/>
              </a:spcAft>
            </a:pPr>
            <a:r>
              <a:rPr sz="1500" b="1">
                <a:solidFill>
                  <a:srgbClr val="1B2A4A"/>
                </a:solidFill>
                <a:latin typeface="Meiryo"/>
              </a:rPr>
              <a:t>重なる 07:30–10:15 が一番人手が要る時間。早番と中番の二枚重ねで厚くする。</a:t>
            </a:r>
          </a:p>
        </p:txBody>
      </p:sp>
      <p:sp>
        <p:nvSpPr>
          <p:cNvPr id="31" name="Rectangle 30"/>
          <p:cNvSpPr/>
          <p:nvPr/>
        </p:nvSpPr>
        <p:spPr>
          <a:xfrm>
            <a:off x="548640" y="6217920"/>
            <a:ext cx="11064240" cy="2011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900" b="0">
                <a:solidFill>
                  <a:srgbClr val="9AA6B8"/>
                </a:solidFill>
                <a:latin typeface="Meiryo"/>
              </a:rPr>
              <a:t>※ シフト時刻は提案値（実線表の2波に合わせて設定）。各シフトの必要人数は支店が線表×SLAで確定。</a:t>
            </a:r>
          </a:p>
        </p:txBody>
      </p:sp>
      <p:sp>
        <p:nvSpPr>
          <p:cNvPr id="32" name="Rectangle 31"/>
          <p:cNvSpPr/>
          <p:nvPr/>
        </p:nvSpPr>
        <p:spPr>
          <a:xfrm>
            <a:off x="457200" y="6419088"/>
            <a:ext cx="5486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900" b="0">
                <a:solidFill>
                  <a:srgbClr val="6B7686"/>
                </a:solidFill>
                <a:latin typeface="Meiryo"/>
              </a:rPr>
              <a:t>短時間勤務者採用 説明会</a:t>
            </a:r>
          </a:p>
        </p:txBody>
      </p:sp>
      <p:sp>
        <p:nvSpPr>
          <p:cNvPr id="33" name="Rectangle 32"/>
          <p:cNvSpPr/>
          <p:nvPr/>
        </p:nvSpPr>
        <p:spPr>
          <a:xfrm>
            <a:off x="11155680" y="6419088"/>
            <a:ext cx="6400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r">
              <a:spcBef>
                <a:spcPts val="0"/>
              </a:spcBef>
              <a:spcAft>
                <a:spcPts val="200"/>
              </a:spcAft>
            </a:pPr>
            <a:r>
              <a:rPr sz="900" b="0">
                <a:solidFill>
                  <a:srgbClr val="6B7686"/>
                </a:solidFill>
                <a:latin typeface="Meiryo"/>
              </a:rPr>
              <a:t>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078992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1300" b="1">
                <a:solidFill>
                  <a:srgbClr val="2E5AAC"/>
                </a:solidFill>
                <a:latin typeface="Meiryo"/>
              </a:rPr>
              <a:t>現場での活用｜配置の割付（人事部案）</a:t>
            </a:r>
          </a:p>
        </p:txBody>
      </p:sp>
      <p:sp>
        <p:nvSpPr>
          <p:cNvPr id="3" name="Rectangle 2"/>
          <p:cNvSpPr/>
          <p:nvPr/>
        </p:nvSpPr>
        <p:spPr>
          <a:xfrm>
            <a:off x="548640" y="841248"/>
            <a:ext cx="1106424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3000" b="1">
                <a:solidFill>
                  <a:srgbClr val="1B2A4A"/>
                </a:solidFill>
                <a:latin typeface="Meiryo"/>
              </a:rPr>
              <a:t>どのキャリアを、どの時間帯に</a:t>
            </a:r>
          </a:p>
        </p:txBody>
      </p:sp>
      <p:graphicFrame>
        <p:nvGraphicFramePr>
          <p:cNvPr id="4" name="Table 3"/>
          <p:cNvGraphicFramePr>
            <a:graphicFrameLocks noGrp="1"/>
          </p:cNvGraphicFramePr>
          <p:nvPr/>
        </p:nvGraphicFramePr>
        <p:xfrm>
          <a:off x="548640" y="2057400"/>
          <a:ext cx="11155680" cy="3566160"/>
        </p:xfrm>
        <a:graphic>
          <a:graphicData uri="http://schemas.openxmlformats.org/drawingml/2006/table">
            <a:tbl>
              <a:tblPr>
                <a:tableStyleId>{5C22544A-7EE6-4342-B048-85BDC9FD1C3A}</a:tableStyleId>
              </a:tblPr>
              <a:tblGrid>
                <a:gridCol w="1828800"/>
                <a:gridCol w="2926080"/>
                <a:gridCol w="2926080"/>
                <a:gridCol w="3474720"/>
              </a:tblGrid>
              <a:tr h="509451">
                <a:tc>
                  <a:txBody>
                    <a:bodyPr/>
                    <a:lstStyle/>
                    <a:p>
                      <a:pPr algn="ctr"/>
                      <a:r>
                        <a:rPr sz="1200" b="1">
                          <a:solidFill>
                            <a:srgbClr val="FFFFFF"/>
                          </a:solidFill>
                          <a:latin typeface="Meiryo"/>
                        </a:rPr>
                        <a:t>キャリア</a:t>
                      </a:r>
                    </a:p>
                  </a:txBody>
                  <a:tcPr marL="54864" marR="54864" marT="27432" marB="27432" anchor="ctr">
                    <a:solidFill>
                      <a:srgbClr val="1B2A4A"/>
                    </a:solidFill>
                  </a:tcPr>
                </a:tc>
                <a:tc>
                  <a:txBody>
                    <a:bodyPr/>
                    <a:lstStyle/>
                    <a:p>
                      <a:pPr algn="ctr"/>
                      <a:r>
                        <a:rPr sz="1200" b="1">
                          <a:solidFill>
                            <a:srgbClr val="FFFFFF"/>
                          </a:solidFill>
                          <a:latin typeface="Meiryo"/>
                        </a:rPr>
                        <a:t>早番A (05:45–10:15)</a:t>
                      </a:r>
                    </a:p>
                  </a:txBody>
                  <a:tcPr marL="54864" marR="54864" marT="27432" marB="27432" anchor="ctr">
                    <a:solidFill>
                      <a:srgbClr val="1B2A4A"/>
                    </a:solidFill>
                  </a:tcPr>
                </a:tc>
                <a:tc>
                  <a:txBody>
                    <a:bodyPr/>
                    <a:lstStyle/>
                    <a:p>
                      <a:pPr algn="ctr"/>
                      <a:r>
                        <a:rPr sz="1200" b="1">
                          <a:solidFill>
                            <a:srgbClr val="FFFFFF"/>
                          </a:solidFill>
                          <a:latin typeface="Meiryo"/>
                        </a:rPr>
                        <a:t>中番B (07:30–12:00)</a:t>
                      </a:r>
                    </a:p>
                  </a:txBody>
                  <a:tcPr marL="54864" marR="54864" marT="27432" marB="27432" anchor="ctr">
                    <a:solidFill>
                      <a:srgbClr val="1B2A4A"/>
                    </a:solidFill>
                  </a:tcPr>
                </a:tc>
                <a:tc>
                  <a:txBody>
                    <a:bodyPr/>
                    <a:lstStyle/>
                    <a:p>
                      <a:pPr algn="ctr"/>
                      <a:r>
                        <a:rPr sz="1200" b="1">
                          <a:solidFill>
                            <a:srgbClr val="FFFFFF"/>
                          </a:solidFill>
                          <a:latin typeface="Meiryo"/>
                        </a:rPr>
                        <a:t>主な便・備考</a:t>
                      </a:r>
                    </a:p>
                  </a:txBody>
                  <a:tcPr marL="54864" marR="54864" marT="27432" marB="27432" anchor="ctr">
                    <a:solidFill>
                      <a:srgbClr val="1B2A4A"/>
                    </a:solidFill>
                  </a:tcPr>
                </a:tc>
              </a:tr>
              <a:tr h="509451">
                <a:tc>
                  <a:txBody>
                    <a:bodyPr/>
                    <a:lstStyle/>
                    <a:p>
                      <a:pPr algn="ctr"/>
                      <a:r>
                        <a:rPr sz="1300" b="1">
                          <a:solidFill>
                            <a:srgbClr val="1B2A4A"/>
                          </a:solidFill>
                          <a:latin typeface="Meiryo"/>
                        </a:rPr>
                        <a:t>AM</a:t>
                      </a:r>
                    </a:p>
                  </a:txBody>
                  <a:tcPr marL="54864" marR="54864" marT="27432" marB="27432" anchor="ctr">
                    <a:solidFill>
                      <a:srgbClr val="F3F4F7"/>
                    </a:solidFill>
                  </a:tcPr>
                </a:tc>
                <a:tc>
                  <a:txBody>
                    <a:bodyPr/>
                    <a:lstStyle/>
                    <a:p>
                      <a:pPr algn="ctr"/>
                      <a:r>
                        <a:rPr sz="1500" b="1">
                          <a:solidFill>
                            <a:srgbClr val="2E5AAC"/>
                          </a:solidFill>
                          <a:latin typeface="Meiryo"/>
                        </a:rPr>
                        <a:t>◯</a:t>
                      </a:r>
                    </a:p>
                  </a:txBody>
                  <a:tcPr marL="54864" marR="54864" marT="27432" marB="27432" anchor="ctr">
                    <a:solidFill>
                      <a:srgbClr val="E5ECF7"/>
                    </a:solidFill>
                  </a:tcPr>
                </a:tc>
                <a:tc>
                  <a:txBody>
                    <a:bodyPr/>
                    <a:lstStyle/>
                    <a:p>
                      <a:pPr algn="ctr"/>
                      <a:r>
                        <a:rPr sz="1500" b="1">
                          <a:solidFill>
                            <a:srgbClr val="2C6E49"/>
                          </a:solidFill>
                          <a:latin typeface="Meiryo"/>
                        </a:rPr>
                        <a:t/>
                      </a:r>
                    </a:p>
                  </a:txBody>
                  <a:tcPr marL="54864" marR="54864" marT="27432" marB="27432" anchor="ctr">
                    <a:solidFill>
                      <a:srgbClr val="FFFFFF"/>
                    </a:solidFill>
                  </a:tcPr>
                </a:tc>
                <a:tc>
                  <a:txBody>
                    <a:bodyPr/>
                    <a:lstStyle/>
                    <a:p>
                      <a:pPr algn="l"/>
                      <a:r>
                        <a:rPr sz="1100" b="0">
                          <a:solidFill>
                            <a:srgbClr val="1F2733"/>
                          </a:solidFill>
                          <a:latin typeface="Meiryo"/>
                        </a:rPr>
                        <a:t>AM058/057（着06:30・発09:35）ワイド</a:t>
                      </a:r>
                    </a:p>
                  </a:txBody>
                  <a:tcPr marL="54864" marR="54864" marT="27432" marB="27432" anchor="ctr">
                    <a:solidFill>
                      <a:srgbClr val="FFFFFF"/>
                    </a:solidFill>
                  </a:tcPr>
                </a:tc>
              </a:tr>
              <a:tr h="509451">
                <a:tc>
                  <a:txBody>
                    <a:bodyPr/>
                    <a:lstStyle/>
                    <a:p>
                      <a:pPr algn="ctr"/>
                      <a:r>
                        <a:rPr sz="1300" b="1">
                          <a:solidFill>
                            <a:srgbClr val="1B2A4A"/>
                          </a:solidFill>
                          <a:latin typeface="Meiryo"/>
                        </a:rPr>
                        <a:t>VN</a:t>
                      </a:r>
                    </a:p>
                  </a:txBody>
                  <a:tcPr marL="54864" marR="54864" marT="27432" marB="27432" anchor="ctr">
                    <a:solidFill>
                      <a:srgbClr val="F3F4F7"/>
                    </a:solidFill>
                  </a:tcPr>
                </a:tc>
                <a:tc>
                  <a:txBody>
                    <a:bodyPr/>
                    <a:lstStyle/>
                    <a:p>
                      <a:pPr algn="ctr"/>
                      <a:r>
                        <a:rPr sz="1500" b="1">
                          <a:solidFill>
                            <a:srgbClr val="2E5AAC"/>
                          </a:solidFill>
                          <a:latin typeface="Meiryo"/>
                        </a:rPr>
                        <a:t>◯</a:t>
                      </a:r>
                    </a:p>
                  </a:txBody>
                  <a:tcPr marL="54864" marR="54864" marT="27432" marB="27432" anchor="ctr">
                    <a:solidFill>
                      <a:srgbClr val="E5ECF7"/>
                    </a:solidFill>
                  </a:tcPr>
                </a:tc>
                <a:tc>
                  <a:txBody>
                    <a:bodyPr/>
                    <a:lstStyle/>
                    <a:p>
                      <a:pPr algn="ctr"/>
                      <a:r>
                        <a:rPr sz="1500" b="1">
                          <a:solidFill>
                            <a:srgbClr val="2C6E49"/>
                          </a:solidFill>
                          <a:latin typeface="Meiryo"/>
                        </a:rPr>
                        <a:t>◯</a:t>
                      </a:r>
                    </a:p>
                  </a:txBody>
                  <a:tcPr marL="54864" marR="54864" marT="27432" marB="27432" anchor="ctr">
                    <a:solidFill>
                      <a:srgbClr val="E3F0EA"/>
                    </a:solidFill>
                  </a:tcPr>
                </a:tc>
                <a:tc>
                  <a:txBody>
                    <a:bodyPr/>
                    <a:lstStyle/>
                    <a:p>
                      <a:pPr algn="l"/>
                      <a:r>
                        <a:rPr sz="1100" b="0">
                          <a:solidFill>
                            <a:srgbClr val="1F2733"/>
                          </a:solidFill>
                          <a:latin typeface="Meiryo"/>
                        </a:rPr>
                        <a:t>早番：VN318/310/306　中番：VN316/317</a:t>
                      </a:r>
                    </a:p>
                  </a:txBody>
                  <a:tcPr marL="54864" marR="54864" marT="27432" marB="27432" anchor="ctr">
                    <a:solidFill>
                      <a:srgbClr val="FFFFFF"/>
                    </a:solidFill>
                  </a:tcPr>
                </a:tc>
              </a:tr>
              <a:tr h="509451">
                <a:tc>
                  <a:txBody>
                    <a:bodyPr/>
                    <a:lstStyle/>
                    <a:p>
                      <a:pPr algn="ctr"/>
                      <a:r>
                        <a:rPr sz="1300" b="1">
                          <a:solidFill>
                            <a:srgbClr val="1B2A4A"/>
                          </a:solidFill>
                          <a:latin typeface="Meiryo"/>
                        </a:rPr>
                        <a:t>VJ</a:t>
                      </a:r>
                    </a:p>
                  </a:txBody>
                  <a:tcPr marL="54864" marR="54864" marT="27432" marB="27432" anchor="ctr">
                    <a:solidFill>
                      <a:srgbClr val="F3F4F7"/>
                    </a:solidFill>
                  </a:tcPr>
                </a:tc>
                <a:tc>
                  <a:txBody>
                    <a:bodyPr/>
                    <a:lstStyle/>
                    <a:p>
                      <a:pPr algn="ctr"/>
                      <a:r>
                        <a:rPr sz="1500" b="1">
                          <a:solidFill>
                            <a:srgbClr val="2E5AAC"/>
                          </a:solidFill>
                          <a:latin typeface="Meiryo"/>
                        </a:rPr>
                        <a:t>◯</a:t>
                      </a:r>
                    </a:p>
                  </a:txBody>
                  <a:tcPr marL="54864" marR="54864" marT="27432" marB="27432" anchor="ctr">
                    <a:solidFill>
                      <a:srgbClr val="E5ECF7"/>
                    </a:solidFill>
                  </a:tcPr>
                </a:tc>
                <a:tc>
                  <a:txBody>
                    <a:bodyPr/>
                    <a:lstStyle/>
                    <a:p>
                      <a:pPr algn="ctr"/>
                      <a:r>
                        <a:rPr sz="1500" b="1">
                          <a:solidFill>
                            <a:srgbClr val="2C6E49"/>
                          </a:solidFill>
                          <a:latin typeface="Meiryo"/>
                        </a:rPr>
                        <a:t/>
                      </a:r>
                    </a:p>
                  </a:txBody>
                  <a:tcPr marL="54864" marR="54864" marT="27432" marB="27432" anchor="ctr">
                    <a:solidFill>
                      <a:srgbClr val="FFFFFF"/>
                    </a:solidFill>
                  </a:tcPr>
                </a:tc>
                <a:tc>
                  <a:txBody>
                    <a:bodyPr/>
                    <a:lstStyle/>
                    <a:p>
                      <a:pPr algn="l"/>
                      <a:r>
                        <a:rPr sz="1100" b="0">
                          <a:solidFill>
                            <a:srgbClr val="1F2733"/>
                          </a:solidFill>
                          <a:latin typeface="Meiryo"/>
                        </a:rPr>
                        <a:t>VJ822・VJ932（夕方便はWinter条件付）</a:t>
                      </a:r>
                    </a:p>
                  </a:txBody>
                  <a:tcPr marL="54864" marR="54864" marT="27432" marB="27432" anchor="ctr">
                    <a:solidFill>
                      <a:srgbClr val="FFFFFF"/>
                    </a:solidFill>
                  </a:tcPr>
                </a:tc>
              </a:tr>
              <a:tr h="509451">
                <a:tc>
                  <a:txBody>
                    <a:bodyPr/>
                    <a:lstStyle/>
                    <a:p>
                      <a:pPr algn="ctr"/>
                      <a:r>
                        <a:rPr sz="1300" b="1">
                          <a:solidFill>
                            <a:srgbClr val="1B2A4A"/>
                          </a:solidFill>
                          <a:latin typeface="Meiryo"/>
                        </a:rPr>
                        <a:t>5J</a:t>
                      </a:r>
                    </a:p>
                  </a:txBody>
                  <a:tcPr marL="54864" marR="54864" marT="27432" marB="27432" anchor="ctr">
                    <a:solidFill>
                      <a:srgbClr val="F3F4F7"/>
                    </a:solidFill>
                  </a:tcPr>
                </a:tc>
                <a:tc>
                  <a:txBody>
                    <a:bodyPr/>
                    <a:lstStyle/>
                    <a:p>
                      <a:pPr algn="ctr"/>
                      <a:r>
                        <a:rPr sz="1500" b="1">
                          <a:solidFill>
                            <a:srgbClr val="2E5AAC"/>
                          </a:solidFill>
                          <a:latin typeface="Meiryo"/>
                        </a:rPr>
                        <a:t>◯</a:t>
                      </a:r>
                    </a:p>
                  </a:txBody>
                  <a:tcPr marL="54864" marR="54864" marT="27432" marB="27432" anchor="ctr">
                    <a:solidFill>
                      <a:srgbClr val="E5ECF7"/>
                    </a:solidFill>
                  </a:tcPr>
                </a:tc>
                <a:tc>
                  <a:txBody>
                    <a:bodyPr/>
                    <a:lstStyle/>
                    <a:p>
                      <a:pPr algn="ctr"/>
                      <a:r>
                        <a:rPr sz="1500" b="1">
                          <a:solidFill>
                            <a:srgbClr val="2C6E49"/>
                          </a:solidFill>
                          <a:latin typeface="Meiryo"/>
                        </a:rPr>
                        <a:t>◯</a:t>
                      </a:r>
                    </a:p>
                  </a:txBody>
                  <a:tcPr marL="54864" marR="54864" marT="27432" marB="27432" anchor="ctr">
                    <a:solidFill>
                      <a:srgbClr val="E3F0EA"/>
                    </a:solidFill>
                  </a:tcPr>
                </a:tc>
                <a:tc>
                  <a:txBody>
                    <a:bodyPr/>
                    <a:lstStyle/>
                    <a:p>
                      <a:pPr algn="l"/>
                      <a:r>
                        <a:rPr sz="1100" b="0">
                          <a:solidFill>
                            <a:srgbClr val="1F2733"/>
                          </a:solidFill>
                          <a:latin typeface="Meiryo"/>
                        </a:rPr>
                        <a:t>早番：5J5062　中番：5J5068（昼・夕は別枠）</a:t>
                      </a:r>
                    </a:p>
                  </a:txBody>
                  <a:tcPr marL="54864" marR="54864" marT="27432" marB="27432" anchor="ctr">
                    <a:solidFill>
                      <a:srgbClr val="FFFFFF"/>
                    </a:solidFill>
                  </a:tcPr>
                </a:tc>
              </a:tr>
              <a:tr h="509451">
                <a:tc>
                  <a:txBody>
                    <a:bodyPr/>
                    <a:lstStyle/>
                    <a:p>
                      <a:pPr algn="ctr"/>
                      <a:r>
                        <a:rPr sz="1300" b="1">
                          <a:solidFill>
                            <a:srgbClr val="1B2A4A"/>
                          </a:solidFill>
                          <a:latin typeface="Meiryo"/>
                        </a:rPr>
                        <a:t>UL</a:t>
                      </a:r>
                    </a:p>
                  </a:txBody>
                  <a:tcPr marL="54864" marR="54864" marT="27432" marB="27432" anchor="ctr">
                    <a:solidFill>
                      <a:srgbClr val="F3F4F7"/>
                    </a:solidFill>
                  </a:tcPr>
                </a:tc>
                <a:tc>
                  <a:txBody>
                    <a:bodyPr/>
                    <a:lstStyle/>
                    <a:p>
                      <a:pPr algn="ctr"/>
                      <a:r>
                        <a:rPr sz="1500" b="1">
                          <a:solidFill>
                            <a:srgbClr val="2E5AAC"/>
                          </a:solidFill>
                          <a:latin typeface="Meiryo"/>
                        </a:rPr>
                        <a:t/>
                      </a:r>
                    </a:p>
                  </a:txBody>
                  <a:tcPr marL="54864" marR="54864" marT="27432" marB="27432" anchor="ctr">
                    <a:solidFill>
                      <a:srgbClr val="FFFFFF"/>
                    </a:solidFill>
                  </a:tcPr>
                </a:tc>
                <a:tc>
                  <a:txBody>
                    <a:bodyPr/>
                    <a:lstStyle/>
                    <a:p>
                      <a:pPr algn="ctr"/>
                      <a:r>
                        <a:rPr sz="1500" b="1">
                          <a:solidFill>
                            <a:srgbClr val="2C6E49"/>
                          </a:solidFill>
                          <a:latin typeface="Meiryo"/>
                        </a:rPr>
                        <a:t>◯</a:t>
                      </a:r>
                    </a:p>
                  </a:txBody>
                  <a:tcPr marL="54864" marR="54864" marT="27432" marB="27432" anchor="ctr">
                    <a:solidFill>
                      <a:srgbClr val="E3F0EA"/>
                    </a:solidFill>
                  </a:tcPr>
                </a:tc>
                <a:tc>
                  <a:txBody>
                    <a:bodyPr/>
                    <a:lstStyle/>
                    <a:p>
                      <a:pPr algn="l"/>
                      <a:r>
                        <a:rPr sz="1100" b="0">
                          <a:solidFill>
                            <a:srgbClr val="1F2733"/>
                          </a:solidFill>
                          <a:latin typeface="Meiryo"/>
                        </a:rPr>
                        <a:t>UL454/455（08:15–11:15）※火木土・ワイド</a:t>
                      </a:r>
                    </a:p>
                  </a:txBody>
                  <a:tcPr marL="54864" marR="54864" marT="27432" marB="27432" anchor="ctr">
                    <a:solidFill>
                      <a:srgbClr val="FFFFFF"/>
                    </a:solidFill>
                  </a:tcPr>
                </a:tc>
              </a:tr>
              <a:tr h="509454">
                <a:tc>
                  <a:txBody>
                    <a:bodyPr/>
                    <a:lstStyle/>
                    <a:p>
                      <a:pPr algn="ctr"/>
                      <a:r>
                        <a:rPr sz="1300" b="1">
                          <a:solidFill>
                            <a:srgbClr val="1B2A4A"/>
                          </a:solidFill>
                          <a:latin typeface="Meiryo"/>
                        </a:rPr>
                        <a:t>RF</a:t>
                      </a:r>
                    </a:p>
                  </a:txBody>
                  <a:tcPr marL="54864" marR="54864" marT="27432" marB="27432" anchor="ctr">
                    <a:solidFill>
                      <a:srgbClr val="F3F4F7"/>
                    </a:solidFill>
                  </a:tcPr>
                </a:tc>
                <a:tc>
                  <a:txBody>
                    <a:bodyPr/>
                    <a:lstStyle/>
                    <a:p>
                      <a:pPr algn="ctr"/>
                      <a:r>
                        <a:rPr sz="1500" b="1">
                          <a:solidFill>
                            <a:srgbClr val="2E5AAC"/>
                          </a:solidFill>
                          <a:latin typeface="Meiryo"/>
                        </a:rPr>
                        <a:t/>
                      </a:r>
                    </a:p>
                  </a:txBody>
                  <a:tcPr marL="54864" marR="54864" marT="27432" marB="27432" anchor="ctr">
                    <a:solidFill>
                      <a:srgbClr val="FFFFFF"/>
                    </a:solidFill>
                  </a:tcPr>
                </a:tc>
                <a:tc>
                  <a:txBody>
                    <a:bodyPr/>
                    <a:lstStyle/>
                    <a:p>
                      <a:pPr algn="ctr"/>
                      <a:r>
                        <a:rPr sz="1500" b="1">
                          <a:solidFill>
                            <a:srgbClr val="2C6E49"/>
                          </a:solidFill>
                          <a:latin typeface="Meiryo"/>
                        </a:rPr>
                        <a:t>◯</a:t>
                      </a:r>
                    </a:p>
                  </a:txBody>
                  <a:tcPr marL="54864" marR="54864" marT="27432" marB="27432" anchor="ctr">
                    <a:solidFill>
                      <a:srgbClr val="E3F0EA"/>
                    </a:solidFill>
                  </a:tcPr>
                </a:tc>
                <a:tc>
                  <a:txBody>
                    <a:bodyPr/>
                    <a:lstStyle/>
                    <a:p>
                      <a:pPr algn="l"/>
                      <a:r>
                        <a:rPr sz="1100" b="0">
                          <a:solidFill>
                            <a:srgbClr val="1F2733"/>
                          </a:solidFill>
                          <a:latin typeface="Meiryo"/>
                        </a:rPr>
                        <a:t>RF392/391（08:10–10:40）</a:t>
                      </a:r>
                    </a:p>
                  </a:txBody>
                  <a:tcPr marL="54864" marR="54864" marT="27432" marB="27432" anchor="ctr">
                    <a:solidFill>
                      <a:srgbClr val="FFFFFF"/>
                    </a:solidFill>
                  </a:tcPr>
                </a:tc>
              </a:tr>
            </a:tbl>
          </a:graphicData>
        </a:graphic>
      </p:graphicFrame>
      <p:sp>
        <p:nvSpPr>
          <p:cNvPr id="5" name="Rounded Rectangle 4"/>
          <p:cNvSpPr/>
          <p:nvPr/>
        </p:nvSpPr>
        <p:spPr>
          <a:xfrm>
            <a:off x="548640" y="5806440"/>
            <a:ext cx="11064240" cy="50292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spcBef>
                <a:spcPts val="0"/>
              </a:spcBef>
              <a:spcAft>
                <a:spcPts val="200"/>
              </a:spcAft>
            </a:pPr>
            <a:r>
              <a:rPr sz="1400" b="1">
                <a:solidFill>
                  <a:srgbClr val="FFFFFF"/>
                </a:solidFill>
                <a:latin typeface="Meiryo"/>
              </a:rPr>
              <a:t>早番A＝AM・VN・VJ・5J（前半便）／ 中番B＝UL・RF・VN(316)・5J(5068)。6社が2本のシフトに収まる。</a:t>
            </a:r>
          </a:p>
        </p:txBody>
      </p:sp>
      <p:sp>
        <p:nvSpPr>
          <p:cNvPr id="6" name="Rectangle 5"/>
          <p:cNvSpPr/>
          <p:nvPr/>
        </p:nvSpPr>
        <p:spPr>
          <a:xfrm>
            <a:off x="548640" y="6364224"/>
            <a:ext cx="11064240" cy="2011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900" b="0">
                <a:solidFill>
                  <a:srgbClr val="9AA6B8"/>
                </a:solidFill>
                <a:latin typeface="Meiryo"/>
              </a:rPr>
              <a:t>◯＝配置候補。時刻は線表の実データ。必要人数は各支店で確定。</a:t>
            </a:r>
          </a:p>
        </p:txBody>
      </p:sp>
      <p:sp>
        <p:nvSpPr>
          <p:cNvPr id="7" name="Rectangle 6"/>
          <p:cNvSpPr/>
          <p:nvPr/>
        </p:nvSpPr>
        <p:spPr>
          <a:xfrm>
            <a:off x="457200" y="6419088"/>
            <a:ext cx="5486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spcBef>
                <a:spcPts val="0"/>
              </a:spcBef>
              <a:spcAft>
                <a:spcPts val="200"/>
              </a:spcAft>
            </a:pPr>
            <a:r>
              <a:rPr sz="900" b="0">
                <a:solidFill>
                  <a:srgbClr val="6B7686"/>
                </a:solidFill>
                <a:latin typeface="Meiryo"/>
              </a:rPr>
              <a:t>短時間勤務者採用 説明会</a:t>
            </a:r>
          </a:p>
        </p:txBody>
      </p:sp>
      <p:sp>
        <p:nvSpPr>
          <p:cNvPr id="8" name="Rectangle 7"/>
          <p:cNvSpPr/>
          <p:nvPr/>
        </p:nvSpPr>
        <p:spPr>
          <a:xfrm>
            <a:off x="11155680" y="6419088"/>
            <a:ext cx="6400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r">
              <a:spcBef>
                <a:spcPts val="0"/>
              </a:spcBef>
              <a:spcAft>
                <a:spcPts val="200"/>
              </a:spcAft>
            </a:pPr>
            <a:r>
              <a:rPr sz="900" b="0">
                <a:solidFill>
                  <a:srgbClr val="6B7686"/>
                </a:solidFill>
                <a:latin typeface="Meiryo"/>
              </a:rPr>
              <a:t>21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6">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502920"/>
            <a:ext cx="10058400" cy="320040"/>
          </a:xfrm>
          <a:prstGeom prst="rect">
            <a:avLst/>
          </a:prstGeom>
          <a:noFill/>
          <a:ln/>
        </p:spPr>
        <p:txBody>
          <a:bodyPr wrap="square" rtlCol="0" anchor="ctr"/>
          <a:lstStyle/>
          <a:p>
            <a:pPr indent="0" marL="0">
              <a:buNone/>
            </a:pPr>
            <a:r>
              <a:rPr lang="en-US" sz="1300" b="1" spc="200" kern="0" dirty="0">
                <a:solidFill>
                  <a:srgbClr val="9FB0CC"/>
                </a:solidFill>
                <a:latin typeface="Meiryo" pitchFamily="34" charset="0"/>
                <a:ea typeface="Meiryo" pitchFamily="34" charset="-122"/>
                <a:cs typeface="Meiryo" pitchFamily="34" charset="-120"/>
              </a:rPr>
              <a:t>支店長・所属長の皆さんへ</a:t>
            </a:r>
            <a:endParaRPr lang="en-US" sz="1300" dirty="0"/>
          </a:p>
        </p:txBody>
      </p:sp>
      <p:sp>
        <p:nvSpPr>
          <p:cNvPr id="3" name="Text 1"/>
          <p:cNvSpPr/>
          <p:nvPr/>
        </p:nvSpPr>
        <p:spPr>
          <a:xfrm>
            <a:off x="548640" y="841248"/>
            <a:ext cx="11064240" cy="822960"/>
          </a:xfrm>
          <a:prstGeom prst="rect">
            <a:avLst/>
          </a:prstGeom>
          <a:noFill/>
          <a:ln/>
        </p:spPr>
        <p:txBody>
          <a:bodyPr wrap="square" rtlCol="0" anchor="ctr"/>
          <a:lstStyle/>
          <a:p>
            <a:pPr algn="l" indent="0" marL="0">
              <a:buNone/>
            </a:pPr>
            <a:r>
              <a:rPr lang="en-US" sz="3000" b="1" dirty="0">
                <a:solidFill>
                  <a:srgbClr val="FFFFFF"/>
                </a:solidFill>
                <a:latin typeface="Meiryo" pitchFamily="34" charset="0"/>
                <a:ea typeface="Meiryo" pitchFamily="34" charset="-122"/>
                <a:cs typeface="Meiryo" pitchFamily="34" charset="-120"/>
              </a:rPr>
              <a:t>お願いしたいこと</a:t>
            </a:r>
            <a:endParaRPr lang="en-US" sz="3000" dirty="0"/>
          </a:p>
        </p:txBody>
      </p:sp>
      <p:sp>
        <p:nvSpPr>
          <p:cNvPr id="4" name="Shape 2"/>
          <p:cNvSpPr/>
          <p:nvPr/>
        </p:nvSpPr>
        <p:spPr>
          <a:xfrm>
            <a:off x="548640" y="2240280"/>
            <a:ext cx="5486400" cy="1051560"/>
          </a:xfrm>
          <a:prstGeom prst="roundRect">
            <a:avLst>
              <a:gd name="adj" fmla="val 5217"/>
            </a:avLst>
          </a:prstGeom>
          <a:solidFill>
            <a:srgbClr val="22345B"/>
          </a:solidFill>
          <a:ln w="12700">
            <a:solidFill>
              <a:srgbClr val="33476F"/>
            </a:solidFill>
            <a:prstDash val="solid"/>
          </a:ln>
        </p:spPr>
        <p:txBody>
          <a:bodyPr/>
          <a:p/>
        </p:txBody>
      </p:sp>
      <p:sp>
        <p:nvSpPr>
          <p:cNvPr id="5" name="Shape 3"/>
          <p:cNvSpPr/>
          <p:nvPr/>
        </p:nvSpPr>
        <p:spPr>
          <a:xfrm>
            <a:off x="777240" y="2532888"/>
            <a:ext cx="457200" cy="457200"/>
          </a:xfrm>
          <a:prstGeom prst="roundRect">
            <a:avLst>
              <a:gd name="adj" fmla="val 20000"/>
            </a:avLst>
          </a:prstGeom>
          <a:solidFill>
            <a:srgbClr val="B8891B"/>
          </a:solidFill>
          <a:ln/>
        </p:spPr>
        <p:txBody>
          <a:bodyPr/>
          <a:p/>
        </p:txBody>
      </p:sp>
      <p:sp>
        <p:nvSpPr>
          <p:cNvPr id="6" name="Text 4"/>
          <p:cNvSpPr/>
          <p:nvPr/>
        </p:nvSpPr>
        <p:spPr>
          <a:xfrm>
            <a:off x="777240" y="2532888"/>
            <a:ext cx="457200" cy="457200"/>
          </a:xfrm>
          <a:prstGeom prst="rect">
            <a:avLst/>
          </a:prstGeom>
          <a:noFill/>
          <a:ln/>
        </p:spPr>
        <p:txBody>
          <a:bodyPr wrap="square" rtlCol="0" anchor="ctr"/>
          <a:lstStyle/>
          <a:p>
            <a:pPr algn="ctr" indent="0" marL="0">
              <a:buNone/>
            </a:pPr>
            <a:r>
              <a:rPr lang="en-US" sz="1600" b="1" dirty="0">
                <a:solidFill>
                  <a:srgbClr val="1B2A4A"/>
                </a:solidFill>
                <a:latin typeface="Meiryo" pitchFamily="34" charset="0"/>
                <a:ea typeface="Meiryo" pitchFamily="34" charset="-122"/>
                <a:cs typeface="Meiryo" pitchFamily="34" charset="-120"/>
              </a:rPr>
              <a:t>1</a:t>
            </a:r>
            <a:endParaRPr lang="en-US" sz="1600" dirty="0"/>
          </a:p>
        </p:txBody>
      </p:sp>
      <p:sp>
        <p:nvSpPr>
          <p:cNvPr id="7" name="Text 5"/>
          <p:cNvSpPr/>
          <p:nvPr/>
        </p:nvSpPr>
        <p:spPr>
          <a:xfrm>
            <a:off x="1371600" y="2404872"/>
            <a:ext cx="4434840" cy="457200"/>
          </a:xfrm>
          <a:prstGeom prst="rect">
            <a:avLst/>
          </a:prstGeom>
          <a:noFill/>
          <a:ln/>
        </p:spPr>
        <p:txBody>
          <a:bodyPr wrap="square" rtlCol="0" anchor="ctr"/>
          <a:lstStyle/>
          <a:p>
            <a:pPr indent="0" marL="0">
              <a:buNone/>
            </a:pPr>
            <a:r>
              <a:rPr lang="en-US" sz="1450" b="1" dirty="0">
                <a:solidFill>
                  <a:srgbClr val="FFFFFF"/>
                </a:solidFill>
                <a:latin typeface="Meiryo" pitchFamily="34" charset="0"/>
                <a:ea typeface="Meiryo" pitchFamily="34" charset="-122"/>
                <a:cs typeface="Meiryo" pitchFamily="34" charset="-120"/>
              </a:rPr>
              <a:t>Winter Schedule を基準に必要出面を確認</a:t>
            </a:r>
            <a:endParaRPr lang="en-US" sz="1450" dirty="0"/>
          </a:p>
        </p:txBody>
      </p:sp>
      <p:sp>
        <p:nvSpPr>
          <p:cNvPr id="8" name="Text 6"/>
          <p:cNvSpPr/>
          <p:nvPr/>
        </p:nvSpPr>
        <p:spPr>
          <a:xfrm>
            <a:off x="1371600" y="2807208"/>
            <a:ext cx="4434840" cy="365760"/>
          </a:xfrm>
          <a:prstGeom prst="rect">
            <a:avLst/>
          </a:prstGeom>
          <a:noFill/>
          <a:ln/>
        </p:spPr>
        <p:txBody>
          <a:bodyPr wrap="square" rtlCol="0" anchor="ctr"/>
          <a:lstStyle/>
          <a:p>
            <a:pPr indent="0" marL="0">
              <a:buNone/>
            </a:pPr>
            <a:r>
              <a:rPr lang="en-US" sz="1150" dirty="0">
                <a:solidFill>
                  <a:srgbClr val="CADCFC"/>
                </a:solidFill>
                <a:latin typeface="Meiryo" pitchFamily="34" charset="0"/>
                <a:ea typeface="Meiryo" pitchFamily="34" charset="-122"/>
                <a:cs typeface="Meiryo" pitchFamily="34" charset="-120"/>
              </a:rPr>
              <a:t>26W を基準に、まず必要な出面を洗い出す</a:t>
            </a:r>
            <a:endParaRPr lang="en-US" sz="1150" dirty="0"/>
          </a:p>
        </p:txBody>
      </p:sp>
      <p:sp>
        <p:nvSpPr>
          <p:cNvPr id="9" name="Shape 7"/>
          <p:cNvSpPr/>
          <p:nvPr/>
        </p:nvSpPr>
        <p:spPr>
          <a:xfrm>
            <a:off x="6153912" y="2240280"/>
            <a:ext cx="5486400" cy="1051560"/>
          </a:xfrm>
          <a:prstGeom prst="roundRect">
            <a:avLst>
              <a:gd name="adj" fmla="val 5217"/>
            </a:avLst>
          </a:prstGeom>
          <a:solidFill>
            <a:srgbClr val="22345B"/>
          </a:solidFill>
          <a:ln w="12700">
            <a:solidFill>
              <a:srgbClr val="33476F"/>
            </a:solidFill>
            <a:prstDash val="solid"/>
          </a:ln>
        </p:spPr>
        <p:txBody>
          <a:bodyPr/>
          <a:p/>
        </p:txBody>
      </p:sp>
      <p:sp>
        <p:nvSpPr>
          <p:cNvPr id="10" name="Shape 8"/>
          <p:cNvSpPr/>
          <p:nvPr/>
        </p:nvSpPr>
        <p:spPr>
          <a:xfrm>
            <a:off x="6382512" y="2532888"/>
            <a:ext cx="457200" cy="457200"/>
          </a:xfrm>
          <a:prstGeom prst="roundRect">
            <a:avLst>
              <a:gd name="adj" fmla="val 20000"/>
            </a:avLst>
          </a:prstGeom>
          <a:solidFill>
            <a:srgbClr val="B8891B"/>
          </a:solidFill>
          <a:ln/>
        </p:spPr>
        <p:txBody>
          <a:bodyPr/>
          <a:p/>
        </p:txBody>
      </p:sp>
      <p:sp>
        <p:nvSpPr>
          <p:cNvPr id="11" name="Text 9"/>
          <p:cNvSpPr/>
          <p:nvPr/>
        </p:nvSpPr>
        <p:spPr>
          <a:xfrm>
            <a:off x="6382512" y="2532888"/>
            <a:ext cx="457200" cy="457200"/>
          </a:xfrm>
          <a:prstGeom prst="rect">
            <a:avLst/>
          </a:prstGeom>
          <a:noFill/>
          <a:ln/>
        </p:spPr>
        <p:txBody>
          <a:bodyPr wrap="square" rtlCol="0" anchor="ctr"/>
          <a:lstStyle/>
          <a:p>
            <a:pPr algn="ctr" indent="0" marL="0">
              <a:buNone/>
            </a:pPr>
            <a:r>
              <a:rPr lang="en-US" sz="1600" b="1" dirty="0">
                <a:solidFill>
                  <a:srgbClr val="1B2A4A"/>
                </a:solidFill>
                <a:latin typeface="Meiryo" pitchFamily="34" charset="0"/>
                <a:ea typeface="Meiryo" pitchFamily="34" charset="-122"/>
                <a:cs typeface="Meiryo" pitchFamily="34" charset="-120"/>
              </a:rPr>
              <a:t>2</a:t>
            </a:r>
            <a:endParaRPr lang="en-US" sz="1600" dirty="0"/>
          </a:p>
        </p:txBody>
      </p:sp>
      <p:sp>
        <p:nvSpPr>
          <p:cNvPr id="12" name="Text 10"/>
          <p:cNvSpPr/>
          <p:nvPr/>
        </p:nvSpPr>
        <p:spPr>
          <a:xfrm>
            <a:off x="6976872" y="2404872"/>
            <a:ext cx="4434840" cy="457200"/>
          </a:xfrm>
          <a:prstGeom prst="rect">
            <a:avLst/>
          </a:prstGeom>
          <a:noFill/>
          <a:ln/>
        </p:spPr>
        <p:txBody>
          <a:bodyPr wrap="square" rtlCol="0" anchor="ctr"/>
          <a:lstStyle/>
          <a:p>
            <a:pPr indent="0" marL="0">
              <a:buNone/>
            </a:pPr>
            <a:r>
              <a:rPr lang="en-US" sz="1450" b="1" dirty="0">
                <a:solidFill>
                  <a:srgbClr val="FFFFFF"/>
                </a:solidFill>
                <a:latin typeface="Meiryo" pitchFamily="34" charset="0"/>
                <a:ea typeface="Meiryo" pitchFamily="34" charset="-122"/>
                <a:cs typeface="Meiryo" pitchFamily="34" charset="-120"/>
              </a:rPr>
              <a:t>時間帯別の不足人数を算出</a:t>
            </a:r>
            <a:endParaRPr lang="en-US" sz="1450" dirty="0"/>
          </a:p>
        </p:txBody>
      </p:sp>
      <p:sp>
        <p:nvSpPr>
          <p:cNvPr id="13" name="Text 11"/>
          <p:cNvSpPr/>
          <p:nvPr/>
        </p:nvSpPr>
        <p:spPr>
          <a:xfrm>
            <a:off x="6976872" y="2807208"/>
            <a:ext cx="4434840" cy="365760"/>
          </a:xfrm>
          <a:prstGeom prst="rect">
            <a:avLst/>
          </a:prstGeom>
          <a:noFill/>
          <a:ln/>
        </p:spPr>
        <p:txBody>
          <a:bodyPr wrap="square" rtlCol="0" anchor="ctr"/>
          <a:lstStyle/>
          <a:p>
            <a:pPr indent="0" marL="0">
              <a:buNone/>
            </a:pPr>
            <a:r>
              <a:rPr lang="en-US" sz="1150" dirty="0">
                <a:solidFill>
                  <a:srgbClr val="CADCFC"/>
                </a:solidFill>
                <a:latin typeface="Meiryo" pitchFamily="34" charset="0"/>
                <a:ea typeface="Meiryo" pitchFamily="34" charset="-122"/>
                <a:cs typeface="Meiryo" pitchFamily="34" charset="-120"/>
              </a:rPr>
              <a:t>既存社員でカバーできる分と、不足する時間帯を分ける</a:t>
            </a:r>
            <a:endParaRPr lang="en-US" sz="1150" dirty="0"/>
          </a:p>
        </p:txBody>
      </p:sp>
      <p:sp>
        <p:nvSpPr>
          <p:cNvPr id="14" name="Shape 12"/>
          <p:cNvSpPr/>
          <p:nvPr/>
        </p:nvSpPr>
        <p:spPr>
          <a:xfrm>
            <a:off x="548640" y="3474720"/>
            <a:ext cx="5486400" cy="1051560"/>
          </a:xfrm>
          <a:prstGeom prst="roundRect">
            <a:avLst>
              <a:gd name="adj" fmla="val 5217"/>
            </a:avLst>
          </a:prstGeom>
          <a:solidFill>
            <a:srgbClr val="22345B"/>
          </a:solidFill>
          <a:ln w="12700">
            <a:solidFill>
              <a:srgbClr val="33476F"/>
            </a:solidFill>
            <a:prstDash val="solid"/>
          </a:ln>
        </p:spPr>
        <p:txBody>
          <a:bodyPr/>
          <a:p/>
        </p:txBody>
      </p:sp>
      <p:sp>
        <p:nvSpPr>
          <p:cNvPr id="15" name="Shape 13"/>
          <p:cNvSpPr/>
          <p:nvPr/>
        </p:nvSpPr>
        <p:spPr>
          <a:xfrm>
            <a:off x="777240" y="3767328"/>
            <a:ext cx="457200" cy="457200"/>
          </a:xfrm>
          <a:prstGeom prst="roundRect">
            <a:avLst>
              <a:gd name="adj" fmla="val 20000"/>
            </a:avLst>
          </a:prstGeom>
          <a:solidFill>
            <a:srgbClr val="B8891B"/>
          </a:solidFill>
          <a:ln/>
        </p:spPr>
        <p:txBody>
          <a:bodyPr/>
          <a:p/>
        </p:txBody>
      </p:sp>
      <p:sp>
        <p:nvSpPr>
          <p:cNvPr id="16" name="Text 14"/>
          <p:cNvSpPr/>
          <p:nvPr/>
        </p:nvSpPr>
        <p:spPr>
          <a:xfrm>
            <a:off x="777240" y="3767328"/>
            <a:ext cx="457200" cy="457200"/>
          </a:xfrm>
          <a:prstGeom prst="rect">
            <a:avLst/>
          </a:prstGeom>
          <a:noFill/>
          <a:ln/>
        </p:spPr>
        <p:txBody>
          <a:bodyPr wrap="square" rtlCol="0" anchor="ctr"/>
          <a:lstStyle/>
          <a:p>
            <a:pPr algn="ctr" indent="0" marL="0">
              <a:buNone/>
            </a:pPr>
            <a:r>
              <a:rPr lang="en-US" sz="1600" b="1" dirty="0">
                <a:solidFill>
                  <a:srgbClr val="1B2A4A"/>
                </a:solidFill>
                <a:latin typeface="Meiryo" pitchFamily="34" charset="0"/>
                <a:ea typeface="Meiryo" pitchFamily="34" charset="-122"/>
                <a:cs typeface="Meiryo" pitchFamily="34" charset="-120"/>
              </a:rPr>
              <a:t>3</a:t>
            </a:r>
            <a:endParaRPr lang="en-US" sz="1600" dirty="0"/>
          </a:p>
        </p:txBody>
      </p:sp>
      <p:sp>
        <p:nvSpPr>
          <p:cNvPr id="17" name="Text 15"/>
          <p:cNvSpPr/>
          <p:nvPr/>
        </p:nvSpPr>
        <p:spPr>
          <a:xfrm>
            <a:off x="1371600" y="3639312"/>
            <a:ext cx="4434840" cy="457200"/>
          </a:xfrm>
          <a:prstGeom prst="rect">
            <a:avLst/>
          </a:prstGeom>
          <a:noFill/>
          <a:ln/>
        </p:spPr>
        <p:txBody>
          <a:bodyPr wrap="square" rtlCol="0" anchor="ctr"/>
          <a:lstStyle/>
          <a:p>
            <a:pPr indent="0" marL="0">
              <a:buNone/>
            </a:pPr>
            <a:r>
              <a:rPr lang="en-US" sz="1450" b="1" dirty="0">
                <a:solidFill>
                  <a:srgbClr val="FFFFFF"/>
                </a:solidFill>
                <a:latin typeface="Meiryo" pitchFamily="34" charset="0"/>
                <a:ea typeface="Meiryo" pitchFamily="34" charset="-122"/>
                <a:cs typeface="Meiryo" pitchFamily="34" charset="-120"/>
              </a:rPr>
              <a:t>短時間勤務者を配置できるポジションを選定</a:t>
            </a:r>
            <a:endParaRPr lang="en-US" sz="1450" dirty="0"/>
          </a:p>
        </p:txBody>
      </p:sp>
      <p:sp>
        <p:nvSpPr>
          <p:cNvPr id="18" name="Text 16"/>
          <p:cNvSpPr/>
          <p:nvPr/>
        </p:nvSpPr>
        <p:spPr>
          <a:xfrm>
            <a:off x="1371600" y="4041648"/>
            <a:ext cx="4434840" cy="365760"/>
          </a:xfrm>
          <a:prstGeom prst="rect">
            <a:avLst/>
          </a:prstGeom>
          <a:noFill/>
          <a:ln/>
        </p:spPr>
        <p:txBody>
          <a:bodyPr wrap="square" rtlCol="0" anchor="ctr"/>
          <a:lstStyle/>
          <a:p>
            <a:pPr indent="0" marL="0">
              <a:buNone/>
            </a:pPr>
            <a:r>
              <a:rPr lang="en-US" sz="1150" dirty="0">
                <a:solidFill>
                  <a:srgbClr val="CADCFC"/>
                </a:solidFill>
                <a:latin typeface="Meiryo" pitchFamily="34" charset="0"/>
                <a:ea typeface="Meiryo" pitchFamily="34" charset="-122"/>
                <a:cs typeface="Meiryo" pitchFamily="34" charset="-120"/>
              </a:rPr>
              <a:t>不足のうち短時間で対応できる仕事を一緒に選ぶ</a:t>
            </a:r>
            <a:endParaRPr lang="en-US" sz="1150" dirty="0"/>
          </a:p>
        </p:txBody>
      </p:sp>
      <p:sp>
        <p:nvSpPr>
          <p:cNvPr id="19" name="Shape 17"/>
          <p:cNvSpPr/>
          <p:nvPr/>
        </p:nvSpPr>
        <p:spPr>
          <a:xfrm>
            <a:off x="6153912" y="3474720"/>
            <a:ext cx="5486400" cy="1051560"/>
          </a:xfrm>
          <a:prstGeom prst="roundRect">
            <a:avLst>
              <a:gd name="adj" fmla="val 5217"/>
            </a:avLst>
          </a:prstGeom>
          <a:solidFill>
            <a:srgbClr val="22345B"/>
          </a:solidFill>
          <a:ln w="12700">
            <a:solidFill>
              <a:srgbClr val="33476F"/>
            </a:solidFill>
            <a:prstDash val="solid"/>
          </a:ln>
        </p:spPr>
        <p:txBody>
          <a:bodyPr/>
          <a:p/>
        </p:txBody>
      </p:sp>
      <p:sp>
        <p:nvSpPr>
          <p:cNvPr id="20" name="Shape 18"/>
          <p:cNvSpPr/>
          <p:nvPr/>
        </p:nvSpPr>
        <p:spPr>
          <a:xfrm>
            <a:off x="6382512" y="3767328"/>
            <a:ext cx="457200" cy="457200"/>
          </a:xfrm>
          <a:prstGeom prst="roundRect">
            <a:avLst>
              <a:gd name="adj" fmla="val 20000"/>
            </a:avLst>
          </a:prstGeom>
          <a:solidFill>
            <a:srgbClr val="B8891B"/>
          </a:solidFill>
          <a:ln/>
        </p:spPr>
        <p:txBody>
          <a:bodyPr/>
          <a:p/>
        </p:txBody>
      </p:sp>
      <p:sp>
        <p:nvSpPr>
          <p:cNvPr id="21" name="Text 19"/>
          <p:cNvSpPr/>
          <p:nvPr/>
        </p:nvSpPr>
        <p:spPr>
          <a:xfrm>
            <a:off x="6382512" y="3767328"/>
            <a:ext cx="457200" cy="457200"/>
          </a:xfrm>
          <a:prstGeom prst="rect">
            <a:avLst/>
          </a:prstGeom>
          <a:noFill/>
          <a:ln/>
        </p:spPr>
        <p:txBody>
          <a:bodyPr wrap="square" rtlCol="0" anchor="ctr"/>
          <a:lstStyle/>
          <a:p>
            <a:pPr algn="ctr" indent="0" marL="0">
              <a:buNone/>
            </a:pPr>
            <a:r>
              <a:rPr lang="en-US" sz="1600" b="1" dirty="0">
                <a:solidFill>
                  <a:srgbClr val="1B2A4A"/>
                </a:solidFill>
                <a:latin typeface="Meiryo" pitchFamily="34" charset="0"/>
                <a:ea typeface="Meiryo" pitchFamily="34" charset="-122"/>
                <a:cs typeface="Meiryo" pitchFamily="34" charset="-120"/>
              </a:rPr>
              <a:t>4</a:t>
            </a:r>
            <a:endParaRPr lang="en-US" sz="1600" dirty="0"/>
          </a:p>
        </p:txBody>
      </p:sp>
      <p:sp>
        <p:nvSpPr>
          <p:cNvPr id="22" name="Text 20"/>
          <p:cNvSpPr/>
          <p:nvPr/>
        </p:nvSpPr>
        <p:spPr>
          <a:xfrm>
            <a:off x="6976872" y="3639312"/>
            <a:ext cx="4434840" cy="457200"/>
          </a:xfrm>
          <a:prstGeom prst="rect">
            <a:avLst/>
          </a:prstGeom>
          <a:noFill/>
          <a:ln/>
        </p:spPr>
        <p:txBody>
          <a:bodyPr wrap="square" rtlCol="0" anchor="ctr"/>
          <a:lstStyle/>
          <a:p>
            <a:pPr indent="0" marL="0">
              <a:buNone/>
            </a:pPr>
            <a:r>
              <a:rPr lang="en-US" sz="1450" b="1" dirty="0">
                <a:solidFill>
                  <a:srgbClr val="FFFFFF"/>
                </a:solidFill>
                <a:latin typeface="Meiryo" pitchFamily="34" charset="0"/>
                <a:ea typeface="Meiryo" pitchFamily="34" charset="-122"/>
                <a:cs typeface="Meiryo" pitchFamily="34" charset="-120"/>
              </a:rPr>
              <a:t>教育・OJT の受入体制を整理</a:t>
            </a:r>
            <a:endParaRPr lang="en-US" sz="1450" dirty="0"/>
          </a:p>
        </p:txBody>
      </p:sp>
      <p:sp>
        <p:nvSpPr>
          <p:cNvPr id="23" name="Text 21"/>
          <p:cNvSpPr/>
          <p:nvPr/>
        </p:nvSpPr>
        <p:spPr>
          <a:xfrm>
            <a:off x="6976872" y="4041648"/>
            <a:ext cx="4434840" cy="365760"/>
          </a:xfrm>
          <a:prstGeom prst="rect">
            <a:avLst/>
          </a:prstGeom>
          <a:noFill/>
          <a:ln/>
        </p:spPr>
        <p:txBody>
          <a:bodyPr wrap="square" rtlCol="0" anchor="ctr"/>
          <a:lstStyle/>
          <a:p>
            <a:pPr indent="0" marL="0">
              <a:buNone/>
            </a:pPr>
            <a:r>
              <a:rPr lang="en-US" sz="1150" dirty="0">
                <a:solidFill>
                  <a:srgbClr val="CADCFC"/>
                </a:solidFill>
                <a:latin typeface="Meiryo" pitchFamily="34" charset="0"/>
                <a:ea typeface="Meiryo" pitchFamily="34" charset="-122"/>
                <a:cs typeface="Meiryo" pitchFamily="34" charset="-120"/>
              </a:rPr>
              <a:t>現場での受入とOJTの体制を整える</a:t>
            </a:r>
            <a:endParaRPr lang="en-US" sz="1150" dirty="0"/>
          </a:p>
        </p:txBody>
      </p:sp>
      <p:sp>
        <p:nvSpPr>
          <p:cNvPr id="24" name="Shape 22"/>
          <p:cNvSpPr/>
          <p:nvPr/>
        </p:nvSpPr>
        <p:spPr>
          <a:xfrm>
            <a:off x="548640" y="4709160"/>
            <a:ext cx="5486400" cy="1051560"/>
          </a:xfrm>
          <a:prstGeom prst="roundRect">
            <a:avLst>
              <a:gd name="adj" fmla="val 5217"/>
            </a:avLst>
          </a:prstGeom>
          <a:solidFill>
            <a:srgbClr val="22345B"/>
          </a:solidFill>
          <a:ln w="12700">
            <a:solidFill>
              <a:srgbClr val="33476F"/>
            </a:solidFill>
            <a:prstDash val="solid"/>
          </a:ln>
        </p:spPr>
        <p:txBody>
          <a:bodyPr/>
          <a:p/>
        </p:txBody>
      </p:sp>
      <p:sp>
        <p:nvSpPr>
          <p:cNvPr id="25" name="Shape 23"/>
          <p:cNvSpPr/>
          <p:nvPr/>
        </p:nvSpPr>
        <p:spPr>
          <a:xfrm>
            <a:off x="777240" y="5001768"/>
            <a:ext cx="457200" cy="457200"/>
          </a:xfrm>
          <a:prstGeom prst="roundRect">
            <a:avLst>
              <a:gd name="adj" fmla="val 20000"/>
            </a:avLst>
          </a:prstGeom>
          <a:solidFill>
            <a:srgbClr val="B8891B"/>
          </a:solidFill>
          <a:ln/>
        </p:spPr>
        <p:txBody>
          <a:bodyPr/>
          <a:p/>
        </p:txBody>
      </p:sp>
      <p:sp>
        <p:nvSpPr>
          <p:cNvPr id="26" name="Text 24"/>
          <p:cNvSpPr/>
          <p:nvPr/>
        </p:nvSpPr>
        <p:spPr>
          <a:xfrm>
            <a:off x="777240" y="5001768"/>
            <a:ext cx="457200" cy="457200"/>
          </a:xfrm>
          <a:prstGeom prst="rect">
            <a:avLst/>
          </a:prstGeom>
          <a:noFill/>
          <a:ln/>
        </p:spPr>
        <p:txBody>
          <a:bodyPr wrap="square" rtlCol="0" anchor="ctr"/>
          <a:lstStyle/>
          <a:p>
            <a:pPr algn="ctr" indent="0" marL="0">
              <a:buNone/>
            </a:pPr>
            <a:r>
              <a:rPr lang="en-US" sz="1600" b="1" dirty="0">
                <a:solidFill>
                  <a:srgbClr val="1B2A4A"/>
                </a:solidFill>
                <a:latin typeface="Meiryo" pitchFamily="34" charset="0"/>
                <a:ea typeface="Meiryo" pitchFamily="34" charset="-122"/>
                <a:cs typeface="Meiryo" pitchFamily="34" charset="-120"/>
              </a:rPr>
              <a:t>5</a:t>
            </a:r>
            <a:endParaRPr lang="en-US" sz="1600" dirty="0"/>
          </a:p>
        </p:txBody>
      </p:sp>
      <p:sp>
        <p:nvSpPr>
          <p:cNvPr id="27" name="Text 25"/>
          <p:cNvSpPr/>
          <p:nvPr/>
        </p:nvSpPr>
        <p:spPr>
          <a:xfrm>
            <a:off x="1371600" y="4873752"/>
            <a:ext cx="4434840" cy="457200"/>
          </a:xfrm>
          <a:prstGeom prst="rect">
            <a:avLst/>
          </a:prstGeom>
          <a:noFill/>
          <a:ln/>
        </p:spPr>
        <p:txBody>
          <a:bodyPr wrap="square" rtlCol="0" anchor="ctr"/>
          <a:lstStyle/>
          <a:p>
            <a:pPr indent="0" marL="0">
              <a:buNone/>
            </a:pPr>
            <a:r>
              <a:rPr lang="en-US" sz="1450" b="1" dirty="0">
                <a:solidFill>
                  <a:srgbClr val="FFFFFF"/>
                </a:solidFill>
                <a:latin typeface="Meiryo" pitchFamily="34" charset="0"/>
                <a:ea typeface="Meiryo" pitchFamily="34" charset="-122"/>
                <a:cs typeface="Meiryo" pitchFamily="34" charset="-120"/>
              </a:rPr>
              <a:t>採用面接へ現場管理職が参加</a:t>
            </a:r>
            <a:endParaRPr lang="en-US" sz="1450" dirty="0"/>
          </a:p>
        </p:txBody>
      </p:sp>
      <p:sp>
        <p:nvSpPr>
          <p:cNvPr id="28" name="Text 26"/>
          <p:cNvSpPr/>
          <p:nvPr/>
        </p:nvSpPr>
        <p:spPr>
          <a:xfrm>
            <a:off x="1371600" y="5276088"/>
            <a:ext cx="4434840" cy="365760"/>
          </a:xfrm>
          <a:prstGeom prst="rect">
            <a:avLst/>
          </a:prstGeom>
          <a:noFill/>
          <a:ln/>
        </p:spPr>
        <p:txBody>
          <a:bodyPr wrap="square" rtlCol="0" anchor="ctr"/>
          <a:lstStyle/>
          <a:p>
            <a:pPr indent="0" marL="0">
              <a:buNone/>
            </a:pPr>
            <a:r>
              <a:rPr lang="en-US" sz="1150" dirty="0">
                <a:solidFill>
                  <a:srgbClr val="CADCFC"/>
                </a:solidFill>
                <a:latin typeface="Meiryo" pitchFamily="34" charset="0"/>
                <a:ea typeface="Meiryo" pitchFamily="34" charset="-122"/>
                <a:cs typeface="Meiryo" pitchFamily="34" charset="-120"/>
              </a:rPr>
              <a:t>現場の目で見極める</a:t>
            </a:r>
            <a:endParaRPr lang="en-US" sz="1150" dirty="0"/>
          </a:p>
        </p:txBody>
      </p:sp>
      <p:sp>
        <p:nvSpPr>
          <p:cNvPr id="29" name="Shape 27"/>
          <p:cNvSpPr/>
          <p:nvPr/>
        </p:nvSpPr>
        <p:spPr>
          <a:xfrm>
            <a:off x="6153912" y="4709160"/>
            <a:ext cx="5486400" cy="1051560"/>
          </a:xfrm>
          <a:prstGeom prst="roundRect">
            <a:avLst>
              <a:gd name="adj" fmla="val 5217"/>
            </a:avLst>
          </a:prstGeom>
          <a:solidFill>
            <a:srgbClr val="22345B"/>
          </a:solidFill>
          <a:ln w="12700">
            <a:solidFill>
              <a:srgbClr val="33476F"/>
            </a:solidFill>
            <a:prstDash val="solid"/>
          </a:ln>
        </p:spPr>
        <p:txBody>
          <a:bodyPr/>
          <a:p/>
        </p:txBody>
      </p:sp>
      <p:sp>
        <p:nvSpPr>
          <p:cNvPr id="30" name="Shape 28"/>
          <p:cNvSpPr/>
          <p:nvPr/>
        </p:nvSpPr>
        <p:spPr>
          <a:xfrm>
            <a:off x="6382512" y="5001768"/>
            <a:ext cx="457200" cy="457200"/>
          </a:xfrm>
          <a:prstGeom prst="roundRect">
            <a:avLst>
              <a:gd name="adj" fmla="val 20000"/>
            </a:avLst>
          </a:prstGeom>
          <a:solidFill>
            <a:srgbClr val="B8891B"/>
          </a:solidFill>
          <a:ln/>
        </p:spPr>
        <p:txBody>
          <a:bodyPr/>
          <a:p/>
        </p:txBody>
      </p:sp>
      <p:sp>
        <p:nvSpPr>
          <p:cNvPr id="31" name="Text 29"/>
          <p:cNvSpPr/>
          <p:nvPr/>
        </p:nvSpPr>
        <p:spPr>
          <a:xfrm>
            <a:off x="6382512" y="5001768"/>
            <a:ext cx="457200" cy="457200"/>
          </a:xfrm>
          <a:prstGeom prst="rect">
            <a:avLst/>
          </a:prstGeom>
          <a:noFill/>
          <a:ln/>
        </p:spPr>
        <p:txBody>
          <a:bodyPr wrap="square" rtlCol="0" anchor="ctr"/>
          <a:lstStyle/>
          <a:p>
            <a:pPr algn="ctr" indent="0" marL="0">
              <a:buNone/>
            </a:pPr>
            <a:r>
              <a:rPr lang="en-US" sz="1600" b="1" dirty="0">
                <a:solidFill>
                  <a:srgbClr val="1B2A4A"/>
                </a:solidFill>
                <a:latin typeface="Meiryo" pitchFamily="34" charset="0"/>
                <a:ea typeface="Meiryo" pitchFamily="34" charset="-122"/>
                <a:cs typeface="Meiryo" pitchFamily="34" charset="-120"/>
              </a:rPr>
              <a:t>6</a:t>
            </a:r>
            <a:endParaRPr lang="en-US" sz="1600" dirty="0"/>
          </a:p>
        </p:txBody>
      </p:sp>
      <p:sp>
        <p:nvSpPr>
          <p:cNvPr id="32" name="Text 30"/>
          <p:cNvSpPr/>
          <p:nvPr/>
        </p:nvSpPr>
        <p:spPr>
          <a:xfrm>
            <a:off x="6976872" y="4873752"/>
            <a:ext cx="4434840" cy="457200"/>
          </a:xfrm>
          <a:prstGeom prst="rect">
            <a:avLst/>
          </a:prstGeom>
          <a:noFill/>
          <a:ln/>
        </p:spPr>
        <p:txBody>
          <a:bodyPr wrap="square" rtlCol="0" anchor="ctr"/>
          <a:lstStyle/>
          <a:p>
            <a:pPr indent="0" marL="0">
              <a:buNone/>
            </a:pPr>
            <a:r>
              <a:rPr lang="en-US" sz="1450" b="1" dirty="0">
                <a:solidFill>
                  <a:srgbClr val="FFFFFF"/>
                </a:solidFill>
                <a:latin typeface="Meiryo" pitchFamily="34" charset="0"/>
                <a:ea typeface="Meiryo" pitchFamily="34" charset="-122"/>
                <a:cs typeface="Meiryo" pitchFamily="34" charset="-120"/>
              </a:rPr>
              <a:t>採用後の配置効果を検証</a:t>
            </a:r>
            <a:endParaRPr lang="en-US" sz="1450" dirty="0"/>
          </a:p>
        </p:txBody>
      </p:sp>
      <p:sp>
        <p:nvSpPr>
          <p:cNvPr id="33" name="Text 31"/>
          <p:cNvSpPr/>
          <p:nvPr/>
        </p:nvSpPr>
        <p:spPr>
          <a:xfrm>
            <a:off x="6976872" y="5276088"/>
            <a:ext cx="4434840" cy="365760"/>
          </a:xfrm>
          <a:prstGeom prst="rect">
            <a:avLst/>
          </a:prstGeom>
          <a:noFill/>
          <a:ln/>
        </p:spPr>
        <p:txBody>
          <a:bodyPr wrap="square" rtlCol="0" anchor="ctr"/>
          <a:lstStyle/>
          <a:p>
            <a:pPr indent="0" marL="0">
              <a:buNone/>
            </a:pPr>
            <a:r>
              <a:rPr lang="en-US" sz="1150" dirty="0">
                <a:solidFill>
                  <a:srgbClr val="CADCFC"/>
                </a:solidFill>
                <a:latin typeface="Meiryo" pitchFamily="34" charset="0"/>
                <a:ea typeface="Meiryo" pitchFamily="34" charset="-122"/>
                <a:cs typeface="Meiryo" pitchFamily="34" charset="-120"/>
              </a:rPr>
              <a:t>必要出面をどれだけ補完できたかで見る</a:t>
            </a:r>
            <a:endParaRPr lang="en-US" sz="1150" dirty="0"/>
          </a:p>
        </p:txBody>
      </p:sp>
      <p:sp>
        <p:nvSpPr>
          <p:cNvPr id="34" name="Text 32"/>
          <p:cNvSpPr/>
          <p:nvPr/>
        </p:nvSpPr>
        <p:spPr>
          <a:xfrm>
            <a:off x="457200" y="6419088"/>
            <a:ext cx="5486400" cy="274320"/>
          </a:xfrm>
          <a:prstGeom prst="rect">
            <a:avLst/>
          </a:prstGeom>
          <a:noFill/>
          <a:ln/>
        </p:spPr>
        <p:txBody>
          <a:bodyPr wrap="square" rtlCol="0" anchor="ctr"/>
          <a:lstStyle/>
          <a:p>
            <a:pPr algn="l" indent="0" marL="0">
              <a:buNone/>
            </a:pPr>
            <a:r>
              <a:rPr lang="en-US" sz="900" dirty="0">
                <a:solidFill>
                  <a:srgbClr val="9FB0CC"/>
                </a:solidFill>
                <a:latin typeface="Meiryo" pitchFamily="34" charset="0"/>
                <a:ea typeface="Meiryo" pitchFamily="34" charset="-122"/>
                <a:cs typeface="Meiryo" pitchFamily="34" charset="-120"/>
              </a:rPr>
              <a:t>短時間勤務者採用 説明会</a:t>
            </a:r>
            <a:endParaRPr lang="en-US" sz="900" dirty="0"/>
          </a:p>
        </p:txBody>
      </p:sp>
      <p:sp>
        <p:nvSpPr>
          <p:cNvPr id="35" name="Text 33"/>
          <p:cNvSpPr/>
          <p:nvPr/>
        </p:nvSpPr>
        <p:spPr>
          <a:xfrm>
            <a:off x="11338560" y="6419088"/>
            <a:ext cx="457200" cy="274320"/>
          </a:xfrm>
          <a:prstGeom prst="rect">
            <a:avLst/>
          </a:prstGeom>
          <a:noFill/>
          <a:ln/>
        </p:spPr>
        <p:txBody>
          <a:bodyPr wrap="square" rtlCol="0" anchor="ctr"/>
          <a:lstStyle/>
          <a:p>
            <a:pPr algn="r" indent="0" marL="0">
              <a:buNone/>
            </a:pPr>
            <a:r>
              <a:rPr lang="en-US" sz="900" dirty="0">
                <a:solidFill>
                  <a:srgbClr val="9FB0CC"/>
                </a:solidFill>
                <a:latin typeface="Meiryo" pitchFamily="34" charset="0"/>
                <a:ea typeface="Meiryo" pitchFamily="34" charset="-122"/>
                <a:cs typeface="Meiryo" pitchFamily="34" charset="-120"/>
              </a:rPr>
              <a:t>22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0058400" cy="320040"/>
          </a:xfrm>
          <a:prstGeom prst="rect">
            <a:avLst/>
          </a:prstGeom>
          <a:noFill/>
          <a:ln/>
        </p:spPr>
        <p:txBody>
          <a:bodyPr wrap="square" rtlCol="0" anchor="ctr"/>
          <a:lstStyle/>
          <a:p>
            <a:pPr indent="0" marL="0">
              <a:buNone/>
            </a:pPr>
            <a:r>
              <a:rPr lang="en-US" sz="1300" b="1" spc="200" kern="0" dirty="0">
                <a:solidFill>
                  <a:srgbClr val="2E5AAC"/>
                </a:solidFill>
                <a:latin typeface="Meiryo" pitchFamily="34" charset="0"/>
                <a:ea typeface="Meiryo" pitchFamily="34" charset="-122"/>
                <a:cs typeface="Meiryo" pitchFamily="34" charset="-120"/>
              </a:rPr>
              <a:t>目指す状態</a:t>
            </a:r>
            <a:endParaRPr lang="en-US" sz="1300" dirty="0"/>
          </a:p>
        </p:txBody>
      </p:sp>
      <p:sp>
        <p:nvSpPr>
          <p:cNvPr id="3" name="Text 1"/>
          <p:cNvSpPr/>
          <p:nvPr/>
        </p:nvSpPr>
        <p:spPr>
          <a:xfrm>
            <a:off x="548640" y="841248"/>
            <a:ext cx="11064240" cy="822960"/>
          </a:xfrm>
          <a:prstGeom prst="rect">
            <a:avLst/>
          </a:prstGeom>
          <a:noFill/>
          <a:ln/>
        </p:spPr>
        <p:txBody>
          <a:bodyPr wrap="square" rtlCol="0" anchor="ctr"/>
          <a:lstStyle/>
          <a:p>
            <a:pPr algn="l" indent="0" marL="0">
              <a:buNone/>
            </a:pPr>
            <a:r>
              <a:rPr lang="en-US" sz="3000" b="1" dirty="0">
                <a:solidFill>
                  <a:srgbClr val="1B2A4A"/>
                </a:solidFill>
                <a:latin typeface="Meiryo" pitchFamily="34" charset="0"/>
                <a:ea typeface="Meiryo" pitchFamily="34" charset="-122"/>
                <a:cs typeface="Meiryo" pitchFamily="34" charset="-120"/>
              </a:rPr>
              <a:t>必要な時間に、必要な人員を、必要なだけ。</a:t>
            </a:r>
            <a:endParaRPr lang="en-US" sz="3000" dirty="0"/>
          </a:p>
        </p:txBody>
      </p:sp>
      <p:sp>
        <p:nvSpPr>
          <p:cNvPr id="4" name="Shape 2"/>
          <p:cNvSpPr/>
          <p:nvPr/>
        </p:nvSpPr>
        <p:spPr>
          <a:xfrm>
            <a:off x="548640" y="2194560"/>
            <a:ext cx="5349240" cy="1280160"/>
          </a:xfrm>
          <a:prstGeom prst="roundRect">
            <a:avLst>
              <a:gd name="adj" fmla="val 5714"/>
            </a:avLst>
          </a:prstGeom>
          <a:solidFill>
            <a:srgbClr val="F3F4F7"/>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5" name="Text 3"/>
          <p:cNvSpPr/>
          <p:nvPr/>
        </p:nvSpPr>
        <p:spPr>
          <a:xfrm>
            <a:off x="822960" y="2331720"/>
            <a:ext cx="3657600" cy="320040"/>
          </a:xfrm>
          <a:prstGeom prst="rect">
            <a:avLst/>
          </a:prstGeom>
          <a:noFill/>
          <a:ln/>
        </p:spPr>
        <p:txBody>
          <a:bodyPr wrap="square" rtlCol="0" anchor="ctr"/>
          <a:lstStyle/>
          <a:p>
            <a:pPr indent="0" marL="0">
              <a:buNone/>
            </a:pPr>
            <a:r>
              <a:rPr lang="en-US" sz="1300" b="1" dirty="0">
                <a:solidFill>
                  <a:srgbClr val="6B7686"/>
                </a:solidFill>
                <a:latin typeface="Meiryo" pitchFamily="34" charset="0"/>
                <a:ea typeface="Meiryo" pitchFamily="34" charset="-122"/>
                <a:cs typeface="Meiryo" pitchFamily="34" charset="-120"/>
              </a:rPr>
              <a:t>これまで</a:t>
            </a:r>
            <a:endParaRPr lang="en-US" sz="1300" dirty="0"/>
          </a:p>
        </p:txBody>
      </p:sp>
      <p:sp>
        <p:nvSpPr>
          <p:cNvPr id="6" name="Text 4"/>
          <p:cNvSpPr/>
          <p:nvPr/>
        </p:nvSpPr>
        <p:spPr>
          <a:xfrm>
            <a:off x="822960" y="2697480"/>
            <a:ext cx="4846320" cy="640080"/>
          </a:xfrm>
          <a:prstGeom prst="rect">
            <a:avLst/>
          </a:prstGeom>
          <a:noFill/>
          <a:ln/>
        </p:spPr>
        <p:txBody>
          <a:bodyPr wrap="square" rtlCol="0" anchor="ctr"/>
          <a:lstStyle/>
          <a:p>
            <a:pPr indent="0" marL="0">
              <a:lnSpc>
                <a:spcPct val="110000"/>
              </a:lnSpc>
              <a:buNone/>
            </a:pPr>
            <a:r>
              <a:rPr lang="en-US" sz="1500" b="1" dirty="0">
                <a:solidFill>
                  <a:srgbClr val="1F2733"/>
                </a:solidFill>
                <a:latin typeface="Meiryo" pitchFamily="34" charset="0"/>
                <a:ea typeface="Meiryo" pitchFamily="34" charset="-122"/>
                <a:cs typeface="Meiryo" pitchFamily="34" charset="-120"/>
              </a:rPr>
              <a:t>便が増える → 人が足りない → 正社員を採用</a:t>
            </a:r>
            <a:endParaRPr lang="en-US" sz="1500" dirty="0"/>
          </a:p>
        </p:txBody>
      </p:sp>
      <p:sp>
        <p:nvSpPr>
          <p:cNvPr id="7" name="Shape 5"/>
          <p:cNvSpPr/>
          <p:nvPr/>
        </p:nvSpPr>
        <p:spPr>
          <a:xfrm>
            <a:off x="6035040" y="2514600"/>
            <a:ext cx="822960" cy="640080"/>
          </a:xfrm>
          <a:prstGeom prst="rightArrow">
            <a:avLst/>
          </a:prstGeom>
          <a:solidFill>
            <a:srgbClr val="B8891B"/>
          </a:solidFill>
          <a:ln/>
        </p:spPr>
        <p:txBody>
          <a:bodyPr/>
          <a:p/>
        </p:txBody>
      </p:sp>
      <p:sp>
        <p:nvSpPr>
          <p:cNvPr id="8" name="Shape 6"/>
          <p:cNvSpPr/>
          <p:nvPr/>
        </p:nvSpPr>
        <p:spPr>
          <a:xfrm>
            <a:off x="6995160" y="2194560"/>
            <a:ext cx="4645152" cy="1280160"/>
          </a:xfrm>
          <a:prstGeom prst="roundRect">
            <a:avLst>
              <a:gd name="adj" fmla="val 5714"/>
            </a:avLst>
          </a:prstGeom>
          <a:solidFill>
            <a:srgbClr val="E3F0EA"/>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9" name="Text 7"/>
          <p:cNvSpPr/>
          <p:nvPr/>
        </p:nvSpPr>
        <p:spPr>
          <a:xfrm>
            <a:off x="7269480" y="2331720"/>
            <a:ext cx="3657600" cy="320040"/>
          </a:xfrm>
          <a:prstGeom prst="rect">
            <a:avLst/>
          </a:prstGeom>
          <a:noFill/>
          <a:ln/>
        </p:spPr>
        <p:txBody>
          <a:bodyPr wrap="square" rtlCol="0" anchor="ctr"/>
          <a:lstStyle/>
          <a:p>
            <a:pPr indent="0" marL="0">
              <a:buNone/>
            </a:pPr>
            <a:r>
              <a:rPr lang="en-US" sz="1300" b="1" dirty="0">
                <a:solidFill>
                  <a:srgbClr val="1E7A5A"/>
                </a:solidFill>
                <a:latin typeface="Meiryo" pitchFamily="34" charset="0"/>
                <a:ea typeface="Meiryo" pitchFamily="34" charset="-122"/>
                <a:cs typeface="Meiryo" pitchFamily="34" charset="-120"/>
              </a:rPr>
              <a:t>これから</a:t>
            </a:r>
            <a:endParaRPr lang="en-US" sz="1300" dirty="0"/>
          </a:p>
        </p:txBody>
      </p:sp>
      <p:sp>
        <p:nvSpPr>
          <p:cNvPr id="10" name="Text 8"/>
          <p:cNvSpPr/>
          <p:nvPr/>
        </p:nvSpPr>
        <p:spPr>
          <a:xfrm>
            <a:off x="7269480" y="2697480"/>
            <a:ext cx="4206240" cy="731520"/>
          </a:xfrm>
          <a:prstGeom prst="rect">
            <a:avLst/>
          </a:prstGeom>
          <a:noFill/>
          <a:ln/>
        </p:spPr>
        <p:txBody>
          <a:bodyPr wrap="square" rtlCol="0" anchor="ctr"/>
          <a:lstStyle/>
          <a:p>
            <a:pPr indent="0" marL="0">
              <a:lnSpc>
                <a:spcPct val="105000"/>
              </a:lnSpc>
              <a:buNone/>
            </a:pPr>
            <a:r>
              <a:rPr lang="en-US" sz="1350" b="1" dirty="0">
                <a:solidFill>
                  <a:srgbClr val="1F2733"/>
                </a:solidFill>
                <a:latin typeface="Meiryo" pitchFamily="34" charset="0"/>
                <a:ea typeface="Meiryo" pitchFamily="34" charset="-122"/>
                <a:cs typeface="Meiryo" pitchFamily="34" charset="-120"/>
              </a:rPr>
              <a:t>Flight Schedule → 必要時間・人数を算出 → 最適配置 → 不足のみ補完</a:t>
            </a:r>
            <a:endParaRPr lang="en-US" sz="1350" dirty="0"/>
          </a:p>
        </p:txBody>
      </p:sp>
      <p:sp>
        <p:nvSpPr>
          <p:cNvPr id="11" name="Shape 9"/>
          <p:cNvSpPr/>
          <p:nvPr/>
        </p:nvSpPr>
        <p:spPr>
          <a:xfrm>
            <a:off x="548640" y="3794760"/>
            <a:ext cx="11091672" cy="1417320"/>
          </a:xfrm>
          <a:prstGeom prst="roundRect">
            <a:avLst>
              <a:gd name="adj" fmla="val 5161"/>
            </a:avLst>
          </a:prstGeom>
          <a:solidFill>
            <a:srgbClr val="1B2A4A"/>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2" name="Shape 10"/>
          <p:cNvSpPr/>
          <p:nvPr/>
        </p:nvSpPr>
        <p:spPr>
          <a:xfrm>
            <a:off x="548640" y="3794760"/>
            <a:ext cx="11091672" cy="1417320"/>
          </a:xfrm>
          <a:prstGeom prst="rect">
            <a:avLst/>
          </a:prstGeom>
          <a:solidFill>
            <a:srgbClr val="1B2A4A"/>
          </a:solidFill>
          <a:ln/>
        </p:spPr>
        <p:txBody>
          <a:bodyPr/>
          <a:p/>
        </p:txBody>
      </p:sp>
      <p:sp>
        <p:nvSpPr>
          <p:cNvPr id="13" name="Text 11"/>
          <p:cNvSpPr/>
          <p:nvPr/>
        </p:nvSpPr>
        <p:spPr>
          <a:xfrm>
            <a:off x="868680" y="3977640"/>
            <a:ext cx="10424160" cy="457200"/>
          </a:xfrm>
          <a:prstGeom prst="rect">
            <a:avLst/>
          </a:prstGeom>
          <a:noFill/>
          <a:ln/>
        </p:spPr>
        <p:txBody>
          <a:bodyPr wrap="square" rtlCol="0" anchor="ctr"/>
          <a:lstStyle/>
          <a:p>
            <a:pPr indent="0" marL="0">
              <a:buNone/>
            </a:pPr>
            <a:r>
              <a:rPr lang="en-US" sz="1600" dirty="0">
                <a:solidFill>
                  <a:srgbClr val="CADCFC"/>
                </a:solidFill>
                <a:latin typeface="Meiryo" pitchFamily="34" charset="0"/>
                <a:ea typeface="Meiryo" pitchFamily="34" charset="-122"/>
                <a:cs typeface="Meiryo" pitchFamily="34" charset="-120"/>
              </a:rPr>
              <a:t>正社員・経験者・短時間勤務者を組み合わせる</a:t>
            </a:r>
            <a:endParaRPr lang="en-US" sz="1600" dirty="0"/>
          </a:p>
        </p:txBody>
      </p:sp>
      <p:sp>
        <p:nvSpPr>
          <p:cNvPr id="14" name="Text 12"/>
          <p:cNvSpPr/>
          <p:nvPr/>
        </p:nvSpPr>
        <p:spPr>
          <a:xfrm>
            <a:off x="868680" y="4480560"/>
            <a:ext cx="10424160" cy="640080"/>
          </a:xfrm>
          <a:prstGeom prst="rect">
            <a:avLst/>
          </a:prstGeom>
          <a:noFill/>
          <a:ln/>
        </p:spPr>
        <p:txBody>
          <a:bodyPr wrap="square" rtlCol="0" anchor="ctr"/>
          <a:lstStyle/>
          <a:p>
            <a:pPr indent="0" marL="0">
              <a:buNone/>
            </a:pPr>
            <a:r>
              <a:rPr lang="en-US" sz="2600" b="1" dirty="0">
                <a:solidFill>
                  <a:srgbClr val="FFFFFF"/>
                </a:solidFill>
                <a:latin typeface="Meiryo" pitchFamily="34" charset="0"/>
                <a:ea typeface="Meiryo" pitchFamily="34" charset="-122"/>
                <a:cs typeface="Meiryo" pitchFamily="34" charset="-120"/>
              </a:rPr>
              <a:t>『必要な時間に、必要な人員を、必要なだけ。』</a:t>
            </a:r>
            <a:endParaRPr lang="en-US" sz="2600" dirty="0"/>
          </a:p>
        </p:txBody>
      </p:sp>
      <p:sp>
        <p:nvSpPr>
          <p:cNvPr id="15" name="Text 13"/>
          <p:cNvSpPr/>
          <p:nvPr/>
        </p:nvSpPr>
        <p:spPr>
          <a:xfrm>
            <a:off x="566928" y="5486400"/>
            <a:ext cx="11064240" cy="457200"/>
          </a:xfrm>
          <a:prstGeom prst="rect">
            <a:avLst/>
          </a:prstGeom>
          <a:noFill/>
          <a:ln/>
        </p:spPr>
        <p:txBody>
          <a:bodyPr wrap="square" rtlCol="0" anchor="ctr"/>
          <a:lstStyle/>
          <a:p>
            <a:pPr indent="0" marL="0">
              <a:buNone/>
            </a:pPr>
            <a:r>
              <a:rPr lang="en-US" sz="1400" i="1" dirty="0">
                <a:solidFill>
                  <a:srgbClr val="6B7686"/>
                </a:solidFill>
                <a:latin typeface="Meiryo" pitchFamily="34" charset="0"/>
                <a:ea typeface="Meiryo" pitchFamily="34" charset="-122"/>
                <a:cs typeface="Meiryo" pitchFamily="34" charset="-120"/>
              </a:rPr>
              <a:t>会社の収支改善と、現場が無理なく運営できること ― この両立を目指す施策です。</a:t>
            </a:r>
            <a:endParaRPr lang="en-US" sz="1400" dirty="0"/>
          </a:p>
        </p:txBody>
      </p:sp>
      <p:sp>
        <p:nvSpPr>
          <p:cNvPr id="16" name="Text 14"/>
          <p:cNvSpPr/>
          <p:nvPr/>
        </p:nvSpPr>
        <p:spPr>
          <a:xfrm>
            <a:off x="457200" y="6419088"/>
            <a:ext cx="5486400" cy="274320"/>
          </a:xfrm>
          <a:prstGeom prst="rect">
            <a:avLst/>
          </a:prstGeom>
          <a:noFill/>
          <a:ln/>
        </p:spPr>
        <p:txBody>
          <a:bodyPr wrap="square" rtlCol="0" anchor="ctr"/>
          <a:lstStyle/>
          <a:p>
            <a:pPr algn="l" indent="0" marL="0">
              <a:buNone/>
            </a:pPr>
            <a:r>
              <a:rPr lang="en-US" sz="900" dirty="0">
                <a:solidFill>
                  <a:srgbClr val="6B7686"/>
                </a:solidFill>
                <a:latin typeface="Meiryo" pitchFamily="34" charset="0"/>
                <a:ea typeface="Meiryo" pitchFamily="34" charset="-122"/>
                <a:cs typeface="Meiryo" pitchFamily="34" charset="-120"/>
              </a:rPr>
              <a:t>短時間勤務者採用 説明会</a:t>
            </a:r>
            <a:endParaRPr lang="en-US" sz="900" dirty="0"/>
          </a:p>
        </p:txBody>
      </p:sp>
      <p:sp>
        <p:nvSpPr>
          <p:cNvPr id="17" name="Text 15"/>
          <p:cNvSpPr/>
          <p:nvPr/>
        </p:nvSpPr>
        <p:spPr>
          <a:xfrm>
            <a:off x="11338560" y="6419088"/>
            <a:ext cx="457200" cy="274320"/>
          </a:xfrm>
          <a:prstGeom prst="rect">
            <a:avLst/>
          </a:prstGeom>
          <a:noFill/>
          <a:ln/>
        </p:spPr>
        <p:txBody>
          <a:bodyPr wrap="square" rtlCol="0" anchor="ctr"/>
          <a:lstStyle/>
          <a:p>
            <a:pPr algn="r" indent="0" marL="0">
              <a:buNone/>
            </a:pPr>
            <a:r>
              <a:rPr lang="en-US" sz="900" dirty="0">
                <a:solidFill>
                  <a:srgbClr val="6B7686"/>
                </a:solidFill>
                <a:latin typeface="Meiryo" pitchFamily="34" charset="0"/>
                <a:ea typeface="Meiryo" pitchFamily="34" charset="-122"/>
                <a:cs typeface="Meiryo" pitchFamily="34" charset="-120"/>
              </a:rPr>
              <a:t>23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502920"/>
            <a:ext cx="10058400" cy="320040"/>
          </a:xfrm>
          <a:prstGeom prst="rect">
            <a:avLst/>
          </a:prstGeom>
          <a:noFill/>
          <a:ln/>
        </p:spPr>
        <p:txBody>
          <a:bodyPr wrap="square" rtlCol="0" anchor="ctr"/>
          <a:lstStyle/>
          <a:p>
            <a:pPr indent="0" marL="0">
              <a:buNone/>
            </a:pPr>
            <a:r>
              <a:rPr lang="en-US" sz="1300" b="1" spc="200" kern="0" dirty="0">
                <a:solidFill>
                  <a:srgbClr val="2E5AAC"/>
                </a:solidFill>
                <a:latin typeface="Meiryo" pitchFamily="34" charset="0"/>
                <a:ea typeface="Meiryo" pitchFamily="34" charset="-122"/>
                <a:cs typeface="Meiryo" pitchFamily="34" charset="-120"/>
              </a:rPr>
              <a:t>想定される質問</a:t>
            </a:r>
            <a:endParaRPr lang="en-US" sz="1300" dirty="0"/>
          </a:p>
        </p:txBody>
      </p:sp>
      <p:sp>
        <p:nvSpPr>
          <p:cNvPr id="3" name="Text 1"/>
          <p:cNvSpPr/>
          <p:nvPr/>
        </p:nvSpPr>
        <p:spPr>
          <a:xfrm>
            <a:off x="548640" y="841248"/>
            <a:ext cx="11064240" cy="822960"/>
          </a:xfrm>
          <a:prstGeom prst="rect">
            <a:avLst/>
          </a:prstGeom>
          <a:noFill/>
          <a:ln/>
        </p:spPr>
        <p:txBody>
          <a:bodyPr wrap="square" rtlCol="0" anchor="ctr"/>
          <a:lstStyle/>
          <a:p>
            <a:pPr algn="l" indent="0" marL="0">
              <a:buNone/>
            </a:pPr>
            <a:r>
              <a:rPr lang="en-US" sz="3000" b="1" dirty="0">
                <a:solidFill>
                  <a:srgbClr val="1B2A4A"/>
                </a:solidFill>
                <a:latin typeface="Meiryo" pitchFamily="34" charset="0"/>
                <a:ea typeface="Meiryo" pitchFamily="34" charset="-122"/>
                <a:cs typeface="Meiryo" pitchFamily="34" charset="-120"/>
              </a:rPr>
              <a:t>Q &amp; A</a:t>
            </a:r>
            <a:endParaRPr lang="en-US" sz="3000" dirty="0"/>
          </a:p>
        </p:txBody>
      </p:sp>
      <p:sp>
        <p:nvSpPr>
          <p:cNvPr id="4" name="Shape 2"/>
          <p:cNvSpPr/>
          <p:nvPr/>
        </p:nvSpPr>
        <p:spPr>
          <a:xfrm>
            <a:off x="548640" y="2148840"/>
            <a:ext cx="3566160" cy="1600200"/>
          </a:xfrm>
          <a:prstGeom prst="roundRect">
            <a:avLst>
              <a:gd name="adj" fmla="val 4571"/>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5" name="Text 3"/>
          <p:cNvSpPr/>
          <p:nvPr/>
        </p:nvSpPr>
        <p:spPr>
          <a:xfrm>
            <a:off x="804672" y="2331720"/>
            <a:ext cx="3063240" cy="548640"/>
          </a:xfrm>
          <a:prstGeom prst="rect">
            <a:avLst/>
          </a:prstGeom>
          <a:noFill/>
          <a:ln/>
        </p:spPr>
        <p:txBody>
          <a:bodyPr wrap="square" rtlCol="0" anchor="t"/>
          <a:lstStyle/>
          <a:p>
            <a:pPr indent="0" marL="0">
              <a:lnSpc>
                <a:spcPct val="105000"/>
              </a:lnSpc>
              <a:buNone/>
            </a:pPr>
            <a:r>
              <a:rPr lang="en-US" sz="1400" b="1" dirty="0">
                <a:solidFill>
                  <a:srgbClr val="2E5AAC"/>
                </a:solidFill>
                <a:latin typeface="Meiryo" pitchFamily="34" charset="0"/>
                <a:ea typeface="Meiryo" pitchFamily="34" charset="-122"/>
                <a:cs typeface="Meiryo" pitchFamily="34" charset="-120"/>
              </a:rPr>
              <a:t>Q  </a:t>
            </a:r>
            <a:pPr indent="0" marL="0">
              <a:lnSpc>
                <a:spcPct val="105000"/>
              </a:lnSpc>
              <a:buNone/>
            </a:pPr>
            <a:r>
              <a:rPr lang="en-US" sz="1350" b="1" dirty="0">
                <a:solidFill>
                  <a:srgbClr val="1F2733"/>
                </a:solidFill>
                <a:latin typeface="Meiryo" pitchFamily="34" charset="0"/>
                <a:ea typeface="Meiryo" pitchFamily="34" charset="-122"/>
                <a:cs typeface="Meiryo" pitchFamily="34" charset="-120"/>
              </a:rPr>
              <a:t>正社員はもう採用しない？</a:t>
            </a:r>
            <a:endParaRPr lang="en-US" sz="1400" dirty="0"/>
          </a:p>
        </p:txBody>
      </p:sp>
      <p:sp>
        <p:nvSpPr>
          <p:cNvPr id="6" name="Text 4"/>
          <p:cNvSpPr/>
          <p:nvPr/>
        </p:nvSpPr>
        <p:spPr>
          <a:xfrm>
            <a:off x="804672" y="2898648"/>
            <a:ext cx="3063240" cy="777240"/>
          </a:xfrm>
          <a:prstGeom prst="rect">
            <a:avLst/>
          </a:prstGeom>
          <a:noFill/>
          <a:ln/>
        </p:spPr>
        <p:txBody>
          <a:bodyPr wrap="square" rtlCol="0" anchor="t"/>
          <a:lstStyle/>
          <a:p>
            <a:pPr indent="0" marL="0">
              <a:lnSpc>
                <a:spcPct val="108000"/>
              </a:lnSpc>
              <a:buNone/>
            </a:pPr>
            <a:r>
              <a:rPr lang="en-US" sz="1200" b="1" dirty="0">
                <a:solidFill>
                  <a:srgbClr val="1E7A5A"/>
                </a:solidFill>
                <a:latin typeface="Meiryo" pitchFamily="34" charset="0"/>
                <a:ea typeface="Meiryo" pitchFamily="34" charset="-122"/>
                <a:cs typeface="Meiryo" pitchFamily="34" charset="-120"/>
              </a:rPr>
              <a:t>A  </a:t>
            </a:r>
            <a:pPr indent="0" marL="0">
              <a:lnSpc>
                <a:spcPct val="108000"/>
              </a:lnSpc>
              <a:buNone/>
            </a:pPr>
            <a:r>
              <a:rPr lang="en-US" sz="1150" dirty="0">
                <a:solidFill>
                  <a:srgbClr val="6B7686"/>
                </a:solidFill>
                <a:latin typeface="Meiryo" pitchFamily="34" charset="0"/>
                <a:ea typeface="Meiryo" pitchFamily="34" charset="-122"/>
                <a:cs typeface="Meiryo" pitchFamily="34" charset="-120"/>
              </a:rPr>
              <a:t>一切やめる訳ではない。中途は抑制方針だが、即戦力の経験者は個別判断。特定時間帯だけの不足をフルタイムで埋める採り方を見直す。</a:t>
            </a:r>
            <a:endParaRPr lang="en-US" sz="1200" dirty="0"/>
          </a:p>
        </p:txBody>
      </p:sp>
      <p:sp>
        <p:nvSpPr>
          <p:cNvPr id="7" name="Shape 5"/>
          <p:cNvSpPr/>
          <p:nvPr/>
        </p:nvSpPr>
        <p:spPr>
          <a:xfrm>
            <a:off x="4407408" y="2148840"/>
            <a:ext cx="3566160" cy="1600200"/>
          </a:xfrm>
          <a:prstGeom prst="roundRect">
            <a:avLst>
              <a:gd name="adj" fmla="val 4571"/>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8" name="Text 6"/>
          <p:cNvSpPr/>
          <p:nvPr/>
        </p:nvSpPr>
        <p:spPr>
          <a:xfrm>
            <a:off x="4663440" y="2331720"/>
            <a:ext cx="3063240" cy="548640"/>
          </a:xfrm>
          <a:prstGeom prst="rect">
            <a:avLst/>
          </a:prstGeom>
          <a:noFill/>
          <a:ln/>
        </p:spPr>
        <p:txBody>
          <a:bodyPr wrap="square" rtlCol="0" anchor="t"/>
          <a:lstStyle/>
          <a:p>
            <a:pPr indent="0" marL="0">
              <a:lnSpc>
                <a:spcPct val="105000"/>
              </a:lnSpc>
              <a:buNone/>
            </a:pPr>
            <a:r>
              <a:rPr lang="en-US" sz="1400" b="1" dirty="0">
                <a:solidFill>
                  <a:srgbClr val="2E5AAC"/>
                </a:solidFill>
                <a:latin typeface="Meiryo" pitchFamily="34" charset="0"/>
                <a:ea typeface="Meiryo" pitchFamily="34" charset="-122"/>
                <a:cs typeface="Meiryo" pitchFamily="34" charset="-120"/>
              </a:rPr>
              <a:t>Q  </a:t>
            </a:r>
            <a:pPr indent="0" marL="0">
              <a:lnSpc>
                <a:spcPct val="105000"/>
              </a:lnSpc>
              <a:buNone/>
            </a:pPr>
            <a:r>
              <a:rPr lang="en-US" sz="1350" b="1" dirty="0">
                <a:solidFill>
                  <a:srgbClr val="1F2733"/>
                </a:solidFill>
                <a:latin typeface="Meiryo" pitchFamily="34" charset="0"/>
                <a:ea typeface="Meiryo" pitchFamily="34" charset="-122"/>
                <a:cs typeface="Meiryo" pitchFamily="34" charset="-120"/>
              </a:rPr>
              <a:t>短時間勤務者では教育が大変では？</a:t>
            </a:r>
            <a:endParaRPr lang="en-US" sz="1400" dirty="0"/>
          </a:p>
        </p:txBody>
      </p:sp>
      <p:sp>
        <p:nvSpPr>
          <p:cNvPr id="9" name="Text 7"/>
          <p:cNvSpPr/>
          <p:nvPr/>
        </p:nvSpPr>
        <p:spPr>
          <a:xfrm>
            <a:off x="4663440" y="2898648"/>
            <a:ext cx="3063240" cy="777240"/>
          </a:xfrm>
          <a:prstGeom prst="rect">
            <a:avLst/>
          </a:prstGeom>
          <a:noFill/>
          <a:ln/>
        </p:spPr>
        <p:txBody>
          <a:bodyPr wrap="square" rtlCol="0" anchor="t"/>
          <a:lstStyle/>
          <a:p>
            <a:pPr indent="0" marL="0">
              <a:lnSpc>
                <a:spcPct val="108000"/>
              </a:lnSpc>
              <a:buNone/>
            </a:pPr>
            <a:r>
              <a:rPr lang="en-US" sz="1200" b="1" dirty="0">
                <a:solidFill>
                  <a:srgbClr val="1E7A5A"/>
                </a:solidFill>
                <a:latin typeface="Meiryo" pitchFamily="34" charset="0"/>
                <a:ea typeface="Meiryo" pitchFamily="34" charset="-122"/>
                <a:cs typeface="Meiryo" pitchFamily="34" charset="-120"/>
              </a:rPr>
              <a:t>A  </a:t>
            </a:r>
            <a:pPr indent="0" marL="0">
              <a:lnSpc>
                <a:spcPct val="108000"/>
              </a:lnSpc>
              <a:buNone/>
            </a:pPr>
            <a:r>
              <a:rPr lang="en-US" sz="1150" dirty="0">
                <a:solidFill>
                  <a:srgbClr val="6B7686"/>
                </a:solidFill>
                <a:latin typeface="Meiryo" pitchFamily="34" charset="0"/>
                <a:ea typeface="Meiryo" pitchFamily="34" charset="-122"/>
                <a:cs typeface="Meiryo" pitchFamily="34" charset="-120"/>
              </a:rPr>
              <a:t>大きな課題として認識。従来のフルタイム向けをそのまま当てず、短時間に合わせた教育・OJTを教育担当と整理中。</a:t>
            </a:r>
            <a:endParaRPr lang="en-US" sz="1200" dirty="0"/>
          </a:p>
        </p:txBody>
      </p:sp>
      <p:sp>
        <p:nvSpPr>
          <p:cNvPr id="10" name="Shape 8"/>
          <p:cNvSpPr/>
          <p:nvPr/>
        </p:nvSpPr>
        <p:spPr>
          <a:xfrm>
            <a:off x="8266176" y="2148840"/>
            <a:ext cx="3566160" cy="1600200"/>
          </a:xfrm>
          <a:prstGeom prst="roundRect">
            <a:avLst>
              <a:gd name="adj" fmla="val 4571"/>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1" name="Text 9"/>
          <p:cNvSpPr/>
          <p:nvPr/>
        </p:nvSpPr>
        <p:spPr>
          <a:xfrm>
            <a:off x="8522208" y="2331720"/>
            <a:ext cx="3063240" cy="548640"/>
          </a:xfrm>
          <a:prstGeom prst="rect">
            <a:avLst/>
          </a:prstGeom>
          <a:noFill/>
          <a:ln/>
        </p:spPr>
        <p:txBody>
          <a:bodyPr wrap="square" rtlCol="0" anchor="t"/>
          <a:lstStyle/>
          <a:p>
            <a:pPr indent="0" marL="0">
              <a:lnSpc>
                <a:spcPct val="105000"/>
              </a:lnSpc>
              <a:buNone/>
            </a:pPr>
            <a:r>
              <a:rPr lang="en-US" sz="1400" b="1" dirty="0">
                <a:solidFill>
                  <a:srgbClr val="2E5AAC"/>
                </a:solidFill>
                <a:latin typeface="Meiryo" pitchFamily="34" charset="0"/>
                <a:ea typeface="Meiryo" pitchFamily="34" charset="-122"/>
                <a:cs typeface="Meiryo" pitchFamily="34" charset="-120"/>
              </a:rPr>
              <a:t>Q  </a:t>
            </a:r>
            <a:pPr indent="0" marL="0">
              <a:lnSpc>
                <a:spcPct val="105000"/>
              </a:lnSpc>
              <a:buNone/>
            </a:pPr>
            <a:r>
              <a:rPr lang="en-US" sz="1350" b="1" dirty="0">
                <a:solidFill>
                  <a:srgbClr val="1F2733"/>
                </a:solidFill>
                <a:latin typeface="Meiryo" pitchFamily="34" charset="0"/>
                <a:ea typeface="Meiryo" pitchFamily="34" charset="-122"/>
                <a:cs typeface="Meiryo" pitchFamily="34" charset="-120"/>
              </a:rPr>
              <a:t>結局、現場の負担が増えるのでは？</a:t>
            </a:r>
            <a:endParaRPr lang="en-US" sz="1400" dirty="0"/>
          </a:p>
        </p:txBody>
      </p:sp>
      <p:sp>
        <p:nvSpPr>
          <p:cNvPr id="12" name="Text 10"/>
          <p:cNvSpPr/>
          <p:nvPr/>
        </p:nvSpPr>
        <p:spPr>
          <a:xfrm>
            <a:off x="8522208" y="2898648"/>
            <a:ext cx="3063240" cy="777240"/>
          </a:xfrm>
          <a:prstGeom prst="rect">
            <a:avLst/>
          </a:prstGeom>
          <a:noFill/>
          <a:ln/>
        </p:spPr>
        <p:txBody>
          <a:bodyPr wrap="square" rtlCol="0" anchor="t"/>
          <a:lstStyle/>
          <a:p>
            <a:pPr indent="0" marL="0">
              <a:lnSpc>
                <a:spcPct val="108000"/>
              </a:lnSpc>
              <a:buNone/>
            </a:pPr>
            <a:r>
              <a:rPr lang="en-US" sz="1200" b="1" dirty="0">
                <a:solidFill>
                  <a:srgbClr val="1E7A5A"/>
                </a:solidFill>
                <a:latin typeface="Meiryo" pitchFamily="34" charset="0"/>
                <a:ea typeface="Meiryo" pitchFamily="34" charset="-122"/>
                <a:cs typeface="Meiryo" pitchFamily="34" charset="-120"/>
              </a:rPr>
              <a:t>A  </a:t>
            </a:r>
            <a:pPr indent="0" marL="0">
              <a:lnSpc>
                <a:spcPct val="108000"/>
              </a:lnSpc>
              <a:buNone/>
            </a:pPr>
            <a:r>
              <a:rPr lang="en-US" sz="1150" dirty="0">
                <a:solidFill>
                  <a:srgbClr val="6B7686"/>
                </a:solidFill>
                <a:latin typeface="Meiryo" pitchFamily="34" charset="0"/>
                <a:ea typeface="Meiryo" pitchFamily="34" charset="-122"/>
                <a:cs typeface="Meiryo" pitchFamily="34" charset="-120"/>
              </a:rPr>
              <a:t>採って終わりにせず、ラインへ投入できるまでをプロジェクトで管理。教育・配置は人事・教育・現場で役割分担する。</a:t>
            </a:r>
            <a:endParaRPr lang="en-US" sz="1200" dirty="0"/>
          </a:p>
        </p:txBody>
      </p:sp>
      <p:sp>
        <p:nvSpPr>
          <p:cNvPr id="13" name="Shape 11"/>
          <p:cNvSpPr/>
          <p:nvPr/>
        </p:nvSpPr>
        <p:spPr>
          <a:xfrm>
            <a:off x="548640" y="4023360"/>
            <a:ext cx="3566160" cy="1600200"/>
          </a:xfrm>
          <a:prstGeom prst="roundRect">
            <a:avLst>
              <a:gd name="adj" fmla="val 4571"/>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4" name="Text 12"/>
          <p:cNvSpPr/>
          <p:nvPr/>
        </p:nvSpPr>
        <p:spPr>
          <a:xfrm>
            <a:off x="804672" y="4206240"/>
            <a:ext cx="3063240" cy="548640"/>
          </a:xfrm>
          <a:prstGeom prst="rect">
            <a:avLst/>
          </a:prstGeom>
          <a:noFill/>
          <a:ln/>
        </p:spPr>
        <p:txBody>
          <a:bodyPr wrap="square" rtlCol="0" anchor="t"/>
          <a:lstStyle/>
          <a:p>
            <a:pPr indent="0" marL="0">
              <a:lnSpc>
                <a:spcPct val="105000"/>
              </a:lnSpc>
              <a:buNone/>
            </a:pPr>
            <a:r>
              <a:rPr lang="en-US" sz="1400" b="1" dirty="0">
                <a:solidFill>
                  <a:srgbClr val="2E5AAC"/>
                </a:solidFill>
                <a:latin typeface="Meiryo" pitchFamily="34" charset="0"/>
                <a:ea typeface="Meiryo" pitchFamily="34" charset="-122"/>
                <a:cs typeface="Meiryo" pitchFamily="34" charset="-120"/>
              </a:rPr>
              <a:t>Q  </a:t>
            </a:r>
            <a:pPr indent="0" marL="0">
              <a:lnSpc>
                <a:spcPct val="105000"/>
              </a:lnSpc>
              <a:buNone/>
            </a:pPr>
            <a:r>
              <a:rPr lang="en-US" sz="1350" b="1" dirty="0">
                <a:solidFill>
                  <a:srgbClr val="1F2733"/>
                </a:solidFill>
                <a:latin typeface="Meiryo" pitchFamily="34" charset="0"/>
                <a:ea typeface="Meiryo" pitchFamily="34" charset="-122"/>
                <a:cs typeface="Meiryo" pitchFamily="34" charset="-120"/>
              </a:rPr>
              <a:t>何人採用してもらえる？</a:t>
            </a:r>
            <a:endParaRPr lang="en-US" sz="1400" dirty="0"/>
          </a:p>
        </p:txBody>
      </p:sp>
      <p:sp>
        <p:nvSpPr>
          <p:cNvPr id="15" name="Text 13"/>
          <p:cNvSpPr/>
          <p:nvPr/>
        </p:nvSpPr>
        <p:spPr>
          <a:xfrm>
            <a:off x="804672" y="4773168"/>
            <a:ext cx="3063240" cy="777240"/>
          </a:xfrm>
          <a:prstGeom prst="rect">
            <a:avLst/>
          </a:prstGeom>
          <a:noFill/>
          <a:ln/>
        </p:spPr>
        <p:txBody>
          <a:bodyPr wrap="square" rtlCol="0" anchor="t"/>
          <a:lstStyle/>
          <a:p>
            <a:pPr indent="0" marL="0">
              <a:lnSpc>
                <a:spcPct val="108000"/>
              </a:lnSpc>
              <a:buNone/>
            </a:pPr>
            <a:r>
              <a:rPr lang="en-US" sz="1200" b="1" dirty="0">
                <a:solidFill>
                  <a:srgbClr val="1E7A5A"/>
                </a:solidFill>
                <a:latin typeface="Meiryo" pitchFamily="34" charset="0"/>
                <a:ea typeface="Meiryo" pitchFamily="34" charset="-122"/>
                <a:cs typeface="Meiryo" pitchFamily="34" charset="-120"/>
              </a:rPr>
              <a:t>A  </a:t>
            </a:r>
            <a:pPr indent="0" marL="0">
              <a:lnSpc>
                <a:spcPct val="108000"/>
              </a:lnSpc>
              <a:buNone/>
            </a:pPr>
            <a:r>
              <a:rPr lang="en-US" sz="1150" dirty="0">
                <a:solidFill>
                  <a:srgbClr val="6B7686"/>
                </a:solidFill>
                <a:latin typeface="Meiryo" pitchFamily="34" charset="0"/>
                <a:ea typeface="Meiryo" pitchFamily="34" charset="-122"/>
                <a:cs typeface="Meiryo" pitchFamily="34" charset="-120"/>
              </a:rPr>
              <a:t>人数を先に決めない。Winter Schedule を基に『何時に・どのポジションで・何人不足するか』を確認して決める。</a:t>
            </a:r>
            <a:endParaRPr lang="en-US" sz="1200" dirty="0"/>
          </a:p>
        </p:txBody>
      </p:sp>
      <p:sp>
        <p:nvSpPr>
          <p:cNvPr id="16" name="Shape 14"/>
          <p:cNvSpPr/>
          <p:nvPr/>
        </p:nvSpPr>
        <p:spPr>
          <a:xfrm>
            <a:off x="4407408" y="4023360"/>
            <a:ext cx="3566160" cy="1600200"/>
          </a:xfrm>
          <a:prstGeom prst="roundRect">
            <a:avLst>
              <a:gd name="adj" fmla="val 4571"/>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17" name="Text 15"/>
          <p:cNvSpPr/>
          <p:nvPr/>
        </p:nvSpPr>
        <p:spPr>
          <a:xfrm>
            <a:off x="4663440" y="4206240"/>
            <a:ext cx="3063240" cy="548640"/>
          </a:xfrm>
          <a:prstGeom prst="rect">
            <a:avLst/>
          </a:prstGeom>
          <a:noFill/>
          <a:ln/>
        </p:spPr>
        <p:txBody>
          <a:bodyPr wrap="square" rtlCol="0" anchor="t"/>
          <a:lstStyle/>
          <a:p>
            <a:pPr indent="0" marL="0">
              <a:lnSpc>
                <a:spcPct val="105000"/>
              </a:lnSpc>
              <a:buNone/>
            </a:pPr>
            <a:r>
              <a:rPr lang="en-US" sz="1400" b="1" dirty="0">
                <a:solidFill>
                  <a:srgbClr val="2E5AAC"/>
                </a:solidFill>
                <a:latin typeface="Meiryo" pitchFamily="34" charset="0"/>
                <a:ea typeface="Meiryo" pitchFamily="34" charset="-122"/>
                <a:cs typeface="Meiryo" pitchFamily="34" charset="-120"/>
              </a:rPr>
              <a:t>Q  </a:t>
            </a:r>
            <a:pPr indent="0" marL="0">
              <a:lnSpc>
                <a:spcPct val="105000"/>
              </a:lnSpc>
              <a:buNone/>
            </a:pPr>
            <a:r>
              <a:rPr lang="en-US" sz="1350" b="1" dirty="0">
                <a:solidFill>
                  <a:srgbClr val="1F2733"/>
                </a:solidFill>
                <a:latin typeface="Meiryo" pitchFamily="34" charset="0"/>
                <a:ea typeface="Meiryo" pitchFamily="34" charset="-122"/>
                <a:cs typeface="Meiryo" pitchFamily="34" charset="-120"/>
              </a:rPr>
              <a:t>短時間だけで本当に運営できる？</a:t>
            </a:r>
            <a:endParaRPr lang="en-US" sz="1400" dirty="0"/>
          </a:p>
        </p:txBody>
      </p:sp>
      <p:sp>
        <p:nvSpPr>
          <p:cNvPr id="18" name="Text 16"/>
          <p:cNvSpPr/>
          <p:nvPr/>
        </p:nvSpPr>
        <p:spPr>
          <a:xfrm>
            <a:off x="4663440" y="4773168"/>
            <a:ext cx="3063240" cy="777240"/>
          </a:xfrm>
          <a:prstGeom prst="rect">
            <a:avLst/>
          </a:prstGeom>
          <a:noFill/>
          <a:ln/>
        </p:spPr>
        <p:txBody>
          <a:bodyPr wrap="square" rtlCol="0" anchor="t"/>
          <a:lstStyle/>
          <a:p>
            <a:pPr indent="0" marL="0">
              <a:lnSpc>
                <a:spcPct val="108000"/>
              </a:lnSpc>
              <a:buNone/>
            </a:pPr>
            <a:r>
              <a:rPr lang="en-US" sz="1200" b="1" dirty="0">
                <a:solidFill>
                  <a:srgbClr val="1E7A5A"/>
                </a:solidFill>
                <a:latin typeface="Meiryo" pitchFamily="34" charset="0"/>
                <a:ea typeface="Meiryo" pitchFamily="34" charset="-122"/>
                <a:cs typeface="Meiryo" pitchFamily="34" charset="-120"/>
              </a:rPr>
              <a:t>A  </a:t>
            </a:r>
            <a:pPr indent="0" marL="0">
              <a:lnSpc>
                <a:spcPct val="108000"/>
              </a:lnSpc>
              <a:buNone/>
            </a:pPr>
            <a:r>
              <a:rPr lang="en-US" sz="1150" dirty="0">
                <a:solidFill>
                  <a:srgbClr val="6B7686"/>
                </a:solidFill>
                <a:latin typeface="Meiryo" pitchFamily="34" charset="0"/>
                <a:ea typeface="Meiryo" pitchFamily="34" charset="-122"/>
                <a:cs typeface="Meiryo" pitchFamily="34" charset="-120"/>
              </a:rPr>
              <a:t>短時間だけで運営する考えではない。フルタイムをコアに、ピーク部分を短時間で補完する組み合わせ。</a:t>
            </a:r>
            <a:endParaRPr lang="en-US" sz="1200" dirty="0"/>
          </a:p>
        </p:txBody>
      </p:sp>
      <p:sp>
        <p:nvSpPr>
          <p:cNvPr id="19" name="Shape 17"/>
          <p:cNvSpPr/>
          <p:nvPr/>
        </p:nvSpPr>
        <p:spPr>
          <a:xfrm>
            <a:off x="8266176" y="4023360"/>
            <a:ext cx="3566160" cy="1600200"/>
          </a:xfrm>
          <a:prstGeom prst="roundRect">
            <a:avLst>
              <a:gd name="adj" fmla="val 4571"/>
            </a:avLst>
          </a:prstGeom>
          <a:solidFill>
            <a:srgbClr val="FFFFFF"/>
          </a:solidFill>
          <a:ln w="12700">
            <a:solidFill>
              <a:srgbClr val="D9DFEA"/>
            </a:solidFill>
            <a:prstDash val="solid"/>
          </a:ln>
          <a:effectLst>
            <a:outerShdw sx="100000" sy="100000" kx="0" ky="0" algn="bl" rotWithShape="0" blurRad="114300" dist="38100" dir="5400000">
              <a:srgbClr val="9AA6B8">
                <a:alpha val="28000"/>
              </a:srgbClr>
            </a:outerShdw>
          </a:effectLst>
        </p:spPr>
        <p:txBody>
          <a:bodyPr/>
          <a:p/>
        </p:txBody>
      </p:sp>
      <p:sp>
        <p:nvSpPr>
          <p:cNvPr id="20" name="Text 18"/>
          <p:cNvSpPr/>
          <p:nvPr/>
        </p:nvSpPr>
        <p:spPr>
          <a:xfrm>
            <a:off x="8522208" y="4206240"/>
            <a:ext cx="3063240" cy="548640"/>
          </a:xfrm>
          <a:prstGeom prst="rect">
            <a:avLst/>
          </a:prstGeom>
          <a:noFill/>
          <a:ln/>
        </p:spPr>
        <p:txBody>
          <a:bodyPr wrap="square" rtlCol="0" anchor="t"/>
          <a:lstStyle/>
          <a:p>
            <a:pPr indent="0" marL="0">
              <a:lnSpc>
                <a:spcPct val="105000"/>
              </a:lnSpc>
              <a:buNone/>
            </a:pPr>
            <a:r>
              <a:rPr lang="en-US" sz="1400" b="1" dirty="0">
                <a:solidFill>
                  <a:srgbClr val="2E5AAC"/>
                </a:solidFill>
                <a:latin typeface="Meiryo" pitchFamily="34" charset="0"/>
                <a:ea typeface="Meiryo" pitchFamily="34" charset="-122"/>
                <a:cs typeface="Meiryo" pitchFamily="34" charset="-120"/>
              </a:rPr>
              <a:t>Q  </a:t>
            </a:r>
            <a:pPr indent="0" marL="0">
              <a:lnSpc>
                <a:spcPct val="105000"/>
              </a:lnSpc>
              <a:buNone/>
            </a:pPr>
            <a:r>
              <a:rPr lang="en-US" sz="1350" b="1" dirty="0">
                <a:solidFill>
                  <a:srgbClr val="1F2733"/>
                </a:solidFill>
                <a:latin typeface="Meiryo" pitchFamily="34" charset="0"/>
                <a:ea typeface="Meiryo" pitchFamily="34" charset="-122"/>
                <a:cs typeface="Meiryo" pitchFamily="34" charset="-120"/>
              </a:rPr>
              <a:t>欠員が出たらどうする？</a:t>
            </a:r>
            <a:endParaRPr lang="en-US" sz="1400" dirty="0"/>
          </a:p>
        </p:txBody>
      </p:sp>
      <p:sp>
        <p:nvSpPr>
          <p:cNvPr id="21" name="Text 19"/>
          <p:cNvSpPr/>
          <p:nvPr/>
        </p:nvSpPr>
        <p:spPr>
          <a:xfrm>
            <a:off x="8522208" y="4773168"/>
            <a:ext cx="3063240" cy="777240"/>
          </a:xfrm>
          <a:prstGeom prst="rect">
            <a:avLst/>
          </a:prstGeom>
          <a:noFill/>
          <a:ln/>
        </p:spPr>
        <p:txBody>
          <a:bodyPr wrap="square" rtlCol="0" anchor="t"/>
          <a:lstStyle/>
          <a:p>
            <a:pPr indent="0" marL="0">
              <a:lnSpc>
                <a:spcPct val="108000"/>
              </a:lnSpc>
              <a:buNone/>
            </a:pPr>
            <a:r>
              <a:rPr lang="en-US" sz="1200" b="1" dirty="0">
                <a:solidFill>
                  <a:srgbClr val="1E7A5A"/>
                </a:solidFill>
                <a:latin typeface="Meiryo" pitchFamily="34" charset="0"/>
                <a:ea typeface="Meiryo" pitchFamily="34" charset="-122"/>
                <a:cs typeface="Meiryo" pitchFamily="34" charset="-120"/>
              </a:rPr>
              <a:t>A  </a:t>
            </a:r>
            <a:pPr indent="0" marL="0">
              <a:lnSpc>
                <a:spcPct val="108000"/>
              </a:lnSpc>
              <a:buNone/>
            </a:pPr>
            <a:r>
              <a:rPr lang="en-US" sz="1150" dirty="0">
                <a:solidFill>
                  <a:srgbClr val="6B7686"/>
                </a:solidFill>
                <a:latin typeface="Meiryo" pitchFamily="34" charset="0"/>
                <a:ea typeface="Meiryo" pitchFamily="34" charset="-122"/>
                <a:cs typeface="Meiryo" pitchFamily="34" charset="-120"/>
              </a:rPr>
              <a:t>一定の運用余力は必要。それをフルタイムだけで持たず、雇用形態を組み合わせて必要な安定性を確保する。</a:t>
            </a:r>
            <a:endParaRPr lang="en-US" sz="1200" dirty="0"/>
          </a:p>
        </p:txBody>
      </p:sp>
      <p:sp>
        <p:nvSpPr>
          <p:cNvPr id="22" name="Text 20"/>
          <p:cNvSpPr/>
          <p:nvPr/>
        </p:nvSpPr>
        <p:spPr>
          <a:xfrm>
            <a:off x="457200" y="6419088"/>
            <a:ext cx="5486400" cy="274320"/>
          </a:xfrm>
          <a:prstGeom prst="rect">
            <a:avLst/>
          </a:prstGeom>
          <a:noFill/>
          <a:ln/>
        </p:spPr>
        <p:txBody>
          <a:bodyPr wrap="square" rtlCol="0" anchor="ctr"/>
          <a:lstStyle/>
          <a:p>
            <a:pPr algn="l" indent="0" marL="0">
              <a:buNone/>
            </a:pPr>
            <a:r>
              <a:rPr lang="en-US" sz="900" dirty="0">
                <a:solidFill>
                  <a:srgbClr val="6B7686"/>
                </a:solidFill>
                <a:latin typeface="Meiryo" pitchFamily="34" charset="0"/>
                <a:ea typeface="Meiryo" pitchFamily="34" charset="-122"/>
                <a:cs typeface="Meiryo" pitchFamily="34" charset="-120"/>
              </a:rPr>
              <a:t>短時間勤務者採用 説明会</a:t>
            </a:r>
            <a:endParaRPr lang="en-US" sz="900" dirty="0"/>
          </a:p>
        </p:txBody>
      </p:sp>
      <p:sp>
        <p:nvSpPr>
          <p:cNvPr id="23" name="Text 21"/>
          <p:cNvSpPr/>
          <p:nvPr/>
        </p:nvSpPr>
        <p:spPr>
          <a:xfrm>
            <a:off x="11338560" y="6419088"/>
            <a:ext cx="457200" cy="274320"/>
          </a:xfrm>
          <a:prstGeom prst="rect">
            <a:avLst/>
          </a:prstGeom>
          <a:noFill/>
          <a:ln/>
        </p:spPr>
        <p:txBody>
          <a:bodyPr wrap="square" rtlCol="0" anchor="ctr"/>
          <a:lstStyle/>
          <a:p>
            <a:pPr algn="r" indent="0" marL="0">
              <a:buNone/>
            </a:pPr>
            <a:r>
              <a:rPr lang="en-US" sz="900" dirty="0">
                <a:solidFill>
                  <a:srgbClr val="6B7686"/>
                </a:solidFill>
                <a:latin typeface="Meiryo" pitchFamily="34" charset="0"/>
                <a:ea typeface="Meiryo" pitchFamily="34" charset="-122"/>
                <a:cs typeface="Meiryo" pitchFamily="34" charset="-120"/>
              </a:rPr>
              <a:t>24</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0058400" cy="320040"/>
          </a:xfrm>
          <a:prstGeom prst="rect">
            <a:avLst/>
          </a:prstGeom>
          <a:noFill/>
          <a:ln/>
        </p:spPr>
        <p:txBody>
          <a:bodyPr wrap="square" rtlCol="0" anchor="ctr"/>
          <a:lstStyle/>
          <a:p>
            <a:pPr indent="0" marL="0">
              <a:buNone/>
            </a:pPr>
            <a:r>
              <a:rPr lang="en-US" sz="1300" b="1" spc="200" kern="0" dirty="0">
                <a:solidFill>
                  <a:srgbClr val="2E5AAC"/>
                </a:solidFill>
                <a:latin typeface="Meiryo" pitchFamily="34" charset="0"/>
                <a:ea typeface="Meiryo" pitchFamily="34" charset="-122"/>
                <a:cs typeface="Meiryo" pitchFamily="34" charset="-120"/>
              </a:rPr>
              <a:t>説明会後のアクション</a:t>
            </a:r>
            <a:endParaRPr lang="en-US" sz="1300" dirty="0"/>
          </a:p>
        </p:txBody>
      </p:sp>
      <p:sp>
        <p:nvSpPr>
          <p:cNvPr id="3" name="Text 1"/>
          <p:cNvSpPr/>
          <p:nvPr/>
        </p:nvSpPr>
        <p:spPr>
          <a:xfrm>
            <a:off x="548640" y="841248"/>
            <a:ext cx="11064240" cy="822960"/>
          </a:xfrm>
          <a:prstGeom prst="rect">
            <a:avLst/>
          </a:prstGeom>
          <a:noFill/>
          <a:ln/>
        </p:spPr>
        <p:txBody>
          <a:bodyPr wrap="square" rtlCol="0" anchor="ctr"/>
          <a:lstStyle/>
          <a:p>
            <a:pPr algn="l" indent="0" marL="0">
              <a:buNone/>
            </a:pPr>
            <a:r>
              <a:rPr lang="en-US" sz="3000" b="1" dirty="0">
                <a:solidFill>
                  <a:srgbClr val="1B2A4A"/>
                </a:solidFill>
                <a:latin typeface="Meiryo" pitchFamily="34" charset="0"/>
                <a:ea typeface="Meiryo" pitchFamily="34" charset="-122"/>
                <a:cs typeface="Meiryo" pitchFamily="34" charset="-120"/>
              </a:rPr>
              <a:t>次に動くこと（担当別）</a:t>
            </a:r>
            <a:endParaRPr lang="en-US" sz="3000" dirty="0"/>
          </a:p>
        </p:txBody>
      </p:sp>
      <p:sp>
        <p:nvSpPr>
          <p:cNvPr id="4" name="Shape 2"/>
          <p:cNvSpPr/>
          <p:nvPr/>
        </p:nvSpPr>
        <p:spPr>
          <a:xfrm>
            <a:off x="548640" y="2194560"/>
            <a:ext cx="11091672" cy="530352"/>
          </a:xfrm>
          <a:prstGeom prst="rect">
            <a:avLst/>
          </a:prstGeom>
          <a:solidFill>
            <a:srgbClr val="F4F6FA"/>
          </a:solidFill>
          <a:ln/>
        </p:spPr>
        <p:txBody>
          <a:bodyPr/>
          <a:p/>
        </p:txBody>
      </p:sp>
      <p:sp>
        <p:nvSpPr>
          <p:cNvPr id="5" name="Shape 3"/>
          <p:cNvSpPr/>
          <p:nvPr/>
        </p:nvSpPr>
        <p:spPr>
          <a:xfrm>
            <a:off x="713232" y="2295144"/>
            <a:ext cx="2103120" cy="329184"/>
          </a:xfrm>
          <a:prstGeom prst="roundRect">
            <a:avLst>
              <a:gd name="adj" fmla="val 50000"/>
            </a:avLst>
          </a:prstGeom>
          <a:solidFill>
            <a:srgbClr val="1B2A4A"/>
          </a:solidFill>
          <a:ln/>
        </p:spPr>
        <p:txBody>
          <a:bodyPr/>
          <a:p/>
        </p:txBody>
      </p:sp>
      <p:sp>
        <p:nvSpPr>
          <p:cNvPr id="6" name="Text 4"/>
          <p:cNvSpPr/>
          <p:nvPr/>
        </p:nvSpPr>
        <p:spPr>
          <a:xfrm>
            <a:off x="713232" y="2295144"/>
            <a:ext cx="2103120" cy="329184"/>
          </a:xfrm>
          <a:prstGeom prst="rect">
            <a:avLst/>
          </a:prstGeom>
          <a:noFill/>
          <a:ln/>
        </p:spPr>
        <p:txBody>
          <a:bodyPr wrap="square"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各支店・所属</a:t>
            </a:r>
            <a:endParaRPr lang="en-US" sz="1150" dirty="0"/>
          </a:p>
        </p:txBody>
      </p:sp>
      <p:sp>
        <p:nvSpPr>
          <p:cNvPr id="7" name="Text 5"/>
          <p:cNvSpPr/>
          <p:nvPr/>
        </p:nvSpPr>
        <p:spPr>
          <a:xfrm>
            <a:off x="3017520" y="2194560"/>
            <a:ext cx="8503920" cy="530352"/>
          </a:xfrm>
          <a:prstGeom prst="rect">
            <a:avLst/>
          </a:prstGeom>
          <a:noFill/>
          <a:ln/>
        </p:spPr>
        <p:txBody>
          <a:bodyPr wrap="square" rtlCol="0" anchor="ctr"/>
          <a:lstStyle/>
          <a:p>
            <a:pPr indent="0" marL="0">
              <a:buNone/>
            </a:pPr>
            <a:r>
              <a:rPr lang="en-US" sz="1350" dirty="0">
                <a:solidFill>
                  <a:srgbClr val="1F2733"/>
                </a:solidFill>
                <a:latin typeface="Meiryo" pitchFamily="34" charset="0"/>
                <a:ea typeface="Meiryo" pitchFamily="34" charset="-122"/>
                <a:cs typeface="Meiryo" pitchFamily="34" charset="-120"/>
              </a:rPr>
              <a:t>26W Flight Schedule を基に、時間帯別の必要人数を整理</a:t>
            </a:r>
            <a:endParaRPr lang="en-US" sz="1350" dirty="0"/>
          </a:p>
        </p:txBody>
      </p:sp>
      <p:sp>
        <p:nvSpPr>
          <p:cNvPr id="8" name="Shape 6"/>
          <p:cNvSpPr/>
          <p:nvPr/>
        </p:nvSpPr>
        <p:spPr>
          <a:xfrm>
            <a:off x="713232" y="2825496"/>
            <a:ext cx="2103120" cy="329184"/>
          </a:xfrm>
          <a:prstGeom prst="roundRect">
            <a:avLst>
              <a:gd name="adj" fmla="val 50000"/>
            </a:avLst>
          </a:prstGeom>
          <a:solidFill>
            <a:srgbClr val="1B2A4A"/>
          </a:solidFill>
          <a:ln/>
        </p:spPr>
        <p:txBody>
          <a:bodyPr/>
          <a:p/>
        </p:txBody>
      </p:sp>
      <p:sp>
        <p:nvSpPr>
          <p:cNvPr id="9" name="Text 7"/>
          <p:cNvSpPr/>
          <p:nvPr/>
        </p:nvSpPr>
        <p:spPr>
          <a:xfrm>
            <a:off x="713232" y="2825496"/>
            <a:ext cx="2103120" cy="329184"/>
          </a:xfrm>
          <a:prstGeom prst="rect">
            <a:avLst/>
          </a:prstGeom>
          <a:noFill/>
          <a:ln/>
        </p:spPr>
        <p:txBody>
          <a:bodyPr wrap="square"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各支店・所属</a:t>
            </a:r>
            <a:endParaRPr lang="en-US" sz="1150" dirty="0"/>
          </a:p>
        </p:txBody>
      </p:sp>
      <p:sp>
        <p:nvSpPr>
          <p:cNvPr id="10" name="Text 8"/>
          <p:cNvSpPr/>
          <p:nvPr/>
        </p:nvSpPr>
        <p:spPr>
          <a:xfrm>
            <a:off x="3017520" y="2724912"/>
            <a:ext cx="8503920" cy="530352"/>
          </a:xfrm>
          <a:prstGeom prst="rect">
            <a:avLst/>
          </a:prstGeom>
          <a:noFill/>
          <a:ln/>
        </p:spPr>
        <p:txBody>
          <a:bodyPr wrap="square" rtlCol="0" anchor="ctr"/>
          <a:lstStyle/>
          <a:p>
            <a:pPr indent="0" marL="0">
              <a:buNone/>
            </a:pPr>
            <a:r>
              <a:rPr lang="en-US" sz="1350" dirty="0">
                <a:solidFill>
                  <a:srgbClr val="1F2733"/>
                </a:solidFill>
                <a:latin typeface="Meiryo" pitchFamily="34" charset="0"/>
                <a:ea typeface="Meiryo" pitchFamily="34" charset="-122"/>
                <a:cs typeface="Meiryo" pitchFamily="34" charset="-120"/>
              </a:rPr>
              <a:t>既存在籍でカバーできる出面と、不足出面を分離</a:t>
            </a:r>
            <a:endParaRPr lang="en-US" sz="1350" dirty="0"/>
          </a:p>
        </p:txBody>
      </p:sp>
      <p:sp>
        <p:nvSpPr>
          <p:cNvPr id="11" name="Shape 9"/>
          <p:cNvSpPr/>
          <p:nvPr/>
        </p:nvSpPr>
        <p:spPr>
          <a:xfrm>
            <a:off x="548640" y="3255264"/>
            <a:ext cx="11091672" cy="530352"/>
          </a:xfrm>
          <a:prstGeom prst="rect">
            <a:avLst/>
          </a:prstGeom>
          <a:solidFill>
            <a:srgbClr val="F4F6FA"/>
          </a:solidFill>
          <a:ln/>
        </p:spPr>
        <p:txBody>
          <a:bodyPr/>
          <a:p/>
        </p:txBody>
      </p:sp>
      <p:sp>
        <p:nvSpPr>
          <p:cNvPr id="12" name="Shape 10"/>
          <p:cNvSpPr/>
          <p:nvPr/>
        </p:nvSpPr>
        <p:spPr>
          <a:xfrm>
            <a:off x="713232" y="3355848"/>
            <a:ext cx="2103120" cy="329184"/>
          </a:xfrm>
          <a:prstGeom prst="roundRect">
            <a:avLst>
              <a:gd name="adj" fmla="val 50000"/>
            </a:avLst>
          </a:prstGeom>
          <a:solidFill>
            <a:srgbClr val="1B2A4A"/>
          </a:solidFill>
          <a:ln/>
        </p:spPr>
        <p:txBody>
          <a:bodyPr/>
          <a:p/>
        </p:txBody>
      </p:sp>
      <p:sp>
        <p:nvSpPr>
          <p:cNvPr id="13" name="Text 11"/>
          <p:cNvSpPr/>
          <p:nvPr/>
        </p:nvSpPr>
        <p:spPr>
          <a:xfrm>
            <a:off x="713232" y="3355848"/>
            <a:ext cx="2103120" cy="329184"/>
          </a:xfrm>
          <a:prstGeom prst="rect">
            <a:avLst/>
          </a:prstGeom>
          <a:noFill/>
          <a:ln/>
        </p:spPr>
        <p:txBody>
          <a:bodyPr wrap="square"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人事</a:t>
            </a:r>
            <a:endParaRPr lang="en-US" sz="1150" dirty="0"/>
          </a:p>
        </p:txBody>
      </p:sp>
      <p:sp>
        <p:nvSpPr>
          <p:cNvPr id="14" name="Text 12"/>
          <p:cNvSpPr/>
          <p:nvPr/>
        </p:nvSpPr>
        <p:spPr>
          <a:xfrm>
            <a:off x="3017520" y="3255264"/>
            <a:ext cx="8503920" cy="530352"/>
          </a:xfrm>
          <a:prstGeom prst="rect">
            <a:avLst/>
          </a:prstGeom>
          <a:noFill/>
          <a:ln/>
        </p:spPr>
        <p:txBody>
          <a:bodyPr wrap="square" rtlCol="0" anchor="ctr"/>
          <a:lstStyle/>
          <a:p>
            <a:pPr indent="0" marL="0">
              <a:buNone/>
            </a:pPr>
            <a:r>
              <a:rPr lang="en-US" sz="1350" dirty="0">
                <a:solidFill>
                  <a:srgbClr val="1F2733"/>
                </a:solidFill>
                <a:latin typeface="Meiryo" pitchFamily="34" charset="0"/>
                <a:ea typeface="Meiryo" pitchFamily="34" charset="-122"/>
                <a:cs typeface="Meiryo" pitchFamily="34" charset="-120"/>
              </a:rPr>
              <a:t>不足出面を集約し、短時間勤務者の採用時間帯・人数を再設定</a:t>
            </a:r>
            <a:endParaRPr lang="en-US" sz="1350" dirty="0"/>
          </a:p>
        </p:txBody>
      </p:sp>
      <p:sp>
        <p:nvSpPr>
          <p:cNvPr id="15" name="Shape 13"/>
          <p:cNvSpPr/>
          <p:nvPr/>
        </p:nvSpPr>
        <p:spPr>
          <a:xfrm>
            <a:off x="713232" y="3886200"/>
            <a:ext cx="2103120" cy="329184"/>
          </a:xfrm>
          <a:prstGeom prst="roundRect">
            <a:avLst>
              <a:gd name="adj" fmla="val 50000"/>
            </a:avLst>
          </a:prstGeom>
          <a:solidFill>
            <a:srgbClr val="1B2A4A"/>
          </a:solidFill>
          <a:ln/>
        </p:spPr>
        <p:txBody>
          <a:bodyPr/>
          <a:p/>
        </p:txBody>
      </p:sp>
      <p:sp>
        <p:nvSpPr>
          <p:cNvPr id="16" name="Text 14"/>
          <p:cNvSpPr/>
          <p:nvPr/>
        </p:nvSpPr>
        <p:spPr>
          <a:xfrm>
            <a:off x="713232" y="3886200"/>
            <a:ext cx="2103120" cy="329184"/>
          </a:xfrm>
          <a:prstGeom prst="rect">
            <a:avLst/>
          </a:prstGeom>
          <a:noFill/>
          <a:ln/>
        </p:spPr>
        <p:txBody>
          <a:bodyPr wrap="square"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現場＋人事</a:t>
            </a:r>
            <a:endParaRPr lang="en-US" sz="1150" dirty="0"/>
          </a:p>
        </p:txBody>
      </p:sp>
      <p:sp>
        <p:nvSpPr>
          <p:cNvPr id="17" name="Text 15"/>
          <p:cNvSpPr/>
          <p:nvPr/>
        </p:nvSpPr>
        <p:spPr>
          <a:xfrm>
            <a:off x="3017520" y="3785616"/>
            <a:ext cx="8503920" cy="530352"/>
          </a:xfrm>
          <a:prstGeom prst="rect">
            <a:avLst/>
          </a:prstGeom>
          <a:noFill/>
          <a:ln/>
        </p:spPr>
        <p:txBody>
          <a:bodyPr wrap="square" rtlCol="0" anchor="ctr"/>
          <a:lstStyle/>
          <a:p>
            <a:pPr indent="0" marL="0">
              <a:buNone/>
            </a:pPr>
            <a:r>
              <a:rPr lang="en-US" sz="1350" dirty="0">
                <a:solidFill>
                  <a:srgbClr val="1F2733"/>
                </a:solidFill>
                <a:latin typeface="Meiryo" pitchFamily="34" charset="0"/>
                <a:ea typeface="Meiryo" pitchFamily="34" charset="-122"/>
                <a:cs typeface="Meiryo" pitchFamily="34" charset="-120"/>
              </a:rPr>
              <a:t>配置可能なポジション・必要資格を整理</a:t>
            </a:r>
            <a:endParaRPr lang="en-US" sz="1350" dirty="0"/>
          </a:p>
        </p:txBody>
      </p:sp>
      <p:sp>
        <p:nvSpPr>
          <p:cNvPr id="18" name="Shape 16"/>
          <p:cNvSpPr/>
          <p:nvPr/>
        </p:nvSpPr>
        <p:spPr>
          <a:xfrm>
            <a:off x="548640" y="4315968"/>
            <a:ext cx="11091672" cy="530352"/>
          </a:xfrm>
          <a:prstGeom prst="rect">
            <a:avLst/>
          </a:prstGeom>
          <a:solidFill>
            <a:srgbClr val="F4F6FA"/>
          </a:solidFill>
          <a:ln/>
        </p:spPr>
        <p:txBody>
          <a:bodyPr/>
          <a:p/>
        </p:txBody>
      </p:sp>
      <p:sp>
        <p:nvSpPr>
          <p:cNvPr id="19" name="Shape 17"/>
          <p:cNvSpPr/>
          <p:nvPr/>
        </p:nvSpPr>
        <p:spPr>
          <a:xfrm>
            <a:off x="713232" y="4416552"/>
            <a:ext cx="2103120" cy="329184"/>
          </a:xfrm>
          <a:prstGeom prst="roundRect">
            <a:avLst>
              <a:gd name="adj" fmla="val 50000"/>
            </a:avLst>
          </a:prstGeom>
          <a:solidFill>
            <a:srgbClr val="1B2A4A"/>
          </a:solidFill>
          <a:ln/>
        </p:spPr>
        <p:txBody>
          <a:bodyPr/>
          <a:p/>
        </p:txBody>
      </p:sp>
      <p:sp>
        <p:nvSpPr>
          <p:cNvPr id="20" name="Text 18"/>
          <p:cNvSpPr/>
          <p:nvPr/>
        </p:nvSpPr>
        <p:spPr>
          <a:xfrm>
            <a:off x="713232" y="4416552"/>
            <a:ext cx="2103120" cy="329184"/>
          </a:xfrm>
          <a:prstGeom prst="rect">
            <a:avLst/>
          </a:prstGeom>
          <a:noFill/>
          <a:ln/>
        </p:spPr>
        <p:txBody>
          <a:bodyPr wrap="square"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教育担当</a:t>
            </a:r>
            <a:endParaRPr lang="en-US" sz="1150" dirty="0"/>
          </a:p>
        </p:txBody>
      </p:sp>
      <p:sp>
        <p:nvSpPr>
          <p:cNvPr id="21" name="Text 19"/>
          <p:cNvSpPr/>
          <p:nvPr/>
        </p:nvSpPr>
        <p:spPr>
          <a:xfrm>
            <a:off x="3017520" y="4315968"/>
            <a:ext cx="8503920" cy="530352"/>
          </a:xfrm>
          <a:prstGeom prst="rect">
            <a:avLst/>
          </a:prstGeom>
          <a:noFill/>
          <a:ln/>
        </p:spPr>
        <p:txBody>
          <a:bodyPr wrap="square" rtlCol="0" anchor="ctr"/>
          <a:lstStyle/>
          <a:p>
            <a:pPr indent="0" marL="0">
              <a:buNone/>
            </a:pPr>
            <a:r>
              <a:rPr lang="en-US" sz="1350" dirty="0">
                <a:solidFill>
                  <a:srgbClr val="1F2733"/>
                </a:solidFill>
                <a:latin typeface="Meiryo" pitchFamily="34" charset="0"/>
                <a:ea typeface="Meiryo" pitchFamily="34" charset="-122"/>
                <a:cs typeface="Meiryo" pitchFamily="34" charset="-120"/>
              </a:rPr>
              <a:t>短時間勤務者向けの教育・OJT 方法を確定</a:t>
            </a:r>
            <a:endParaRPr lang="en-US" sz="1350" dirty="0"/>
          </a:p>
        </p:txBody>
      </p:sp>
      <p:sp>
        <p:nvSpPr>
          <p:cNvPr id="22" name="Shape 20"/>
          <p:cNvSpPr/>
          <p:nvPr/>
        </p:nvSpPr>
        <p:spPr>
          <a:xfrm>
            <a:off x="713232" y="4946904"/>
            <a:ext cx="2103120" cy="329184"/>
          </a:xfrm>
          <a:prstGeom prst="roundRect">
            <a:avLst>
              <a:gd name="adj" fmla="val 50000"/>
            </a:avLst>
          </a:prstGeom>
          <a:solidFill>
            <a:srgbClr val="1B2A4A"/>
          </a:solidFill>
          <a:ln/>
        </p:spPr>
        <p:txBody>
          <a:bodyPr/>
          <a:p/>
        </p:txBody>
      </p:sp>
      <p:sp>
        <p:nvSpPr>
          <p:cNvPr id="23" name="Text 21"/>
          <p:cNvSpPr/>
          <p:nvPr/>
        </p:nvSpPr>
        <p:spPr>
          <a:xfrm>
            <a:off x="713232" y="4946904"/>
            <a:ext cx="2103120" cy="329184"/>
          </a:xfrm>
          <a:prstGeom prst="rect">
            <a:avLst/>
          </a:prstGeom>
          <a:noFill/>
          <a:ln/>
        </p:spPr>
        <p:txBody>
          <a:bodyPr wrap="square"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採用担当</a:t>
            </a:r>
            <a:endParaRPr lang="en-US" sz="1150" dirty="0"/>
          </a:p>
        </p:txBody>
      </p:sp>
      <p:sp>
        <p:nvSpPr>
          <p:cNvPr id="24" name="Text 22"/>
          <p:cNvSpPr/>
          <p:nvPr/>
        </p:nvSpPr>
        <p:spPr>
          <a:xfrm>
            <a:off x="3017520" y="4846320"/>
            <a:ext cx="8503920" cy="530352"/>
          </a:xfrm>
          <a:prstGeom prst="rect">
            <a:avLst/>
          </a:prstGeom>
          <a:noFill/>
          <a:ln/>
        </p:spPr>
        <p:txBody>
          <a:bodyPr wrap="square" rtlCol="0" anchor="ctr"/>
          <a:lstStyle/>
          <a:p>
            <a:pPr indent="0" marL="0">
              <a:buNone/>
            </a:pPr>
            <a:r>
              <a:rPr lang="en-US" sz="1350" dirty="0">
                <a:solidFill>
                  <a:srgbClr val="1F2733"/>
                </a:solidFill>
                <a:latin typeface="Meiryo" pitchFamily="34" charset="0"/>
                <a:ea typeface="Meiryo" pitchFamily="34" charset="-122"/>
                <a:cs typeface="Meiryo" pitchFamily="34" charset="-120"/>
              </a:rPr>
              <a:t>媒体・経験者採用ルートを、不足時間帯に合わせて修正</a:t>
            </a:r>
            <a:endParaRPr lang="en-US" sz="1350" dirty="0"/>
          </a:p>
        </p:txBody>
      </p:sp>
      <p:sp>
        <p:nvSpPr>
          <p:cNvPr id="25" name="Shape 23"/>
          <p:cNvSpPr/>
          <p:nvPr/>
        </p:nvSpPr>
        <p:spPr>
          <a:xfrm>
            <a:off x="548640" y="5376672"/>
            <a:ext cx="11091672" cy="530352"/>
          </a:xfrm>
          <a:prstGeom prst="rect">
            <a:avLst/>
          </a:prstGeom>
          <a:solidFill>
            <a:srgbClr val="F4F6FA"/>
          </a:solidFill>
          <a:ln/>
        </p:spPr>
        <p:txBody>
          <a:bodyPr/>
          <a:p/>
        </p:txBody>
      </p:sp>
      <p:sp>
        <p:nvSpPr>
          <p:cNvPr id="26" name="Shape 24"/>
          <p:cNvSpPr/>
          <p:nvPr/>
        </p:nvSpPr>
        <p:spPr>
          <a:xfrm>
            <a:off x="713232" y="5477256"/>
            <a:ext cx="2103120" cy="329184"/>
          </a:xfrm>
          <a:prstGeom prst="roundRect">
            <a:avLst>
              <a:gd name="adj" fmla="val 50000"/>
            </a:avLst>
          </a:prstGeom>
          <a:solidFill>
            <a:srgbClr val="1B2A4A"/>
          </a:solidFill>
          <a:ln/>
        </p:spPr>
        <p:txBody>
          <a:bodyPr/>
          <a:p/>
        </p:txBody>
      </p:sp>
      <p:sp>
        <p:nvSpPr>
          <p:cNvPr id="27" name="Text 25"/>
          <p:cNvSpPr/>
          <p:nvPr/>
        </p:nvSpPr>
        <p:spPr>
          <a:xfrm>
            <a:off x="713232" y="5477256"/>
            <a:ext cx="2103120" cy="329184"/>
          </a:xfrm>
          <a:prstGeom prst="rect">
            <a:avLst/>
          </a:prstGeom>
          <a:noFill/>
          <a:ln/>
        </p:spPr>
        <p:txBody>
          <a:bodyPr wrap="square"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採用後</a:t>
            </a:r>
            <a:endParaRPr lang="en-US" sz="1150" dirty="0"/>
          </a:p>
        </p:txBody>
      </p:sp>
      <p:sp>
        <p:nvSpPr>
          <p:cNvPr id="28" name="Text 26"/>
          <p:cNvSpPr/>
          <p:nvPr/>
        </p:nvSpPr>
        <p:spPr>
          <a:xfrm>
            <a:off x="3017520" y="5376672"/>
            <a:ext cx="8503920" cy="530352"/>
          </a:xfrm>
          <a:prstGeom prst="rect">
            <a:avLst/>
          </a:prstGeom>
          <a:noFill/>
          <a:ln/>
        </p:spPr>
        <p:txBody>
          <a:bodyPr wrap="square" rtlCol="0" anchor="ctr"/>
          <a:lstStyle/>
          <a:p>
            <a:pPr indent="0" marL="0">
              <a:buNone/>
            </a:pPr>
            <a:r>
              <a:rPr lang="en-US" sz="1350" dirty="0">
                <a:solidFill>
                  <a:srgbClr val="1F2733"/>
                </a:solidFill>
                <a:latin typeface="Meiryo" pitchFamily="34" charset="0"/>
                <a:ea typeface="Meiryo" pitchFamily="34" charset="-122"/>
                <a:cs typeface="Meiryo" pitchFamily="34" charset="-120"/>
              </a:rPr>
              <a:t>人数ではなく「必要出面を何時間補完できたか」で効果検証</a:t>
            </a:r>
            <a:endParaRPr lang="en-US" sz="1350" dirty="0"/>
          </a:p>
        </p:txBody>
      </p:sp>
      <p:sp>
        <p:nvSpPr>
          <p:cNvPr id="29" name="Text 27"/>
          <p:cNvSpPr/>
          <p:nvPr/>
        </p:nvSpPr>
        <p:spPr>
          <a:xfrm>
            <a:off x="566928" y="6044184"/>
            <a:ext cx="11064240" cy="365760"/>
          </a:xfrm>
          <a:prstGeom prst="rect">
            <a:avLst/>
          </a:prstGeom>
          <a:noFill/>
          <a:ln/>
        </p:spPr>
        <p:txBody>
          <a:bodyPr wrap="square" rtlCol="0" anchor="ctr"/>
          <a:lstStyle/>
          <a:p>
            <a:pPr indent="0" marL="0">
              <a:buNone/>
            </a:pPr>
            <a:r>
              <a:rPr lang="en-US" sz="1150" i="1" dirty="0">
                <a:solidFill>
                  <a:srgbClr val="B8891B"/>
                </a:solidFill>
                <a:latin typeface="Meiryo" pitchFamily="34" charset="0"/>
                <a:ea typeface="Meiryo" pitchFamily="34" charset="-122"/>
                <a:cs typeface="Meiryo" pitchFamily="34" charset="-120"/>
              </a:rPr>
              <a:t>※ 各アクションは Winter Schedule 稼働からの逆算で、提出期限を別途設定します。</a:t>
            </a:r>
            <a:endParaRPr lang="en-US" sz="1150" dirty="0"/>
          </a:p>
        </p:txBody>
      </p:sp>
      <p:sp>
        <p:nvSpPr>
          <p:cNvPr id="30" name="Text 28"/>
          <p:cNvSpPr/>
          <p:nvPr/>
        </p:nvSpPr>
        <p:spPr>
          <a:xfrm>
            <a:off x="457200" y="6419088"/>
            <a:ext cx="5486400" cy="274320"/>
          </a:xfrm>
          <a:prstGeom prst="rect">
            <a:avLst/>
          </a:prstGeom>
          <a:noFill/>
          <a:ln/>
        </p:spPr>
        <p:txBody>
          <a:bodyPr wrap="square" rtlCol="0" anchor="ctr"/>
          <a:lstStyle/>
          <a:p>
            <a:pPr algn="l" indent="0" marL="0">
              <a:buNone/>
            </a:pPr>
            <a:r>
              <a:rPr lang="en-US" sz="900" dirty="0">
                <a:solidFill>
                  <a:srgbClr val="6B7686"/>
                </a:solidFill>
                <a:latin typeface="Meiryo" pitchFamily="34" charset="0"/>
                <a:ea typeface="Meiryo" pitchFamily="34" charset="-122"/>
                <a:cs typeface="Meiryo" pitchFamily="34" charset="-120"/>
              </a:rPr>
              <a:t>短時間勤務者採用 説明会</a:t>
            </a:r>
            <a:endParaRPr lang="en-US" sz="900" dirty="0"/>
          </a:p>
        </p:txBody>
      </p:sp>
      <p:sp>
        <p:nvSpPr>
          <p:cNvPr id="31" name="Text 29"/>
          <p:cNvSpPr/>
          <p:nvPr/>
        </p:nvSpPr>
        <p:spPr>
          <a:xfrm>
            <a:off x="11338560" y="6419088"/>
            <a:ext cx="457200" cy="274320"/>
          </a:xfrm>
          <a:prstGeom prst="rect">
            <a:avLst/>
          </a:prstGeom>
          <a:noFill/>
          <a:ln/>
        </p:spPr>
        <p:txBody>
          <a:bodyPr wrap="square" rtlCol="0" anchor="ctr"/>
          <a:lstStyle/>
          <a:p>
            <a:pPr algn="r" indent="0" marL="0">
              <a:buNone/>
            </a:pPr>
            <a:r>
              <a:rPr lang="en-US" sz="900" dirty="0">
                <a:solidFill>
                  <a:srgbClr val="6B7686"/>
                </a:solidFill>
                <a:latin typeface="Meiryo" pitchFamily="34" charset="0"/>
                <a:ea typeface="Meiryo" pitchFamily="34" charset="-122"/>
                <a:cs typeface="Meiryo" pitchFamily="34" charset="-120"/>
              </a:rPr>
              <a:t>25</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685800" y="640080"/>
            <a:ext cx="10058400" cy="457200"/>
          </a:xfrm>
          <a:prstGeom prst="rect">
            <a:avLst/>
          </a:prstGeom>
          <a:noFill/>
          <a:ln/>
        </p:spPr>
        <p:txBody>
          <a:bodyPr wrap="square" rtlCol="0" anchor="ctr"/>
          <a:lstStyle/>
          <a:p>
            <a:pPr indent="0" marL="0">
              <a:buNone/>
            </a:pPr>
            <a:r>
              <a:rPr lang="en-US" sz="1600" b="1" dirty="0">
                <a:solidFill>
                  <a:srgbClr val="7C93C6"/>
                </a:solidFill>
                <a:latin typeface="Meiryo" pitchFamily="34" charset="0"/>
                <a:ea typeface="Meiryo" pitchFamily="34" charset="-122"/>
                <a:cs typeface="Meiryo" pitchFamily="34" charset="-120"/>
              </a:rPr>
              <a:t>軸をぶらさないための6つのキーワード</a:t>
            </a:r>
            <a:endParaRPr lang="en-US" sz="1600" dirty="0"/>
          </a:p>
        </p:txBody>
      </p:sp>
      <p:sp>
        <p:nvSpPr>
          <p:cNvPr id="3" name="Shape 1"/>
          <p:cNvSpPr/>
          <p:nvPr/>
        </p:nvSpPr>
        <p:spPr>
          <a:xfrm>
            <a:off x="548640" y="1280160"/>
            <a:ext cx="5486400" cy="1051560"/>
          </a:xfrm>
          <a:prstGeom prst="roundRect">
            <a:avLst>
              <a:gd name="adj" fmla="val 5217"/>
            </a:avLst>
          </a:prstGeom>
          <a:solidFill>
            <a:srgbClr val="22345B"/>
          </a:solidFill>
          <a:ln w="12700">
            <a:solidFill>
              <a:srgbClr val="33476F"/>
            </a:solidFill>
            <a:prstDash val="solid"/>
          </a:ln>
        </p:spPr>
        <p:txBody>
          <a:bodyPr/>
          <a:p/>
        </p:txBody>
      </p:sp>
      <p:sp>
        <p:nvSpPr>
          <p:cNvPr id="4" name="Shape 2"/>
          <p:cNvSpPr/>
          <p:nvPr/>
        </p:nvSpPr>
        <p:spPr>
          <a:xfrm>
            <a:off x="777240" y="1572768"/>
            <a:ext cx="457200" cy="457200"/>
          </a:xfrm>
          <a:prstGeom prst="roundRect">
            <a:avLst>
              <a:gd name="adj" fmla="val 50000"/>
            </a:avLst>
          </a:prstGeom>
          <a:solidFill>
            <a:srgbClr val="B8891B"/>
          </a:solidFill>
          <a:ln/>
        </p:spPr>
        <p:txBody>
          <a:bodyPr/>
          <a:p/>
        </p:txBody>
      </p:sp>
      <p:sp>
        <p:nvSpPr>
          <p:cNvPr id="5" name="Text 3"/>
          <p:cNvSpPr/>
          <p:nvPr/>
        </p:nvSpPr>
        <p:spPr>
          <a:xfrm>
            <a:off x="777240" y="1572768"/>
            <a:ext cx="457200" cy="457200"/>
          </a:xfrm>
          <a:prstGeom prst="rect">
            <a:avLst/>
          </a:prstGeom>
          <a:noFill/>
          <a:ln/>
        </p:spPr>
        <p:txBody>
          <a:bodyPr wrap="square" rtlCol="0" anchor="ctr"/>
          <a:lstStyle/>
          <a:p>
            <a:pPr algn="ctr" indent="0" marL="0">
              <a:buNone/>
            </a:pPr>
            <a:r>
              <a:rPr lang="en-US" sz="1600" b="1" dirty="0">
                <a:solidFill>
                  <a:srgbClr val="1B2A4A"/>
                </a:solidFill>
                <a:latin typeface="Meiryo" pitchFamily="34" charset="0"/>
                <a:ea typeface="Meiryo" pitchFamily="34" charset="-122"/>
                <a:cs typeface="Meiryo" pitchFamily="34" charset="-120"/>
              </a:rPr>
              <a:t>1</a:t>
            </a:r>
            <a:endParaRPr lang="en-US" sz="1600" dirty="0"/>
          </a:p>
        </p:txBody>
      </p:sp>
      <p:sp>
        <p:nvSpPr>
          <p:cNvPr id="6" name="Text 4"/>
          <p:cNvSpPr/>
          <p:nvPr/>
        </p:nvSpPr>
        <p:spPr>
          <a:xfrm>
            <a:off x="1371600" y="1389888"/>
            <a:ext cx="4434840" cy="832104"/>
          </a:xfrm>
          <a:prstGeom prst="rect">
            <a:avLst/>
          </a:prstGeom>
          <a:noFill/>
          <a:ln/>
        </p:spPr>
        <p:txBody>
          <a:bodyPr wrap="square" rtlCol="0" anchor="ctr"/>
          <a:lstStyle/>
          <a:p>
            <a:pPr indent="0" marL="0">
              <a:lnSpc>
                <a:spcPct val="103000"/>
              </a:lnSpc>
              <a:buNone/>
            </a:pPr>
            <a:r>
              <a:rPr lang="en-US" sz="1300" b="1" dirty="0">
                <a:solidFill>
                  <a:srgbClr val="FFFFFF"/>
                </a:solidFill>
                <a:latin typeface="Meiryo" pitchFamily="34" charset="0"/>
                <a:ea typeface="Meiryo" pitchFamily="34" charset="-122"/>
                <a:cs typeface="Meiryo" pitchFamily="34" charset="-120"/>
              </a:rPr>
              <a:t>主語は「パート採用」ではなく「人員の持ち方の転換」</a:t>
            </a:r>
            <a:endParaRPr lang="en-US" sz="1300" dirty="0"/>
          </a:p>
        </p:txBody>
      </p:sp>
      <p:sp>
        <p:nvSpPr>
          <p:cNvPr id="7" name="Shape 5"/>
          <p:cNvSpPr/>
          <p:nvPr/>
        </p:nvSpPr>
        <p:spPr>
          <a:xfrm>
            <a:off x="6153912" y="1280160"/>
            <a:ext cx="5486400" cy="1051560"/>
          </a:xfrm>
          <a:prstGeom prst="roundRect">
            <a:avLst>
              <a:gd name="adj" fmla="val 5217"/>
            </a:avLst>
          </a:prstGeom>
          <a:solidFill>
            <a:srgbClr val="22345B"/>
          </a:solidFill>
          <a:ln w="12700">
            <a:solidFill>
              <a:srgbClr val="33476F"/>
            </a:solidFill>
            <a:prstDash val="solid"/>
          </a:ln>
        </p:spPr>
        <p:txBody>
          <a:bodyPr/>
          <a:p/>
        </p:txBody>
      </p:sp>
      <p:sp>
        <p:nvSpPr>
          <p:cNvPr id="8" name="Shape 6"/>
          <p:cNvSpPr/>
          <p:nvPr/>
        </p:nvSpPr>
        <p:spPr>
          <a:xfrm>
            <a:off x="6382512" y="1572768"/>
            <a:ext cx="457200" cy="457200"/>
          </a:xfrm>
          <a:prstGeom prst="roundRect">
            <a:avLst>
              <a:gd name="adj" fmla="val 50000"/>
            </a:avLst>
          </a:prstGeom>
          <a:solidFill>
            <a:srgbClr val="B8891B"/>
          </a:solidFill>
          <a:ln/>
        </p:spPr>
        <p:txBody>
          <a:bodyPr/>
          <a:p/>
        </p:txBody>
      </p:sp>
      <p:sp>
        <p:nvSpPr>
          <p:cNvPr id="9" name="Text 7"/>
          <p:cNvSpPr/>
          <p:nvPr/>
        </p:nvSpPr>
        <p:spPr>
          <a:xfrm>
            <a:off x="6382512" y="1572768"/>
            <a:ext cx="457200" cy="457200"/>
          </a:xfrm>
          <a:prstGeom prst="rect">
            <a:avLst/>
          </a:prstGeom>
          <a:noFill/>
          <a:ln/>
        </p:spPr>
        <p:txBody>
          <a:bodyPr wrap="square" rtlCol="0" anchor="ctr"/>
          <a:lstStyle/>
          <a:p>
            <a:pPr algn="ctr" indent="0" marL="0">
              <a:buNone/>
            </a:pPr>
            <a:r>
              <a:rPr lang="en-US" sz="1600" b="1" dirty="0">
                <a:solidFill>
                  <a:srgbClr val="1B2A4A"/>
                </a:solidFill>
                <a:latin typeface="Meiryo" pitchFamily="34" charset="0"/>
                <a:ea typeface="Meiryo" pitchFamily="34" charset="-122"/>
                <a:cs typeface="Meiryo" pitchFamily="34" charset="-120"/>
              </a:rPr>
              <a:t>2</a:t>
            </a:r>
            <a:endParaRPr lang="en-US" sz="1600" dirty="0"/>
          </a:p>
        </p:txBody>
      </p:sp>
      <p:sp>
        <p:nvSpPr>
          <p:cNvPr id="10" name="Text 8"/>
          <p:cNvSpPr/>
          <p:nvPr/>
        </p:nvSpPr>
        <p:spPr>
          <a:xfrm>
            <a:off x="6976872" y="1389888"/>
            <a:ext cx="4434840" cy="832104"/>
          </a:xfrm>
          <a:prstGeom prst="rect">
            <a:avLst/>
          </a:prstGeom>
          <a:noFill/>
          <a:ln/>
        </p:spPr>
        <p:txBody>
          <a:bodyPr wrap="square" rtlCol="0" anchor="ctr"/>
          <a:lstStyle/>
          <a:p>
            <a:pPr indent="0" marL="0">
              <a:lnSpc>
                <a:spcPct val="103000"/>
              </a:lnSpc>
              <a:buNone/>
            </a:pPr>
            <a:r>
              <a:rPr lang="en-US" sz="1300" b="1" dirty="0">
                <a:solidFill>
                  <a:srgbClr val="FFFFFF"/>
                </a:solidFill>
                <a:latin typeface="Meiryo" pitchFamily="34" charset="0"/>
                <a:ea typeface="Meiryo" pitchFamily="34" charset="-122"/>
                <a:cs typeface="Meiryo" pitchFamily="34" charset="-120"/>
              </a:rPr>
              <a:t>「人が足りない」で終わらせず、何時に・何人・どのポジションを確認</a:t>
            </a:r>
            <a:endParaRPr lang="en-US" sz="1300" dirty="0"/>
          </a:p>
        </p:txBody>
      </p:sp>
      <p:sp>
        <p:nvSpPr>
          <p:cNvPr id="11" name="Shape 9"/>
          <p:cNvSpPr/>
          <p:nvPr/>
        </p:nvSpPr>
        <p:spPr>
          <a:xfrm>
            <a:off x="548640" y="2478024"/>
            <a:ext cx="5486400" cy="1051560"/>
          </a:xfrm>
          <a:prstGeom prst="roundRect">
            <a:avLst>
              <a:gd name="adj" fmla="val 5217"/>
            </a:avLst>
          </a:prstGeom>
          <a:solidFill>
            <a:srgbClr val="22345B"/>
          </a:solidFill>
          <a:ln w="12700">
            <a:solidFill>
              <a:srgbClr val="33476F"/>
            </a:solidFill>
            <a:prstDash val="solid"/>
          </a:ln>
        </p:spPr>
        <p:txBody>
          <a:bodyPr/>
          <a:p/>
        </p:txBody>
      </p:sp>
      <p:sp>
        <p:nvSpPr>
          <p:cNvPr id="12" name="Shape 10"/>
          <p:cNvSpPr/>
          <p:nvPr/>
        </p:nvSpPr>
        <p:spPr>
          <a:xfrm>
            <a:off x="777240" y="2770632"/>
            <a:ext cx="457200" cy="457200"/>
          </a:xfrm>
          <a:prstGeom prst="roundRect">
            <a:avLst>
              <a:gd name="adj" fmla="val 50000"/>
            </a:avLst>
          </a:prstGeom>
          <a:solidFill>
            <a:srgbClr val="B8891B"/>
          </a:solidFill>
          <a:ln/>
        </p:spPr>
        <p:txBody>
          <a:bodyPr/>
          <a:p/>
        </p:txBody>
      </p:sp>
      <p:sp>
        <p:nvSpPr>
          <p:cNvPr id="13" name="Text 11"/>
          <p:cNvSpPr/>
          <p:nvPr/>
        </p:nvSpPr>
        <p:spPr>
          <a:xfrm>
            <a:off x="777240" y="2770632"/>
            <a:ext cx="457200" cy="457200"/>
          </a:xfrm>
          <a:prstGeom prst="rect">
            <a:avLst/>
          </a:prstGeom>
          <a:noFill/>
          <a:ln/>
        </p:spPr>
        <p:txBody>
          <a:bodyPr wrap="square" rtlCol="0" anchor="ctr"/>
          <a:lstStyle/>
          <a:p>
            <a:pPr algn="ctr" indent="0" marL="0">
              <a:buNone/>
            </a:pPr>
            <a:r>
              <a:rPr lang="en-US" sz="1600" b="1" dirty="0">
                <a:solidFill>
                  <a:srgbClr val="1B2A4A"/>
                </a:solidFill>
                <a:latin typeface="Meiryo" pitchFamily="34" charset="0"/>
                <a:ea typeface="Meiryo" pitchFamily="34" charset="-122"/>
                <a:cs typeface="Meiryo" pitchFamily="34" charset="-120"/>
              </a:rPr>
              <a:t>3</a:t>
            </a:r>
            <a:endParaRPr lang="en-US" sz="1600" dirty="0"/>
          </a:p>
        </p:txBody>
      </p:sp>
      <p:sp>
        <p:nvSpPr>
          <p:cNvPr id="14" name="Text 12"/>
          <p:cNvSpPr/>
          <p:nvPr/>
        </p:nvSpPr>
        <p:spPr>
          <a:xfrm>
            <a:off x="1371600" y="2587752"/>
            <a:ext cx="4434840" cy="832104"/>
          </a:xfrm>
          <a:prstGeom prst="rect">
            <a:avLst/>
          </a:prstGeom>
          <a:noFill/>
          <a:ln/>
        </p:spPr>
        <p:txBody>
          <a:bodyPr wrap="square" rtlCol="0" anchor="ctr"/>
          <a:lstStyle/>
          <a:p>
            <a:pPr indent="0" marL="0">
              <a:lnSpc>
                <a:spcPct val="103000"/>
              </a:lnSpc>
              <a:buNone/>
            </a:pPr>
            <a:r>
              <a:rPr lang="en-US" sz="1300" b="1" dirty="0">
                <a:solidFill>
                  <a:srgbClr val="FFFFFF"/>
                </a:solidFill>
                <a:latin typeface="Meiryo" pitchFamily="34" charset="0"/>
                <a:ea typeface="Meiryo" pitchFamily="34" charset="-122"/>
                <a:cs typeface="Meiryo" pitchFamily="34" charset="-120"/>
              </a:rPr>
              <a:t>採用人数を先に決めない。不足出面から逆算する</a:t>
            </a:r>
            <a:endParaRPr lang="en-US" sz="1300" dirty="0"/>
          </a:p>
        </p:txBody>
      </p:sp>
      <p:sp>
        <p:nvSpPr>
          <p:cNvPr id="15" name="Shape 13"/>
          <p:cNvSpPr/>
          <p:nvPr/>
        </p:nvSpPr>
        <p:spPr>
          <a:xfrm>
            <a:off x="6153912" y="2478024"/>
            <a:ext cx="5486400" cy="1051560"/>
          </a:xfrm>
          <a:prstGeom prst="roundRect">
            <a:avLst>
              <a:gd name="adj" fmla="val 5217"/>
            </a:avLst>
          </a:prstGeom>
          <a:solidFill>
            <a:srgbClr val="22345B"/>
          </a:solidFill>
          <a:ln w="12700">
            <a:solidFill>
              <a:srgbClr val="33476F"/>
            </a:solidFill>
            <a:prstDash val="solid"/>
          </a:ln>
        </p:spPr>
        <p:txBody>
          <a:bodyPr/>
          <a:p/>
        </p:txBody>
      </p:sp>
      <p:sp>
        <p:nvSpPr>
          <p:cNvPr id="16" name="Shape 14"/>
          <p:cNvSpPr/>
          <p:nvPr/>
        </p:nvSpPr>
        <p:spPr>
          <a:xfrm>
            <a:off x="6382512" y="2770632"/>
            <a:ext cx="457200" cy="457200"/>
          </a:xfrm>
          <a:prstGeom prst="roundRect">
            <a:avLst>
              <a:gd name="adj" fmla="val 50000"/>
            </a:avLst>
          </a:prstGeom>
          <a:solidFill>
            <a:srgbClr val="B8891B"/>
          </a:solidFill>
          <a:ln/>
        </p:spPr>
        <p:txBody>
          <a:bodyPr/>
          <a:p/>
        </p:txBody>
      </p:sp>
      <p:sp>
        <p:nvSpPr>
          <p:cNvPr id="17" name="Text 15"/>
          <p:cNvSpPr/>
          <p:nvPr/>
        </p:nvSpPr>
        <p:spPr>
          <a:xfrm>
            <a:off x="6382512" y="2770632"/>
            <a:ext cx="457200" cy="457200"/>
          </a:xfrm>
          <a:prstGeom prst="rect">
            <a:avLst/>
          </a:prstGeom>
          <a:noFill/>
          <a:ln/>
        </p:spPr>
        <p:txBody>
          <a:bodyPr wrap="square" rtlCol="0" anchor="ctr"/>
          <a:lstStyle/>
          <a:p>
            <a:pPr algn="ctr" indent="0" marL="0">
              <a:buNone/>
            </a:pPr>
            <a:r>
              <a:rPr lang="en-US" sz="1600" b="1" dirty="0">
                <a:solidFill>
                  <a:srgbClr val="1B2A4A"/>
                </a:solidFill>
                <a:latin typeface="Meiryo" pitchFamily="34" charset="0"/>
                <a:ea typeface="Meiryo" pitchFamily="34" charset="-122"/>
                <a:cs typeface="Meiryo" pitchFamily="34" charset="-120"/>
              </a:rPr>
              <a:t>4</a:t>
            </a:r>
            <a:endParaRPr lang="en-US" sz="1600" dirty="0"/>
          </a:p>
        </p:txBody>
      </p:sp>
      <p:sp>
        <p:nvSpPr>
          <p:cNvPr id="18" name="Text 16"/>
          <p:cNvSpPr/>
          <p:nvPr/>
        </p:nvSpPr>
        <p:spPr>
          <a:xfrm>
            <a:off x="6976872" y="2587752"/>
            <a:ext cx="4434840" cy="832104"/>
          </a:xfrm>
          <a:prstGeom prst="rect">
            <a:avLst/>
          </a:prstGeom>
          <a:noFill/>
          <a:ln/>
        </p:spPr>
        <p:txBody>
          <a:bodyPr wrap="square" rtlCol="0" anchor="ctr"/>
          <a:lstStyle/>
          <a:p>
            <a:pPr indent="0" marL="0">
              <a:lnSpc>
                <a:spcPct val="103000"/>
              </a:lnSpc>
              <a:buNone/>
            </a:pPr>
            <a:r>
              <a:rPr lang="en-US" sz="1300" b="1" dirty="0">
                <a:solidFill>
                  <a:srgbClr val="FFFFFF"/>
                </a:solidFill>
                <a:latin typeface="Meiryo" pitchFamily="34" charset="0"/>
                <a:ea typeface="Meiryo" pitchFamily="34" charset="-122"/>
                <a:cs typeface="Meiryo" pitchFamily="34" charset="-120"/>
              </a:rPr>
              <a:t>正社員を否定しない。正社員が必要な仕事と補完できる仕事を分ける</a:t>
            </a:r>
            <a:endParaRPr lang="en-US" sz="1300" dirty="0"/>
          </a:p>
        </p:txBody>
      </p:sp>
      <p:sp>
        <p:nvSpPr>
          <p:cNvPr id="19" name="Shape 17"/>
          <p:cNvSpPr/>
          <p:nvPr/>
        </p:nvSpPr>
        <p:spPr>
          <a:xfrm>
            <a:off x="548640" y="3675888"/>
            <a:ext cx="5486400" cy="1051560"/>
          </a:xfrm>
          <a:prstGeom prst="roundRect">
            <a:avLst>
              <a:gd name="adj" fmla="val 5217"/>
            </a:avLst>
          </a:prstGeom>
          <a:solidFill>
            <a:srgbClr val="22345B"/>
          </a:solidFill>
          <a:ln w="12700">
            <a:solidFill>
              <a:srgbClr val="33476F"/>
            </a:solidFill>
            <a:prstDash val="solid"/>
          </a:ln>
        </p:spPr>
        <p:txBody>
          <a:bodyPr/>
          <a:p/>
        </p:txBody>
      </p:sp>
      <p:sp>
        <p:nvSpPr>
          <p:cNvPr id="20" name="Shape 18"/>
          <p:cNvSpPr/>
          <p:nvPr/>
        </p:nvSpPr>
        <p:spPr>
          <a:xfrm>
            <a:off x="777240" y="3968496"/>
            <a:ext cx="457200" cy="457200"/>
          </a:xfrm>
          <a:prstGeom prst="roundRect">
            <a:avLst>
              <a:gd name="adj" fmla="val 50000"/>
            </a:avLst>
          </a:prstGeom>
          <a:solidFill>
            <a:srgbClr val="B8891B"/>
          </a:solidFill>
          <a:ln/>
        </p:spPr>
        <p:txBody>
          <a:bodyPr/>
          <a:p/>
        </p:txBody>
      </p:sp>
      <p:sp>
        <p:nvSpPr>
          <p:cNvPr id="21" name="Text 19"/>
          <p:cNvSpPr/>
          <p:nvPr/>
        </p:nvSpPr>
        <p:spPr>
          <a:xfrm>
            <a:off x="777240" y="3968496"/>
            <a:ext cx="457200" cy="457200"/>
          </a:xfrm>
          <a:prstGeom prst="rect">
            <a:avLst/>
          </a:prstGeom>
          <a:noFill/>
          <a:ln/>
        </p:spPr>
        <p:txBody>
          <a:bodyPr wrap="square" rtlCol="0" anchor="ctr"/>
          <a:lstStyle/>
          <a:p>
            <a:pPr algn="ctr" indent="0" marL="0">
              <a:buNone/>
            </a:pPr>
            <a:r>
              <a:rPr lang="en-US" sz="1600" b="1" dirty="0">
                <a:solidFill>
                  <a:srgbClr val="1B2A4A"/>
                </a:solidFill>
                <a:latin typeface="Meiryo" pitchFamily="34" charset="0"/>
                <a:ea typeface="Meiryo" pitchFamily="34" charset="-122"/>
                <a:cs typeface="Meiryo" pitchFamily="34" charset="-120"/>
              </a:rPr>
              <a:t>5</a:t>
            </a:r>
            <a:endParaRPr lang="en-US" sz="1600" dirty="0"/>
          </a:p>
        </p:txBody>
      </p:sp>
      <p:sp>
        <p:nvSpPr>
          <p:cNvPr id="22" name="Text 20"/>
          <p:cNvSpPr/>
          <p:nvPr/>
        </p:nvSpPr>
        <p:spPr>
          <a:xfrm>
            <a:off x="1371600" y="3785616"/>
            <a:ext cx="4434840" cy="832104"/>
          </a:xfrm>
          <a:prstGeom prst="rect">
            <a:avLst/>
          </a:prstGeom>
          <a:noFill/>
          <a:ln/>
        </p:spPr>
        <p:txBody>
          <a:bodyPr wrap="square" rtlCol="0" anchor="ctr"/>
          <a:lstStyle/>
          <a:p>
            <a:pPr indent="0" marL="0">
              <a:lnSpc>
                <a:spcPct val="103000"/>
              </a:lnSpc>
              <a:buNone/>
            </a:pPr>
            <a:r>
              <a:rPr lang="en-US" sz="1300" b="1" dirty="0">
                <a:solidFill>
                  <a:srgbClr val="FFFFFF"/>
                </a:solidFill>
                <a:latin typeface="Meiryo" pitchFamily="34" charset="0"/>
                <a:ea typeface="Meiryo" pitchFamily="34" charset="-122"/>
                <a:cs typeface="Meiryo" pitchFamily="34" charset="-120"/>
              </a:rPr>
              <a:t>目的は人件費削減だけでなく、現場運営を維持しながら原価を適正化</a:t>
            </a:r>
            <a:endParaRPr lang="en-US" sz="1300" dirty="0"/>
          </a:p>
        </p:txBody>
      </p:sp>
      <p:sp>
        <p:nvSpPr>
          <p:cNvPr id="23" name="Shape 21"/>
          <p:cNvSpPr/>
          <p:nvPr/>
        </p:nvSpPr>
        <p:spPr>
          <a:xfrm>
            <a:off x="6153912" y="3675888"/>
            <a:ext cx="5486400" cy="1051560"/>
          </a:xfrm>
          <a:prstGeom prst="roundRect">
            <a:avLst>
              <a:gd name="adj" fmla="val 5217"/>
            </a:avLst>
          </a:prstGeom>
          <a:solidFill>
            <a:srgbClr val="22345B"/>
          </a:solidFill>
          <a:ln w="12700">
            <a:solidFill>
              <a:srgbClr val="33476F"/>
            </a:solidFill>
            <a:prstDash val="solid"/>
          </a:ln>
        </p:spPr>
        <p:txBody>
          <a:bodyPr/>
          <a:p/>
        </p:txBody>
      </p:sp>
      <p:sp>
        <p:nvSpPr>
          <p:cNvPr id="24" name="Shape 22"/>
          <p:cNvSpPr/>
          <p:nvPr/>
        </p:nvSpPr>
        <p:spPr>
          <a:xfrm>
            <a:off x="6382512" y="3968496"/>
            <a:ext cx="457200" cy="457200"/>
          </a:xfrm>
          <a:prstGeom prst="roundRect">
            <a:avLst>
              <a:gd name="adj" fmla="val 50000"/>
            </a:avLst>
          </a:prstGeom>
          <a:solidFill>
            <a:srgbClr val="B8891B"/>
          </a:solidFill>
          <a:ln/>
        </p:spPr>
        <p:txBody>
          <a:bodyPr/>
          <a:p/>
        </p:txBody>
      </p:sp>
      <p:sp>
        <p:nvSpPr>
          <p:cNvPr id="25" name="Text 23"/>
          <p:cNvSpPr/>
          <p:nvPr/>
        </p:nvSpPr>
        <p:spPr>
          <a:xfrm>
            <a:off x="6382512" y="3968496"/>
            <a:ext cx="457200" cy="457200"/>
          </a:xfrm>
          <a:prstGeom prst="rect">
            <a:avLst/>
          </a:prstGeom>
          <a:noFill/>
          <a:ln/>
        </p:spPr>
        <p:txBody>
          <a:bodyPr wrap="square" rtlCol="0" anchor="ctr"/>
          <a:lstStyle/>
          <a:p>
            <a:pPr algn="ctr" indent="0" marL="0">
              <a:buNone/>
            </a:pPr>
            <a:r>
              <a:rPr lang="en-US" sz="1600" b="1" dirty="0">
                <a:solidFill>
                  <a:srgbClr val="1B2A4A"/>
                </a:solidFill>
                <a:latin typeface="Meiryo" pitchFamily="34" charset="0"/>
                <a:ea typeface="Meiryo" pitchFamily="34" charset="-122"/>
                <a:cs typeface="Meiryo" pitchFamily="34" charset="-120"/>
              </a:rPr>
              <a:t>6</a:t>
            </a:r>
            <a:endParaRPr lang="en-US" sz="1600" dirty="0"/>
          </a:p>
        </p:txBody>
      </p:sp>
      <p:sp>
        <p:nvSpPr>
          <p:cNvPr id="26" name="Text 24"/>
          <p:cNvSpPr/>
          <p:nvPr/>
        </p:nvSpPr>
        <p:spPr>
          <a:xfrm>
            <a:off x="6976872" y="3785616"/>
            <a:ext cx="4434840" cy="832104"/>
          </a:xfrm>
          <a:prstGeom prst="rect">
            <a:avLst/>
          </a:prstGeom>
          <a:noFill/>
          <a:ln/>
        </p:spPr>
        <p:txBody>
          <a:bodyPr wrap="square" rtlCol="0" anchor="ctr"/>
          <a:lstStyle/>
          <a:p>
            <a:pPr indent="0" marL="0">
              <a:lnSpc>
                <a:spcPct val="103000"/>
              </a:lnSpc>
              <a:buNone/>
            </a:pPr>
            <a:r>
              <a:rPr lang="en-US" sz="1300" b="1" dirty="0">
                <a:solidFill>
                  <a:srgbClr val="FFFFFF"/>
                </a:solidFill>
                <a:latin typeface="Meiryo" pitchFamily="34" charset="0"/>
                <a:ea typeface="Meiryo" pitchFamily="34" charset="-122"/>
                <a:cs typeface="Meiryo" pitchFamily="34" charset="-120"/>
              </a:rPr>
              <a:t>現場に丸投げしない。人事・教育・現場の共同プロジェクト</a:t>
            </a:r>
            <a:endParaRPr lang="en-US" sz="1300" dirty="0"/>
          </a:p>
        </p:txBody>
      </p:sp>
      <p:sp>
        <p:nvSpPr>
          <p:cNvPr id="27" name="Shape 25"/>
          <p:cNvSpPr/>
          <p:nvPr/>
        </p:nvSpPr>
        <p:spPr>
          <a:xfrm>
            <a:off x="685800" y="5029200"/>
            <a:ext cx="10789920" cy="0"/>
          </a:xfrm>
          <a:prstGeom prst="line">
            <a:avLst/>
          </a:prstGeom>
          <a:noFill/>
          <a:ln w="12700">
            <a:solidFill>
              <a:srgbClr val="33476F"/>
            </a:solidFill>
            <a:prstDash val="solid"/>
          </a:ln>
        </p:spPr>
        <p:txBody>
          <a:bodyPr/>
          <a:p/>
        </p:txBody>
      </p:sp>
      <p:sp>
        <p:nvSpPr>
          <p:cNvPr id="28" name="Text 26"/>
          <p:cNvSpPr/>
          <p:nvPr/>
        </p:nvSpPr>
        <p:spPr>
          <a:xfrm>
            <a:off x="685800" y="5257800"/>
            <a:ext cx="10789920" cy="731520"/>
          </a:xfrm>
          <a:prstGeom prst="rect">
            <a:avLst/>
          </a:prstGeom>
          <a:noFill/>
          <a:ln/>
        </p:spPr>
        <p:txBody>
          <a:bodyPr wrap="square" rtlCol="0" anchor="ctr"/>
          <a:lstStyle/>
          <a:p>
            <a:pPr algn="ctr" indent="0" marL="0">
              <a:buNone/>
            </a:pPr>
            <a:r>
              <a:rPr lang="en-US" sz="2800" b="1" dirty="0">
                <a:solidFill>
                  <a:srgbClr val="FFFFFF"/>
                </a:solidFill>
                <a:latin typeface="Meiryo" pitchFamily="34" charset="0"/>
                <a:ea typeface="Meiryo" pitchFamily="34" charset="-122"/>
                <a:cs typeface="Meiryo" pitchFamily="34" charset="-120"/>
              </a:rPr>
              <a:t>『必要な時間に、必要な人員を、必要なだけ。』</a:t>
            </a:r>
            <a:endParaRPr lang="en-US" sz="2800" dirty="0"/>
          </a:p>
        </p:txBody>
      </p:sp>
      <p:sp>
        <p:nvSpPr>
          <p:cNvPr id="29" name="Text 27"/>
          <p:cNvSpPr/>
          <p:nvPr/>
        </p:nvSpPr>
        <p:spPr>
          <a:xfrm>
            <a:off x="685800" y="6035040"/>
            <a:ext cx="10789920" cy="365760"/>
          </a:xfrm>
          <a:prstGeom prst="rect">
            <a:avLst/>
          </a:prstGeom>
          <a:noFill/>
          <a:ln/>
        </p:spPr>
        <p:txBody>
          <a:bodyPr wrap="square" rtlCol="0" anchor="ctr"/>
          <a:lstStyle/>
          <a:p>
            <a:pPr algn="ctr" indent="0" marL="0">
              <a:buNone/>
            </a:pPr>
            <a:r>
              <a:rPr lang="en-US" sz="1400" i="1" dirty="0">
                <a:solidFill>
                  <a:srgbClr val="CADCFC"/>
                </a:solidFill>
                <a:latin typeface="Meiryo" pitchFamily="34" charset="0"/>
                <a:ea typeface="Meiryo" pitchFamily="34" charset="-122"/>
                <a:cs typeface="Meiryo" pitchFamily="34" charset="-120"/>
              </a:rPr>
              <a:t>会社の収支改善と、現場の無理のない運営の両立へ ― ご協力をお願いします。</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2026-08-07T00:41:47Z</dcterms:created>
  <dcterms:modified xsi:type="dcterms:W3CDTF">2026-08-07T00:41:47Z</dcterms:modified>
</cp:coreProperties>
</file>