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便/週</c:v>
                </c:pt>
              </c:strCache>
            </c:strRef>
          </c:tx>
          <c:spPr>
            <a:solidFill>
              <a:srgbClr val="2FB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3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5J</c:v>
                  </c:pt>
                  <c:pt idx="1">
                    <c:v>D7</c:v>
                  </c:pt>
                  <c:pt idx="2">
                    <c:v>RF</c:v>
                  </c:pt>
                  <c:pt idx="3">
                    <c:v>VJ</c:v>
                  </c:pt>
                  <c:pt idx="4">
                    <c:v>7C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23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623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85800"/>
            <a:ext cx="109728" cy="109728"/>
          </a:xfrm>
          <a:prstGeom prst="ellipse">
            <a:avLst/>
          </a:prstGeom>
          <a:solidFill>
            <a:srgbClr val="2FBFD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685800"/>
            <a:ext cx="109728" cy="109728"/>
          </a:xfrm>
          <a:prstGeom prst="ellipse">
            <a:avLst/>
          </a:prstGeom>
          <a:solidFill>
            <a:srgbClr val="2FBFD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685800"/>
            <a:ext cx="109728" cy="109728"/>
          </a:xfrm>
          <a:prstGeom prst="ellipse">
            <a:avLst/>
          </a:prstGeom>
          <a:solidFill>
            <a:srgbClr val="2FBFD6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685800"/>
            <a:ext cx="109728" cy="109728"/>
          </a:xfrm>
          <a:prstGeom prst="ellipse">
            <a:avLst/>
          </a:prstGeom>
          <a:solidFill>
            <a:srgbClr val="F5A52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685800"/>
            <a:ext cx="109728" cy="109728"/>
          </a:xfrm>
          <a:prstGeom prst="ellipse">
            <a:avLst/>
          </a:prstGeom>
          <a:solidFill>
            <a:srgbClr val="F5A524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84280" y="685800"/>
            <a:ext cx="109728" cy="109728"/>
          </a:xfrm>
          <a:prstGeom prst="ellipse">
            <a:avLst/>
          </a:prstGeom>
          <a:solidFill>
            <a:srgbClr val="F5A52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戦略提案  /  SPJ に勝つために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「拡大」</a:t>
            </a:r>
            <a:pPr algn="l" indent="0" marL="0">
              <a:buNone/>
            </a:pPr>
            <a:r>
              <a:rPr lang="en-US" sz="30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</a:t>
            </a:r>
            <a:pPr algn="l" indent="0" marL="0">
              <a:buNone/>
            </a:pPr>
            <a:r>
              <a:rPr lang="en-US" sz="5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「収益化」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会社は今、ものすごいスピードで“横”に広がっている。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足りないのは、それを一つの数字で制御する仕組み。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480560"/>
            <a:ext cx="10634472" cy="960120"/>
          </a:xfrm>
          <a:prstGeom prst="roundRect">
            <a:avLst>
              <a:gd name="adj" fmla="val 7619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 KPI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489204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1便当たり営業利益</a:t>
            </a:r>
            <a:pPr algn="l" indent="0" marL="0">
              <a:buNone/>
            </a:pPr>
            <a:r>
              <a:rPr lang="en-US" sz="26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l" indent="0" marL="0">
              <a:buNone/>
            </a:pPr>
            <a:r>
              <a:rPr lang="en-US" sz="26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人時生産性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現状認識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会社は、猛スピードで“横”に広がっている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この資料が示すのは、止まらない事業拡大。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450592"/>
            <a:ext cx="384048" cy="384048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空港を増やす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03704" y="2825496"/>
            <a:ext cx="237744" cy="292608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5184" y="2450592"/>
            <a:ext cx="384048" cy="384048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15184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業務を増やす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87368" y="2825496"/>
            <a:ext cx="237744" cy="292608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8848" y="2450592"/>
            <a:ext cx="384048" cy="384048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Airlineを増やす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71032" y="2825496"/>
            <a:ext cx="237744" cy="292608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2450592"/>
            <a:ext cx="384048" cy="384048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251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Rampを増やす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54696" y="2825496"/>
            <a:ext cx="237744" cy="292608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1584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66176" y="2450592"/>
            <a:ext cx="384048" cy="384048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11312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GSEを増やす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38360" y="2825496"/>
            <a:ext cx="237744" cy="292608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30" name="Shape 28"/>
          <p:cNvSpPr/>
          <p:nvPr/>
        </p:nvSpPr>
        <p:spPr>
          <a:xfrm>
            <a:off x="9985248" y="228600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49840" y="2450592"/>
            <a:ext cx="384048" cy="384048"/>
          </a:xfrm>
          <a:prstGeom prst="ellipse">
            <a:avLst/>
          </a:prstGeom>
          <a:solidFill>
            <a:srgbClr val="16232F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1498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94976" y="2852928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Cargoを始める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4160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 便/週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3931920" y="43434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会社全体では 209便/週 を受託。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材料は揃っている ―― 空港・Airline・Ramp・GSE・ヒトコム。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この資料に、ほとんど出てこない数字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「それで、1便当たり</a:t>
            </a:r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いくら利益</a:t>
            </a:r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</a:t>
            </a:r>
            <a:endParaRPr lang="en-US" sz="5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出ているのか？」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777240" y="45720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572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これは、いま成田で追いかけている </a:t>
            </a:r>
            <a:pPr algn="l" indent="0" marL="0">
              <a:buNone/>
            </a:pPr>
            <a:r>
              <a:rPr lang="en-US" sz="18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「何人いたらいいんですか？」</a:t>
            </a:r>
            <a:pPr algn="l" indent="0" marL="0"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と完全につながっている。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問題の構造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売上は増える。でも、利益は増えない。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80644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66544"/>
            <a:ext cx="512064" cy="512064"/>
          </a:xfrm>
          <a:prstGeom prst="ellipse">
            <a:avLst/>
          </a:prstGeom>
          <a:solidFill>
            <a:srgbClr val="E560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7048" y="186537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受託するたびに人を増やす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</a:rPr>
              <a:t>便を取るほど固定費が積み上がる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108960"/>
            <a:ext cx="580644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438144"/>
            <a:ext cx="512064" cy="512064"/>
          </a:xfrm>
          <a:prstGeom prst="ellipse">
            <a:avLst/>
          </a:prstGeom>
          <a:solidFill>
            <a:srgbClr val="E560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27048" y="323697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各航空会社に専属要員を抱える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</a:rPr>
              <a:t>要員が他便に使い回せない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480560"/>
            <a:ext cx="580644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809744"/>
            <a:ext cx="512064" cy="512064"/>
          </a:xfrm>
          <a:prstGeom prst="ellipse">
            <a:avLst/>
          </a:prstGeom>
          <a:solidFill>
            <a:srgbClr val="E560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91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27048" y="460857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便のない時間にも人件費が発生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</a:rPr>
              <a:t>稼働のない時間もコストが流れ続ける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663440" cy="3840480"/>
          </a:xfrm>
          <a:prstGeom prst="roundRect">
            <a:avLst>
              <a:gd name="adj" fmla="val 1905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受託を増やしても…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2880360"/>
            <a:ext cx="1051560" cy="2194560"/>
          </a:xfrm>
          <a:prstGeom prst="roundRect">
            <a:avLst>
              <a:gd name="adj" fmla="val 4348"/>
            </a:avLst>
          </a:prstGeom>
          <a:solidFill>
            <a:srgbClr val="2FBFD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2496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43800" y="5148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92640" y="4153205"/>
            <a:ext cx="1051560" cy="921715"/>
          </a:xfrm>
          <a:prstGeom prst="roundRect">
            <a:avLst>
              <a:gd name="adj" fmla="val 4960"/>
            </a:avLst>
          </a:prstGeom>
          <a:solidFill>
            <a:srgbClr val="F5A52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3769157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横ばい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5148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5074920"/>
            <a:ext cx="4023360" cy="0"/>
          </a:xfrm>
          <a:prstGeom prst="line">
            <a:avLst/>
          </a:prstGeom>
          <a:noFill/>
          <a:ln w="12700">
            <a:solidFill>
              <a:srgbClr val="1B3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打ち手 ①  ―  ものさしを変える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SPJに勝つなら、KPIを変える。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これまで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受託便数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規模で殴り合う指標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30368" y="2766060"/>
            <a:ext cx="566928" cy="640080"/>
          </a:xfrm>
          <a:prstGeom prst="chevron">
            <a:avLst/>
          </a:prstGeom>
          <a:solidFill>
            <a:srgbClr val="F5A524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214884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3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これから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75234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1便当たり営業利益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人時生産性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10634472" cy="1234440"/>
          </a:xfrm>
          <a:prstGeom prst="roundRect">
            <a:avLst>
              <a:gd name="adj" fmla="val 5926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4340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「便を何本取ったか」ではなく、</a:t>
            </a:r>
            <a:pPr algn="l" indent="0" marL="0">
              <a:buNone/>
            </a:pPr>
            <a:r>
              <a:rPr lang="en-US" sz="18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「その1本で、いくら稼ぎ、何人で回したか」</a:t>
            </a:r>
            <a:pPr algn="l" indent="0" marL="0"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を測る。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打ち手 ①-A  CONTRIBUTION を出す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航空会社別・空港別に、利益の“出どころ”を分解する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2FBFD6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8288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38528" y="1828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828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−直接人件費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67328" y="18288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−派遣費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76088" y="18288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−GSE費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84848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1828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−その他変動費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182880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16568" y="18288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16568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人時生産性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5295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投入総人時 ÷ 便数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36208" y="306324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0632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これで初めて、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5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“売上は大きいのに儲かっていないAirline”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が見える。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343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3FB27F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741164"/>
            <a:ext cx="438912" cy="438912"/>
          </a:xfrm>
          <a:prstGeom prst="ellipse">
            <a:avLst/>
          </a:prstGeom>
          <a:solidFill>
            <a:srgbClr val="3FB27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228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35608" y="448970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32F"/>
                </a:solidFill>
              </a:rPr>
              <a:t>隙間に入る便は高利益率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</a:rPr>
              <a:t>既存要員の空き時間に入れられれば追加固定費が小さく、利益率が跳ね上がる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6208" y="4343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E5604D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4741164"/>
            <a:ext cx="438912" cy="438912"/>
          </a:xfrm>
          <a:prstGeom prst="ellipse">
            <a:avLst/>
          </a:prstGeom>
          <a:solidFill>
            <a:srgbClr val="E5604D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7228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04888" y="448970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32F"/>
                </a:solidFill>
              </a:rPr>
              <a:t>専属・空き時間持ちは低利益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</a:rPr>
              <a:t>売上規模が大きくても、Contributionが薄い便が必ず紛れている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現状データ  /  便数の内訳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“便数”は見えている。次は、その1便の利益を見る。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5J（セブパシフィック）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7532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63</a:t>
            </a:r>
            <a:pPr algn="l" indent="0" marL="0">
              <a:buNone/>
            </a:pPr>
            <a:r>
              <a:rPr lang="en-US" sz="1800" dirty="0">
                <a:solidFill>
                  <a:srgbClr val="D9E6F2"/>
                </a:solidFill>
              </a:rPr>
              <a:t> 便/週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753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うち NRT だけで </a:t>
            </a:r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32便</a:t>
            </a:r>
            <a:pPr algn="l"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。最大の受託先。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01000" y="37947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問いは、この裏側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75320" y="427939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どのAirlineが実際に稼ぎ、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どのAirlineが人を食っているか？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便数だけでは、絶対に分からない。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打ち手 ②  SPJ にない武器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ヒトコムとの協業は、“別の戦い方”になる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BFD6"/>
                </a:solidFill>
              </a:rPr>
              <a:t>約20</a:t>
            </a:r>
            <a:pPr algn="ctr" indent="0" marL="0">
              <a:buNone/>
            </a:pPr>
            <a:r>
              <a:rPr lang="en-US" sz="2200" dirty="0">
                <a:solidFill>
                  <a:srgbClr val="D9E6F2"/>
                </a:solidFill>
              </a:rPr>
              <a:t> 社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協力会社ネットワーク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77640" y="178308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2FBFD6"/>
          </a:solidFill>
          <a:ln w="12700">
            <a:solidFill>
              <a:srgbClr val="2FBFD6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783080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Personnel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FBFF"/>
                </a:solidFill>
              </a:rPr>
              <a:t>現在の協業領域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90688" y="178308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19288" y="1783080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Cabin Cleaning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</a:rPr>
              <a:t>→ 拡大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7640" y="278892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2788920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Porter &amp; Sorting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</a:rPr>
              <a:t>→ 拡大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90688" y="278892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19288" y="2788920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32F"/>
                </a:solidFill>
              </a:rPr>
              <a:t>Lounge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</a:rPr>
              <a:t>→ 拡大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82128" y="178308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938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将来の射程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331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航空会社からの直接受託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他GH会社からの受託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6232F"/>
                </a:solidFill>
              </a:rPr>
              <a:t>人を「抱える」のではなく「組み替える」。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C6B7A"/>
                </a:solidFill>
              </a:rPr>
              <a:t>正社員・短時間勤務者・ヒトコム・協力会社を最適Mixできる会社は、SPJには真似できない。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打ち手 ③  仕組み化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私なら、</a:t>
            </a:r>
            <a:pPr algn="l" indent="0" marL="0">
              <a:buNone/>
            </a:pPr>
            <a:r>
              <a:rPr lang="en-US" sz="44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「FMG Operating System」</a:t>
            </a:r>
            <a:pPr algn="l" indent="0" marL="0">
              <a:buNone/>
            </a:pPr>
            <a:r>
              <a:rPr lang="en-US" sz="44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を作る。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航空会社からの問い合わせを、受託判断まで“自動で”通す。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10634472" cy="1920240"/>
          </a:xfrm>
          <a:prstGeom prst="roundRect">
            <a:avLst>
              <a:gd name="adj" fmla="val 4762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問い合わせの例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「12月から週7便、A330でKIXに飛ばしたい。Handlingできますか？」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―― これに、その場で答えを返せる会社になる。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OPERATING SYSTEM  /  処理フロー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 → 利益率まで、一本で通す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80136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136392" y="1901952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8" name="Shape 6"/>
          <p:cNvSpPr/>
          <p:nvPr/>
        </p:nvSpPr>
        <p:spPr>
          <a:xfrm>
            <a:off x="3419856" y="1600200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11296" y="180136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901952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2784" y="1600200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19088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64224" y="180136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必要Position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42248" y="1901952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25712" y="1600200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17152" y="180136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必要Skill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277856" y="2496312"/>
            <a:ext cx="237744" cy="274320"/>
          </a:xfrm>
          <a:prstGeom prst="downArrow">
            <a:avLst/>
          </a:prstGeom>
          <a:solidFill>
            <a:srgbClr val="2FBFD6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2825496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2916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必要人時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136392" y="3127248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9856" y="2825496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2916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11296" y="302666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現有人員の余力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3127248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72784" y="2825496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9088" y="2916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302666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不足時間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842248" y="3127248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32" name="Shape 30"/>
          <p:cNvSpPr/>
          <p:nvPr/>
        </p:nvSpPr>
        <p:spPr>
          <a:xfrm>
            <a:off x="9125712" y="2825496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2FBFD6"/>
          </a:solidFill>
          <a:ln w="12700">
            <a:solidFill>
              <a:srgbClr val="2FBFD6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72016" y="2916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F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17152" y="302666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最適Mix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10277856" y="3721608"/>
            <a:ext cx="237744" cy="274320"/>
          </a:xfrm>
          <a:prstGeom prst="downArrow">
            <a:avLst/>
          </a:prstGeom>
          <a:solidFill>
            <a:srgbClr val="2FBFD6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4050792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3232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" y="4251960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GSE必要数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3136392" y="4352544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40" name="Shape 38"/>
          <p:cNvSpPr/>
          <p:nvPr/>
        </p:nvSpPr>
        <p:spPr>
          <a:xfrm>
            <a:off x="3419856" y="4050792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66160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11296" y="4251960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989320" y="4352544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272784" y="4050792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19088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64224" y="4251960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最低受託単価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8842248" y="4352544"/>
            <a:ext cx="237744" cy="237744"/>
          </a:xfrm>
          <a:prstGeom prst="chevron">
            <a:avLst/>
          </a:prstGeom>
          <a:solidFill>
            <a:srgbClr val="2FBFD6"/>
          </a:solidFill>
          <a:ln/>
        </p:spPr>
      </p:sp>
      <p:sp>
        <p:nvSpPr>
          <p:cNvPr id="48" name="Shape 46"/>
          <p:cNvSpPr/>
          <p:nvPr/>
        </p:nvSpPr>
        <p:spPr>
          <a:xfrm>
            <a:off x="9125712" y="4050792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272016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217152" y="4251960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利益率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55321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人手の見積りから価格・利益率まで自動算出。</a:t>
            </a:r>
            <a:pPr algn="l"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“勘”ではなく“計算”で受託を判断する。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  /  その場で返せる答え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「できます。」――その先まで即答する。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10634472" cy="749808"/>
          </a:xfrm>
          <a:prstGeom prst="roundRect">
            <a:avLst>
              <a:gd name="adj" fmla="val 731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追加正社員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26680" y="2103120"/>
            <a:ext cx="3319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名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2962656"/>
            <a:ext cx="10634472" cy="749808"/>
          </a:xfrm>
          <a:prstGeom prst="roundRect">
            <a:avLst>
              <a:gd name="adj" fmla="val 731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62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短時間勤務者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26680" y="2962656"/>
            <a:ext cx="3319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3822192"/>
            <a:ext cx="10634472" cy="749808"/>
          </a:xfrm>
          <a:prstGeom prst="roundRect">
            <a:avLst>
              <a:gd name="adj" fmla="val 731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82219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26680" y="3822192"/>
            <a:ext cx="3319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既存で対応可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7240" y="4681728"/>
            <a:ext cx="10634472" cy="749808"/>
          </a:xfrm>
          <a:prstGeom prst="roundRect">
            <a:avLst>
              <a:gd name="adj" fmla="val 731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6817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最低受託価格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26680" y="4681728"/>
            <a:ext cx="3319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円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" y="5541264"/>
            <a:ext cx="10634472" cy="749808"/>
          </a:xfrm>
          <a:prstGeom prst="roundRect">
            <a:avLst>
              <a:gd name="adj" fmla="val 7317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54126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この価格での営業利益率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26680" y="5541264"/>
            <a:ext cx="3319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だから強い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SPJが規模で勝っても、FMGはこう勝つ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48840"/>
            <a:ext cx="822960" cy="822960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2004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受託判断が速い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40690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フローで即答。商談の初速で差がつく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1608" y="2148840"/>
            <a:ext cx="822960" cy="822960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94176" y="32004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必要人数が少ない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94176" y="40690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最適Mixで固定費を最小化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56248" y="2148840"/>
            <a:ext cx="822960" cy="822960"/>
          </a:xfrm>
          <a:prstGeom prst="ellipse">
            <a:avLst/>
          </a:prstGeom>
          <a:solidFill>
            <a:srgbClr val="2FBFD6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5624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柔らかい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28816" y="32004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柔軟に人を組める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28816" y="40690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正社員/短時間/ヒトコム/協力会社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70848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2148840"/>
            <a:ext cx="822960" cy="82296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9088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63456" y="32004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原価が見える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63456" y="40690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1便ごとの利益が把握できる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FMG＝“受託判断が速く、原価が見え、人を柔らかく組める会社”。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いまの仕事は、バラバラに見えて一本につながる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75688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26W 必要人数策定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24528" y="1783080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25696" y="2075688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9" name="Text 7"/>
          <p:cNvSpPr/>
          <p:nvPr/>
        </p:nvSpPr>
        <p:spPr>
          <a:xfrm>
            <a:off x="4828032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 整理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882128" y="1783080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83296" y="2075688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12" name="Text 10"/>
          <p:cNvSpPr/>
          <p:nvPr/>
        </p:nvSpPr>
        <p:spPr>
          <a:xfrm>
            <a:off x="8485632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成田 生産性向上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276148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" y="3054096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276148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短時間勤務者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224528" y="276148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5696" y="3054096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76148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シフト自動化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882128" y="276148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7C8C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3054096"/>
            <a:ext cx="256032" cy="256032"/>
          </a:xfrm>
          <a:prstGeom prst="ellipse">
            <a:avLst/>
          </a:prstGeom>
          <a:solidFill>
            <a:srgbClr val="2FBFD6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276148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ヒトコムとの人員連携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52160" y="3703320"/>
            <a:ext cx="457200" cy="457200"/>
          </a:xfrm>
          <a:prstGeom prst="downArrow">
            <a:avLst/>
          </a:prstGeom>
          <a:solidFill>
            <a:srgbClr val="F5A524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2976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ひとつのプロジェクトに統合する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“何人いたらいいのか”の延長線上に、会社全体の収益設計がある。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到達点  /  経営ダッシュボード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最終的な経営画面は、極端に言えばこれだけでいい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今日の便数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必要人数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実配置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1600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209/週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大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054096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2293F"/>
          </a:solidFill>
          <a:ln w="19050">
            <a:solidFill>
              <a:srgbClr val="F5A52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054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3054096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週7便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305409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05409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305409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+○人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054096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+320万円/月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7240" y="4096512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965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43200" y="4096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40965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40965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80960" y="40965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5440" y="40965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77240" y="54406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新規便を1本足すと </a:t>
            </a:r>
            <a:pPr algn="l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「利益 +320万円/月」</a:t>
            </a:r>
            <a:pPr algn="l" indent="0" marL="0">
              <a:buNone/>
            </a:pPr>
            <a:r>
              <a:rPr lang="en-US" sz="16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のように、その場で変わる。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  /  別の競争軸をつくる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規模で殴り合わない。土俵を変える。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SPJ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規模で押す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14884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A142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3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19672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&amp; Flexible 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19672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3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速さ・軽さ・柔らかさ・見える原価で勝つ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663440"/>
            <a:ext cx="10634472" cy="1234440"/>
          </a:xfrm>
          <a:prstGeom prst="roundRect">
            <a:avLst>
              <a:gd name="adj" fmla="val 5926"/>
            </a:avLst>
          </a:prstGeom>
          <a:solidFill>
            <a:srgbClr val="12293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6634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材料はもう揃っている ―― 空港・Airline・Ramp・GSE・ヒトコム。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足りないのは、それらを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一つの数字で制御する仕組み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だけだ。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Capacity &amp; Profitability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2026-08-10T04:12:29Z</dcterms:created>
  <dcterms:modified xsi:type="dcterms:W3CDTF">2026-08-10T04:12:29Z</dcterms:modified>
</cp:coreProperties>
</file>