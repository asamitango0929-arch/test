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21"/>
    <p:sldId id="271" r:id="rId22"/>
    <p:sldId id="267" r:id="rId13"/>
    <p:sldId id="268" r:id="rId14"/>
    <p:sldId id="272" r:id="rId23"/>
    <p:sldId id="273" r:id="rId24"/>
    <p:sldId id="274" r:id="rId25"/>
    <p:sldId id="275" r:id="rId26"/>
    <p:sldId id="276" r:id="rId27"/>
    <p:sldId id="269" r:id="rId15"/>
  </p:sldIdLst>
  <p:sldSz cx="9906000" cy="6858000" type="A4"/>
  <p:notesSz cx="6735763" cy="98663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93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2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787792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r>
              <a:rPr lang="en-US" dirty="0"/>
              <a:t>2027年1月16日勤務分からの本格運用に向けた運用要項の案です。</a:t>
            </a:r>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r>
              <a:rPr lang="en-US" dirty="0"/>
              <a:t>公休希望は原則受け付けない点が大きな変更点です。例外公休の詳細は次のスライドで説明します。</a:t>
            </a:r>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r>
              <a:rPr lang="en-US" dirty="0"/>
              <a:t>網掛けの行が主要マイルストーンです。初回は年末年始にかかるため、1/1のDRAFTと所属長確認期間は別途調整します。</a:t>
            </a:r>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79690" tIns="39845" rIns="79690" bIns="39845"/>
          <a:lstStyle/>
          <a:p>
            <a:r>
              <a:rPr lang="en-US" dirty="0"/>
              <a:t>本格運用前に、12/16～1/15勤務分を標準月次スケジュールどおりに試行作成する案です。日付は標準サイクル（15日締切→1日DRAFT→8日FINAL→16日開始）を当てはめたもの。試行シフトを実勤務に使うか、現行シフトと並行で検証するかは要決定です。</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79690" tIns="39845" rIns="79690" bIns="39845"/>
          <a:lstStyle/>
          <a:p>
            <a:r>
              <a:rPr lang="en-US" dirty="0"/>
              <a:t>上段が試行（12/16～1/15勤務分）、中段が本格初回（1/16～2/15勤務分）。12月前半は試行のCHECK・FINALと本格初回の申請締切が重なり、所属長の作業が集中します。また試行の運用開始(12/16)は本格初回のLOCK(12/21)直前のため、試行の“運用結果”は初回にはほぼ反映できず、反映できるのは主に“作成プロセス”の検証結果です。</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79690" tIns="39845" rIns="79690" bIns="39845"/>
          <a:lstStyle/>
          <a:p>
            <a:r>
              <a:rPr lang="en-US" dirty="0"/>
              <a:t>現在の線表・条件だけでは、エアラインPAX業務以外の動き、休暇の受付、OJTの組み方が決まっていません。詳細は次頁以降。</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79690" tIns="39845" rIns="79690" bIns="39845"/>
          <a:lstStyle/>
          <a:p>
            <a:r>
              <a:rPr lang="en-US" dirty="0"/>
              <a:t>現在の線表は純粋にエアラインのPAX業務のみ。実際には旅客業務終了後に、アルキア航空・KIOSK・ADD（UVS業務）へ移る動きがあるため、これらの線表とSKILLを押さえないと完全な動きとシフトは作成できません。</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79690" tIns="39845" rIns="79690" bIns="39845"/>
          <a:lstStyle/>
          <a:p>
            <a:r>
              <a:rPr lang="en-US" dirty="0"/>
              <a:t>有給・公休希望（RQ）・例外公休の区分自体は4～5頁で定義済み。決まっていないのは、どこで・どう受け付け、どう承認結果を返すかという運用面です。試行（11/15締切）では暫定ルールで受け付ける必要があります。</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79690" tIns="39845" rIns="79690" bIns="39845"/>
          <a:lstStyle/>
          <a:p>
            <a:r>
              <a:rPr lang="en-US" dirty="0"/>
              <a:t>今回のシフトではOJTも組めるが、トレーナー資格が明確でないと、例えばCKINの資格があれば誰でも先生としてアサインされてしまう可能性がある（CA/ZHの資格表のようにTrainerが明記されている場合は別）。</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79690" tIns="39845" rIns="79690" bIns="39845"/>
          <a:lstStyle/>
          <a:p>
            <a:r>
              <a:rPr lang="en-US" dirty="0"/>
              <a:t>担当・期限は案。試行分は11/15までに暫定値で、本格初回分は12/15（SKILL情報更新締切と同日）までに確定する想定です。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400" y="1102361"/>
            <a:ext cx="8585200" cy="467360"/>
          </a:xfrm>
          <a:prstGeom prst="rect">
            <a:avLst/>
          </a:prstGeom>
          <a:noFill/>
          <a:ln/>
        </p:spPr>
        <p:txBody>
          <a:bodyPr wrap="square" lIns="0" tIns="0" rIns="0" bIns="0" rtlCol="0" anchor="t"/>
          <a:lstStyle>
            <a:lvl1pPr marL="0" indent="0" algn="l">
              <a:lnSpc>
                <a:spcPct val="115000"/>
              </a:lnSpc>
              <a:buNone/>
              <a:defRPr lang="en-US" sz="2600" dirty="0">
                <a:solidFill>
                  <a:srgbClr val="14213D"/>
                </a:solidFill>
                <a:latin typeface="Noto Sans JP" pitchFamily="34" charset="0"/>
                <a:ea typeface="Noto Sans JP" pitchFamily="34" charset="-122"/>
                <a:cs typeface="Noto Sans JP"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660400" y="1874521"/>
            <a:ext cx="8585200" cy="4170679"/>
          </a:xfrm>
          <a:prstGeom prst="rect">
            <a:avLst/>
          </a:prstGeom>
          <a:noFill/>
          <a:ln/>
        </p:spPr>
        <p:txBody>
          <a:bodyPr wrap="square" lIns="0" tIns="0" rIns="0" bIns="0" rtlCol="0" anchor="t"/>
          <a:lstStyle>
            <a:lvl1pPr marL="0" indent="0" algn="l">
              <a:lnSpc>
                <a:spcPct val="140000"/>
              </a:lnSpc>
              <a:buNone/>
              <a:defRPr lang="en-US" sz="1300" dirty="0">
                <a:solidFill>
                  <a:srgbClr val="14213D"/>
                </a:solidFill>
                <a:latin typeface="Noto Sans JP" pitchFamily="34" charset="0"/>
                <a:ea typeface="Noto Sans JP" pitchFamily="34" charset="-122"/>
                <a:cs typeface="Noto Sans JP" pitchFamily="34" charset="-120"/>
              </a:defRPr>
            </a:lvl1pPr>
          </a:lstStyle>
          <a:p>
            <a:pPr marL="0" indent="0" algn="l">
              <a:lnSpc>
                <a:spcPct val="140000"/>
              </a:lnSpc>
              <a:buNone/>
            </a:pP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742950" rtl="0" eaLnBrk="1" latinLnBrk="0" hangingPunct="1">
        <a:spcBef>
          <a:spcPct val="0"/>
        </a:spcBef>
        <a:buNone/>
        <a:defRPr sz="3575" kern="1200">
          <a:solidFill>
            <a:schemeClr val="tx1"/>
          </a:solidFill>
          <a:latin typeface="+mj-lt"/>
          <a:ea typeface="+mj-ea"/>
          <a:cs typeface="+mj-cs"/>
        </a:defRPr>
      </a:lvl1pPr>
    </p:titleStyle>
    <p:bodyStyle>
      <a:lvl1pPr marL="278606" indent="-278606" algn="l" defTabSz="742950" rtl="0" eaLnBrk="1" latinLnBrk="0" hangingPunct="1">
        <a:spcBef>
          <a:spcPct val="20000"/>
        </a:spcBef>
        <a:buFont typeface="Arial" pitchFamily="34" charset="0"/>
        <a:buChar char="•"/>
        <a:defRPr sz="2600" kern="1200">
          <a:solidFill>
            <a:schemeClr val="tx1"/>
          </a:solidFill>
          <a:latin typeface="+mn-lt"/>
          <a:ea typeface="+mn-ea"/>
          <a:cs typeface="+mn-cs"/>
        </a:defRPr>
      </a:lvl1pPr>
      <a:lvl2pPr marL="603647" indent="-232172" algn="l" defTabSz="742950" rtl="0" eaLnBrk="1" latinLnBrk="0" hangingPunct="1">
        <a:spcBef>
          <a:spcPct val="20000"/>
        </a:spcBef>
        <a:buFont typeface="Arial" pitchFamily="34" charset="0"/>
        <a:buChar char="–"/>
        <a:defRPr sz="2275" kern="1200">
          <a:solidFill>
            <a:schemeClr val="tx1"/>
          </a:solidFill>
          <a:latin typeface="+mn-lt"/>
          <a:ea typeface="+mn-ea"/>
          <a:cs typeface="+mn-cs"/>
        </a:defRPr>
      </a:lvl2pPr>
      <a:lvl3pPr marL="928688" indent="-185738" algn="l" defTabSz="742950" rtl="0" eaLnBrk="1" latinLnBrk="0" hangingPunct="1">
        <a:spcBef>
          <a:spcPct val="20000"/>
        </a:spcBef>
        <a:buFont typeface="Arial" pitchFamily="34" charset="0"/>
        <a:buChar char="•"/>
        <a:defRPr sz="1950" kern="1200">
          <a:solidFill>
            <a:schemeClr val="tx1"/>
          </a:solidFill>
          <a:latin typeface="+mn-lt"/>
          <a:ea typeface="+mn-ea"/>
          <a:cs typeface="+mn-cs"/>
        </a:defRPr>
      </a:lvl3pPr>
      <a:lvl4pPr marL="1300163"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4pPr>
      <a:lvl5pPr marL="1671638"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5pPr>
      <a:lvl6pPr marL="2043113"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6pPr>
      <a:lvl7pPr marL="2414588"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7pPr>
      <a:lvl8pPr marL="2786063"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8pPr>
      <a:lvl9pPr marL="3157538" indent="-185738" algn="l" defTabSz="742950" rtl="0" eaLnBrk="1" latinLnBrk="0" hangingPunct="1">
        <a:spcBef>
          <a:spcPct val="20000"/>
        </a:spcBef>
        <a:buFont typeface="Arial" pitchFamily="34" charset="0"/>
        <a:buChar char="•"/>
        <a:defRPr sz="1625"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642938"/>
            <a:ext cx="123825" cy="5572125"/>
          </a:xfrm>
          <a:prstGeom prst="rect">
            <a:avLst/>
          </a:prstGeom>
          <a:solidFill>
            <a:srgbClr val="F2A65A"/>
          </a:solidFill>
          <a:ln/>
        </p:spPr>
        <p:txBody>
          <a:bodyPr/>
          <a:lstStyle/>
          <a:p>
            <a:endParaRPr lang="ja-JP" altLang="en-US" sz="1463"/>
          </a:p>
        </p:txBody>
      </p:sp>
      <p:sp>
        <p:nvSpPr>
          <p:cNvPr id="3" name="Text 1"/>
          <p:cNvSpPr/>
          <p:nvPr/>
        </p:nvSpPr>
        <p:spPr>
          <a:xfrm>
            <a:off x="660400" y="2387838"/>
            <a:ext cx="8842756" cy="222885"/>
          </a:xfrm>
          <a:prstGeom prst="rect">
            <a:avLst/>
          </a:prstGeom>
          <a:noFill/>
          <a:ln/>
        </p:spPr>
        <p:txBody>
          <a:bodyPr wrap="square" lIns="0" tIns="0" rIns="0" bIns="0" rtlCol="0" anchor="t">
            <a:normAutofit/>
          </a:bodyPr>
          <a:lstStyle/>
          <a:p>
            <a:pPr>
              <a:lnSpc>
                <a:spcPts val="1593"/>
              </a:lnSpc>
            </a:pPr>
            <a:r>
              <a:rPr lang="en-US" sz="1138" b="1" kern="0" spc="163" dirty="0">
                <a:solidFill>
                  <a:srgbClr val="F2A65A"/>
                </a:solidFill>
                <a:latin typeface="Noto Sans JP" pitchFamily="34" charset="0"/>
                <a:ea typeface="Noto Sans JP" pitchFamily="34" charset="-122"/>
                <a:cs typeface="Noto Sans JP" pitchFamily="34" charset="-120"/>
              </a:rPr>
              <a:t>DRAFT ｜ 実運用開始前 草案</a:t>
            </a:r>
            <a:endParaRPr lang="en-US" sz="1138" dirty="0"/>
          </a:p>
        </p:txBody>
      </p:sp>
      <p:sp>
        <p:nvSpPr>
          <p:cNvPr id="4" name="Text 2"/>
          <p:cNvSpPr>
            <a:spLocks noGrp="1"/>
          </p:cNvSpPr>
          <p:nvPr>
            <p:ph type="title"/>
          </p:nvPr>
        </p:nvSpPr>
        <p:spPr>
          <a:xfrm>
            <a:off x="660400" y="2796460"/>
            <a:ext cx="8842756" cy="1209358"/>
          </a:xfrm>
          <a:prstGeom prst="rect">
            <a:avLst/>
          </a:prstGeom>
          <a:noFill/>
          <a:ln/>
        </p:spPr>
        <p:txBody>
          <a:bodyPr wrap="square" lIns="0" tIns="0" rIns="0" bIns="0" rtlCol="0" anchor="t">
            <a:normAutofit/>
          </a:bodyPr>
          <a:lstStyle/>
          <a:p>
            <a:pPr>
              <a:lnSpc>
                <a:spcPts val="4680"/>
              </a:lnSpc>
            </a:pPr>
            <a:r>
              <a:rPr lang="en-US" sz="3900" b="1" dirty="0">
                <a:solidFill>
                  <a:srgbClr val="F6F7F4"/>
                </a:solidFill>
              </a:rPr>
              <a:t>シフト管理システム</a:t>
            </a:r>
            <a:endParaRPr lang="en-US" sz="3900" dirty="0"/>
          </a:p>
          <a:p>
            <a:pPr>
              <a:lnSpc>
                <a:spcPts val="4680"/>
              </a:lnSpc>
            </a:pPr>
            <a:r>
              <a:rPr lang="en-US" sz="3900" b="1" dirty="0">
                <a:solidFill>
                  <a:srgbClr val="F6F7F4"/>
                </a:solidFill>
              </a:rPr>
              <a:t>運用要項（案）</a:t>
            </a:r>
            <a:endParaRPr lang="en-US" sz="3900" dirty="0"/>
          </a:p>
        </p:txBody>
      </p:sp>
      <p:sp>
        <p:nvSpPr>
          <p:cNvPr id="5" name="Text 3"/>
          <p:cNvSpPr/>
          <p:nvPr/>
        </p:nvSpPr>
        <p:spPr>
          <a:xfrm>
            <a:off x="660400" y="4191556"/>
            <a:ext cx="8842756" cy="299244"/>
          </a:xfrm>
          <a:prstGeom prst="rect">
            <a:avLst/>
          </a:prstGeom>
          <a:noFill/>
          <a:ln/>
        </p:spPr>
        <p:txBody>
          <a:bodyPr wrap="square" lIns="0" tIns="0" rIns="0" bIns="0" rtlCol="0" anchor="t">
            <a:normAutofit/>
          </a:bodyPr>
          <a:lstStyle/>
          <a:p>
            <a:pPr>
              <a:lnSpc>
                <a:spcPts val="2194"/>
              </a:lnSpc>
            </a:pPr>
            <a:r>
              <a:rPr lang="en-US" sz="1463" dirty="0">
                <a:solidFill>
                  <a:srgbClr val="B8C4D6"/>
                </a:solidFill>
                <a:latin typeface="Noto Sans JP" pitchFamily="34" charset="0"/>
                <a:ea typeface="Noto Sans JP" pitchFamily="34" charset="-122"/>
                <a:cs typeface="Noto Sans JP" pitchFamily="34" charset="-120"/>
              </a:rPr>
              <a:t>2027年1月16日勤務分からの本格運用に向けて</a:t>
            </a:r>
            <a:endParaRPr lang="en-US" sz="1463" dirty="0"/>
          </a:p>
        </p:txBody>
      </p:sp>
      <p:sp>
        <p:nvSpPr>
          <p:cNvPr id="6" name="Text 4"/>
          <p:cNvSpPr/>
          <p:nvPr/>
        </p:nvSpPr>
        <p:spPr>
          <a:xfrm>
            <a:off x="660400" y="5546407"/>
            <a:ext cx="6376988" cy="193993"/>
          </a:xfrm>
          <a:prstGeom prst="rect">
            <a:avLst/>
          </a:prstGeom>
          <a:noFill/>
          <a:ln/>
        </p:spPr>
        <p:txBody>
          <a:bodyPr wrap="square" lIns="0" tIns="0" rIns="0" bIns="0" rtlCol="0" anchor="t">
            <a:normAutofit/>
          </a:bodyPr>
          <a:lstStyle/>
          <a:p>
            <a:pPr>
              <a:lnSpc>
                <a:spcPts val="1365"/>
              </a:lnSpc>
            </a:pPr>
            <a:r>
              <a:rPr lang="en-US" sz="975" dirty="0">
                <a:solidFill>
                  <a:srgbClr val="B8C4D6"/>
                </a:solidFill>
                <a:latin typeface="Noto Sans JP" pitchFamily="34" charset="0"/>
                <a:ea typeface="Noto Sans JP" pitchFamily="34" charset="-122"/>
                <a:cs typeface="Noto Sans JP" pitchFamily="34" charset="-120"/>
              </a:rPr>
              <a:t>人材採用戦略部　遠藤麻美　｜　2026年10月1日</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01　運用開始</a:t>
            </a:r>
            <a:endParaRPr lang="en-US" sz="975" dirty="0"/>
          </a:p>
        </p:txBody>
      </p:sp>
      <p:sp>
        <p:nvSpPr>
          <p:cNvPr id="3" name="Text 1"/>
          <p:cNvSpPr>
            <a:spLocks noGrp="1"/>
          </p:cNvSpPr>
          <p:nvPr>
            <p:ph type="title"/>
          </p:nvPr>
        </p:nvSpPr>
        <p:spPr>
          <a:xfrm>
            <a:off x="660400" y="1538605"/>
            <a:ext cx="8842756" cy="400368"/>
          </a:xfrm>
          <a:prstGeom prst="rect">
            <a:avLst/>
          </a:prstGeom>
          <a:noFill/>
          <a:ln/>
        </p:spPr>
        <p:txBody>
          <a:bodyPr wrap="square" lIns="0" tIns="0" rIns="0" bIns="0" rtlCol="0" anchor="t">
            <a:normAutofit/>
          </a:bodyPr>
          <a:lstStyle/>
          <a:p>
            <a:pPr>
              <a:lnSpc>
                <a:spcPts val="2990"/>
              </a:lnSpc>
            </a:pPr>
            <a:r>
              <a:rPr lang="en-US" b="1" dirty="0"/>
              <a:t>本格運用は2027年1月16日勤務分から</a:t>
            </a:r>
            <a:endParaRPr lang="en-US" dirty="0"/>
          </a:p>
        </p:txBody>
      </p:sp>
      <p:sp>
        <p:nvSpPr>
          <p:cNvPr id="4" name="Shape 2"/>
          <p:cNvSpPr/>
          <p:nvPr/>
        </p:nvSpPr>
        <p:spPr>
          <a:xfrm>
            <a:off x="660400" y="2165985"/>
            <a:ext cx="4931524" cy="3223578"/>
          </a:xfrm>
          <a:prstGeom prst="roundRect">
            <a:avLst>
              <a:gd name="adj" fmla="val 2561"/>
            </a:avLst>
          </a:prstGeom>
          <a:solidFill>
            <a:srgbClr val="14213D"/>
          </a:solidFill>
          <a:ln/>
        </p:spPr>
        <p:txBody>
          <a:bodyPr/>
          <a:lstStyle/>
          <a:p>
            <a:endParaRPr lang="ja-JP" altLang="en-US" sz="1463"/>
          </a:p>
        </p:txBody>
      </p:sp>
      <p:sp>
        <p:nvSpPr>
          <p:cNvPr id="5" name="Text 3"/>
          <p:cNvSpPr/>
          <p:nvPr/>
        </p:nvSpPr>
        <p:spPr>
          <a:xfrm>
            <a:off x="949326" y="2454910"/>
            <a:ext cx="4484284" cy="222885"/>
          </a:xfrm>
          <a:prstGeom prst="rect">
            <a:avLst/>
          </a:prstGeom>
          <a:noFill/>
          <a:ln/>
        </p:spPr>
        <p:txBody>
          <a:bodyPr wrap="square" lIns="0" tIns="0" rIns="0" bIns="0" rtlCol="0" anchor="t">
            <a:normAutofit/>
          </a:bodyPr>
          <a:lstStyle/>
          <a:p>
            <a:pPr>
              <a:lnSpc>
                <a:spcPts val="1593"/>
              </a:lnSpc>
            </a:pPr>
            <a:r>
              <a:rPr lang="en-US" sz="1138" b="1" dirty="0">
                <a:solidFill>
                  <a:srgbClr val="F2A65A"/>
                </a:solidFill>
                <a:latin typeface="Noto Sans JP" pitchFamily="34" charset="0"/>
                <a:ea typeface="Noto Sans JP" pitchFamily="34" charset="-122"/>
                <a:cs typeface="Noto Sans JP" pitchFamily="34" charset="-120"/>
              </a:rPr>
              <a:t>本格運用開始</a:t>
            </a:r>
            <a:endParaRPr lang="en-US" sz="1138" dirty="0"/>
          </a:p>
        </p:txBody>
      </p:sp>
      <p:sp>
        <p:nvSpPr>
          <p:cNvPr id="6" name="Text 4"/>
          <p:cNvSpPr/>
          <p:nvPr/>
        </p:nvSpPr>
        <p:spPr>
          <a:xfrm>
            <a:off x="949326" y="2780982"/>
            <a:ext cx="4484284" cy="449898"/>
          </a:xfrm>
          <a:prstGeom prst="rect">
            <a:avLst/>
          </a:prstGeom>
          <a:noFill/>
          <a:ln/>
        </p:spPr>
        <p:txBody>
          <a:bodyPr wrap="square" lIns="0" tIns="0" rIns="0" bIns="0" rtlCol="0" anchor="t">
            <a:normAutofit/>
          </a:bodyPr>
          <a:lstStyle/>
          <a:p>
            <a:pPr>
              <a:lnSpc>
                <a:spcPts val="3380"/>
              </a:lnSpc>
            </a:pPr>
            <a:r>
              <a:rPr lang="en-US" sz="2600" b="1" dirty="0">
                <a:solidFill>
                  <a:srgbClr val="F6F7F4"/>
                </a:solidFill>
                <a:latin typeface="Noto Sans JP" pitchFamily="34" charset="0"/>
                <a:ea typeface="Noto Sans JP" pitchFamily="34" charset="-122"/>
                <a:cs typeface="Noto Sans JP" pitchFamily="34" charset="-120"/>
              </a:rPr>
              <a:t>2027年1月16日 ～ 2月15日</a:t>
            </a:r>
            <a:endParaRPr lang="en-US" sz="2600" dirty="0"/>
          </a:p>
        </p:txBody>
      </p:sp>
      <p:sp>
        <p:nvSpPr>
          <p:cNvPr id="7" name="Text 5"/>
          <p:cNvSpPr/>
          <p:nvPr/>
        </p:nvSpPr>
        <p:spPr>
          <a:xfrm>
            <a:off x="949326" y="3334068"/>
            <a:ext cx="4484284" cy="280670"/>
          </a:xfrm>
          <a:prstGeom prst="rect">
            <a:avLst/>
          </a:prstGeom>
          <a:noFill/>
          <a:ln/>
        </p:spPr>
        <p:txBody>
          <a:bodyPr wrap="square" lIns="0" tIns="0" rIns="0" bIns="0" rtlCol="0" anchor="t">
            <a:normAutofit/>
          </a:bodyPr>
          <a:lstStyle/>
          <a:p>
            <a:pPr>
              <a:lnSpc>
                <a:spcPts val="2048"/>
              </a:lnSpc>
            </a:pPr>
            <a:r>
              <a:rPr lang="en-US" sz="1463" dirty="0">
                <a:solidFill>
                  <a:srgbClr val="B8C4D6"/>
                </a:solidFill>
                <a:latin typeface="Noto Sans JP" pitchFamily="34" charset="0"/>
                <a:ea typeface="Noto Sans JP" pitchFamily="34" charset="-122"/>
                <a:cs typeface="Noto Sans JP" pitchFamily="34" charset="-120"/>
              </a:rPr>
              <a:t>勤務分から</a:t>
            </a:r>
            <a:endParaRPr lang="en-US" sz="1463" dirty="0"/>
          </a:p>
        </p:txBody>
      </p:sp>
      <p:sp>
        <p:nvSpPr>
          <p:cNvPr id="8" name="Shape 6"/>
          <p:cNvSpPr/>
          <p:nvPr/>
        </p:nvSpPr>
        <p:spPr>
          <a:xfrm>
            <a:off x="5759604" y="2168565"/>
            <a:ext cx="3483417" cy="3218418"/>
          </a:xfrm>
          <a:prstGeom prst="roundRect">
            <a:avLst>
              <a:gd name="adj" fmla="val 1844"/>
            </a:avLst>
          </a:prstGeom>
          <a:solidFill>
            <a:srgbClr val="FDFDFB"/>
          </a:solidFill>
          <a:ln w="6350">
            <a:solidFill>
              <a:srgbClr val="D9DDD3"/>
            </a:solidFill>
            <a:prstDash val="solid"/>
          </a:ln>
        </p:spPr>
        <p:txBody>
          <a:bodyPr/>
          <a:lstStyle/>
          <a:p>
            <a:endParaRPr lang="ja-JP" altLang="en-US" sz="1463"/>
          </a:p>
        </p:txBody>
      </p:sp>
      <p:sp>
        <p:nvSpPr>
          <p:cNvPr id="9" name="Text 7"/>
          <p:cNvSpPr/>
          <p:nvPr/>
        </p:nvSpPr>
        <p:spPr>
          <a:xfrm>
            <a:off x="6050077" y="2459038"/>
            <a:ext cx="2989545" cy="222885"/>
          </a:xfrm>
          <a:prstGeom prst="rect">
            <a:avLst/>
          </a:prstGeom>
          <a:noFill/>
          <a:ln/>
        </p:spPr>
        <p:txBody>
          <a:bodyPr wrap="square" lIns="0" tIns="0" rIns="0" bIns="0" rtlCol="0" anchor="t">
            <a:normAutofit/>
          </a:bodyPr>
          <a:lstStyle/>
          <a:p>
            <a:pPr>
              <a:lnSpc>
                <a:spcPts val="1593"/>
              </a:lnSpc>
            </a:pPr>
            <a:r>
              <a:rPr lang="en-US" sz="1138" b="1" dirty="0">
                <a:solidFill>
                  <a:srgbClr val="B4530F"/>
                </a:solidFill>
                <a:latin typeface="Noto Sans JP" pitchFamily="34" charset="0"/>
                <a:ea typeface="Noto Sans JP" pitchFamily="34" charset="-122"/>
                <a:cs typeface="Noto Sans JP" pitchFamily="34" charset="-120"/>
              </a:rPr>
              <a:t>シフト期間（原則）</a:t>
            </a:r>
            <a:endParaRPr lang="en-US" sz="1138" dirty="0"/>
          </a:p>
        </p:txBody>
      </p:sp>
      <p:sp>
        <p:nvSpPr>
          <p:cNvPr id="10" name="Text 8"/>
          <p:cNvSpPr/>
          <p:nvPr/>
        </p:nvSpPr>
        <p:spPr>
          <a:xfrm>
            <a:off x="6050077" y="2764472"/>
            <a:ext cx="2989545" cy="656273"/>
          </a:xfrm>
          <a:prstGeom prst="rect">
            <a:avLst/>
          </a:prstGeom>
          <a:noFill/>
          <a:ln/>
        </p:spPr>
        <p:txBody>
          <a:bodyPr wrap="square" lIns="0" tIns="0" rIns="0" bIns="0" rtlCol="0" anchor="t">
            <a:normAutofit/>
          </a:bodyPr>
          <a:lstStyle/>
          <a:p>
            <a:pPr>
              <a:lnSpc>
                <a:spcPts val="2503"/>
              </a:lnSpc>
            </a:pPr>
            <a:r>
              <a:rPr lang="en-US" sz="1788" b="1" dirty="0">
                <a:solidFill>
                  <a:srgbClr val="14213D"/>
                </a:solidFill>
                <a:latin typeface="Noto Sans JP" pitchFamily="34" charset="0"/>
                <a:ea typeface="Noto Sans JP" pitchFamily="34" charset="-122"/>
                <a:cs typeface="Noto Sans JP" pitchFamily="34" charset="-120"/>
              </a:rPr>
              <a:t>毎月16日 ～</a:t>
            </a:r>
            <a:endParaRPr lang="en-US" sz="1788" dirty="0"/>
          </a:p>
          <a:p>
            <a:pPr>
              <a:lnSpc>
                <a:spcPts val="2503"/>
              </a:lnSpc>
            </a:pPr>
            <a:r>
              <a:rPr lang="en-US" sz="1788" b="1" dirty="0">
                <a:solidFill>
                  <a:srgbClr val="14213D"/>
                </a:solidFill>
                <a:latin typeface="Noto Sans JP" pitchFamily="34" charset="0"/>
                <a:ea typeface="Noto Sans JP" pitchFamily="34" charset="-122"/>
                <a:cs typeface="Noto Sans JP" pitchFamily="34" charset="-120"/>
              </a:rPr>
              <a:t>翌月15日</a:t>
            </a:r>
            <a:endParaRPr lang="en-US" sz="1788" dirty="0"/>
          </a:p>
        </p:txBody>
      </p:sp>
      <p:sp>
        <p:nvSpPr>
          <p:cNvPr id="11" name="Text 9"/>
          <p:cNvSpPr/>
          <p:nvPr/>
        </p:nvSpPr>
        <p:spPr>
          <a:xfrm>
            <a:off x="6050077" y="3503295"/>
            <a:ext cx="2989545" cy="251778"/>
          </a:xfrm>
          <a:prstGeom prst="rect">
            <a:avLst/>
          </a:prstGeom>
          <a:noFill/>
          <a:ln/>
        </p:spPr>
        <p:txBody>
          <a:bodyPr wrap="square" lIns="0" tIns="0" rIns="0" bIns="0" rtlCol="0" anchor="t">
            <a:normAutofit/>
          </a:bodyPr>
          <a:lstStyle/>
          <a:p>
            <a:pPr>
              <a:lnSpc>
                <a:spcPts val="1820"/>
              </a:lnSpc>
            </a:pPr>
            <a:r>
              <a:rPr lang="en-US" sz="1138" dirty="0">
                <a:solidFill>
                  <a:srgbClr val="4A5568"/>
                </a:solidFill>
                <a:latin typeface="Noto Sans JP" pitchFamily="34" charset="0"/>
                <a:ea typeface="Noto Sans JP" pitchFamily="34" charset="-122"/>
                <a:cs typeface="Noto Sans JP" pitchFamily="34" charset="-120"/>
              </a:rPr>
              <a:t>1か月単位で作成・確定する</a:t>
            </a:r>
            <a:endParaRPr lang="en-US" sz="1138" dirty="0"/>
          </a:p>
        </p:txBody>
      </p:sp>
      <p:sp>
        <p:nvSpPr>
          <p:cNvPr id="12" name="Text 10"/>
          <p:cNvSpPr/>
          <p:nvPr/>
        </p:nvSpPr>
        <p:spPr>
          <a:xfrm>
            <a:off x="660400" y="5711508"/>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3" name="Text 11"/>
          <p:cNvSpPr/>
          <p:nvPr/>
        </p:nvSpPr>
        <p:spPr>
          <a:xfrm>
            <a:off x="8172450" y="5711508"/>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2</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02　基本スケジュール</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情報更新からシフト運用開始までの9ステップ</a:t>
            </a:r>
            <a:endParaRPr lang="en-US" dirty="0"/>
          </a:p>
        </p:txBody>
      </p:sp>
      <p:sp>
        <p:nvSpPr>
          <p:cNvPr id="4" name="Shape 2"/>
          <p:cNvSpPr/>
          <p:nvPr/>
        </p:nvSpPr>
        <p:spPr>
          <a:xfrm>
            <a:off x="660400" y="2414151"/>
            <a:ext cx="1867694" cy="0"/>
          </a:xfrm>
          <a:prstGeom prst="line">
            <a:avLst/>
          </a:prstGeom>
          <a:noFill/>
          <a:ln w="19050">
            <a:solidFill>
              <a:srgbClr val="B4530F"/>
            </a:solidFill>
            <a:prstDash val="solid"/>
          </a:ln>
        </p:spPr>
        <p:txBody>
          <a:bodyPr/>
          <a:lstStyle/>
          <a:p>
            <a:endParaRPr lang="ja-JP" altLang="en-US" sz="1463"/>
          </a:p>
        </p:txBody>
      </p:sp>
      <p:sp>
        <p:nvSpPr>
          <p:cNvPr id="5" name="Text 3"/>
          <p:cNvSpPr/>
          <p:nvPr/>
        </p:nvSpPr>
        <p:spPr>
          <a:xfrm>
            <a:off x="660400" y="2165985"/>
            <a:ext cx="1923725" cy="222885"/>
          </a:xfrm>
          <a:prstGeom prst="rect">
            <a:avLst/>
          </a:prstGeom>
          <a:noFill/>
          <a:ln/>
        </p:spPr>
        <p:txBody>
          <a:bodyPr wrap="square" lIns="0" tIns="0" rIns="0" bIns="0" rtlCol="0" anchor="t">
            <a:normAutofit/>
          </a:bodyPr>
          <a:lstStyle/>
          <a:p>
            <a:pPr>
              <a:lnSpc>
                <a:spcPts val="1593"/>
              </a:lnSpc>
            </a:pPr>
            <a:r>
              <a:rPr lang="en-US" sz="1138" b="1" dirty="0">
                <a:solidFill>
                  <a:srgbClr val="B4530F"/>
                </a:solidFill>
                <a:latin typeface="Noto Sans JP" pitchFamily="34" charset="0"/>
                <a:ea typeface="Noto Sans JP" pitchFamily="34" charset="-122"/>
                <a:cs typeface="Noto Sans JP" pitchFamily="34" charset="-120"/>
              </a:rPr>
              <a:t>準備</a:t>
            </a:r>
            <a:endParaRPr lang="en-US" sz="1138" dirty="0"/>
          </a:p>
        </p:txBody>
      </p:sp>
      <p:sp>
        <p:nvSpPr>
          <p:cNvPr id="6" name="Text 4"/>
          <p:cNvSpPr/>
          <p:nvPr/>
        </p:nvSpPr>
        <p:spPr>
          <a:xfrm>
            <a:off x="662980" y="2486382"/>
            <a:ext cx="1862534" cy="572691"/>
          </a:xfrm>
          <a:prstGeom prst="roundRect">
            <a:avLst>
              <a:gd name="adj" fmla="val 8559"/>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01</a:t>
            </a:r>
            <a:r>
              <a:rPr lang="en-US" sz="1138" dirty="0">
                <a:solidFill>
                  <a:srgbClr val="14213D"/>
                </a:solidFill>
                <a:latin typeface="Noto Sans JP" pitchFamily="34" charset="0"/>
                <a:ea typeface="Noto Sans JP" pitchFamily="34" charset="-122"/>
                <a:cs typeface="Noto Sans JP" pitchFamily="34" charset="-120"/>
              </a:rPr>
              <a:t>　各種情報更新・休暇申請</a:t>
            </a:r>
            <a:endParaRPr lang="en-US" sz="1138" dirty="0"/>
          </a:p>
        </p:txBody>
      </p:sp>
      <p:sp>
        <p:nvSpPr>
          <p:cNvPr id="7" name="Text 5"/>
          <p:cNvSpPr/>
          <p:nvPr/>
        </p:nvSpPr>
        <p:spPr>
          <a:xfrm>
            <a:off x="662980" y="3126145"/>
            <a:ext cx="1862534" cy="370443"/>
          </a:xfrm>
          <a:prstGeom prst="roundRect">
            <a:avLst>
              <a:gd name="adj" fmla="val 13231"/>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02</a:t>
            </a:r>
            <a:r>
              <a:rPr lang="en-US" sz="1138" dirty="0">
                <a:solidFill>
                  <a:srgbClr val="14213D"/>
                </a:solidFill>
                <a:latin typeface="Noto Sans JP" pitchFamily="34" charset="0"/>
                <a:ea typeface="Noto Sans JP" pitchFamily="34" charset="-122"/>
                <a:cs typeface="Noto Sans JP" pitchFamily="34" charset="-120"/>
              </a:rPr>
              <a:t>　所属長確認・承認</a:t>
            </a:r>
            <a:endParaRPr lang="en-US" sz="1138" dirty="0"/>
          </a:p>
        </p:txBody>
      </p:sp>
      <p:sp>
        <p:nvSpPr>
          <p:cNvPr id="8" name="Text 6"/>
          <p:cNvSpPr/>
          <p:nvPr/>
        </p:nvSpPr>
        <p:spPr>
          <a:xfrm>
            <a:off x="662980" y="3563661"/>
            <a:ext cx="1862534" cy="370443"/>
          </a:xfrm>
          <a:prstGeom prst="roundRect">
            <a:avLst>
              <a:gd name="adj" fmla="val 13231"/>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03</a:t>
            </a:r>
            <a:r>
              <a:rPr lang="en-US" sz="1138" dirty="0">
                <a:solidFill>
                  <a:srgbClr val="14213D"/>
                </a:solidFill>
                <a:latin typeface="Noto Sans JP" pitchFamily="34" charset="0"/>
                <a:ea typeface="Noto Sans JP" pitchFamily="34" charset="-122"/>
                <a:cs typeface="Noto Sans JP" pitchFamily="34" charset="-120"/>
              </a:rPr>
              <a:t>　シフト作成条件確定</a:t>
            </a:r>
            <a:endParaRPr lang="en-US" sz="1138" dirty="0"/>
          </a:p>
        </p:txBody>
      </p:sp>
      <p:pic>
        <p:nvPicPr>
          <p:cNvPr id="9" name="Image 0" descr="arrow-right"/>
          <p:cNvPicPr>
            <a:picLocks noChangeAspect="1"/>
          </p:cNvPicPr>
          <p:nvPr/>
        </p:nvPicPr>
        <p:blipFill>
          <a:blip r:embed="rId3"/>
          <a:srcRect/>
          <a:stretch/>
        </p:blipFill>
        <p:spPr>
          <a:xfrm>
            <a:off x="2610644" y="2989421"/>
            <a:ext cx="206375" cy="123825"/>
          </a:xfrm>
          <a:prstGeom prst="rect">
            <a:avLst/>
          </a:prstGeom>
        </p:spPr>
      </p:pic>
      <p:sp>
        <p:nvSpPr>
          <p:cNvPr id="10" name="Shape 7"/>
          <p:cNvSpPr/>
          <p:nvPr/>
        </p:nvSpPr>
        <p:spPr>
          <a:xfrm>
            <a:off x="2899569" y="2414151"/>
            <a:ext cx="1867694" cy="0"/>
          </a:xfrm>
          <a:prstGeom prst="line">
            <a:avLst/>
          </a:prstGeom>
          <a:noFill/>
          <a:ln w="19050">
            <a:solidFill>
              <a:srgbClr val="14213D"/>
            </a:solidFill>
            <a:prstDash val="solid"/>
          </a:ln>
        </p:spPr>
        <p:txBody>
          <a:bodyPr/>
          <a:lstStyle/>
          <a:p>
            <a:endParaRPr lang="ja-JP" altLang="en-US" sz="1463"/>
          </a:p>
        </p:txBody>
      </p:sp>
      <p:sp>
        <p:nvSpPr>
          <p:cNvPr id="11" name="Text 8"/>
          <p:cNvSpPr/>
          <p:nvPr/>
        </p:nvSpPr>
        <p:spPr>
          <a:xfrm>
            <a:off x="2899569" y="2165985"/>
            <a:ext cx="1923725" cy="222885"/>
          </a:xfrm>
          <a:prstGeom prst="rect">
            <a:avLst/>
          </a:prstGeom>
          <a:noFill/>
          <a:ln/>
        </p:spPr>
        <p:txBody>
          <a:bodyPr wrap="square" lIns="0" tIns="0" rIns="0" bIns="0"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作成</a:t>
            </a:r>
            <a:endParaRPr lang="en-US" sz="1138" dirty="0"/>
          </a:p>
        </p:txBody>
      </p:sp>
      <p:sp>
        <p:nvSpPr>
          <p:cNvPr id="12" name="Text 9"/>
          <p:cNvSpPr/>
          <p:nvPr/>
        </p:nvSpPr>
        <p:spPr>
          <a:xfrm>
            <a:off x="2899569" y="2483803"/>
            <a:ext cx="1867694" cy="569595"/>
          </a:xfrm>
          <a:prstGeom prst="roundRect">
            <a:avLst>
              <a:gd name="adj" fmla="val 9058"/>
            </a:avLst>
          </a:prstGeom>
          <a:solidFill>
            <a:srgbClr val="14213D"/>
          </a:solidFill>
          <a:ln/>
        </p:spPr>
        <p:txBody>
          <a:bodyPr wrap="square" lIns="88076" tIns="67438" rIns="38236" bIns="46801" rtlCol="0" anchor="t">
            <a:normAutofit/>
          </a:bodyPr>
          <a:lstStyle/>
          <a:p>
            <a:pPr>
              <a:lnSpc>
                <a:spcPts val="1593"/>
              </a:lnSpc>
            </a:pPr>
            <a:r>
              <a:rPr lang="en-US" sz="1138" b="1" dirty="0">
                <a:solidFill>
                  <a:srgbClr val="F6F7F4"/>
                </a:solidFill>
                <a:latin typeface="Noto Sans JP" pitchFamily="34" charset="0"/>
                <a:ea typeface="Noto Sans JP" pitchFamily="34" charset="-122"/>
                <a:cs typeface="Noto Sans JP" pitchFamily="34" charset="-120"/>
              </a:rPr>
              <a:t>04</a:t>
            </a:r>
            <a:r>
              <a:rPr lang="en-US" sz="1138" dirty="0">
                <a:solidFill>
                  <a:srgbClr val="F6F7F4"/>
                </a:solidFill>
                <a:latin typeface="Noto Sans JP" pitchFamily="34" charset="0"/>
                <a:ea typeface="Noto Sans JP" pitchFamily="34" charset="-122"/>
                <a:cs typeface="Noto Sans JP" pitchFamily="34" charset="-120"/>
              </a:rPr>
              <a:t>　システムによる自動シフト作成</a:t>
            </a:r>
            <a:endParaRPr lang="en-US" sz="1138" dirty="0"/>
          </a:p>
        </p:txBody>
      </p:sp>
      <p:sp>
        <p:nvSpPr>
          <p:cNvPr id="13" name="Text 10"/>
          <p:cNvSpPr/>
          <p:nvPr/>
        </p:nvSpPr>
        <p:spPr>
          <a:xfrm>
            <a:off x="2902149" y="3117890"/>
            <a:ext cx="1862534" cy="370443"/>
          </a:xfrm>
          <a:prstGeom prst="roundRect">
            <a:avLst>
              <a:gd name="adj" fmla="val 13231"/>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05</a:t>
            </a:r>
            <a:r>
              <a:rPr lang="en-US" sz="1138" dirty="0">
                <a:solidFill>
                  <a:srgbClr val="14213D"/>
                </a:solidFill>
                <a:latin typeface="Noto Sans JP" pitchFamily="34" charset="0"/>
                <a:ea typeface="Noto Sans JP" pitchFamily="34" charset="-122"/>
                <a:cs typeface="Noto Sans JP" pitchFamily="34" charset="-120"/>
              </a:rPr>
              <a:t>　DRAFT RELEASE</a:t>
            </a:r>
            <a:endParaRPr lang="en-US" sz="1138" dirty="0"/>
          </a:p>
        </p:txBody>
      </p:sp>
      <p:pic>
        <p:nvPicPr>
          <p:cNvPr id="14" name="Image 1" descr="arrow-right"/>
          <p:cNvPicPr>
            <a:picLocks noChangeAspect="1"/>
          </p:cNvPicPr>
          <p:nvPr/>
        </p:nvPicPr>
        <p:blipFill>
          <a:blip r:embed="rId3"/>
          <a:srcRect/>
          <a:stretch/>
        </p:blipFill>
        <p:spPr>
          <a:xfrm>
            <a:off x="4849813" y="2989421"/>
            <a:ext cx="206375" cy="123825"/>
          </a:xfrm>
          <a:prstGeom prst="rect">
            <a:avLst/>
          </a:prstGeom>
        </p:spPr>
      </p:pic>
      <p:sp>
        <p:nvSpPr>
          <p:cNvPr id="15" name="Shape 11"/>
          <p:cNvSpPr/>
          <p:nvPr/>
        </p:nvSpPr>
        <p:spPr>
          <a:xfrm>
            <a:off x="5138737" y="2414151"/>
            <a:ext cx="1867694" cy="0"/>
          </a:xfrm>
          <a:prstGeom prst="line">
            <a:avLst/>
          </a:prstGeom>
          <a:noFill/>
          <a:ln w="19050">
            <a:solidFill>
              <a:srgbClr val="B4530F"/>
            </a:solidFill>
            <a:prstDash val="solid"/>
          </a:ln>
        </p:spPr>
        <p:txBody>
          <a:bodyPr/>
          <a:lstStyle/>
          <a:p>
            <a:endParaRPr lang="ja-JP" altLang="en-US" sz="1463"/>
          </a:p>
        </p:txBody>
      </p:sp>
      <p:sp>
        <p:nvSpPr>
          <p:cNvPr id="16" name="Text 12"/>
          <p:cNvSpPr/>
          <p:nvPr/>
        </p:nvSpPr>
        <p:spPr>
          <a:xfrm>
            <a:off x="5138738" y="2165985"/>
            <a:ext cx="1923725" cy="222885"/>
          </a:xfrm>
          <a:prstGeom prst="rect">
            <a:avLst/>
          </a:prstGeom>
          <a:noFill/>
          <a:ln/>
        </p:spPr>
        <p:txBody>
          <a:bodyPr wrap="square" lIns="0" tIns="0" rIns="0" bIns="0" rtlCol="0" anchor="t">
            <a:normAutofit/>
          </a:bodyPr>
          <a:lstStyle/>
          <a:p>
            <a:pPr>
              <a:lnSpc>
                <a:spcPts val="1593"/>
              </a:lnSpc>
            </a:pPr>
            <a:r>
              <a:rPr lang="en-US" sz="1138" b="1" dirty="0">
                <a:solidFill>
                  <a:srgbClr val="B4530F"/>
                </a:solidFill>
                <a:latin typeface="Noto Sans JP" pitchFamily="34" charset="0"/>
                <a:ea typeface="Noto Sans JP" pitchFamily="34" charset="-122"/>
                <a:cs typeface="Noto Sans JP" pitchFamily="34" charset="-120"/>
              </a:rPr>
              <a:t>確認・調整</a:t>
            </a:r>
            <a:endParaRPr lang="en-US" sz="1138" dirty="0"/>
          </a:p>
        </p:txBody>
      </p:sp>
      <p:sp>
        <p:nvSpPr>
          <p:cNvPr id="17" name="Text 13"/>
          <p:cNvSpPr/>
          <p:nvPr/>
        </p:nvSpPr>
        <p:spPr>
          <a:xfrm>
            <a:off x="5141317" y="2486382"/>
            <a:ext cx="1862534" cy="572691"/>
          </a:xfrm>
          <a:prstGeom prst="roundRect">
            <a:avLst>
              <a:gd name="adj" fmla="val 8559"/>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06</a:t>
            </a:r>
            <a:r>
              <a:rPr lang="en-US" sz="1138" dirty="0">
                <a:solidFill>
                  <a:srgbClr val="14213D"/>
                </a:solidFill>
                <a:latin typeface="Noto Sans JP" pitchFamily="34" charset="0"/>
                <a:ea typeface="Noto Sans JP" pitchFamily="34" charset="-122"/>
                <a:cs typeface="Noto Sans JP" pitchFamily="34" charset="-120"/>
              </a:rPr>
              <a:t>　所属長によるSKILL・配置CHECK</a:t>
            </a:r>
            <a:endParaRPr lang="en-US" sz="1138" dirty="0"/>
          </a:p>
        </p:txBody>
      </p:sp>
      <p:sp>
        <p:nvSpPr>
          <p:cNvPr id="18" name="Text 14"/>
          <p:cNvSpPr/>
          <p:nvPr/>
        </p:nvSpPr>
        <p:spPr>
          <a:xfrm>
            <a:off x="5141317" y="3126145"/>
            <a:ext cx="1862534" cy="370443"/>
          </a:xfrm>
          <a:prstGeom prst="roundRect">
            <a:avLst>
              <a:gd name="adj" fmla="val 13231"/>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07</a:t>
            </a:r>
            <a:r>
              <a:rPr lang="en-US" sz="1138" dirty="0">
                <a:solidFill>
                  <a:srgbClr val="14213D"/>
                </a:solidFill>
                <a:latin typeface="Noto Sans JP" pitchFamily="34" charset="0"/>
                <a:ea typeface="Noto Sans JP" pitchFamily="34" charset="-122"/>
                <a:cs typeface="Noto Sans JP" pitchFamily="34" charset="-120"/>
              </a:rPr>
              <a:t>　修正・最終調整</a:t>
            </a:r>
            <a:endParaRPr lang="en-US" sz="1138" dirty="0"/>
          </a:p>
        </p:txBody>
      </p:sp>
      <p:pic>
        <p:nvPicPr>
          <p:cNvPr id="19" name="Image 2" descr="arrow-right"/>
          <p:cNvPicPr>
            <a:picLocks noChangeAspect="1"/>
          </p:cNvPicPr>
          <p:nvPr/>
        </p:nvPicPr>
        <p:blipFill>
          <a:blip r:embed="rId3"/>
          <a:srcRect/>
          <a:stretch/>
        </p:blipFill>
        <p:spPr>
          <a:xfrm>
            <a:off x="7088981" y="2989421"/>
            <a:ext cx="206375" cy="123825"/>
          </a:xfrm>
          <a:prstGeom prst="rect">
            <a:avLst/>
          </a:prstGeom>
        </p:spPr>
      </p:pic>
      <p:sp>
        <p:nvSpPr>
          <p:cNvPr id="20" name="Shape 15"/>
          <p:cNvSpPr/>
          <p:nvPr/>
        </p:nvSpPr>
        <p:spPr>
          <a:xfrm>
            <a:off x="7377906" y="2414151"/>
            <a:ext cx="1867694" cy="0"/>
          </a:xfrm>
          <a:prstGeom prst="line">
            <a:avLst/>
          </a:prstGeom>
          <a:noFill/>
          <a:ln w="19050">
            <a:solidFill>
              <a:srgbClr val="B4530F"/>
            </a:solidFill>
            <a:prstDash val="solid"/>
          </a:ln>
        </p:spPr>
        <p:txBody>
          <a:bodyPr/>
          <a:lstStyle/>
          <a:p>
            <a:endParaRPr lang="ja-JP" altLang="en-US" sz="1463"/>
          </a:p>
        </p:txBody>
      </p:sp>
      <p:sp>
        <p:nvSpPr>
          <p:cNvPr id="21" name="Text 16"/>
          <p:cNvSpPr/>
          <p:nvPr/>
        </p:nvSpPr>
        <p:spPr>
          <a:xfrm>
            <a:off x="7377906" y="2165985"/>
            <a:ext cx="1923725" cy="222885"/>
          </a:xfrm>
          <a:prstGeom prst="rect">
            <a:avLst/>
          </a:prstGeom>
          <a:noFill/>
          <a:ln/>
        </p:spPr>
        <p:txBody>
          <a:bodyPr wrap="square" lIns="0" tIns="0" rIns="0" bIns="0" rtlCol="0" anchor="t">
            <a:normAutofit/>
          </a:bodyPr>
          <a:lstStyle/>
          <a:p>
            <a:pPr>
              <a:lnSpc>
                <a:spcPts val="1593"/>
              </a:lnSpc>
            </a:pPr>
            <a:r>
              <a:rPr lang="en-US" sz="1138" b="1" dirty="0">
                <a:solidFill>
                  <a:srgbClr val="B4530F"/>
                </a:solidFill>
                <a:latin typeface="Noto Sans JP" pitchFamily="34" charset="0"/>
                <a:ea typeface="Noto Sans JP" pitchFamily="34" charset="-122"/>
                <a:cs typeface="Noto Sans JP" pitchFamily="34" charset="-120"/>
              </a:rPr>
              <a:t>確定・運用</a:t>
            </a:r>
            <a:endParaRPr lang="en-US" sz="1138" dirty="0"/>
          </a:p>
        </p:txBody>
      </p:sp>
      <p:sp>
        <p:nvSpPr>
          <p:cNvPr id="22" name="Text 17"/>
          <p:cNvSpPr/>
          <p:nvPr/>
        </p:nvSpPr>
        <p:spPr>
          <a:xfrm>
            <a:off x="7380486" y="2486382"/>
            <a:ext cx="1862534" cy="370443"/>
          </a:xfrm>
          <a:prstGeom prst="roundRect">
            <a:avLst>
              <a:gd name="adj" fmla="val 13231"/>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08</a:t>
            </a:r>
            <a:r>
              <a:rPr lang="en-US" sz="1138" dirty="0">
                <a:solidFill>
                  <a:srgbClr val="14213D"/>
                </a:solidFill>
                <a:latin typeface="Noto Sans JP" pitchFamily="34" charset="0"/>
                <a:ea typeface="Noto Sans JP" pitchFamily="34" charset="-122"/>
                <a:cs typeface="Noto Sans JP" pitchFamily="34" charset="-120"/>
              </a:rPr>
              <a:t>　FINAL RELEASE</a:t>
            </a:r>
            <a:endParaRPr lang="en-US" sz="1138" dirty="0"/>
          </a:p>
        </p:txBody>
      </p:sp>
      <p:sp>
        <p:nvSpPr>
          <p:cNvPr id="23" name="Text 18"/>
          <p:cNvSpPr/>
          <p:nvPr/>
        </p:nvSpPr>
        <p:spPr>
          <a:xfrm>
            <a:off x="7380486" y="2923898"/>
            <a:ext cx="1862534" cy="370443"/>
          </a:xfrm>
          <a:prstGeom prst="roundRect">
            <a:avLst>
              <a:gd name="adj" fmla="val 13231"/>
            </a:avLst>
          </a:prstGeom>
          <a:solidFill>
            <a:srgbClr val="FDFDFB"/>
          </a:solidFill>
          <a:ln w="6350">
            <a:solidFill>
              <a:srgbClr val="D9DDD3"/>
            </a:solidFill>
            <a:prstDash val="solid"/>
          </a:ln>
        </p:spPr>
        <p:txBody>
          <a:bodyPr wrap="square" lIns="90379" tIns="69742" rIns="40788" bIns="49104"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09</a:t>
            </a:r>
            <a:r>
              <a:rPr lang="en-US" sz="1138" dirty="0">
                <a:solidFill>
                  <a:srgbClr val="14213D"/>
                </a:solidFill>
                <a:latin typeface="Noto Sans JP" pitchFamily="34" charset="0"/>
                <a:ea typeface="Noto Sans JP" pitchFamily="34" charset="-122"/>
                <a:cs typeface="Noto Sans JP" pitchFamily="34" charset="-120"/>
              </a:rPr>
              <a:t>　シフト運用開始</a:t>
            </a:r>
            <a:endParaRPr lang="en-US" sz="1138" dirty="0"/>
          </a:p>
        </p:txBody>
      </p:sp>
      <p:sp>
        <p:nvSpPr>
          <p:cNvPr id="24" name="Text 19"/>
          <p:cNvSpPr/>
          <p:nvPr/>
        </p:nvSpPr>
        <p:spPr>
          <a:xfrm>
            <a:off x="660400" y="4184333"/>
            <a:ext cx="8842756"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濃色のステップのみシステムが実行。それ以外は各担当者が実施・判断する。</a:t>
            </a:r>
            <a:endParaRPr lang="en-US" sz="975" dirty="0"/>
          </a:p>
        </p:txBody>
      </p:sp>
      <p:sp>
        <p:nvSpPr>
          <p:cNvPr id="25" name="Text 20"/>
          <p:cNvSpPr/>
          <p:nvPr/>
        </p:nvSpPr>
        <p:spPr>
          <a:xfrm>
            <a:off x="660400" y="5711508"/>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26" name="Text 21"/>
          <p:cNvSpPr/>
          <p:nvPr/>
        </p:nvSpPr>
        <p:spPr>
          <a:xfrm>
            <a:off x="8172450" y="5711508"/>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3</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03　休暇申請</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休暇は3つの区分で取り扱う</a:t>
            </a:r>
            <a:endParaRPr lang="en-US" dirty="0"/>
          </a:p>
        </p:txBody>
      </p:sp>
      <p:sp>
        <p:nvSpPr>
          <p:cNvPr id="4" name="Shape 2"/>
          <p:cNvSpPr/>
          <p:nvPr/>
        </p:nvSpPr>
        <p:spPr>
          <a:xfrm>
            <a:off x="662980" y="2168565"/>
            <a:ext cx="2774003" cy="3218418"/>
          </a:xfrm>
          <a:prstGeom prst="roundRect">
            <a:avLst>
              <a:gd name="adj" fmla="val 2139"/>
            </a:avLst>
          </a:prstGeom>
          <a:solidFill>
            <a:srgbClr val="FDFDFB"/>
          </a:solidFill>
          <a:ln w="6350">
            <a:solidFill>
              <a:srgbClr val="D9DDD3"/>
            </a:solidFill>
            <a:prstDash val="solid"/>
          </a:ln>
        </p:spPr>
        <p:txBody>
          <a:bodyPr/>
          <a:lstStyle/>
          <a:p>
            <a:endParaRPr lang="ja-JP" altLang="en-US" sz="1463"/>
          </a:p>
        </p:txBody>
      </p:sp>
      <p:sp>
        <p:nvSpPr>
          <p:cNvPr id="5" name="Text 3"/>
          <p:cNvSpPr/>
          <p:nvPr/>
        </p:nvSpPr>
        <p:spPr>
          <a:xfrm>
            <a:off x="850265" y="2376487"/>
            <a:ext cx="2471415"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（1）有給休暇</a:t>
            </a:r>
            <a:endParaRPr lang="en-US" sz="1463" dirty="0"/>
          </a:p>
        </p:txBody>
      </p:sp>
      <p:sp>
        <p:nvSpPr>
          <p:cNvPr id="6" name="Text 4"/>
          <p:cNvSpPr/>
          <p:nvPr/>
        </p:nvSpPr>
        <p:spPr>
          <a:xfrm>
            <a:off x="850265" y="2702560"/>
            <a:ext cx="2399432" cy="326073"/>
          </a:xfrm>
          <a:prstGeom prst="roundRect">
            <a:avLst>
              <a:gd name="adj" fmla="val 12658"/>
            </a:avLst>
          </a:prstGeom>
          <a:solidFill>
            <a:srgbClr val="ECEEE8"/>
          </a:solidFill>
          <a:ln/>
        </p:spPr>
        <p:txBody>
          <a:bodyPr wrap="square" lIns="91098" tIns="49823" rIns="25307" bIns="29186"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前月15日までに本人が申請</a:t>
            </a:r>
            <a:endParaRPr lang="en-US" sz="1138" dirty="0"/>
          </a:p>
        </p:txBody>
      </p:sp>
      <p:sp>
        <p:nvSpPr>
          <p:cNvPr id="7" name="Text 5"/>
          <p:cNvSpPr/>
          <p:nvPr/>
        </p:nvSpPr>
        <p:spPr>
          <a:xfrm>
            <a:off x="850265" y="3131821"/>
            <a:ext cx="2471415" cy="482918"/>
          </a:xfrm>
          <a:prstGeom prst="rect">
            <a:avLst/>
          </a:prstGeom>
          <a:noFill/>
          <a:ln/>
        </p:spPr>
        <p:txBody>
          <a:bodyPr wrap="square" lIns="0" tIns="0" rIns="0" bIns="0" rtlCol="0" anchor="t">
            <a:normAutofit/>
          </a:bodyPr>
          <a:lstStyle/>
          <a:p>
            <a:pPr>
              <a:lnSpc>
                <a:spcPts val="1820"/>
              </a:lnSpc>
            </a:pPr>
            <a:r>
              <a:rPr lang="en-US" sz="1138" dirty="0">
                <a:solidFill>
                  <a:srgbClr val="4A5568"/>
                </a:solidFill>
                <a:latin typeface="Noto Sans JP" pitchFamily="34" charset="0"/>
                <a:ea typeface="Noto Sans JP" pitchFamily="34" charset="-122"/>
                <a:cs typeface="Noto Sans JP" pitchFamily="34" charset="-120"/>
              </a:rPr>
              <a:t>所属長が確認・承認し、承認されたものをシフト作成条件へ反映する。</a:t>
            </a:r>
            <a:endParaRPr lang="en-US" sz="1138" dirty="0"/>
          </a:p>
        </p:txBody>
      </p:sp>
      <p:sp>
        <p:nvSpPr>
          <p:cNvPr id="8" name="Shape 6"/>
          <p:cNvSpPr/>
          <p:nvPr/>
        </p:nvSpPr>
        <p:spPr>
          <a:xfrm>
            <a:off x="3565967" y="2168565"/>
            <a:ext cx="2774067" cy="3218418"/>
          </a:xfrm>
          <a:prstGeom prst="roundRect">
            <a:avLst>
              <a:gd name="adj" fmla="val 2139"/>
            </a:avLst>
          </a:prstGeom>
          <a:solidFill>
            <a:srgbClr val="FDFDFB"/>
          </a:solidFill>
          <a:ln w="6350">
            <a:solidFill>
              <a:srgbClr val="D9DDD3"/>
            </a:solidFill>
            <a:prstDash val="solid"/>
          </a:ln>
        </p:spPr>
        <p:txBody>
          <a:bodyPr/>
          <a:lstStyle/>
          <a:p>
            <a:endParaRPr lang="ja-JP" altLang="en-US" sz="1463"/>
          </a:p>
        </p:txBody>
      </p:sp>
      <p:sp>
        <p:nvSpPr>
          <p:cNvPr id="9" name="Text 7"/>
          <p:cNvSpPr/>
          <p:nvPr/>
        </p:nvSpPr>
        <p:spPr>
          <a:xfrm>
            <a:off x="3753252" y="2376487"/>
            <a:ext cx="2471481"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（2）公休希望（RQ）</a:t>
            </a:r>
            <a:endParaRPr lang="en-US" sz="1463" dirty="0"/>
          </a:p>
        </p:txBody>
      </p:sp>
      <p:sp>
        <p:nvSpPr>
          <p:cNvPr id="10" name="Text 8"/>
          <p:cNvSpPr/>
          <p:nvPr/>
        </p:nvSpPr>
        <p:spPr>
          <a:xfrm>
            <a:off x="3753252" y="2702560"/>
            <a:ext cx="2399496" cy="326073"/>
          </a:xfrm>
          <a:prstGeom prst="roundRect">
            <a:avLst>
              <a:gd name="adj" fmla="val 12658"/>
            </a:avLst>
          </a:prstGeom>
          <a:solidFill>
            <a:srgbClr val="14213D"/>
          </a:solidFill>
          <a:ln/>
        </p:spPr>
        <p:txBody>
          <a:bodyPr wrap="square" lIns="91098" tIns="49823" rIns="25305" bIns="29186" rtlCol="0" anchor="t">
            <a:normAutofit/>
          </a:bodyPr>
          <a:lstStyle/>
          <a:p>
            <a:pPr>
              <a:lnSpc>
                <a:spcPts val="1593"/>
              </a:lnSpc>
            </a:pPr>
            <a:r>
              <a:rPr lang="en-US" sz="1138" b="1" dirty="0">
                <a:solidFill>
                  <a:srgbClr val="F6F7F4"/>
                </a:solidFill>
                <a:latin typeface="Noto Sans JP" pitchFamily="34" charset="0"/>
                <a:ea typeface="Noto Sans JP" pitchFamily="34" charset="-122"/>
                <a:cs typeface="Noto Sans JP" pitchFamily="34" charset="-120"/>
              </a:rPr>
              <a:t>原則として受け付けない</a:t>
            </a:r>
            <a:endParaRPr lang="en-US" sz="1138" dirty="0"/>
          </a:p>
        </p:txBody>
      </p:sp>
      <p:sp>
        <p:nvSpPr>
          <p:cNvPr id="11" name="Text 9"/>
          <p:cNvSpPr/>
          <p:nvPr/>
        </p:nvSpPr>
        <p:spPr>
          <a:xfrm>
            <a:off x="3753252" y="3131821"/>
            <a:ext cx="2471481" cy="714058"/>
          </a:xfrm>
          <a:prstGeom prst="rect">
            <a:avLst/>
          </a:prstGeom>
          <a:noFill/>
          <a:ln/>
        </p:spPr>
        <p:txBody>
          <a:bodyPr wrap="square" lIns="0" tIns="0" rIns="0" bIns="0" rtlCol="0" anchor="t">
            <a:normAutofit/>
          </a:bodyPr>
          <a:lstStyle/>
          <a:p>
            <a:pPr>
              <a:lnSpc>
                <a:spcPts val="1820"/>
              </a:lnSpc>
            </a:pPr>
            <a:r>
              <a:rPr lang="en-US" sz="1138" dirty="0">
                <a:solidFill>
                  <a:srgbClr val="4A5568"/>
                </a:solidFill>
                <a:latin typeface="Noto Sans JP" pitchFamily="34" charset="0"/>
                <a:ea typeface="Noto Sans JP" pitchFamily="34" charset="-122"/>
                <a:cs typeface="Noto Sans JP" pitchFamily="34" charset="-120"/>
              </a:rPr>
              <a:t>公休日は、必要要員・SKILL・勤務条件・公休数等に基づき、システムにより配置する。</a:t>
            </a:r>
            <a:endParaRPr lang="en-US" sz="1138" dirty="0"/>
          </a:p>
        </p:txBody>
      </p:sp>
      <p:sp>
        <p:nvSpPr>
          <p:cNvPr id="12" name="Shape 10"/>
          <p:cNvSpPr/>
          <p:nvPr/>
        </p:nvSpPr>
        <p:spPr>
          <a:xfrm>
            <a:off x="6469018" y="2168565"/>
            <a:ext cx="2774003" cy="3218418"/>
          </a:xfrm>
          <a:prstGeom prst="roundRect">
            <a:avLst>
              <a:gd name="adj" fmla="val 2139"/>
            </a:avLst>
          </a:prstGeom>
          <a:solidFill>
            <a:srgbClr val="FDFDFB"/>
          </a:solidFill>
          <a:ln w="6350">
            <a:solidFill>
              <a:srgbClr val="D9DDD3"/>
            </a:solidFill>
            <a:prstDash val="solid"/>
          </a:ln>
        </p:spPr>
        <p:txBody>
          <a:bodyPr/>
          <a:lstStyle/>
          <a:p>
            <a:endParaRPr lang="ja-JP" altLang="en-US" sz="1463"/>
          </a:p>
        </p:txBody>
      </p:sp>
      <p:sp>
        <p:nvSpPr>
          <p:cNvPr id="13" name="Text 11"/>
          <p:cNvSpPr/>
          <p:nvPr/>
        </p:nvSpPr>
        <p:spPr>
          <a:xfrm>
            <a:off x="6656304" y="2376487"/>
            <a:ext cx="2471415"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（3）例外公休申請</a:t>
            </a:r>
            <a:endParaRPr lang="en-US" sz="1463" dirty="0"/>
          </a:p>
        </p:txBody>
      </p:sp>
      <p:sp>
        <p:nvSpPr>
          <p:cNvPr id="14" name="Text 12"/>
          <p:cNvSpPr/>
          <p:nvPr/>
        </p:nvSpPr>
        <p:spPr>
          <a:xfrm>
            <a:off x="6656304" y="2702560"/>
            <a:ext cx="2399432" cy="326073"/>
          </a:xfrm>
          <a:prstGeom prst="roundRect">
            <a:avLst>
              <a:gd name="adj" fmla="val 12658"/>
            </a:avLst>
          </a:prstGeom>
          <a:solidFill>
            <a:srgbClr val="ECEEE8"/>
          </a:solidFill>
          <a:ln/>
        </p:spPr>
        <p:txBody>
          <a:bodyPr wrap="square" lIns="91098" tIns="49823" rIns="25307" bIns="29186"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やむを得ない事情に限り認める</a:t>
            </a:r>
            <a:endParaRPr lang="en-US" sz="1138" dirty="0"/>
          </a:p>
        </p:txBody>
      </p:sp>
      <p:sp>
        <p:nvSpPr>
          <p:cNvPr id="15" name="Text 13"/>
          <p:cNvSpPr/>
          <p:nvPr/>
        </p:nvSpPr>
        <p:spPr>
          <a:xfrm>
            <a:off x="6656304" y="3131821"/>
            <a:ext cx="2471415" cy="714058"/>
          </a:xfrm>
          <a:prstGeom prst="rect">
            <a:avLst/>
          </a:prstGeom>
          <a:noFill/>
          <a:ln/>
        </p:spPr>
        <p:txBody>
          <a:bodyPr wrap="square" lIns="0" tIns="0" rIns="0" bIns="0" rtlCol="0" anchor="t">
            <a:normAutofit/>
          </a:bodyPr>
          <a:lstStyle/>
          <a:p>
            <a:pPr>
              <a:lnSpc>
                <a:spcPts val="1820"/>
              </a:lnSpc>
            </a:pPr>
            <a:r>
              <a:rPr lang="en-US" sz="1138" dirty="0">
                <a:solidFill>
                  <a:srgbClr val="4A5568"/>
                </a:solidFill>
                <a:latin typeface="Noto Sans JP" pitchFamily="34" charset="0"/>
                <a:ea typeface="Noto Sans JP" pitchFamily="34" charset="-122"/>
                <a:cs typeface="Noto Sans JP" pitchFamily="34" charset="-120"/>
              </a:rPr>
              <a:t>有給休暇が付与されていない社員等で、冠婚葬祭その他の事情により特定日の休みが必要な場合（次頁）。</a:t>
            </a:r>
            <a:endParaRPr lang="en-US" sz="1138"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4</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03　休暇申請 ―（3）例外公休申請</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例外公休は所属長の承認を経て反映する</a:t>
            </a:r>
            <a:endParaRPr lang="en-US" dirty="0"/>
          </a:p>
        </p:txBody>
      </p:sp>
      <p:sp>
        <p:nvSpPr>
          <p:cNvPr id="4" name="Text 2"/>
          <p:cNvSpPr/>
          <p:nvPr/>
        </p:nvSpPr>
        <p:spPr>
          <a:xfrm>
            <a:off x="662980" y="2168565"/>
            <a:ext cx="1416313" cy="564436"/>
          </a:xfrm>
          <a:prstGeom prst="roundRect">
            <a:avLst>
              <a:gd name="adj" fmla="val 8684"/>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本人申請</a:t>
            </a:r>
            <a:endParaRPr lang="en-US" sz="1138" dirty="0"/>
          </a:p>
        </p:txBody>
      </p:sp>
      <p:pic>
        <p:nvPicPr>
          <p:cNvPr id="5" name="Image 0" descr="arrow-right"/>
          <p:cNvPicPr>
            <a:picLocks noChangeAspect="1"/>
          </p:cNvPicPr>
          <p:nvPr/>
        </p:nvPicPr>
        <p:blipFill>
          <a:blip r:embed="rId3"/>
          <a:srcRect/>
          <a:stretch/>
        </p:blipFill>
        <p:spPr>
          <a:xfrm>
            <a:off x="2164422" y="2388869"/>
            <a:ext cx="206375" cy="123825"/>
          </a:xfrm>
          <a:prstGeom prst="rect">
            <a:avLst/>
          </a:prstGeom>
        </p:spPr>
      </p:pic>
      <p:sp>
        <p:nvSpPr>
          <p:cNvPr id="6" name="Text 3"/>
          <p:cNvSpPr/>
          <p:nvPr/>
        </p:nvSpPr>
        <p:spPr>
          <a:xfrm>
            <a:off x="2455927" y="2168565"/>
            <a:ext cx="1416378" cy="564436"/>
          </a:xfrm>
          <a:prstGeom prst="roundRect">
            <a:avLst>
              <a:gd name="adj" fmla="val 8684"/>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理由選択</a:t>
            </a:r>
            <a:endParaRPr lang="en-US" sz="1138" dirty="0"/>
          </a:p>
        </p:txBody>
      </p:sp>
      <p:pic>
        <p:nvPicPr>
          <p:cNvPr id="7" name="Image 1" descr="arrow-right"/>
          <p:cNvPicPr>
            <a:picLocks noChangeAspect="1"/>
          </p:cNvPicPr>
          <p:nvPr/>
        </p:nvPicPr>
        <p:blipFill>
          <a:blip r:embed="rId3"/>
          <a:srcRect/>
          <a:stretch/>
        </p:blipFill>
        <p:spPr>
          <a:xfrm>
            <a:off x="3957434" y="2388869"/>
            <a:ext cx="206375" cy="123825"/>
          </a:xfrm>
          <a:prstGeom prst="rect">
            <a:avLst/>
          </a:prstGeom>
        </p:spPr>
      </p:pic>
      <p:sp>
        <p:nvSpPr>
          <p:cNvPr id="8" name="Text 4"/>
          <p:cNvSpPr/>
          <p:nvPr/>
        </p:nvSpPr>
        <p:spPr>
          <a:xfrm>
            <a:off x="4248939" y="2168565"/>
            <a:ext cx="1416313" cy="564436"/>
          </a:xfrm>
          <a:prstGeom prst="roundRect">
            <a:avLst>
              <a:gd name="adj" fmla="val 8684"/>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所属長確認</a:t>
            </a:r>
            <a:endParaRPr lang="en-US" sz="1138" dirty="0"/>
          </a:p>
        </p:txBody>
      </p:sp>
      <p:pic>
        <p:nvPicPr>
          <p:cNvPr id="9" name="Image 2" descr="arrow-right"/>
          <p:cNvPicPr>
            <a:picLocks noChangeAspect="1"/>
          </p:cNvPicPr>
          <p:nvPr/>
        </p:nvPicPr>
        <p:blipFill>
          <a:blip r:embed="rId3"/>
          <a:srcRect/>
          <a:stretch/>
        </p:blipFill>
        <p:spPr>
          <a:xfrm>
            <a:off x="5750382" y="2388869"/>
            <a:ext cx="206375" cy="123825"/>
          </a:xfrm>
          <a:prstGeom prst="rect">
            <a:avLst/>
          </a:prstGeom>
        </p:spPr>
      </p:pic>
      <p:sp>
        <p:nvSpPr>
          <p:cNvPr id="10" name="Text 5"/>
          <p:cNvSpPr/>
          <p:nvPr/>
        </p:nvSpPr>
        <p:spPr>
          <a:xfrm>
            <a:off x="6041886" y="2168565"/>
            <a:ext cx="1416378" cy="564436"/>
          </a:xfrm>
          <a:prstGeom prst="roundRect">
            <a:avLst>
              <a:gd name="adj" fmla="val 8684"/>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承認／否認</a:t>
            </a:r>
            <a:endParaRPr lang="en-US" sz="1138" dirty="0"/>
          </a:p>
        </p:txBody>
      </p:sp>
      <p:pic>
        <p:nvPicPr>
          <p:cNvPr id="11" name="Image 3" descr="arrow-right"/>
          <p:cNvPicPr>
            <a:picLocks noChangeAspect="1"/>
          </p:cNvPicPr>
          <p:nvPr/>
        </p:nvPicPr>
        <p:blipFill>
          <a:blip r:embed="rId3"/>
          <a:srcRect/>
          <a:stretch/>
        </p:blipFill>
        <p:spPr>
          <a:xfrm>
            <a:off x="7543394" y="2388869"/>
            <a:ext cx="206375" cy="123825"/>
          </a:xfrm>
          <a:prstGeom prst="rect">
            <a:avLst/>
          </a:prstGeom>
        </p:spPr>
      </p:pic>
      <p:sp>
        <p:nvSpPr>
          <p:cNvPr id="12" name="Text 6"/>
          <p:cNvSpPr/>
          <p:nvPr/>
        </p:nvSpPr>
        <p:spPr>
          <a:xfrm>
            <a:off x="7832319" y="2165986"/>
            <a:ext cx="1413282" cy="569595"/>
          </a:xfrm>
          <a:prstGeom prst="roundRect">
            <a:avLst>
              <a:gd name="adj" fmla="val 9058"/>
            </a:avLst>
          </a:prstGeom>
          <a:solidFill>
            <a:srgbClr val="14213D"/>
          </a:solidFill>
          <a:ln/>
        </p:spPr>
        <p:txBody>
          <a:bodyPr wrap="square" lIns="88076" tIns="67438" rIns="46801" bIns="46801" rtlCol="0" anchor="t">
            <a:normAutofit/>
          </a:bodyPr>
          <a:lstStyle/>
          <a:p>
            <a:pPr>
              <a:lnSpc>
                <a:spcPts val="1593"/>
              </a:lnSpc>
            </a:pPr>
            <a:r>
              <a:rPr lang="en-US" sz="1138" dirty="0">
                <a:solidFill>
                  <a:srgbClr val="F6F7F4"/>
                </a:solidFill>
                <a:latin typeface="Noto Sans JP" pitchFamily="34" charset="0"/>
                <a:ea typeface="Noto Sans JP" pitchFamily="34" charset="-122"/>
                <a:cs typeface="Noto Sans JP" pitchFamily="34" charset="-120"/>
              </a:rPr>
              <a:t>承認分のみシフト作成条件へ反映</a:t>
            </a:r>
            <a:endParaRPr lang="en-US" sz="1138" dirty="0"/>
          </a:p>
        </p:txBody>
      </p:sp>
      <p:sp>
        <p:nvSpPr>
          <p:cNvPr id="13" name="Shape 7"/>
          <p:cNvSpPr/>
          <p:nvPr/>
        </p:nvSpPr>
        <p:spPr>
          <a:xfrm>
            <a:off x="662980" y="2985811"/>
            <a:ext cx="4225528" cy="1121648"/>
          </a:xfrm>
          <a:prstGeom prst="roundRect">
            <a:avLst>
              <a:gd name="adj" fmla="val 5290"/>
            </a:avLst>
          </a:prstGeom>
          <a:solidFill>
            <a:srgbClr val="FDFDFB"/>
          </a:solidFill>
          <a:ln w="6350">
            <a:solidFill>
              <a:srgbClr val="D9DDD3"/>
            </a:solidFill>
            <a:prstDash val="solid"/>
          </a:ln>
        </p:spPr>
        <p:txBody>
          <a:bodyPr/>
          <a:lstStyle/>
          <a:p>
            <a:endParaRPr lang="ja-JP" altLang="en-US" sz="1463"/>
          </a:p>
        </p:txBody>
      </p:sp>
      <p:sp>
        <p:nvSpPr>
          <p:cNvPr id="14" name="Text 8"/>
          <p:cNvSpPr/>
          <p:nvPr/>
        </p:nvSpPr>
        <p:spPr>
          <a:xfrm>
            <a:off x="850265" y="3152456"/>
            <a:ext cx="3966486"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対象</a:t>
            </a:r>
            <a:endParaRPr lang="en-US" sz="1463" dirty="0"/>
          </a:p>
        </p:txBody>
      </p:sp>
      <p:sp>
        <p:nvSpPr>
          <p:cNvPr id="15" name="Text 9"/>
          <p:cNvSpPr/>
          <p:nvPr/>
        </p:nvSpPr>
        <p:spPr>
          <a:xfrm>
            <a:off x="850265" y="3478531"/>
            <a:ext cx="3966486" cy="482918"/>
          </a:xfrm>
          <a:prstGeom prst="rect">
            <a:avLst/>
          </a:prstGeom>
          <a:noFill/>
          <a:ln/>
        </p:spPr>
        <p:txBody>
          <a:bodyPr wrap="square" lIns="0" tIns="0" rIns="0" bIns="0" rtlCol="0" anchor="t">
            <a:normAutofit/>
          </a:bodyPr>
          <a:lstStyle/>
          <a:p>
            <a:pPr>
              <a:lnSpc>
                <a:spcPts val="1820"/>
              </a:lnSpc>
            </a:pPr>
            <a:r>
              <a:rPr lang="en-US" sz="1138" dirty="0">
                <a:solidFill>
                  <a:srgbClr val="4A5568"/>
                </a:solidFill>
                <a:latin typeface="Noto Sans JP" pitchFamily="34" charset="0"/>
                <a:ea typeface="Noto Sans JP" pitchFamily="34" charset="-122"/>
                <a:cs typeface="Noto Sans JP" pitchFamily="34" charset="-120"/>
              </a:rPr>
              <a:t>有給休暇が付与されていない社員等が、冠婚葬祭その他やむを得ない事情により特定日の休みを必要とする場合</a:t>
            </a:r>
            <a:endParaRPr lang="en-US" sz="1138" dirty="0"/>
          </a:p>
        </p:txBody>
      </p:sp>
      <p:sp>
        <p:nvSpPr>
          <p:cNvPr id="16" name="Shape 10"/>
          <p:cNvSpPr/>
          <p:nvPr/>
        </p:nvSpPr>
        <p:spPr>
          <a:xfrm>
            <a:off x="5017492" y="2985811"/>
            <a:ext cx="4225528" cy="1121648"/>
          </a:xfrm>
          <a:prstGeom prst="roundRect">
            <a:avLst>
              <a:gd name="adj" fmla="val 5290"/>
            </a:avLst>
          </a:prstGeom>
          <a:solidFill>
            <a:srgbClr val="FDFDFB"/>
          </a:solidFill>
          <a:ln w="6350">
            <a:solidFill>
              <a:srgbClr val="D9DDD3"/>
            </a:solidFill>
            <a:prstDash val="solid"/>
          </a:ln>
        </p:spPr>
        <p:txBody>
          <a:bodyPr/>
          <a:lstStyle/>
          <a:p>
            <a:endParaRPr lang="ja-JP" altLang="en-US" sz="1463"/>
          </a:p>
        </p:txBody>
      </p:sp>
      <p:sp>
        <p:nvSpPr>
          <p:cNvPr id="17" name="Text 11"/>
          <p:cNvSpPr/>
          <p:nvPr/>
        </p:nvSpPr>
        <p:spPr>
          <a:xfrm>
            <a:off x="5204778" y="3152456"/>
            <a:ext cx="3966486"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公休日数の扱い</a:t>
            </a:r>
            <a:endParaRPr lang="en-US" sz="1463" dirty="0"/>
          </a:p>
        </p:txBody>
      </p:sp>
      <p:sp>
        <p:nvSpPr>
          <p:cNvPr id="18" name="Text 12"/>
          <p:cNvSpPr/>
          <p:nvPr/>
        </p:nvSpPr>
        <p:spPr>
          <a:xfrm>
            <a:off x="5204778" y="3478531"/>
            <a:ext cx="3966486" cy="482918"/>
          </a:xfrm>
          <a:prstGeom prst="rect">
            <a:avLst/>
          </a:prstGeom>
          <a:noFill/>
          <a:ln/>
        </p:spPr>
        <p:txBody>
          <a:bodyPr wrap="square" lIns="0" tIns="0" rIns="0" bIns="0" rtlCol="0" anchor="t">
            <a:normAutofit/>
          </a:bodyPr>
          <a:lstStyle/>
          <a:p>
            <a:pPr>
              <a:lnSpc>
                <a:spcPts val="1820"/>
              </a:lnSpc>
            </a:pPr>
            <a:r>
              <a:rPr lang="en-US" sz="1138" dirty="0">
                <a:solidFill>
                  <a:srgbClr val="4A5568"/>
                </a:solidFill>
                <a:latin typeface="Noto Sans JP" pitchFamily="34" charset="0"/>
                <a:ea typeface="Noto Sans JP" pitchFamily="34" charset="-122"/>
                <a:cs typeface="Noto Sans JP" pitchFamily="34" charset="-120"/>
              </a:rPr>
              <a:t>公休日数を</a:t>
            </a:r>
            <a:r>
              <a:rPr lang="en-US" sz="1138" b="1" dirty="0">
                <a:solidFill>
                  <a:srgbClr val="14213D"/>
                </a:solidFill>
                <a:latin typeface="Noto Sans JP" pitchFamily="34" charset="0"/>
                <a:ea typeface="Noto Sans JP" pitchFamily="34" charset="-122"/>
                <a:cs typeface="Noto Sans JP" pitchFamily="34" charset="-120"/>
              </a:rPr>
              <a:t>追加するものではなく</a:t>
            </a:r>
            <a:r>
              <a:rPr lang="en-US" sz="1138" dirty="0">
                <a:solidFill>
                  <a:srgbClr val="4A5568"/>
                </a:solidFill>
                <a:latin typeface="Noto Sans JP" pitchFamily="34" charset="0"/>
                <a:ea typeface="Noto Sans JP" pitchFamily="34" charset="-122"/>
                <a:cs typeface="Noto Sans JP" pitchFamily="34" charset="-120"/>
              </a:rPr>
              <a:t>、当該月に付与される公休日の配置として取り扱う</a:t>
            </a:r>
            <a:endParaRPr lang="en-US" sz="1138" dirty="0"/>
          </a:p>
        </p:txBody>
      </p:sp>
      <p:sp>
        <p:nvSpPr>
          <p:cNvPr id="19" name="Text 13"/>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20" name="Text 14"/>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5</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04　シフト作成前の情報更新</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作成前に、以下の情報を最新の状態にする</a:t>
            </a:r>
            <a:endParaRPr lang="en-US" dirty="0"/>
          </a:p>
        </p:txBody>
      </p:sp>
      <p:sp>
        <p:nvSpPr>
          <p:cNvPr id="4" name="Shape 2"/>
          <p:cNvSpPr/>
          <p:nvPr/>
        </p:nvSpPr>
        <p:spPr>
          <a:xfrm>
            <a:off x="662980" y="2168566"/>
            <a:ext cx="2048272" cy="3218418"/>
          </a:xfrm>
          <a:prstGeom prst="roundRect">
            <a:avLst>
              <a:gd name="adj" fmla="val 2897"/>
            </a:avLst>
          </a:prstGeom>
          <a:solidFill>
            <a:srgbClr val="FDFDFB"/>
          </a:solidFill>
          <a:ln w="6350">
            <a:solidFill>
              <a:srgbClr val="D9DDD3"/>
            </a:solidFill>
            <a:prstDash val="solid"/>
          </a:ln>
        </p:spPr>
        <p:txBody>
          <a:bodyPr/>
          <a:lstStyle/>
          <a:p>
            <a:endParaRPr lang="ja-JP" altLang="en-US" sz="1463"/>
          </a:p>
        </p:txBody>
      </p:sp>
      <p:sp>
        <p:nvSpPr>
          <p:cNvPr id="5" name="Text 3"/>
          <p:cNvSpPr/>
          <p:nvPr/>
        </p:nvSpPr>
        <p:spPr>
          <a:xfrm>
            <a:off x="808990" y="2335212"/>
            <a:ext cx="1808939"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運航・要員</a:t>
            </a:r>
            <a:endParaRPr lang="en-US" sz="1463" dirty="0"/>
          </a:p>
        </p:txBody>
      </p:sp>
      <p:sp>
        <p:nvSpPr>
          <p:cNvPr id="6" name="Text 4"/>
          <p:cNvSpPr/>
          <p:nvPr/>
        </p:nvSpPr>
        <p:spPr>
          <a:xfrm>
            <a:off x="862235" y="2661286"/>
            <a:ext cx="1749503" cy="670719"/>
          </a:xfrm>
          <a:prstGeom prst="rect">
            <a:avLst/>
          </a:prstGeom>
          <a:noFill/>
          <a:ln/>
        </p:spPr>
        <p:txBody>
          <a:bodyPr wrap="square" lIns="0" tIns="0" rIns="0" bIns="0" rtlCol="0" anchor="t">
            <a:normAutofit/>
          </a:bodyPr>
          <a:lstStyle/>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FLIGHTスケジュール</a:t>
            </a:r>
            <a:endParaRPr lang="en-US" sz="1138" dirty="0"/>
          </a:p>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FLIGHT・業務別必要要員</a:t>
            </a:r>
            <a:endParaRPr lang="en-US" sz="1138" dirty="0"/>
          </a:p>
        </p:txBody>
      </p:sp>
      <p:sp>
        <p:nvSpPr>
          <p:cNvPr id="7" name="Shape 5"/>
          <p:cNvSpPr/>
          <p:nvPr/>
        </p:nvSpPr>
        <p:spPr>
          <a:xfrm>
            <a:off x="2840236" y="2168566"/>
            <a:ext cx="2048272" cy="3218418"/>
          </a:xfrm>
          <a:prstGeom prst="roundRect">
            <a:avLst>
              <a:gd name="adj" fmla="val 2897"/>
            </a:avLst>
          </a:prstGeom>
          <a:solidFill>
            <a:srgbClr val="FDFDFB"/>
          </a:solidFill>
          <a:ln w="6350">
            <a:solidFill>
              <a:srgbClr val="D9DDD3"/>
            </a:solidFill>
            <a:prstDash val="solid"/>
          </a:ln>
        </p:spPr>
        <p:txBody>
          <a:bodyPr/>
          <a:lstStyle/>
          <a:p>
            <a:endParaRPr lang="ja-JP" altLang="en-US" sz="1463"/>
          </a:p>
        </p:txBody>
      </p:sp>
      <p:sp>
        <p:nvSpPr>
          <p:cNvPr id="8" name="Text 6"/>
          <p:cNvSpPr/>
          <p:nvPr/>
        </p:nvSpPr>
        <p:spPr>
          <a:xfrm>
            <a:off x="2986246" y="2335212"/>
            <a:ext cx="1808939"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人員</a:t>
            </a:r>
            <a:endParaRPr lang="en-US" sz="1463" dirty="0"/>
          </a:p>
        </p:txBody>
      </p:sp>
      <p:sp>
        <p:nvSpPr>
          <p:cNvPr id="9" name="Text 7"/>
          <p:cNvSpPr/>
          <p:nvPr/>
        </p:nvSpPr>
        <p:spPr>
          <a:xfrm>
            <a:off x="3039491" y="2661286"/>
            <a:ext cx="1749503" cy="1104106"/>
          </a:xfrm>
          <a:prstGeom prst="rect">
            <a:avLst/>
          </a:prstGeom>
          <a:noFill/>
          <a:ln/>
        </p:spPr>
        <p:txBody>
          <a:bodyPr wrap="square" lIns="0" tIns="0" rIns="0" bIns="0" rtlCol="0" anchor="t">
            <a:normAutofit/>
          </a:bodyPr>
          <a:lstStyle/>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在籍者情報</a:t>
            </a:r>
            <a:endParaRPr lang="en-US" sz="1138" dirty="0"/>
          </a:p>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入社・退職・異動情報</a:t>
            </a:r>
            <a:endParaRPr lang="en-US" sz="1138" dirty="0"/>
          </a:p>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休職・復職情報</a:t>
            </a:r>
            <a:endParaRPr lang="en-US" sz="1138" dirty="0"/>
          </a:p>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短時間勤務等の勤務制限</a:t>
            </a:r>
            <a:endParaRPr lang="en-US" sz="1138" dirty="0"/>
          </a:p>
        </p:txBody>
      </p:sp>
      <p:sp>
        <p:nvSpPr>
          <p:cNvPr id="10" name="Shape 8"/>
          <p:cNvSpPr/>
          <p:nvPr/>
        </p:nvSpPr>
        <p:spPr>
          <a:xfrm>
            <a:off x="5017492" y="2168566"/>
            <a:ext cx="2048272" cy="3218418"/>
          </a:xfrm>
          <a:prstGeom prst="roundRect">
            <a:avLst>
              <a:gd name="adj" fmla="val 2897"/>
            </a:avLst>
          </a:prstGeom>
          <a:solidFill>
            <a:srgbClr val="FDFDFB"/>
          </a:solidFill>
          <a:ln w="6350">
            <a:solidFill>
              <a:srgbClr val="D9DDD3"/>
            </a:solidFill>
            <a:prstDash val="solid"/>
          </a:ln>
        </p:spPr>
        <p:txBody>
          <a:bodyPr/>
          <a:lstStyle/>
          <a:p>
            <a:endParaRPr lang="ja-JP" altLang="en-US" sz="1463"/>
          </a:p>
        </p:txBody>
      </p:sp>
      <p:sp>
        <p:nvSpPr>
          <p:cNvPr id="11" name="Text 9"/>
          <p:cNvSpPr/>
          <p:nvPr/>
        </p:nvSpPr>
        <p:spPr>
          <a:xfrm>
            <a:off x="5163502" y="2335212"/>
            <a:ext cx="1808939"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SKILL・配置</a:t>
            </a:r>
            <a:endParaRPr lang="en-US" sz="1463" dirty="0"/>
          </a:p>
        </p:txBody>
      </p:sp>
      <p:sp>
        <p:nvSpPr>
          <p:cNvPr id="12" name="Text 10"/>
          <p:cNvSpPr/>
          <p:nvPr/>
        </p:nvSpPr>
        <p:spPr>
          <a:xfrm>
            <a:off x="5216747" y="2661286"/>
            <a:ext cx="1749503" cy="454025"/>
          </a:xfrm>
          <a:prstGeom prst="rect">
            <a:avLst/>
          </a:prstGeom>
          <a:noFill/>
          <a:ln/>
        </p:spPr>
        <p:txBody>
          <a:bodyPr wrap="square" lIns="0" tIns="0" rIns="0" bIns="0" rtlCol="0" anchor="t">
            <a:normAutofit/>
          </a:bodyPr>
          <a:lstStyle/>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AIRLINE／業務SKILL</a:t>
            </a:r>
            <a:endParaRPr lang="en-US" sz="1138" dirty="0"/>
          </a:p>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INCH・SV等の配置条件</a:t>
            </a:r>
            <a:endParaRPr lang="en-US" sz="1138" dirty="0"/>
          </a:p>
        </p:txBody>
      </p:sp>
      <p:sp>
        <p:nvSpPr>
          <p:cNvPr id="13" name="Shape 11"/>
          <p:cNvSpPr/>
          <p:nvPr/>
        </p:nvSpPr>
        <p:spPr>
          <a:xfrm>
            <a:off x="7194748" y="2168566"/>
            <a:ext cx="2048272" cy="3218418"/>
          </a:xfrm>
          <a:prstGeom prst="roundRect">
            <a:avLst>
              <a:gd name="adj" fmla="val 2897"/>
            </a:avLst>
          </a:prstGeom>
          <a:solidFill>
            <a:srgbClr val="FDFDFB"/>
          </a:solidFill>
          <a:ln w="6350">
            <a:solidFill>
              <a:srgbClr val="D9DDD3"/>
            </a:solidFill>
            <a:prstDash val="solid"/>
          </a:ln>
        </p:spPr>
        <p:txBody>
          <a:bodyPr/>
          <a:lstStyle/>
          <a:p>
            <a:endParaRPr lang="ja-JP" altLang="en-US" sz="1463"/>
          </a:p>
        </p:txBody>
      </p:sp>
      <p:sp>
        <p:nvSpPr>
          <p:cNvPr id="14" name="Text 12"/>
          <p:cNvSpPr/>
          <p:nvPr/>
        </p:nvSpPr>
        <p:spPr>
          <a:xfrm>
            <a:off x="7340759" y="2335212"/>
            <a:ext cx="1808939"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休暇・その他</a:t>
            </a:r>
            <a:endParaRPr lang="en-US" sz="1463" dirty="0"/>
          </a:p>
        </p:txBody>
      </p:sp>
      <p:sp>
        <p:nvSpPr>
          <p:cNvPr id="15" name="Text 13"/>
          <p:cNvSpPr/>
          <p:nvPr/>
        </p:nvSpPr>
        <p:spPr>
          <a:xfrm>
            <a:off x="7394003" y="2661286"/>
            <a:ext cx="1749503" cy="887413"/>
          </a:xfrm>
          <a:prstGeom prst="rect">
            <a:avLst/>
          </a:prstGeom>
          <a:noFill/>
          <a:ln/>
        </p:spPr>
        <p:txBody>
          <a:bodyPr wrap="square" lIns="0" tIns="0" rIns="0" bIns="0" rtlCol="0" anchor="t">
            <a:normAutofit/>
          </a:bodyPr>
          <a:lstStyle/>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承認済み有給休暇</a:t>
            </a:r>
            <a:endParaRPr lang="en-US" sz="1138" dirty="0"/>
          </a:p>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承認済み例外公休</a:t>
            </a:r>
            <a:endParaRPr lang="en-US" sz="1138" dirty="0"/>
          </a:p>
          <a:p>
            <a:pPr marL="153130" indent="-153130">
              <a:lnSpc>
                <a:spcPts val="1706"/>
              </a:lnSpc>
              <a:buSzPct val="100000"/>
              <a:buChar char="•"/>
            </a:pPr>
            <a:r>
              <a:rPr lang="en-US" sz="1138" dirty="0">
                <a:solidFill>
                  <a:srgbClr val="14213D"/>
                </a:solidFill>
                <a:latin typeface="Noto Sans JP" pitchFamily="34" charset="0"/>
                <a:ea typeface="Noto Sans JP" pitchFamily="34" charset="-122"/>
                <a:cs typeface="Noto Sans JP" pitchFamily="34" charset="-120"/>
              </a:rPr>
              <a:t>その他シフト作成に必要な条件</a:t>
            </a:r>
            <a:endParaRPr lang="en-US" sz="1138"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6</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05　シフト作成</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条件をLOCKして自動作成し、確認・調整してDRAFTへ</a:t>
            </a:r>
            <a:endParaRPr lang="en-US" dirty="0"/>
          </a:p>
        </p:txBody>
      </p:sp>
      <p:sp>
        <p:nvSpPr>
          <p:cNvPr id="4" name="Text 2"/>
          <p:cNvSpPr/>
          <p:nvPr/>
        </p:nvSpPr>
        <p:spPr>
          <a:xfrm>
            <a:off x="662980" y="2168565"/>
            <a:ext cx="1416313" cy="572691"/>
          </a:xfrm>
          <a:prstGeom prst="roundRect">
            <a:avLst>
              <a:gd name="adj" fmla="val 8559"/>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各種情報・休暇申請の確定</a:t>
            </a:r>
            <a:endParaRPr lang="en-US" sz="1138" dirty="0"/>
          </a:p>
        </p:txBody>
      </p:sp>
      <p:pic>
        <p:nvPicPr>
          <p:cNvPr id="5" name="Image 0" descr="arrow-right"/>
          <p:cNvPicPr>
            <a:picLocks noChangeAspect="1"/>
          </p:cNvPicPr>
          <p:nvPr/>
        </p:nvPicPr>
        <p:blipFill>
          <a:blip r:embed="rId3"/>
          <a:srcRect/>
          <a:stretch/>
        </p:blipFill>
        <p:spPr>
          <a:xfrm>
            <a:off x="2164422" y="2392998"/>
            <a:ext cx="206375" cy="123825"/>
          </a:xfrm>
          <a:prstGeom prst="rect">
            <a:avLst/>
          </a:prstGeom>
        </p:spPr>
      </p:pic>
      <p:sp>
        <p:nvSpPr>
          <p:cNvPr id="6" name="Text 3"/>
          <p:cNvSpPr/>
          <p:nvPr/>
        </p:nvSpPr>
        <p:spPr>
          <a:xfrm>
            <a:off x="2455927" y="2168565"/>
            <a:ext cx="1416378" cy="572691"/>
          </a:xfrm>
          <a:prstGeom prst="roundRect">
            <a:avLst>
              <a:gd name="adj" fmla="val 8559"/>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シフト作成条件をLOCK</a:t>
            </a:r>
            <a:endParaRPr lang="en-US" sz="1138" dirty="0"/>
          </a:p>
        </p:txBody>
      </p:sp>
      <p:pic>
        <p:nvPicPr>
          <p:cNvPr id="7" name="Image 1" descr="arrow-right"/>
          <p:cNvPicPr>
            <a:picLocks noChangeAspect="1"/>
          </p:cNvPicPr>
          <p:nvPr/>
        </p:nvPicPr>
        <p:blipFill>
          <a:blip r:embed="rId3"/>
          <a:srcRect/>
          <a:stretch/>
        </p:blipFill>
        <p:spPr>
          <a:xfrm>
            <a:off x="3957434" y="2392998"/>
            <a:ext cx="206375" cy="123825"/>
          </a:xfrm>
          <a:prstGeom prst="rect">
            <a:avLst/>
          </a:prstGeom>
        </p:spPr>
      </p:pic>
      <p:sp>
        <p:nvSpPr>
          <p:cNvPr id="8" name="Text 4"/>
          <p:cNvSpPr/>
          <p:nvPr/>
        </p:nvSpPr>
        <p:spPr>
          <a:xfrm>
            <a:off x="4246359" y="2165986"/>
            <a:ext cx="1413217" cy="577850"/>
          </a:xfrm>
          <a:prstGeom prst="roundRect">
            <a:avLst>
              <a:gd name="adj" fmla="val 8929"/>
            </a:avLst>
          </a:prstGeom>
          <a:solidFill>
            <a:srgbClr val="14213D"/>
          </a:solidFill>
          <a:ln/>
        </p:spPr>
        <p:txBody>
          <a:bodyPr wrap="square" lIns="88076" tIns="67438" rIns="46801" bIns="46801" rtlCol="0" anchor="t">
            <a:normAutofit/>
          </a:bodyPr>
          <a:lstStyle/>
          <a:p>
            <a:pPr>
              <a:lnSpc>
                <a:spcPts val="1593"/>
              </a:lnSpc>
            </a:pPr>
            <a:r>
              <a:rPr lang="en-US" sz="1138" dirty="0">
                <a:solidFill>
                  <a:srgbClr val="F6F7F4"/>
                </a:solidFill>
                <a:latin typeface="Noto Sans JP" pitchFamily="34" charset="0"/>
                <a:ea typeface="Noto Sans JP" pitchFamily="34" charset="-122"/>
                <a:cs typeface="Noto Sans JP" pitchFamily="34" charset="-120"/>
              </a:rPr>
              <a:t>システムによる自動シフト作成</a:t>
            </a:r>
            <a:endParaRPr lang="en-US" sz="1138" dirty="0"/>
          </a:p>
        </p:txBody>
      </p:sp>
      <p:pic>
        <p:nvPicPr>
          <p:cNvPr id="9" name="Image 2" descr="arrow-right"/>
          <p:cNvPicPr>
            <a:picLocks noChangeAspect="1"/>
          </p:cNvPicPr>
          <p:nvPr/>
        </p:nvPicPr>
        <p:blipFill>
          <a:blip r:embed="rId3"/>
          <a:srcRect/>
          <a:stretch/>
        </p:blipFill>
        <p:spPr>
          <a:xfrm>
            <a:off x="5742127" y="2392998"/>
            <a:ext cx="206375" cy="123825"/>
          </a:xfrm>
          <a:prstGeom prst="rect">
            <a:avLst/>
          </a:prstGeom>
        </p:spPr>
      </p:pic>
      <p:sp>
        <p:nvSpPr>
          <p:cNvPr id="10" name="Text 5"/>
          <p:cNvSpPr/>
          <p:nvPr/>
        </p:nvSpPr>
        <p:spPr>
          <a:xfrm>
            <a:off x="6033631" y="2168565"/>
            <a:ext cx="1416378" cy="572691"/>
          </a:xfrm>
          <a:prstGeom prst="roundRect">
            <a:avLst>
              <a:gd name="adj" fmla="val 8559"/>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確認・調整</a:t>
            </a:r>
            <a:endParaRPr lang="en-US" sz="1138" dirty="0"/>
          </a:p>
        </p:txBody>
      </p:sp>
      <p:pic>
        <p:nvPicPr>
          <p:cNvPr id="11" name="Image 3" descr="arrow-right"/>
          <p:cNvPicPr>
            <a:picLocks noChangeAspect="1"/>
          </p:cNvPicPr>
          <p:nvPr/>
        </p:nvPicPr>
        <p:blipFill>
          <a:blip r:embed="rId3"/>
          <a:srcRect/>
          <a:stretch/>
        </p:blipFill>
        <p:spPr>
          <a:xfrm>
            <a:off x="7535138" y="2392998"/>
            <a:ext cx="206375" cy="123825"/>
          </a:xfrm>
          <a:prstGeom prst="rect">
            <a:avLst/>
          </a:prstGeom>
        </p:spPr>
      </p:pic>
      <p:sp>
        <p:nvSpPr>
          <p:cNvPr id="12" name="Text 6"/>
          <p:cNvSpPr/>
          <p:nvPr/>
        </p:nvSpPr>
        <p:spPr>
          <a:xfrm>
            <a:off x="7826643" y="2168565"/>
            <a:ext cx="1416378" cy="572691"/>
          </a:xfrm>
          <a:prstGeom prst="roundRect">
            <a:avLst>
              <a:gd name="adj" fmla="val 8559"/>
            </a:avLst>
          </a:prstGeom>
          <a:solidFill>
            <a:srgbClr val="FDFDFB"/>
          </a:solidFill>
          <a:ln w="6350">
            <a:solidFill>
              <a:srgbClr val="D9DDD3"/>
            </a:solidFill>
            <a:prstDash val="solid"/>
          </a:ln>
        </p:spPr>
        <p:txBody>
          <a:bodyPr wrap="square" lIns="90379" tIns="69742" rIns="49104" bIns="49104"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DRAFTシフト作成</a:t>
            </a:r>
            <a:endParaRPr lang="en-US" sz="1138" dirty="0"/>
          </a:p>
        </p:txBody>
      </p:sp>
      <p:sp>
        <p:nvSpPr>
          <p:cNvPr id="13" name="Text 7"/>
          <p:cNvSpPr/>
          <p:nvPr/>
        </p:nvSpPr>
        <p:spPr>
          <a:xfrm>
            <a:off x="660400" y="2991486"/>
            <a:ext cx="8842756"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自動作成後、シフト担当者が確認する項目</a:t>
            </a:r>
            <a:endParaRPr lang="en-US" sz="1463" dirty="0"/>
          </a:p>
        </p:txBody>
      </p:sp>
      <p:sp>
        <p:nvSpPr>
          <p:cNvPr id="14" name="Shape 8"/>
          <p:cNvSpPr/>
          <p:nvPr/>
        </p:nvSpPr>
        <p:spPr>
          <a:xfrm>
            <a:off x="662980" y="332013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15" name="Image 4" descr="Check"/>
          <p:cNvPicPr>
            <a:picLocks noChangeAspect="1"/>
          </p:cNvPicPr>
          <p:nvPr/>
        </p:nvPicPr>
        <p:blipFill>
          <a:blip r:embed="rId4"/>
          <a:srcRect/>
          <a:stretch/>
        </p:blipFill>
        <p:spPr>
          <a:xfrm>
            <a:off x="788353" y="3443448"/>
            <a:ext cx="165100" cy="165100"/>
          </a:xfrm>
          <a:prstGeom prst="rect">
            <a:avLst/>
          </a:prstGeom>
        </p:spPr>
      </p:pic>
      <p:sp>
        <p:nvSpPr>
          <p:cNvPr id="16" name="Text 9"/>
          <p:cNvSpPr/>
          <p:nvPr/>
        </p:nvSpPr>
        <p:spPr>
          <a:xfrm>
            <a:off x="1036003" y="3424873"/>
            <a:ext cx="1386840"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必要人数の過不足</a:t>
            </a:r>
            <a:endParaRPr lang="en-US" sz="1138" dirty="0"/>
          </a:p>
        </p:txBody>
      </p:sp>
      <p:sp>
        <p:nvSpPr>
          <p:cNvPr id="17" name="Shape 10"/>
          <p:cNvSpPr/>
          <p:nvPr/>
        </p:nvSpPr>
        <p:spPr>
          <a:xfrm>
            <a:off x="2829917" y="332013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18" name="Image 5" descr="Check"/>
          <p:cNvPicPr>
            <a:picLocks noChangeAspect="1"/>
          </p:cNvPicPr>
          <p:nvPr/>
        </p:nvPicPr>
        <p:blipFill>
          <a:blip r:embed="rId4"/>
          <a:srcRect/>
          <a:stretch/>
        </p:blipFill>
        <p:spPr>
          <a:xfrm>
            <a:off x="2955290" y="3443448"/>
            <a:ext cx="165100" cy="165100"/>
          </a:xfrm>
          <a:prstGeom prst="rect">
            <a:avLst/>
          </a:prstGeom>
        </p:spPr>
      </p:pic>
      <p:sp>
        <p:nvSpPr>
          <p:cNvPr id="19" name="Text 11"/>
          <p:cNvSpPr/>
          <p:nvPr/>
        </p:nvSpPr>
        <p:spPr>
          <a:xfrm>
            <a:off x="3202940" y="3424873"/>
            <a:ext cx="801148"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SKILL不足</a:t>
            </a:r>
            <a:endParaRPr lang="en-US" sz="1138" dirty="0"/>
          </a:p>
        </p:txBody>
      </p:sp>
      <p:sp>
        <p:nvSpPr>
          <p:cNvPr id="20" name="Shape 12"/>
          <p:cNvSpPr/>
          <p:nvPr/>
        </p:nvSpPr>
        <p:spPr>
          <a:xfrm>
            <a:off x="4996855" y="332013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21" name="Image 6" descr="Check"/>
          <p:cNvPicPr>
            <a:picLocks noChangeAspect="1"/>
          </p:cNvPicPr>
          <p:nvPr/>
        </p:nvPicPr>
        <p:blipFill>
          <a:blip r:embed="rId4"/>
          <a:srcRect/>
          <a:stretch/>
        </p:blipFill>
        <p:spPr>
          <a:xfrm>
            <a:off x="5122228" y="3443448"/>
            <a:ext cx="165100" cy="165100"/>
          </a:xfrm>
          <a:prstGeom prst="rect">
            <a:avLst/>
          </a:prstGeom>
        </p:spPr>
      </p:pic>
      <p:sp>
        <p:nvSpPr>
          <p:cNvPr id="22" name="Text 13"/>
          <p:cNvSpPr/>
          <p:nvPr/>
        </p:nvSpPr>
        <p:spPr>
          <a:xfrm>
            <a:off x="5369878" y="3424873"/>
            <a:ext cx="520065"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公休数</a:t>
            </a:r>
            <a:endParaRPr lang="en-US" sz="1138" dirty="0"/>
          </a:p>
        </p:txBody>
      </p:sp>
      <p:sp>
        <p:nvSpPr>
          <p:cNvPr id="23" name="Shape 14"/>
          <p:cNvSpPr/>
          <p:nvPr/>
        </p:nvSpPr>
        <p:spPr>
          <a:xfrm>
            <a:off x="7163792" y="332013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24" name="Image 7" descr="Check"/>
          <p:cNvPicPr>
            <a:picLocks noChangeAspect="1"/>
          </p:cNvPicPr>
          <p:nvPr/>
        </p:nvPicPr>
        <p:blipFill>
          <a:blip r:embed="rId4"/>
          <a:srcRect/>
          <a:stretch/>
        </p:blipFill>
        <p:spPr>
          <a:xfrm>
            <a:off x="7289165" y="3443448"/>
            <a:ext cx="165100" cy="165100"/>
          </a:xfrm>
          <a:prstGeom prst="rect">
            <a:avLst/>
          </a:prstGeom>
        </p:spPr>
      </p:pic>
      <p:sp>
        <p:nvSpPr>
          <p:cNvPr id="25" name="Text 15"/>
          <p:cNvSpPr/>
          <p:nvPr/>
        </p:nvSpPr>
        <p:spPr>
          <a:xfrm>
            <a:off x="7536815" y="3424873"/>
            <a:ext cx="693420"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連続勤務</a:t>
            </a:r>
            <a:endParaRPr lang="en-US" sz="1138" dirty="0"/>
          </a:p>
        </p:txBody>
      </p:sp>
      <p:sp>
        <p:nvSpPr>
          <p:cNvPr id="26" name="Shape 16"/>
          <p:cNvSpPr/>
          <p:nvPr/>
        </p:nvSpPr>
        <p:spPr>
          <a:xfrm>
            <a:off x="662980" y="381956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27" name="Image 8" descr="Check"/>
          <p:cNvPicPr>
            <a:picLocks noChangeAspect="1"/>
          </p:cNvPicPr>
          <p:nvPr/>
        </p:nvPicPr>
        <p:blipFill>
          <a:blip r:embed="rId4"/>
          <a:srcRect/>
          <a:stretch/>
        </p:blipFill>
        <p:spPr>
          <a:xfrm>
            <a:off x="788353" y="3942875"/>
            <a:ext cx="165100" cy="165100"/>
          </a:xfrm>
          <a:prstGeom prst="rect">
            <a:avLst/>
          </a:prstGeom>
        </p:spPr>
      </p:pic>
      <p:sp>
        <p:nvSpPr>
          <p:cNvPr id="28" name="Text 17"/>
          <p:cNvSpPr/>
          <p:nvPr/>
        </p:nvSpPr>
        <p:spPr>
          <a:xfrm>
            <a:off x="1036003" y="3924300"/>
            <a:ext cx="693420"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勤務時間</a:t>
            </a:r>
            <a:endParaRPr lang="en-US" sz="1138" dirty="0"/>
          </a:p>
        </p:txBody>
      </p:sp>
      <p:sp>
        <p:nvSpPr>
          <p:cNvPr id="29" name="Shape 18"/>
          <p:cNvSpPr/>
          <p:nvPr/>
        </p:nvSpPr>
        <p:spPr>
          <a:xfrm>
            <a:off x="2829917" y="381956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30" name="Image 9" descr="Check"/>
          <p:cNvPicPr>
            <a:picLocks noChangeAspect="1"/>
          </p:cNvPicPr>
          <p:nvPr/>
        </p:nvPicPr>
        <p:blipFill>
          <a:blip r:embed="rId4"/>
          <a:srcRect/>
          <a:stretch/>
        </p:blipFill>
        <p:spPr>
          <a:xfrm>
            <a:off x="2955290" y="3942875"/>
            <a:ext cx="165100" cy="165100"/>
          </a:xfrm>
          <a:prstGeom prst="rect">
            <a:avLst/>
          </a:prstGeom>
        </p:spPr>
      </p:pic>
      <p:sp>
        <p:nvSpPr>
          <p:cNvPr id="31" name="Text 19"/>
          <p:cNvSpPr/>
          <p:nvPr/>
        </p:nvSpPr>
        <p:spPr>
          <a:xfrm>
            <a:off x="3202940" y="3924300"/>
            <a:ext cx="693420"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勤務間隔</a:t>
            </a:r>
            <a:endParaRPr lang="en-US" sz="1138" dirty="0"/>
          </a:p>
        </p:txBody>
      </p:sp>
      <p:sp>
        <p:nvSpPr>
          <p:cNvPr id="32" name="Shape 20"/>
          <p:cNvSpPr/>
          <p:nvPr/>
        </p:nvSpPr>
        <p:spPr>
          <a:xfrm>
            <a:off x="4996855" y="381956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33" name="Image 10" descr="Check"/>
          <p:cNvPicPr>
            <a:picLocks noChangeAspect="1"/>
          </p:cNvPicPr>
          <p:nvPr/>
        </p:nvPicPr>
        <p:blipFill>
          <a:blip r:embed="rId4"/>
          <a:srcRect/>
          <a:stretch/>
        </p:blipFill>
        <p:spPr>
          <a:xfrm>
            <a:off x="5122228" y="3942875"/>
            <a:ext cx="165100" cy="165100"/>
          </a:xfrm>
          <a:prstGeom prst="rect">
            <a:avLst/>
          </a:prstGeom>
        </p:spPr>
      </p:pic>
      <p:sp>
        <p:nvSpPr>
          <p:cNvPr id="34" name="Text 21"/>
          <p:cNvSpPr/>
          <p:nvPr/>
        </p:nvSpPr>
        <p:spPr>
          <a:xfrm>
            <a:off x="5369878" y="3924300"/>
            <a:ext cx="1213485"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個人別勤務制限</a:t>
            </a:r>
            <a:endParaRPr lang="en-US" sz="1138" dirty="0"/>
          </a:p>
        </p:txBody>
      </p:sp>
      <p:sp>
        <p:nvSpPr>
          <p:cNvPr id="35" name="Shape 22"/>
          <p:cNvSpPr/>
          <p:nvPr/>
        </p:nvSpPr>
        <p:spPr>
          <a:xfrm>
            <a:off x="7163792" y="3819566"/>
            <a:ext cx="2079228" cy="411718"/>
          </a:xfrm>
          <a:prstGeom prst="roundRect">
            <a:avLst>
              <a:gd name="adj" fmla="val 11905"/>
            </a:avLst>
          </a:prstGeom>
          <a:solidFill>
            <a:srgbClr val="FDFDFB"/>
          </a:solidFill>
          <a:ln w="6350">
            <a:solidFill>
              <a:srgbClr val="D9DDD3"/>
            </a:solidFill>
            <a:prstDash val="solid"/>
          </a:ln>
        </p:spPr>
        <p:txBody>
          <a:bodyPr/>
          <a:lstStyle/>
          <a:p>
            <a:endParaRPr lang="ja-JP" altLang="en-US" sz="1463"/>
          </a:p>
        </p:txBody>
      </p:sp>
      <p:pic>
        <p:nvPicPr>
          <p:cNvPr id="36" name="Image 11" descr="Check"/>
          <p:cNvPicPr>
            <a:picLocks noChangeAspect="1"/>
          </p:cNvPicPr>
          <p:nvPr/>
        </p:nvPicPr>
        <p:blipFill>
          <a:blip r:embed="rId4"/>
          <a:srcRect/>
          <a:stretch/>
        </p:blipFill>
        <p:spPr>
          <a:xfrm>
            <a:off x="7289165" y="3942875"/>
            <a:ext cx="165100" cy="165100"/>
          </a:xfrm>
          <a:prstGeom prst="rect">
            <a:avLst/>
          </a:prstGeom>
        </p:spPr>
      </p:pic>
      <p:sp>
        <p:nvSpPr>
          <p:cNvPr id="37" name="Text 23"/>
          <p:cNvSpPr/>
          <p:nvPr/>
        </p:nvSpPr>
        <p:spPr>
          <a:xfrm>
            <a:off x="7536815" y="3924300"/>
            <a:ext cx="1703626"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その他システムエラー</a:t>
            </a:r>
            <a:endParaRPr lang="en-US" sz="1138" dirty="0"/>
          </a:p>
        </p:txBody>
      </p:sp>
      <p:sp>
        <p:nvSpPr>
          <p:cNvPr id="38" name="Text 2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39" name="Text 2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7</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06　DRAFT RELEASE</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DRAFTは所属長によるSKILL・配置の確認用</a:t>
            </a:r>
            <a:endParaRPr lang="en-US" dirty="0"/>
          </a:p>
        </p:txBody>
      </p:sp>
      <p:sp>
        <p:nvSpPr>
          <p:cNvPr id="4" name="Shape 2"/>
          <p:cNvSpPr/>
          <p:nvPr/>
        </p:nvSpPr>
        <p:spPr>
          <a:xfrm>
            <a:off x="660400" y="2165986"/>
            <a:ext cx="3665220" cy="2521903"/>
          </a:xfrm>
          <a:prstGeom prst="roundRect">
            <a:avLst>
              <a:gd name="adj" fmla="val 3273"/>
            </a:avLst>
          </a:prstGeom>
          <a:solidFill>
            <a:srgbClr val="14213D"/>
          </a:solidFill>
          <a:ln/>
        </p:spPr>
        <p:txBody>
          <a:bodyPr/>
          <a:lstStyle/>
          <a:p>
            <a:endParaRPr lang="ja-JP" altLang="en-US" sz="1463"/>
          </a:p>
        </p:txBody>
      </p:sp>
      <p:sp>
        <p:nvSpPr>
          <p:cNvPr id="5" name="Text 3"/>
          <p:cNvSpPr/>
          <p:nvPr/>
        </p:nvSpPr>
        <p:spPr>
          <a:xfrm>
            <a:off x="908051" y="2413636"/>
            <a:ext cx="3265017" cy="195927"/>
          </a:xfrm>
          <a:prstGeom prst="rect">
            <a:avLst/>
          </a:prstGeom>
          <a:noFill/>
          <a:ln/>
        </p:spPr>
        <p:txBody>
          <a:bodyPr wrap="square" lIns="0" tIns="0" rIns="0" bIns="0" rtlCol="0" anchor="t">
            <a:normAutofit/>
          </a:bodyPr>
          <a:lstStyle/>
          <a:p>
            <a:pPr>
              <a:lnSpc>
                <a:spcPts val="1398"/>
              </a:lnSpc>
            </a:pPr>
            <a:r>
              <a:rPr lang="en-US" sz="999" b="1" dirty="0">
                <a:solidFill>
                  <a:srgbClr val="F2A65A"/>
                </a:solidFill>
                <a:latin typeface="Noto Sans JP" pitchFamily="34" charset="0"/>
                <a:ea typeface="Noto Sans JP" pitchFamily="34" charset="-122"/>
                <a:cs typeface="Noto Sans JP" pitchFamily="34" charset="-120"/>
              </a:rPr>
              <a:t>DRAFT RELEASE（原則）</a:t>
            </a:r>
            <a:endParaRPr lang="en-US" sz="999" dirty="0"/>
          </a:p>
        </p:txBody>
      </p:sp>
      <p:sp>
        <p:nvSpPr>
          <p:cNvPr id="6" name="Text 4"/>
          <p:cNvSpPr/>
          <p:nvPr/>
        </p:nvSpPr>
        <p:spPr>
          <a:xfrm>
            <a:off x="908051" y="2692113"/>
            <a:ext cx="3265017" cy="492850"/>
          </a:xfrm>
          <a:prstGeom prst="rect">
            <a:avLst/>
          </a:prstGeom>
          <a:noFill/>
          <a:ln/>
        </p:spPr>
        <p:txBody>
          <a:bodyPr wrap="square" lIns="0" tIns="0" rIns="0" bIns="0" rtlCol="0" anchor="t">
            <a:normAutofit/>
          </a:bodyPr>
          <a:lstStyle/>
          <a:p>
            <a:pPr>
              <a:lnSpc>
                <a:spcPts val="3754"/>
              </a:lnSpc>
            </a:pPr>
            <a:r>
              <a:rPr lang="en-US" sz="3413" b="1" dirty="0">
                <a:solidFill>
                  <a:srgbClr val="F6F7F4"/>
                </a:solidFill>
                <a:latin typeface="Noto Sans JP" pitchFamily="34" charset="0"/>
                <a:ea typeface="Noto Sans JP" pitchFamily="34" charset="-122"/>
                <a:cs typeface="Noto Sans JP" pitchFamily="34" charset="-120"/>
              </a:rPr>
              <a:t>毎月1日</a:t>
            </a:r>
            <a:endParaRPr lang="en-US" sz="3413" dirty="0"/>
          </a:p>
        </p:txBody>
      </p:sp>
      <p:sp>
        <p:nvSpPr>
          <p:cNvPr id="7" name="Text 5"/>
          <p:cNvSpPr/>
          <p:nvPr/>
        </p:nvSpPr>
        <p:spPr>
          <a:xfrm>
            <a:off x="908050" y="3267513"/>
            <a:ext cx="3417570" cy="421263"/>
          </a:xfrm>
          <a:prstGeom prst="rect">
            <a:avLst/>
          </a:prstGeom>
          <a:noFill/>
          <a:ln/>
        </p:spPr>
        <p:txBody>
          <a:bodyPr wrap="square" lIns="0" tIns="0" rIns="0" bIns="0" rtlCol="0" anchor="t">
            <a:normAutofit/>
          </a:bodyPr>
          <a:lstStyle/>
          <a:p>
            <a:pPr>
              <a:lnSpc>
                <a:spcPts val="1803"/>
              </a:lnSpc>
            </a:pPr>
            <a:r>
              <a:rPr lang="en-US" sz="1127" dirty="0">
                <a:solidFill>
                  <a:srgbClr val="B8C4D6"/>
                </a:solidFill>
                <a:latin typeface="Noto Sans JP" pitchFamily="34" charset="0"/>
                <a:ea typeface="Noto Sans JP" pitchFamily="34" charset="-122"/>
                <a:cs typeface="Noto Sans JP" pitchFamily="34" charset="-120"/>
              </a:rPr>
              <a:t>16日から開始するシフトのDRAFTをリリースする</a:t>
            </a:r>
            <a:endParaRPr lang="en-US" sz="1127" dirty="0"/>
          </a:p>
        </p:txBody>
      </p:sp>
      <p:sp>
        <p:nvSpPr>
          <p:cNvPr id="8" name="Shape 6"/>
          <p:cNvSpPr/>
          <p:nvPr/>
        </p:nvSpPr>
        <p:spPr>
          <a:xfrm>
            <a:off x="908050" y="3874512"/>
            <a:ext cx="3169920" cy="565726"/>
          </a:xfrm>
          <a:prstGeom prst="roundRect">
            <a:avLst>
              <a:gd name="adj" fmla="val 7296"/>
            </a:avLst>
          </a:prstGeom>
          <a:solidFill>
            <a:srgbClr val="22325A"/>
          </a:solidFill>
          <a:ln/>
        </p:spPr>
        <p:txBody>
          <a:bodyPr/>
          <a:lstStyle/>
          <a:p>
            <a:endParaRPr lang="ja-JP" altLang="en-US" sz="1463"/>
          </a:p>
        </p:txBody>
      </p:sp>
      <p:sp>
        <p:nvSpPr>
          <p:cNvPr id="9" name="Text 7"/>
          <p:cNvSpPr/>
          <p:nvPr/>
        </p:nvSpPr>
        <p:spPr>
          <a:xfrm>
            <a:off x="1011238" y="3957063"/>
            <a:ext cx="3052451" cy="421263"/>
          </a:xfrm>
          <a:prstGeom prst="rect">
            <a:avLst/>
          </a:prstGeom>
          <a:noFill/>
          <a:ln/>
        </p:spPr>
        <p:txBody>
          <a:bodyPr wrap="square" lIns="0" tIns="0" rIns="0" bIns="0" rtlCol="0" anchor="t">
            <a:normAutofit/>
          </a:bodyPr>
          <a:lstStyle/>
          <a:p>
            <a:pPr>
              <a:lnSpc>
                <a:spcPts val="1593"/>
              </a:lnSpc>
            </a:pPr>
            <a:r>
              <a:rPr lang="en-US" sz="995" dirty="0">
                <a:solidFill>
                  <a:srgbClr val="F6F7F4"/>
                </a:solidFill>
                <a:latin typeface="Noto Sans JP" pitchFamily="34" charset="0"/>
                <a:ea typeface="Noto Sans JP" pitchFamily="34" charset="-122"/>
                <a:cs typeface="Noto Sans JP" pitchFamily="34" charset="-120"/>
              </a:rPr>
              <a:t>確定シフトではなく、所属長によるSKILL・配置確認用シフト</a:t>
            </a:r>
            <a:endParaRPr lang="en-US" sz="995" dirty="0"/>
          </a:p>
        </p:txBody>
      </p:sp>
      <p:sp>
        <p:nvSpPr>
          <p:cNvPr id="10" name="Text 8"/>
          <p:cNvSpPr/>
          <p:nvPr/>
        </p:nvSpPr>
        <p:spPr>
          <a:xfrm>
            <a:off x="4490720" y="2165986"/>
            <a:ext cx="4897527" cy="135305"/>
          </a:xfrm>
          <a:prstGeom prst="rect">
            <a:avLst/>
          </a:prstGeom>
          <a:noFill/>
          <a:ln/>
        </p:spPr>
        <p:txBody>
          <a:bodyPr wrap="square" lIns="0" tIns="0" rIns="0" bIns="0" rtlCol="0" anchor="t">
            <a:normAutofit/>
          </a:bodyPr>
          <a:lstStyle/>
          <a:p>
            <a:pPr>
              <a:lnSpc>
                <a:spcPts val="1053"/>
              </a:lnSpc>
            </a:pPr>
            <a:r>
              <a:rPr lang="en-US" sz="878" b="1" dirty="0">
                <a:solidFill>
                  <a:srgbClr val="14213D"/>
                </a:solidFill>
                <a:latin typeface="Noto Sans JP" pitchFamily="34" charset="0"/>
                <a:ea typeface="Noto Sans JP" pitchFamily="34" charset="-122"/>
                <a:cs typeface="Noto Sans JP" pitchFamily="34" charset="-120"/>
              </a:rPr>
              <a:t>所属長の確認項目</a:t>
            </a:r>
            <a:endParaRPr lang="en-US" sz="878" dirty="0"/>
          </a:p>
        </p:txBody>
      </p:sp>
      <p:sp>
        <p:nvSpPr>
          <p:cNvPr id="11" name="Shape 9"/>
          <p:cNvSpPr/>
          <p:nvPr/>
        </p:nvSpPr>
        <p:spPr>
          <a:xfrm>
            <a:off x="4493300" y="2365783"/>
            <a:ext cx="4749721" cy="313497"/>
          </a:xfrm>
          <a:prstGeom prst="roundRect">
            <a:avLst>
              <a:gd name="adj" fmla="val 15635"/>
            </a:avLst>
          </a:prstGeom>
          <a:solidFill>
            <a:srgbClr val="FDFDFB"/>
          </a:solidFill>
          <a:ln w="6350">
            <a:solidFill>
              <a:srgbClr val="D9DDD3"/>
            </a:solidFill>
            <a:prstDash val="solid"/>
          </a:ln>
        </p:spPr>
        <p:txBody>
          <a:bodyPr/>
          <a:lstStyle/>
          <a:p>
            <a:endParaRPr lang="ja-JP" altLang="en-US" sz="1463"/>
          </a:p>
        </p:txBody>
      </p:sp>
      <p:pic>
        <p:nvPicPr>
          <p:cNvPr id="12" name="Image 0" descr="Check"/>
          <p:cNvPicPr>
            <a:picLocks noChangeAspect="1"/>
          </p:cNvPicPr>
          <p:nvPr/>
        </p:nvPicPr>
        <p:blipFill>
          <a:blip r:embed="rId3"/>
          <a:srcRect/>
          <a:stretch/>
        </p:blipFill>
        <p:spPr>
          <a:xfrm>
            <a:off x="4618673" y="2440012"/>
            <a:ext cx="165100" cy="165100"/>
          </a:xfrm>
          <a:prstGeom prst="rect">
            <a:avLst/>
          </a:prstGeom>
        </p:spPr>
      </p:pic>
      <p:sp>
        <p:nvSpPr>
          <p:cNvPr id="13" name="Text 10"/>
          <p:cNvSpPr/>
          <p:nvPr/>
        </p:nvSpPr>
        <p:spPr>
          <a:xfrm>
            <a:off x="4866323" y="2421438"/>
            <a:ext cx="1613130"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AIRLINE／業務SKILL</a:t>
            </a:r>
            <a:endParaRPr lang="en-US" sz="1138" dirty="0"/>
          </a:p>
        </p:txBody>
      </p:sp>
      <p:sp>
        <p:nvSpPr>
          <p:cNvPr id="14" name="Shape 11"/>
          <p:cNvSpPr/>
          <p:nvPr/>
        </p:nvSpPr>
        <p:spPr>
          <a:xfrm>
            <a:off x="4493300" y="2766988"/>
            <a:ext cx="4749721" cy="313497"/>
          </a:xfrm>
          <a:prstGeom prst="roundRect">
            <a:avLst>
              <a:gd name="adj" fmla="val 15635"/>
            </a:avLst>
          </a:prstGeom>
          <a:solidFill>
            <a:srgbClr val="FDFDFB"/>
          </a:solidFill>
          <a:ln w="6350">
            <a:solidFill>
              <a:srgbClr val="D9DDD3"/>
            </a:solidFill>
            <a:prstDash val="solid"/>
          </a:ln>
        </p:spPr>
        <p:txBody>
          <a:bodyPr/>
          <a:lstStyle/>
          <a:p>
            <a:endParaRPr lang="ja-JP" altLang="en-US" sz="1463"/>
          </a:p>
        </p:txBody>
      </p:sp>
      <p:pic>
        <p:nvPicPr>
          <p:cNvPr id="15" name="Image 1" descr="Check"/>
          <p:cNvPicPr>
            <a:picLocks noChangeAspect="1"/>
          </p:cNvPicPr>
          <p:nvPr/>
        </p:nvPicPr>
        <p:blipFill>
          <a:blip r:embed="rId3"/>
          <a:srcRect/>
          <a:stretch/>
        </p:blipFill>
        <p:spPr>
          <a:xfrm>
            <a:off x="4618673" y="2841219"/>
            <a:ext cx="165100" cy="165100"/>
          </a:xfrm>
          <a:prstGeom prst="rect">
            <a:avLst/>
          </a:prstGeom>
        </p:spPr>
      </p:pic>
      <p:sp>
        <p:nvSpPr>
          <p:cNvPr id="16" name="Text 12"/>
          <p:cNvSpPr/>
          <p:nvPr/>
        </p:nvSpPr>
        <p:spPr>
          <a:xfrm>
            <a:off x="4866323" y="2822645"/>
            <a:ext cx="1829437"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INCH・SV等の必要配置</a:t>
            </a:r>
            <a:endParaRPr lang="en-US" sz="1138" dirty="0"/>
          </a:p>
        </p:txBody>
      </p:sp>
      <p:sp>
        <p:nvSpPr>
          <p:cNvPr id="17" name="Shape 13"/>
          <p:cNvSpPr/>
          <p:nvPr/>
        </p:nvSpPr>
        <p:spPr>
          <a:xfrm>
            <a:off x="4493300" y="3168195"/>
            <a:ext cx="4749721" cy="313497"/>
          </a:xfrm>
          <a:prstGeom prst="roundRect">
            <a:avLst>
              <a:gd name="adj" fmla="val 15635"/>
            </a:avLst>
          </a:prstGeom>
          <a:solidFill>
            <a:srgbClr val="FDFDFB"/>
          </a:solidFill>
          <a:ln w="6350">
            <a:solidFill>
              <a:srgbClr val="D9DDD3"/>
            </a:solidFill>
            <a:prstDash val="solid"/>
          </a:ln>
        </p:spPr>
        <p:txBody>
          <a:bodyPr/>
          <a:lstStyle/>
          <a:p>
            <a:endParaRPr lang="ja-JP" altLang="en-US" sz="1463"/>
          </a:p>
        </p:txBody>
      </p:sp>
      <p:pic>
        <p:nvPicPr>
          <p:cNvPr id="18" name="Image 2" descr="Check"/>
          <p:cNvPicPr>
            <a:picLocks noChangeAspect="1"/>
          </p:cNvPicPr>
          <p:nvPr/>
        </p:nvPicPr>
        <p:blipFill>
          <a:blip r:embed="rId3"/>
          <a:srcRect/>
          <a:stretch/>
        </p:blipFill>
        <p:spPr>
          <a:xfrm>
            <a:off x="4618673" y="3242424"/>
            <a:ext cx="165100" cy="165100"/>
          </a:xfrm>
          <a:prstGeom prst="rect">
            <a:avLst/>
          </a:prstGeom>
        </p:spPr>
      </p:pic>
      <p:sp>
        <p:nvSpPr>
          <p:cNvPr id="19" name="Text 14"/>
          <p:cNvSpPr/>
          <p:nvPr/>
        </p:nvSpPr>
        <p:spPr>
          <a:xfrm>
            <a:off x="4866323" y="3223852"/>
            <a:ext cx="1801886"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FLIGHTごとの必要要員</a:t>
            </a:r>
            <a:endParaRPr lang="en-US" sz="1138" dirty="0"/>
          </a:p>
        </p:txBody>
      </p:sp>
      <p:sp>
        <p:nvSpPr>
          <p:cNvPr id="20" name="Shape 15"/>
          <p:cNvSpPr/>
          <p:nvPr/>
        </p:nvSpPr>
        <p:spPr>
          <a:xfrm>
            <a:off x="4493300" y="3569399"/>
            <a:ext cx="4749721" cy="313497"/>
          </a:xfrm>
          <a:prstGeom prst="roundRect">
            <a:avLst>
              <a:gd name="adj" fmla="val 15635"/>
            </a:avLst>
          </a:prstGeom>
          <a:solidFill>
            <a:srgbClr val="FDFDFB"/>
          </a:solidFill>
          <a:ln w="6350">
            <a:solidFill>
              <a:srgbClr val="D9DDD3"/>
            </a:solidFill>
            <a:prstDash val="solid"/>
          </a:ln>
        </p:spPr>
        <p:txBody>
          <a:bodyPr/>
          <a:lstStyle/>
          <a:p>
            <a:endParaRPr lang="ja-JP" altLang="en-US" sz="1463"/>
          </a:p>
        </p:txBody>
      </p:sp>
      <p:pic>
        <p:nvPicPr>
          <p:cNvPr id="21" name="Image 3" descr="Check"/>
          <p:cNvPicPr>
            <a:picLocks noChangeAspect="1"/>
          </p:cNvPicPr>
          <p:nvPr/>
        </p:nvPicPr>
        <p:blipFill>
          <a:blip r:embed="rId3"/>
          <a:srcRect/>
          <a:stretch/>
        </p:blipFill>
        <p:spPr>
          <a:xfrm>
            <a:off x="4618673" y="3643631"/>
            <a:ext cx="165100" cy="165100"/>
          </a:xfrm>
          <a:prstGeom prst="rect">
            <a:avLst/>
          </a:prstGeom>
        </p:spPr>
      </p:pic>
      <p:sp>
        <p:nvSpPr>
          <p:cNvPr id="22" name="Text 16"/>
          <p:cNvSpPr/>
          <p:nvPr/>
        </p:nvSpPr>
        <p:spPr>
          <a:xfrm>
            <a:off x="4866323" y="3625056"/>
            <a:ext cx="1213485"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個人の勤務制限</a:t>
            </a:r>
            <a:endParaRPr lang="en-US" sz="1138" dirty="0"/>
          </a:p>
        </p:txBody>
      </p:sp>
      <p:sp>
        <p:nvSpPr>
          <p:cNvPr id="23" name="Shape 17"/>
          <p:cNvSpPr/>
          <p:nvPr/>
        </p:nvSpPr>
        <p:spPr>
          <a:xfrm>
            <a:off x="4493300" y="3970608"/>
            <a:ext cx="4749721" cy="313497"/>
          </a:xfrm>
          <a:prstGeom prst="roundRect">
            <a:avLst>
              <a:gd name="adj" fmla="val 15635"/>
            </a:avLst>
          </a:prstGeom>
          <a:solidFill>
            <a:srgbClr val="FDFDFB"/>
          </a:solidFill>
          <a:ln w="6350">
            <a:solidFill>
              <a:srgbClr val="D9DDD3"/>
            </a:solidFill>
            <a:prstDash val="solid"/>
          </a:ln>
        </p:spPr>
        <p:txBody>
          <a:bodyPr/>
          <a:lstStyle/>
          <a:p>
            <a:endParaRPr lang="ja-JP" altLang="en-US" sz="1463"/>
          </a:p>
        </p:txBody>
      </p:sp>
      <p:pic>
        <p:nvPicPr>
          <p:cNvPr id="24" name="Image 4" descr="Check"/>
          <p:cNvPicPr>
            <a:picLocks noChangeAspect="1"/>
          </p:cNvPicPr>
          <p:nvPr/>
        </p:nvPicPr>
        <p:blipFill>
          <a:blip r:embed="rId3"/>
          <a:srcRect/>
          <a:stretch/>
        </p:blipFill>
        <p:spPr>
          <a:xfrm>
            <a:off x="4618673" y="4044835"/>
            <a:ext cx="165100" cy="165100"/>
          </a:xfrm>
          <a:prstGeom prst="rect">
            <a:avLst/>
          </a:prstGeom>
        </p:spPr>
      </p:pic>
      <p:sp>
        <p:nvSpPr>
          <p:cNvPr id="25" name="Text 18"/>
          <p:cNvSpPr/>
          <p:nvPr/>
        </p:nvSpPr>
        <p:spPr>
          <a:xfrm>
            <a:off x="4866323" y="4026263"/>
            <a:ext cx="2080260"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現場運用上成立しない配置</a:t>
            </a:r>
            <a:endParaRPr lang="en-US" sz="1138" dirty="0"/>
          </a:p>
        </p:txBody>
      </p:sp>
      <p:sp>
        <p:nvSpPr>
          <p:cNvPr id="26" name="Shape 19"/>
          <p:cNvSpPr/>
          <p:nvPr/>
        </p:nvSpPr>
        <p:spPr>
          <a:xfrm>
            <a:off x="4493300" y="4371810"/>
            <a:ext cx="4749721" cy="313497"/>
          </a:xfrm>
          <a:prstGeom prst="roundRect">
            <a:avLst>
              <a:gd name="adj" fmla="val 15635"/>
            </a:avLst>
          </a:prstGeom>
          <a:solidFill>
            <a:srgbClr val="FDFDFB"/>
          </a:solidFill>
          <a:ln w="6350">
            <a:solidFill>
              <a:srgbClr val="D9DDD3"/>
            </a:solidFill>
            <a:prstDash val="solid"/>
          </a:ln>
        </p:spPr>
        <p:txBody>
          <a:bodyPr/>
          <a:lstStyle/>
          <a:p>
            <a:endParaRPr lang="ja-JP" altLang="en-US" sz="1463"/>
          </a:p>
        </p:txBody>
      </p:sp>
      <p:pic>
        <p:nvPicPr>
          <p:cNvPr id="27" name="Image 5" descr="Check"/>
          <p:cNvPicPr>
            <a:picLocks noChangeAspect="1"/>
          </p:cNvPicPr>
          <p:nvPr/>
        </p:nvPicPr>
        <p:blipFill>
          <a:blip r:embed="rId3"/>
          <a:srcRect/>
          <a:stretch/>
        </p:blipFill>
        <p:spPr>
          <a:xfrm>
            <a:off x="4618673" y="4446042"/>
            <a:ext cx="165100" cy="165100"/>
          </a:xfrm>
          <a:prstGeom prst="rect">
            <a:avLst/>
          </a:prstGeom>
        </p:spPr>
      </p:pic>
      <p:sp>
        <p:nvSpPr>
          <p:cNvPr id="28" name="Text 20"/>
          <p:cNvSpPr/>
          <p:nvPr/>
        </p:nvSpPr>
        <p:spPr>
          <a:xfrm>
            <a:off x="4866322" y="4427470"/>
            <a:ext cx="2708053" cy="222885"/>
          </a:xfrm>
          <a:prstGeom prst="rect">
            <a:avLst/>
          </a:prstGeom>
          <a:noFill/>
          <a:ln/>
        </p:spPr>
        <p:txBody>
          <a:bodyPr wrap="square" lIns="0" tIns="0" rIns="0" bIns="0" rtlCol="0" anchor="t">
            <a:normAutofit/>
          </a:bodyPr>
          <a:lstStyle/>
          <a:p>
            <a:pPr>
              <a:lnSpc>
                <a:spcPts val="1593"/>
              </a:lnSpc>
            </a:pPr>
            <a:r>
              <a:rPr lang="en-US" sz="1138" dirty="0">
                <a:solidFill>
                  <a:srgbClr val="14213D"/>
                </a:solidFill>
                <a:latin typeface="Noto Sans JP" pitchFamily="34" charset="0"/>
                <a:ea typeface="Noto Sans JP" pitchFamily="34" charset="-122"/>
                <a:cs typeface="Noto Sans JP" pitchFamily="34" charset="-120"/>
              </a:rPr>
              <a:t>SKILL・スタッフ情報等の登録誤り</a:t>
            </a:r>
            <a:endParaRPr lang="en-US" sz="1138" dirty="0"/>
          </a:p>
        </p:txBody>
      </p:sp>
      <p:sp>
        <p:nvSpPr>
          <p:cNvPr id="29" name="Shape 21"/>
          <p:cNvSpPr/>
          <p:nvPr/>
        </p:nvSpPr>
        <p:spPr>
          <a:xfrm>
            <a:off x="660400" y="4935538"/>
            <a:ext cx="8585200" cy="454025"/>
          </a:xfrm>
          <a:prstGeom prst="roundRect">
            <a:avLst>
              <a:gd name="adj" fmla="val 9091"/>
            </a:avLst>
          </a:prstGeom>
          <a:solidFill>
            <a:srgbClr val="FBE9D8"/>
          </a:solidFill>
          <a:ln/>
        </p:spPr>
        <p:txBody>
          <a:bodyPr/>
          <a:lstStyle/>
          <a:p>
            <a:endParaRPr lang="ja-JP" altLang="en-US" sz="1463"/>
          </a:p>
        </p:txBody>
      </p:sp>
      <p:sp>
        <p:nvSpPr>
          <p:cNvPr id="30" name="Shape 22"/>
          <p:cNvSpPr/>
          <p:nvPr/>
        </p:nvSpPr>
        <p:spPr>
          <a:xfrm>
            <a:off x="660400" y="4935538"/>
            <a:ext cx="8585200" cy="454025"/>
          </a:xfrm>
          <a:custGeom>
            <a:avLst/>
            <a:gdLst/>
            <a:ahLst/>
            <a:cxnLst/>
            <a:rect l="l" t="t" r="r" b="b"/>
            <a:pathLst>
              <a:path w="10566400" h="558800">
                <a:moveTo>
                  <a:pt x="50800" y="558800"/>
                </a:moveTo>
                <a:lnTo>
                  <a:pt x="50800" y="558800"/>
                </a:lnTo>
                <a:arcTo wR="50800" hR="50800" stAng="5400000" swAng="5400000"/>
                <a:lnTo>
                  <a:pt x="0" y="50800"/>
                </a:lnTo>
                <a:arcTo wR="50800" hR="50800" stAng="10800000" swAng="5400000"/>
                <a:lnTo>
                  <a:pt x="50800" y="0"/>
                </a:lnTo>
                <a:lnTo>
                  <a:pt x="50800" y="558800"/>
                </a:lnTo>
                <a:close/>
              </a:path>
            </a:pathLst>
          </a:custGeom>
          <a:solidFill>
            <a:srgbClr val="B4530F"/>
          </a:solidFill>
          <a:ln/>
        </p:spPr>
        <p:txBody>
          <a:bodyPr/>
          <a:lstStyle/>
          <a:p>
            <a:endParaRPr lang="ja-JP" altLang="en-US" sz="1463"/>
          </a:p>
        </p:txBody>
      </p:sp>
      <p:pic>
        <p:nvPicPr>
          <p:cNvPr id="31" name="Image 6" descr="Warning"/>
          <p:cNvPicPr>
            <a:picLocks noChangeAspect="1"/>
          </p:cNvPicPr>
          <p:nvPr/>
        </p:nvPicPr>
        <p:blipFill>
          <a:blip r:embed="rId4"/>
          <a:srcRect/>
          <a:stretch/>
        </p:blipFill>
        <p:spPr>
          <a:xfrm>
            <a:off x="866775" y="5059363"/>
            <a:ext cx="206375" cy="206375"/>
          </a:xfrm>
          <a:prstGeom prst="rect">
            <a:avLst/>
          </a:prstGeom>
        </p:spPr>
      </p:pic>
      <p:sp>
        <p:nvSpPr>
          <p:cNvPr id="32" name="Text 23"/>
          <p:cNvSpPr/>
          <p:nvPr/>
        </p:nvSpPr>
        <p:spPr>
          <a:xfrm>
            <a:off x="1176338" y="5061428"/>
            <a:ext cx="6088785" cy="222885"/>
          </a:xfrm>
          <a:prstGeom prst="rect">
            <a:avLst/>
          </a:prstGeom>
          <a:noFill/>
          <a:ln/>
        </p:spPr>
        <p:txBody>
          <a:bodyPr wrap="square" lIns="0" tIns="0" rIns="0" bIns="0"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DRAFTリリース後は、原則として個人的な勤務希望による変更は受け付けない</a:t>
            </a:r>
            <a:endParaRPr lang="en-US" sz="1138" dirty="0"/>
          </a:p>
        </p:txBody>
      </p:sp>
      <p:sp>
        <p:nvSpPr>
          <p:cNvPr id="33" name="Text 24"/>
          <p:cNvSpPr/>
          <p:nvPr/>
        </p:nvSpPr>
        <p:spPr>
          <a:xfrm>
            <a:off x="660400" y="5711509"/>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34" name="Text 25"/>
          <p:cNvSpPr/>
          <p:nvPr/>
        </p:nvSpPr>
        <p:spPr>
          <a:xfrm>
            <a:off x="8172450" y="5711509"/>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8</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07　FINAL RELEASE</a:t>
            </a:r>
            <a:endParaRPr lang="en-US" sz="975" dirty="0"/>
          </a:p>
        </p:txBody>
      </p:sp>
      <p:sp>
        <p:nvSpPr>
          <p:cNvPr id="3" name="Text 1"/>
          <p:cNvSpPr>
            <a:spLocks noGrp="1"/>
          </p:cNvSpPr>
          <p:nvPr>
            <p:ph type="title"/>
          </p:nvPr>
        </p:nvSpPr>
        <p:spPr>
          <a:xfrm>
            <a:off x="660400" y="1538608"/>
            <a:ext cx="8842756" cy="400368"/>
          </a:xfrm>
          <a:prstGeom prst="rect">
            <a:avLst/>
          </a:prstGeom>
          <a:noFill/>
          <a:ln/>
        </p:spPr>
        <p:txBody>
          <a:bodyPr wrap="square" lIns="0" tIns="0" rIns="0" bIns="0" rtlCol="0" anchor="t">
            <a:normAutofit/>
          </a:bodyPr>
          <a:lstStyle/>
          <a:p>
            <a:pPr>
              <a:lnSpc>
                <a:spcPts val="2990"/>
              </a:lnSpc>
            </a:pPr>
            <a:r>
              <a:rPr lang="en-US" b="1" dirty="0"/>
              <a:t>指摘事項を反映し、正式な勤務シフトを確定する</a:t>
            </a:r>
            <a:endParaRPr lang="en-US" dirty="0"/>
          </a:p>
        </p:txBody>
      </p:sp>
      <p:sp>
        <p:nvSpPr>
          <p:cNvPr id="4" name="Shape 2"/>
          <p:cNvSpPr/>
          <p:nvPr/>
        </p:nvSpPr>
        <p:spPr>
          <a:xfrm>
            <a:off x="660400" y="2165986"/>
            <a:ext cx="3665220" cy="3223578"/>
          </a:xfrm>
          <a:prstGeom prst="roundRect">
            <a:avLst>
              <a:gd name="adj" fmla="val 2561"/>
            </a:avLst>
          </a:prstGeom>
          <a:solidFill>
            <a:srgbClr val="14213D"/>
          </a:solidFill>
          <a:ln/>
        </p:spPr>
        <p:txBody>
          <a:bodyPr/>
          <a:lstStyle/>
          <a:p>
            <a:endParaRPr lang="ja-JP" altLang="en-US" sz="1463"/>
          </a:p>
        </p:txBody>
      </p:sp>
      <p:sp>
        <p:nvSpPr>
          <p:cNvPr id="5" name="Text 3"/>
          <p:cNvSpPr/>
          <p:nvPr/>
        </p:nvSpPr>
        <p:spPr>
          <a:xfrm>
            <a:off x="908051" y="2413636"/>
            <a:ext cx="3265017" cy="222885"/>
          </a:xfrm>
          <a:prstGeom prst="rect">
            <a:avLst/>
          </a:prstGeom>
          <a:noFill/>
          <a:ln/>
        </p:spPr>
        <p:txBody>
          <a:bodyPr wrap="square" lIns="0" tIns="0" rIns="0" bIns="0" rtlCol="0" anchor="t">
            <a:normAutofit/>
          </a:bodyPr>
          <a:lstStyle/>
          <a:p>
            <a:pPr>
              <a:lnSpc>
                <a:spcPts val="1593"/>
              </a:lnSpc>
            </a:pPr>
            <a:r>
              <a:rPr lang="en-US" sz="1138" b="1" dirty="0">
                <a:solidFill>
                  <a:srgbClr val="F2A65A"/>
                </a:solidFill>
                <a:latin typeface="Noto Sans JP" pitchFamily="34" charset="0"/>
                <a:ea typeface="Noto Sans JP" pitchFamily="34" charset="-122"/>
                <a:cs typeface="Noto Sans JP" pitchFamily="34" charset="-120"/>
              </a:rPr>
              <a:t>FINAL RELEASE（原則）</a:t>
            </a:r>
            <a:endParaRPr lang="en-US" sz="1138" dirty="0"/>
          </a:p>
        </p:txBody>
      </p:sp>
      <p:sp>
        <p:nvSpPr>
          <p:cNvPr id="6" name="Text 4"/>
          <p:cNvSpPr/>
          <p:nvPr/>
        </p:nvSpPr>
        <p:spPr>
          <a:xfrm>
            <a:off x="908051" y="2719071"/>
            <a:ext cx="3265017" cy="565468"/>
          </a:xfrm>
          <a:prstGeom prst="rect">
            <a:avLst/>
          </a:prstGeom>
          <a:noFill/>
          <a:ln/>
        </p:spPr>
        <p:txBody>
          <a:bodyPr wrap="square" lIns="0" tIns="0" rIns="0" bIns="0" rtlCol="0" anchor="t">
            <a:normAutofit/>
          </a:bodyPr>
          <a:lstStyle/>
          <a:p>
            <a:pPr>
              <a:lnSpc>
                <a:spcPts val="4290"/>
              </a:lnSpc>
            </a:pPr>
            <a:r>
              <a:rPr lang="en-US" sz="3900" b="1" dirty="0">
                <a:solidFill>
                  <a:srgbClr val="F6F7F4"/>
                </a:solidFill>
                <a:latin typeface="Noto Sans JP" pitchFamily="34" charset="0"/>
                <a:ea typeface="Noto Sans JP" pitchFamily="34" charset="-122"/>
                <a:cs typeface="Noto Sans JP" pitchFamily="34" charset="-120"/>
              </a:rPr>
              <a:t>毎月8日</a:t>
            </a:r>
            <a:endParaRPr lang="en-US" sz="3900" dirty="0"/>
          </a:p>
        </p:txBody>
      </p:sp>
      <p:sp>
        <p:nvSpPr>
          <p:cNvPr id="7" name="Text 5"/>
          <p:cNvSpPr/>
          <p:nvPr/>
        </p:nvSpPr>
        <p:spPr>
          <a:xfrm>
            <a:off x="908051" y="3367087"/>
            <a:ext cx="3265017" cy="251778"/>
          </a:xfrm>
          <a:prstGeom prst="rect">
            <a:avLst/>
          </a:prstGeom>
          <a:noFill/>
          <a:ln/>
        </p:spPr>
        <p:txBody>
          <a:bodyPr wrap="square" lIns="0" tIns="0" rIns="0" bIns="0" rtlCol="0" anchor="t">
            <a:normAutofit/>
          </a:bodyPr>
          <a:lstStyle/>
          <a:p>
            <a:pPr>
              <a:lnSpc>
                <a:spcPts val="1820"/>
              </a:lnSpc>
            </a:pPr>
            <a:r>
              <a:rPr lang="en-US" sz="1138" dirty="0">
                <a:solidFill>
                  <a:srgbClr val="B8C4D6"/>
                </a:solidFill>
                <a:latin typeface="Noto Sans JP" pitchFamily="34" charset="0"/>
                <a:ea typeface="Noto Sans JP" pitchFamily="34" charset="-122"/>
                <a:cs typeface="Noto Sans JP" pitchFamily="34" charset="-120"/>
              </a:rPr>
              <a:t>FINALシフトをリリースする</a:t>
            </a:r>
            <a:endParaRPr lang="en-US" sz="1138" dirty="0"/>
          </a:p>
        </p:txBody>
      </p:sp>
      <p:sp>
        <p:nvSpPr>
          <p:cNvPr id="8" name="Text 6"/>
          <p:cNvSpPr/>
          <p:nvPr/>
        </p:nvSpPr>
        <p:spPr>
          <a:xfrm>
            <a:off x="908050" y="4514534"/>
            <a:ext cx="3169920" cy="627380"/>
          </a:xfrm>
          <a:prstGeom prst="roundRect">
            <a:avLst>
              <a:gd name="adj" fmla="val 6579"/>
            </a:avLst>
          </a:prstGeom>
          <a:solidFill>
            <a:srgbClr val="22325A"/>
          </a:solidFill>
          <a:ln/>
        </p:spPr>
        <p:txBody>
          <a:bodyPr wrap="square" lIns="91098" tIns="70461" rIns="2192" bIns="49823" rtlCol="0" anchor="t">
            <a:normAutofit/>
          </a:bodyPr>
          <a:lstStyle/>
          <a:p>
            <a:pPr>
              <a:lnSpc>
                <a:spcPts val="1820"/>
              </a:lnSpc>
            </a:pPr>
            <a:r>
              <a:rPr lang="en-US" sz="1138" dirty="0">
                <a:solidFill>
                  <a:srgbClr val="F6F7F4"/>
                </a:solidFill>
                <a:latin typeface="Noto Sans JP" pitchFamily="34" charset="0"/>
                <a:ea typeface="Noto Sans JP" pitchFamily="34" charset="-122"/>
                <a:cs typeface="Noto Sans JP" pitchFamily="34" charset="-120"/>
              </a:rPr>
              <a:t>FINALシフトが16日～翌月15日の正式な勤務シフトとなる</a:t>
            </a:r>
            <a:endParaRPr lang="en-US" sz="1138" dirty="0"/>
          </a:p>
        </p:txBody>
      </p:sp>
      <p:sp>
        <p:nvSpPr>
          <p:cNvPr id="9" name="Text 7"/>
          <p:cNvSpPr/>
          <p:nvPr/>
        </p:nvSpPr>
        <p:spPr>
          <a:xfrm>
            <a:off x="4490720" y="2165986"/>
            <a:ext cx="4897527"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DRAFTからFINALまでの流れ</a:t>
            </a:r>
            <a:endParaRPr lang="en-US" sz="1463" dirty="0"/>
          </a:p>
        </p:txBody>
      </p:sp>
      <p:sp>
        <p:nvSpPr>
          <p:cNvPr id="10" name="Shape 8"/>
          <p:cNvSpPr/>
          <p:nvPr/>
        </p:nvSpPr>
        <p:spPr>
          <a:xfrm>
            <a:off x="4493300" y="2474002"/>
            <a:ext cx="4749721" cy="467439"/>
          </a:xfrm>
          <a:prstGeom prst="roundRect">
            <a:avLst>
              <a:gd name="adj" fmla="val 10486"/>
            </a:avLst>
          </a:prstGeom>
          <a:solidFill>
            <a:srgbClr val="FDFDFB"/>
          </a:solidFill>
          <a:ln w="6350">
            <a:solidFill>
              <a:srgbClr val="D9DDD3"/>
            </a:solidFill>
            <a:prstDash val="solid"/>
          </a:ln>
        </p:spPr>
        <p:txBody>
          <a:bodyPr/>
          <a:lstStyle/>
          <a:p>
            <a:endParaRPr lang="ja-JP" altLang="en-US" sz="1463"/>
          </a:p>
        </p:txBody>
      </p:sp>
      <p:sp>
        <p:nvSpPr>
          <p:cNvPr id="11" name="Text 9"/>
          <p:cNvSpPr/>
          <p:nvPr/>
        </p:nvSpPr>
        <p:spPr>
          <a:xfrm>
            <a:off x="4639310" y="2606599"/>
            <a:ext cx="288925" cy="222885"/>
          </a:xfrm>
          <a:prstGeom prst="rect">
            <a:avLst/>
          </a:prstGeom>
          <a:noFill/>
          <a:ln/>
        </p:spPr>
        <p:txBody>
          <a:bodyPr wrap="square" lIns="0" tIns="0" rIns="0" bIns="0" rtlCol="0" anchor="t">
            <a:normAutofit/>
          </a:bodyPr>
          <a:lstStyle/>
          <a:p>
            <a:pPr>
              <a:lnSpc>
                <a:spcPts val="1593"/>
              </a:lnSpc>
            </a:pPr>
            <a:r>
              <a:rPr lang="en-US" sz="1138" b="1" dirty="0">
                <a:solidFill>
                  <a:srgbClr val="B4530F"/>
                </a:solidFill>
                <a:latin typeface="Noto Sans JP" pitchFamily="34" charset="0"/>
                <a:ea typeface="Noto Sans JP" pitchFamily="34" charset="-122"/>
                <a:cs typeface="Noto Sans JP" pitchFamily="34" charset="-120"/>
              </a:rPr>
              <a:t>01</a:t>
            </a:r>
            <a:endParaRPr lang="en-US" sz="1138" dirty="0"/>
          </a:p>
        </p:txBody>
      </p:sp>
      <p:sp>
        <p:nvSpPr>
          <p:cNvPr id="12" name="Text 10"/>
          <p:cNvSpPr/>
          <p:nvPr/>
        </p:nvSpPr>
        <p:spPr>
          <a:xfrm>
            <a:off x="5010785" y="2599373"/>
            <a:ext cx="3293745" cy="237331"/>
          </a:xfrm>
          <a:prstGeom prst="rect">
            <a:avLst/>
          </a:prstGeom>
          <a:noFill/>
          <a:ln/>
        </p:spPr>
        <p:txBody>
          <a:bodyPr wrap="square" lIns="0" tIns="0" rIns="0" bIns="0" rtlCol="0" anchor="t">
            <a:normAutofit/>
          </a:bodyPr>
          <a:lstStyle/>
          <a:p>
            <a:pPr>
              <a:lnSpc>
                <a:spcPts val="1706"/>
              </a:lnSpc>
            </a:pPr>
            <a:r>
              <a:rPr lang="en-US" sz="1138" dirty="0">
                <a:solidFill>
                  <a:srgbClr val="14213D"/>
                </a:solidFill>
                <a:latin typeface="Noto Sans JP" pitchFamily="34" charset="0"/>
                <a:ea typeface="Noto Sans JP" pitchFamily="34" charset="-122"/>
                <a:cs typeface="Noto Sans JP" pitchFamily="34" charset="-120"/>
              </a:rPr>
              <a:t>所属長からの指摘事項をシフト担当が確認</a:t>
            </a:r>
            <a:endParaRPr lang="en-US" sz="1138" dirty="0"/>
          </a:p>
        </p:txBody>
      </p:sp>
      <p:sp>
        <p:nvSpPr>
          <p:cNvPr id="13" name="Shape 11"/>
          <p:cNvSpPr/>
          <p:nvPr/>
        </p:nvSpPr>
        <p:spPr>
          <a:xfrm>
            <a:off x="4493300" y="3029149"/>
            <a:ext cx="4749721" cy="467439"/>
          </a:xfrm>
          <a:prstGeom prst="roundRect">
            <a:avLst>
              <a:gd name="adj" fmla="val 10486"/>
            </a:avLst>
          </a:prstGeom>
          <a:solidFill>
            <a:srgbClr val="FDFDFB"/>
          </a:solidFill>
          <a:ln w="6350">
            <a:solidFill>
              <a:srgbClr val="D9DDD3"/>
            </a:solidFill>
            <a:prstDash val="solid"/>
          </a:ln>
        </p:spPr>
        <p:txBody>
          <a:bodyPr/>
          <a:lstStyle/>
          <a:p>
            <a:endParaRPr lang="ja-JP" altLang="en-US" sz="1463"/>
          </a:p>
        </p:txBody>
      </p:sp>
      <p:sp>
        <p:nvSpPr>
          <p:cNvPr id="14" name="Text 12"/>
          <p:cNvSpPr/>
          <p:nvPr/>
        </p:nvSpPr>
        <p:spPr>
          <a:xfrm>
            <a:off x="4639310" y="3161745"/>
            <a:ext cx="288925" cy="222885"/>
          </a:xfrm>
          <a:prstGeom prst="rect">
            <a:avLst/>
          </a:prstGeom>
          <a:noFill/>
          <a:ln/>
        </p:spPr>
        <p:txBody>
          <a:bodyPr wrap="square" lIns="0" tIns="0" rIns="0" bIns="0" rtlCol="0" anchor="t">
            <a:normAutofit/>
          </a:bodyPr>
          <a:lstStyle/>
          <a:p>
            <a:pPr>
              <a:lnSpc>
                <a:spcPts val="1593"/>
              </a:lnSpc>
            </a:pPr>
            <a:r>
              <a:rPr lang="en-US" sz="1138" b="1" dirty="0">
                <a:solidFill>
                  <a:srgbClr val="B4530F"/>
                </a:solidFill>
                <a:latin typeface="Noto Sans JP" pitchFamily="34" charset="0"/>
                <a:ea typeface="Noto Sans JP" pitchFamily="34" charset="-122"/>
                <a:cs typeface="Noto Sans JP" pitchFamily="34" charset="-120"/>
              </a:rPr>
              <a:t>02</a:t>
            </a:r>
            <a:endParaRPr lang="en-US" sz="1138" dirty="0"/>
          </a:p>
        </p:txBody>
      </p:sp>
      <p:sp>
        <p:nvSpPr>
          <p:cNvPr id="15" name="Text 13"/>
          <p:cNvSpPr/>
          <p:nvPr/>
        </p:nvSpPr>
        <p:spPr>
          <a:xfrm>
            <a:off x="5010785" y="3154521"/>
            <a:ext cx="2253615" cy="237331"/>
          </a:xfrm>
          <a:prstGeom prst="rect">
            <a:avLst/>
          </a:prstGeom>
          <a:noFill/>
          <a:ln/>
        </p:spPr>
        <p:txBody>
          <a:bodyPr wrap="square" lIns="0" tIns="0" rIns="0" bIns="0" rtlCol="0" anchor="t">
            <a:normAutofit/>
          </a:bodyPr>
          <a:lstStyle/>
          <a:p>
            <a:pPr>
              <a:lnSpc>
                <a:spcPts val="1706"/>
              </a:lnSpc>
            </a:pPr>
            <a:r>
              <a:rPr lang="en-US" sz="1138" dirty="0">
                <a:solidFill>
                  <a:srgbClr val="14213D"/>
                </a:solidFill>
                <a:latin typeface="Noto Sans JP" pitchFamily="34" charset="0"/>
                <a:ea typeface="Noto Sans JP" pitchFamily="34" charset="-122"/>
                <a:cs typeface="Noto Sans JP" pitchFamily="34" charset="-120"/>
              </a:rPr>
              <a:t>必要な修正・最終調整を実施</a:t>
            </a:r>
            <a:endParaRPr lang="en-US" sz="1138" dirty="0"/>
          </a:p>
        </p:txBody>
      </p:sp>
      <p:sp>
        <p:nvSpPr>
          <p:cNvPr id="16" name="Shape 14"/>
          <p:cNvSpPr/>
          <p:nvPr/>
        </p:nvSpPr>
        <p:spPr>
          <a:xfrm>
            <a:off x="4493300" y="3584301"/>
            <a:ext cx="4749721" cy="467439"/>
          </a:xfrm>
          <a:prstGeom prst="roundRect">
            <a:avLst>
              <a:gd name="adj" fmla="val 10486"/>
            </a:avLst>
          </a:prstGeom>
          <a:solidFill>
            <a:srgbClr val="FDFDFB"/>
          </a:solidFill>
          <a:ln w="6350">
            <a:solidFill>
              <a:srgbClr val="D9DDD3"/>
            </a:solidFill>
            <a:prstDash val="solid"/>
          </a:ln>
        </p:spPr>
        <p:txBody>
          <a:bodyPr/>
          <a:lstStyle/>
          <a:p>
            <a:endParaRPr lang="ja-JP" altLang="en-US" sz="1463"/>
          </a:p>
        </p:txBody>
      </p:sp>
      <p:sp>
        <p:nvSpPr>
          <p:cNvPr id="17" name="Text 15"/>
          <p:cNvSpPr/>
          <p:nvPr/>
        </p:nvSpPr>
        <p:spPr>
          <a:xfrm>
            <a:off x="4639310" y="3716892"/>
            <a:ext cx="288925" cy="222885"/>
          </a:xfrm>
          <a:prstGeom prst="rect">
            <a:avLst/>
          </a:prstGeom>
          <a:noFill/>
          <a:ln/>
        </p:spPr>
        <p:txBody>
          <a:bodyPr wrap="square" lIns="0" tIns="0" rIns="0" bIns="0" rtlCol="0" anchor="t">
            <a:normAutofit/>
          </a:bodyPr>
          <a:lstStyle/>
          <a:p>
            <a:pPr>
              <a:lnSpc>
                <a:spcPts val="1593"/>
              </a:lnSpc>
            </a:pPr>
            <a:r>
              <a:rPr lang="en-US" sz="1138" b="1" dirty="0">
                <a:solidFill>
                  <a:srgbClr val="B4530F"/>
                </a:solidFill>
                <a:latin typeface="Noto Sans JP" pitchFamily="34" charset="0"/>
                <a:ea typeface="Noto Sans JP" pitchFamily="34" charset="-122"/>
                <a:cs typeface="Noto Sans JP" pitchFamily="34" charset="-120"/>
              </a:rPr>
              <a:t>03</a:t>
            </a:r>
            <a:endParaRPr lang="en-US" sz="1138" dirty="0"/>
          </a:p>
        </p:txBody>
      </p:sp>
      <p:sp>
        <p:nvSpPr>
          <p:cNvPr id="18" name="Text 16"/>
          <p:cNvSpPr/>
          <p:nvPr/>
        </p:nvSpPr>
        <p:spPr>
          <a:xfrm>
            <a:off x="5010785" y="3709672"/>
            <a:ext cx="1849559" cy="237331"/>
          </a:xfrm>
          <a:prstGeom prst="rect">
            <a:avLst/>
          </a:prstGeom>
          <a:noFill/>
          <a:ln/>
        </p:spPr>
        <p:txBody>
          <a:bodyPr wrap="square" lIns="0" tIns="0" rIns="0" bIns="0" rtlCol="0" anchor="t">
            <a:normAutofit/>
          </a:bodyPr>
          <a:lstStyle/>
          <a:p>
            <a:pPr>
              <a:lnSpc>
                <a:spcPts val="1706"/>
              </a:lnSpc>
            </a:pPr>
            <a:r>
              <a:rPr lang="en-US" sz="1138" dirty="0">
                <a:solidFill>
                  <a:srgbClr val="14213D"/>
                </a:solidFill>
                <a:latin typeface="Noto Sans JP" pitchFamily="34" charset="0"/>
                <a:ea typeface="Noto Sans JP" pitchFamily="34" charset="-122"/>
                <a:cs typeface="Noto Sans JP" pitchFamily="34" charset="-120"/>
              </a:rPr>
              <a:t>FINALシフトをリリース</a:t>
            </a:r>
            <a:endParaRPr lang="en-US" sz="1138" dirty="0"/>
          </a:p>
        </p:txBody>
      </p:sp>
      <p:sp>
        <p:nvSpPr>
          <p:cNvPr id="19" name="Text 17"/>
          <p:cNvSpPr/>
          <p:nvPr/>
        </p:nvSpPr>
        <p:spPr>
          <a:xfrm>
            <a:off x="660400" y="5711509"/>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20" name="Text 18"/>
          <p:cNvSpPr/>
          <p:nvPr/>
        </p:nvSpPr>
        <p:spPr>
          <a:xfrm>
            <a:off x="8172450" y="5711509"/>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9</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08　FINAL後の変更</a:t>
            </a:r>
            <a:endParaRPr lang="en-US" sz="975" dirty="0"/>
          </a:p>
        </p:txBody>
      </p:sp>
      <p:sp>
        <p:nvSpPr>
          <p:cNvPr id="3" name="Text 1"/>
          <p:cNvSpPr>
            <a:spLocks noGrp="1"/>
          </p:cNvSpPr>
          <p:nvPr>
            <p:ph type="title"/>
          </p:nvPr>
        </p:nvSpPr>
        <p:spPr>
          <a:xfrm>
            <a:off x="660400" y="1538608"/>
            <a:ext cx="8842756" cy="400368"/>
          </a:xfrm>
          <a:prstGeom prst="rect">
            <a:avLst/>
          </a:prstGeom>
          <a:noFill/>
          <a:ln/>
        </p:spPr>
        <p:txBody>
          <a:bodyPr wrap="square" lIns="0" tIns="0" rIns="0" bIns="0" rtlCol="0" anchor="t">
            <a:normAutofit/>
          </a:bodyPr>
          <a:lstStyle/>
          <a:p>
            <a:pPr>
              <a:lnSpc>
                <a:spcPts val="2990"/>
              </a:lnSpc>
            </a:pPr>
            <a:r>
              <a:rPr lang="en-US" b="1" dirty="0"/>
              <a:t>FINAL後の変更は、やむを得ない事由に限定する</a:t>
            </a:r>
            <a:endParaRPr lang="en-US" dirty="0"/>
          </a:p>
        </p:txBody>
      </p:sp>
      <p:sp>
        <p:nvSpPr>
          <p:cNvPr id="4" name="Text 2"/>
          <p:cNvSpPr/>
          <p:nvPr/>
        </p:nvSpPr>
        <p:spPr>
          <a:xfrm>
            <a:off x="660400" y="2165986"/>
            <a:ext cx="4081272"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変更を認める主な事由</a:t>
            </a:r>
            <a:endParaRPr lang="en-US" sz="1463" dirty="0"/>
          </a:p>
        </p:txBody>
      </p:sp>
      <p:sp>
        <p:nvSpPr>
          <p:cNvPr id="5" name="Text 3"/>
          <p:cNvSpPr/>
          <p:nvPr/>
        </p:nvSpPr>
        <p:spPr>
          <a:xfrm>
            <a:off x="662980" y="2515276"/>
            <a:ext cx="580946"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欠勤</a:t>
            </a:r>
            <a:endParaRPr lang="en-US" sz="1138" dirty="0"/>
          </a:p>
        </p:txBody>
      </p:sp>
      <p:sp>
        <p:nvSpPr>
          <p:cNvPr id="6" name="Text 4"/>
          <p:cNvSpPr/>
          <p:nvPr/>
        </p:nvSpPr>
        <p:spPr>
          <a:xfrm>
            <a:off x="1331635" y="2515276"/>
            <a:ext cx="869871"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急な休暇</a:t>
            </a:r>
            <a:endParaRPr lang="en-US" sz="1138" dirty="0"/>
          </a:p>
        </p:txBody>
      </p:sp>
      <p:sp>
        <p:nvSpPr>
          <p:cNvPr id="7" name="Text 5"/>
          <p:cNvSpPr/>
          <p:nvPr/>
        </p:nvSpPr>
        <p:spPr>
          <a:xfrm>
            <a:off x="2289215" y="2515276"/>
            <a:ext cx="869871"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運航変更</a:t>
            </a:r>
            <a:endParaRPr lang="en-US" sz="1138" dirty="0"/>
          </a:p>
        </p:txBody>
      </p:sp>
      <p:sp>
        <p:nvSpPr>
          <p:cNvPr id="8" name="Text 6"/>
          <p:cNvSpPr/>
          <p:nvPr/>
        </p:nvSpPr>
        <p:spPr>
          <a:xfrm>
            <a:off x="662980" y="2932153"/>
            <a:ext cx="1447721"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増便・減便・欠航</a:t>
            </a:r>
            <a:endParaRPr lang="en-US" sz="1138" dirty="0"/>
          </a:p>
        </p:txBody>
      </p:sp>
      <p:sp>
        <p:nvSpPr>
          <p:cNvPr id="9" name="Text 7"/>
          <p:cNvSpPr/>
          <p:nvPr/>
        </p:nvSpPr>
        <p:spPr>
          <a:xfrm>
            <a:off x="2198410" y="2932153"/>
            <a:ext cx="869871"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勤務交代</a:t>
            </a:r>
            <a:endParaRPr lang="en-US" sz="1138" dirty="0"/>
          </a:p>
        </p:txBody>
      </p:sp>
      <p:sp>
        <p:nvSpPr>
          <p:cNvPr id="10" name="Text 8"/>
          <p:cNvSpPr/>
          <p:nvPr/>
        </p:nvSpPr>
        <p:spPr>
          <a:xfrm>
            <a:off x="3155990" y="2932153"/>
            <a:ext cx="1014333"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応援・出張</a:t>
            </a:r>
            <a:endParaRPr lang="en-US" sz="1138" dirty="0"/>
          </a:p>
        </p:txBody>
      </p:sp>
      <p:sp>
        <p:nvSpPr>
          <p:cNvPr id="11" name="Text 9"/>
          <p:cNvSpPr/>
          <p:nvPr/>
        </p:nvSpPr>
        <p:spPr>
          <a:xfrm>
            <a:off x="662980" y="3349030"/>
            <a:ext cx="1158796"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入退社・異動</a:t>
            </a:r>
            <a:endParaRPr lang="en-US" sz="1138" dirty="0"/>
          </a:p>
        </p:txBody>
      </p:sp>
      <p:sp>
        <p:nvSpPr>
          <p:cNvPr id="12" name="Text 10"/>
          <p:cNvSpPr/>
          <p:nvPr/>
        </p:nvSpPr>
        <p:spPr>
          <a:xfrm>
            <a:off x="1909485" y="3349030"/>
            <a:ext cx="1881108" cy="329168"/>
          </a:xfrm>
          <a:prstGeom prst="roundRect">
            <a:avLst>
              <a:gd name="adj" fmla="val 50000"/>
            </a:avLst>
          </a:prstGeom>
          <a:solidFill>
            <a:srgbClr val="FDFDFB"/>
          </a:solidFill>
          <a:ln w="6350">
            <a:solidFill>
              <a:srgbClr val="D9DDD3"/>
            </a:solidFill>
            <a:prstDash val="solid"/>
          </a:ln>
        </p:spPr>
        <p:txBody>
          <a:bodyPr wrap="none" lIns="0" tIns="0" rIns="0" bIns="0" rtlCol="0" anchor="ctr">
            <a:normAutofit/>
          </a:bodyPr>
          <a:lstStyle/>
          <a:p>
            <a:pPr algn="ctr">
              <a:lnSpc>
                <a:spcPts val="1593"/>
              </a:lnSpc>
            </a:pPr>
            <a:r>
              <a:rPr lang="en-US" sz="1138" dirty="0">
                <a:solidFill>
                  <a:srgbClr val="14213D"/>
                </a:solidFill>
                <a:latin typeface="Noto Sans JP" pitchFamily="34" charset="0"/>
                <a:ea typeface="Noto Sans JP" pitchFamily="34" charset="-122"/>
                <a:cs typeface="Noto Sans JP" pitchFamily="34" charset="-120"/>
              </a:rPr>
              <a:t>その他業務上必要な変更</a:t>
            </a:r>
            <a:endParaRPr lang="en-US" sz="1138" dirty="0"/>
          </a:p>
        </p:txBody>
      </p:sp>
      <p:sp>
        <p:nvSpPr>
          <p:cNvPr id="13" name="Shape 11"/>
          <p:cNvSpPr/>
          <p:nvPr/>
        </p:nvSpPr>
        <p:spPr>
          <a:xfrm>
            <a:off x="4870450" y="2165986"/>
            <a:ext cx="4375150" cy="3223578"/>
          </a:xfrm>
          <a:prstGeom prst="roundRect">
            <a:avLst>
              <a:gd name="adj" fmla="val 2561"/>
            </a:avLst>
          </a:prstGeom>
          <a:solidFill>
            <a:srgbClr val="14213D"/>
          </a:solidFill>
          <a:ln/>
        </p:spPr>
        <p:txBody>
          <a:bodyPr/>
          <a:lstStyle/>
          <a:p>
            <a:endParaRPr lang="ja-JP" altLang="en-US" sz="1463"/>
          </a:p>
        </p:txBody>
      </p:sp>
      <p:sp>
        <p:nvSpPr>
          <p:cNvPr id="14" name="Text 12"/>
          <p:cNvSpPr/>
          <p:nvPr/>
        </p:nvSpPr>
        <p:spPr>
          <a:xfrm>
            <a:off x="5076825" y="2372361"/>
            <a:ext cx="4081272" cy="243523"/>
          </a:xfrm>
          <a:prstGeom prst="rect">
            <a:avLst/>
          </a:prstGeom>
          <a:noFill/>
          <a:ln/>
        </p:spPr>
        <p:txBody>
          <a:bodyPr wrap="square" lIns="0" tIns="0" rIns="0" bIns="0" rtlCol="0" anchor="t">
            <a:normAutofit/>
          </a:bodyPr>
          <a:lstStyle/>
          <a:p>
            <a:pPr>
              <a:lnSpc>
                <a:spcPts val="1755"/>
              </a:lnSpc>
            </a:pPr>
            <a:r>
              <a:rPr lang="en-US" sz="1463" b="1" dirty="0">
                <a:solidFill>
                  <a:srgbClr val="F6F7F4"/>
                </a:solidFill>
                <a:latin typeface="Noto Sans JP" pitchFamily="34" charset="0"/>
                <a:ea typeface="Noto Sans JP" pitchFamily="34" charset="-122"/>
                <a:cs typeface="Noto Sans JP" pitchFamily="34" charset="-120"/>
              </a:rPr>
              <a:t>変更した場合に記録する項目</a:t>
            </a:r>
            <a:endParaRPr lang="en-US" sz="1463" dirty="0"/>
          </a:p>
        </p:txBody>
      </p:sp>
      <p:sp>
        <p:nvSpPr>
          <p:cNvPr id="15" name="Text 13"/>
          <p:cNvSpPr/>
          <p:nvPr/>
        </p:nvSpPr>
        <p:spPr>
          <a:xfrm>
            <a:off x="5076825" y="2719071"/>
            <a:ext cx="1939925" cy="507683"/>
          </a:xfrm>
          <a:prstGeom prst="roundRect">
            <a:avLst>
              <a:gd name="adj" fmla="val 10163"/>
            </a:avLst>
          </a:prstGeom>
          <a:solidFill>
            <a:srgbClr val="22325A"/>
          </a:solidFill>
          <a:ln/>
        </p:spPr>
        <p:txBody>
          <a:bodyPr wrap="square" lIns="129351" tIns="108713" rIns="79821" bIns="88076" rtlCol="0" anchor="t">
            <a:normAutofit/>
          </a:bodyPr>
          <a:lstStyle/>
          <a:p>
            <a:pPr>
              <a:lnSpc>
                <a:spcPts val="2048"/>
              </a:lnSpc>
            </a:pPr>
            <a:r>
              <a:rPr lang="en-US" sz="1463" b="1" dirty="0">
                <a:solidFill>
                  <a:srgbClr val="F2A65A"/>
                </a:solidFill>
                <a:latin typeface="Noto Sans JP" pitchFamily="34" charset="0"/>
                <a:ea typeface="Noto Sans JP" pitchFamily="34" charset="-122"/>
                <a:cs typeface="Noto Sans JP" pitchFamily="34" charset="-120"/>
              </a:rPr>
              <a:t>変更者</a:t>
            </a:r>
            <a:endParaRPr lang="en-US" sz="1463" dirty="0"/>
          </a:p>
        </p:txBody>
      </p:sp>
      <p:sp>
        <p:nvSpPr>
          <p:cNvPr id="16" name="Text 14"/>
          <p:cNvSpPr/>
          <p:nvPr/>
        </p:nvSpPr>
        <p:spPr>
          <a:xfrm>
            <a:off x="7099300" y="2719071"/>
            <a:ext cx="1939925" cy="507683"/>
          </a:xfrm>
          <a:prstGeom prst="roundRect">
            <a:avLst>
              <a:gd name="adj" fmla="val 10163"/>
            </a:avLst>
          </a:prstGeom>
          <a:solidFill>
            <a:srgbClr val="22325A"/>
          </a:solidFill>
          <a:ln/>
        </p:spPr>
        <p:txBody>
          <a:bodyPr wrap="square" lIns="129351" tIns="108713" rIns="79821" bIns="88076" rtlCol="0" anchor="t">
            <a:normAutofit/>
          </a:bodyPr>
          <a:lstStyle/>
          <a:p>
            <a:pPr>
              <a:lnSpc>
                <a:spcPts val="2048"/>
              </a:lnSpc>
            </a:pPr>
            <a:r>
              <a:rPr lang="en-US" sz="1463" b="1" dirty="0">
                <a:solidFill>
                  <a:srgbClr val="F2A65A"/>
                </a:solidFill>
                <a:latin typeface="Noto Sans JP" pitchFamily="34" charset="0"/>
                <a:ea typeface="Noto Sans JP" pitchFamily="34" charset="-122"/>
                <a:cs typeface="Noto Sans JP" pitchFamily="34" charset="-120"/>
              </a:rPr>
              <a:t>変更日時</a:t>
            </a:r>
            <a:endParaRPr lang="en-US" sz="1463" dirty="0"/>
          </a:p>
        </p:txBody>
      </p:sp>
      <p:sp>
        <p:nvSpPr>
          <p:cNvPr id="17" name="Text 15"/>
          <p:cNvSpPr/>
          <p:nvPr/>
        </p:nvSpPr>
        <p:spPr>
          <a:xfrm>
            <a:off x="5076825" y="3309301"/>
            <a:ext cx="1939925" cy="507683"/>
          </a:xfrm>
          <a:prstGeom prst="roundRect">
            <a:avLst>
              <a:gd name="adj" fmla="val 10163"/>
            </a:avLst>
          </a:prstGeom>
          <a:solidFill>
            <a:srgbClr val="22325A"/>
          </a:solidFill>
          <a:ln/>
        </p:spPr>
        <p:txBody>
          <a:bodyPr wrap="square" lIns="129351" tIns="108713" rIns="79821" bIns="88076" rtlCol="0" anchor="t">
            <a:normAutofit/>
          </a:bodyPr>
          <a:lstStyle/>
          <a:p>
            <a:pPr>
              <a:lnSpc>
                <a:spcPts val="2048"/>
              </a:lnSpc>
            </a:pPr>
            <a:r>
              <a:rPr lang="en-US" sz="1463" b="1" dirty="0">
                <a:solidFill>
                  <a:srgbClr val="F2A65A"/>
                </a:solidFill>
                <a:latin typeface="Noto Sans JP" pitchFamily="34" charset="0"/>
                <a:ea typeface="Noto Sans JP" pitchFamily="34" charset="-122"/>
                <a:cs typeface="Noto Sans JP" pitchFamily="34" charset="-120"/>
              </a:rPr>
              <a:t>変更内容</a:t>
            </a:r>
            <a:endParaRPr lang="en-US" sz="1463" dirty="0"/>
          </a:p>
        </p:txBody>
      </p:sp>
      <p:sp>
        <p:nvSpPr>
          <p:cNvPr id="18" name="Text 16"/>
          <p:cNvSpPr/>
          <p:nvPr/>
        </p:nvSpPr>
        <p:spPr>
          <a:xfrm>
            <a:off x="7099300" y="3309301"/>
            <a:ext cx="1939925" cy="507683"/>
          </a:xfrm>
          <a:prstGeom prst="roundRect">
            <a:avLst>
              <a:gd name="adj" fmla="val 10163"/>
            </a:avLst>
          </a:prstGeom>
          <a:solidFill>
            <a:srgbClr val="22325A"/>
          </a:solidFill>
          <a:ln/>
        </p:spPr>
        <p:txBody>
          <a:bodyPr wrap="square" lIns="129351" tIns="108713" rIns="79821" bIns="88076" rtlCol="0" anchor="t">
            <a:normAutofit/>
          </a:bodyPr>
          <a:lstStyle/>
          <a:p>
            <a:pPr>
              <a:lnSpc>
                <a:spcPts val="2048"/>
              </a:lnSpc>
            </a:pPr>
            <a:r>
              <a:rPr lang="en-US" sz="1463" b="1" dirty="0">
                <a:solidFill>
                  <a:srgbClr val="F2A65A"/>
                </a:solidFill>
                <a:latin typeface="Noto Sans JP" pitchFamily="34" charset="0"/>
                <a:ea typeface="Noto Sans JP" pitchFamily="34" charset="-122"/>
                <a:cs typeface="Noto Sans JP" pitchFamily="34" charset="-120"/>
              </a:rPr>
              <a:t>変更理由</a:t>
            </a:r>
            <a:endParaRPr lang="en-US" sz="1463" dirty="0"/>
          </a:p>
        </p:txBody>
      </p:sp>
      <p:sp>
        <p:nvSpPr>
          <p:cNvPr id="19" name="Text 17"/>
          <p:cNvSpPr/>
          <p:nvPr/>
        </p:nvSpPr>
        <p:spPr>
          <a:xfrm>
            <a:off x="660400" y="5711509"/>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20" name="Text 18"/>
          <p:cNvSpPr/>
          <p:nvPr/>
        </p:nvSpPr>
        <p:spPr>
          <a:xfrm>
            <a:off x="8172450" y="5711509"/>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10</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09　役割分担</a:t>
            </a:r>
            <a:endParaRPr lang="en-US" sz="975" dirty="0"/>
          </a:p>
        </p:txBody>
      </p:sp>
      <p:sp>
        <p:nvSpPr>
          <p:cNvPr id="3" name="Text 1"/>
          <p:cNvSpPr>
            <a:spLocks noGrp="1"/>
          </p:cNvSpPr>
          <p:nvPr>
            <p:ph type="title"/>
          </p:nvPr>
        </p:nvSpPr>
        <p:spPr>
          <a:xfrm>
            <a:off x="660400" y="1538608"/>
            <a:ext cx="8842756" cy="400368"/>
          </a:xfrm>
          <a:prstGeom prst="rect">
            <a:avLst/>
          </a:prstGeom>
          <a:noFill/>
          <a:ln/>
        </p:spPr>
        <p:txBody>
          <a:bodyPr wrap="square" lIns="0" tIns="0" rIns="0" bIns="0" rtlCol="0" anchor="t">
            <a:normAutofit/>
          </a:bodyPr>
          <a:lstStyle/>
          <a:p>
            <a:pPr>
              <a:lnSpc>
                <a:spcPts val="2990"/>
              </a:lnSpc>
            </a:pPr>
            <a:r>
              <a:rPr lang="en-US" b="1" dirty="0"/>
              <a:t>6つの担当と主な役割</a:t>
            </a:r>
            <a:endParaRPr lang="en-US" dirty="0"/>
          </a:p>
        </p:txBody>
      </p:sp>
      <p:sp>
        <p:nvSpPr>
          <p:cNvPr id="4" name="Shape 2"/>
          <p:cNvSpPr/>
          <p:nvPr/>
        </p:nvSpPr>
        <p:spPr>
          <a:xfrm>
            <a:off x="9243020" y="2165986"/>
            <a:ext cx="0" cy="2294890"/>
          </a:xfrm>
          <a:prstGeom prst="line">
            <a:avLst/>
          </a:prstGeom>
          <a:noFill/>
          <a:ln w="6350">
            <a:solidFill>
              <a:srgbClr val="D9DDD3"/>
            </a:solidFill>
            <a:prstDash val="solid"/>
          </a:ln>
        </p:spPr>
        <p:txBody>
          <a:bodyPr/>
          <a:lstStyle/>
          <a:p>
            <a:endParaRPr lang="ja-JP" altLang="en-US" sz="1463"/>
          </a:p>
        </p:txBody>
      </p:sp>
      <p:sp>
        <p:nvSpPr>
          <p:cNvPr id="5" name="Shape 3"/>
          <p:cNvSpPr/>
          <p:nvPr/>
        </p:nvSpPr>
        <p:spPr>
          <a:xfrm>
            <a:off x="660400" y="4458296"/>
            <a:ext cx="8585200" cy="0"/>
          </a:xfrm>
          <a:prstGeom prst="line">
            <a:avLst/>
          </a:prstGeom>
          <a:noFill/>
          <a:ln w="6350">
            <a:solidFill>
              <a:srgbClr val="D9DDD3"/>
            </a:solidFill>
            <a:prstDash val="solid"/>
          </a:ln>
        </p:spPr>
        <p:txBody>
          <a:bodyPr/>
          <a:lstStyle/>
          <a:p>
            <a:endParaRPr lang="ja-JP" altLang="en-US" sz="1463"/>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8655" y="2174241"/>
          <a:ext cx="8572818" cy="2282511"/>
        </p:xfrm>
        <a:graphic>
          <a:graphicData uri="http://schemas.openxmlformats.org/drawingml/2006/table">
            <a:tbl>
              <a:tblPr/>
              <a:tblGrid>
                <a:gridCol w="2057476">
                  <a:extLst>
                    <a:ext uri="{9D8B030D-6E8A-4147-A177-3AD203B41FA5}">
                      <a16:colId xmlns:a16="http://schemas.microsoft.com/office/drawing/2014/main" val="20000"/>
                    </a:ext>
                  </a:extLst>
                </a:gridCol>
                <a:gridCol w="6515342">
                  <a:extLst>
                    <a:ext uri="{9D8B030D-6E8A-4147-A177-3AD203B41FA5}">
                      <a16:colId xmlns:a16="http://schemas.microsoft.com/office/drawing/2014/main" val="20001"/>
                    </a:ext>
                  </a:extLst>
                </a:gridCol>
              </a:tblGrid>
              <a:tr h="326073">
                <a:tc>
                  <a:txBody>
                    <a:bodyPr/>
                    <a:lstStyle/>
                    <a:p>
                      <a:pPr marL="0" indent="0">
                        <a:lnSpc>
                          <a:spcPts val="1960"/>
                        </a:lnSpc>
                        <a:buNone/>
                      </a:pPr>
                      <a:r>
                        <a:rPr lang="en-US" sz="1100" b="1" dirty="0">
                          <a:solidFill>
                            <a:srgbClr val="F6F7F4"/>
                          </a:solidFill>
                          <a:latin typeface="Noto Sans JP" pitchFamily="34" charset="0"/>
                          <a:ea typeface="Noto Sans JP" pitchFamily="34" charset="-122"/>
                          <a:cs typeface="Noto Sans JP" pitchFamily="34" charset="-120"/>
                        </a:rPr>
                        <a:t>担当</a:t>
                      </a:r>
                      <a:endParaRPr lang="en-US" sz="1100" dirty="0">
                        <a:latin typeface="Noto Sans JP" charset="0"/>
                        <a:ea typeface="Noto Sans JP" charset="0"/>
                        <a:cs typeface="Noto Sans JP" charset="0"/>
                      </a:endParaRPr>
                    </a:p>
                  </a:txBody>
                  <a:tcPr marL="50562" marR="50562" marT="50562" marB="50562">
                    <a:lnL w="12700" cap="flat" cmpd="sng" algn="ctr">
                      <a:solidFill>
                        <a:srgbClr val="C4C5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100" b="1" dirty="0">
                          <a:solidFill>
                            <a:srgbClr val="F6F7F4"/>
                          </a:solidFill>
                          <a:latin typeface="Noto Sans JP" pitchFamily="34" charset="0"/>
                          <a:ea typeface="Noto Sans JP" pitchFamily="34" charset="-122"/>
                          <a:cs typeface="Noto Sans JP" pitchFamily="34" charset="-120"/>
                        </a:rPr>
                        <a:t>主な役割</a:t>
                      </a:r>
                      <a:endParaRPr lang="en-US" sz="1100" dirty="0">
                        <a:latin typeface="Noto Sans JP" charset="0"/>
                        <a:ea typeface="Noto Sans JP" charset="0"/>
                        <a:cs typeface="Noto Sans JP" charset="0"/>
                      </a:endParaRPr>
                    </a:p>
                  </a:txBody>
                  <a:tcPr marL="50562" marR="50562" marT="50562" marB="50562">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26073">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本人</a:t>
                      </a:r>
                      <a:endParaRPr lang="en-US" sz="1100" dirty="0">
                        <a:latin typeface="Noto Sans JP" charset="0"/>
                        <a:ea typeface="Noto Sans JP" charset="0"/>
                        <a:cs typeface="Noto Sans JP" charset="0"/>
                      </a:endParaRPr>
                    </a:p>
                  </a:txBody>
                  <a:tcPr marL="50562" marR="50562" marT="50562" marB="50562">
                    <a:lnL w="12700" cap="flat" cmpd="sng" algn="ctr">
                      <a:solidFill>
                        <a:srgbClr val="C4C5C3"/>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有給休暇・例外公休申請</a:t>
                      </a:r>
                      <a:endParaRPr lang="en-US" sz="1100" dirty="0">
                        <a:latin typeface="Noto Sans JP" charset="0"/>
                        <a:ea typeface="Noto Sans JP" charset="0"/>
                        <a:cs typeface="Noto Sans JP" charset="0"/>
                      </a:endParaRPr>
                    </a:p>
                  </a:txBody>
                  <a:tcPr marL="50562" marR="50562" marT="50562" marB="50562">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extLst>
                  <a:ext uri="{0D108BD9-81ED-4DB2-BD59-A6C34878D82A}">
                    <a16:rowId xmlns:a16="http://schemas.microsoft.com/office/drawing/2014/main" val="10001"/>
                  </a:ext>
                </a:extLst>
              </a:tr>
              <a:tr h="326073">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所属長</a:t>
                      </a:r>
                      <a:endParaRPr lang="en-US" sz="1100" dirty="0">
                        <a:latin typeface="Noto Sans JP" charset="0"/>
                        <a:ea typeface="Noto Sans JP" charset="0"/>
                        <a:cs typeface="Noto Sans JP" charset="0"/>
                      </a:endParaRPr>
                    </a:p>
                  </a:txBody>
                  <a:tcPr marL="50562" marR="50562" marT="50562" marB="50562">
                    <a:lnL w="12700" cap="flat" cmpd="sng" algn="ctr">
                      <a:solidFill>
                        <a:srgbClr val="C4C5C3"/>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休暇承認、SKILL情報更新、DRAFT確認</a:t>
                      </a:r>
                      <a:endParaRPr lang="en-US" sz="1100" dirty="0">
                        <a:latin typeface="Noto Sans JP" charset="0"/>
                        <a:ea typeface="Noto Sans JP" charset="0"/>
                        <a:cs typeface="Noto Sans JP" charset="0"/>
                      </a:endParaRPr>
                    </a:p>
                  </a:txBody>
                  <a:tcPr marL="50562" marR="50562" marT="50562" marB="50562">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extLst>
                  <a:ext uri="{0D108BD9-81ED-4DB2-BD59-A6C34878D82A}">
                    <a16:rowId xmlns:a16="http://schemas.microsoft.com/office/drawing/2014/main" val="10002"/>
                  </a:ext>
                </a:extLst>
              </a:tr>
              <a:tr h="326073">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各拠点／現場</a:t>
                      </a:r>
                      <a:endParaRPr lang="en-US" sz="1100" dirty="0">
                        <a:latin typeface="Noto Sans JP" charset="0"/>
                        <a:ea typeface="Noto Sans JP" charset="0"/>
                        <a:cs typeface="Noto Sans JP" charset="0"/>
                      </a:endParaRPr>
                    </a:p>
                  </a:txBody>
                  <a:tcPr marL="50562" marR="50562" marT="50562" marB="50562">
                    <a:lnL w="12700" cap="flat" cmpd="sng" algn="ctr">
                      <a:solidFill>
                        <a:srgbClr val="C4C5C3"/>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FLIGHT・必要要員・現場運用条件の確認</a:t>
                      </a:r>
                      <a:endParaRPr lang="en-US" sz="1100" dirty="0">
                        <a:latin typeface="Noto Sans JP" charset="0"/>
                        <a:ea typeface="Noto Sans JP" charset="0"/>
                        <a:cs typeface="Noto Sans JP" charset="0"/>
                      </a:endParaRPr>
                    </a:p>
                  </a:txBody>
                  <a:tcPr marL="50562" marR="50562" marT="50562" marB="50562">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extLst>
                  <a:ext uri="{0D108BD9-81ED-4DB2-BD59-A6C34878D82A}">
                    <a16:rowId xmlns:a16="http://schemas.microsoft.com/office/drawing/2014/main" val="10003"/>
                  </a:ext>
                </a:extLst>
              </a:tr>
              <a:tr h="326073">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人事</a:t>
                      </a:r>
                      <a:endParaRPr lang="en-US" sz="1100" dirty="0">
                        <a:latin typeface="Noto Sans JP" charset="0"/>
                        <a:ea typeface="Noto Sans JP" charset="0"/>
                        <a:cs typeface="Noto Sans JP" charset="0"/>
                      </a:endParaRPr>
                    </a:p>
                  </a:txBody>
                  <a:tcPr marL="50562" marR="50562" marT="50562" marB="50562">
                    <a:lnL w="12700" cap="flat" cmpd="sng" algn="ctr">
                      <a:solidFill>
                        <a:srgbClr val="C4C5C3"/>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入退社・異動・休職・復職等の人員情報更新</a:t>
                      </a:r>
                      <a:endParaRPr lang="en-US" sz="1100" dirty="0">
                        <a:latin typeface="Noto Sans JP" charset="0"/>
                        <a:ea typeface="Noto Sans JP" charset="0"/>
                        <a:cs typeface="Noto Sans JP" charset="0"/>
                      </a:endParaRPr>
                    </a:p>
                  </a:txBody>
                  <a:tcPr marL="50562" marR="50562" marT="50562" marB="50562">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extLst>
                  <a:ext uri="{0D108BD9-81ED-4DB2-BD59-A6C34878D82A}">
                    <a16:rowId xmlns:a16="http://schemas.microsoft.com/office/drawing/2014/main" val="10004"/>
                  </a:ext>
                </a:extLst>
              </a:tr>
              <a:tr h="326073">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シフト担当</a:t>
                      </a:r>
                      <a:endParaRPr lang="en-US" sz="1100" dirty="0">
                        <a:latin typeface="Noto Sans JP" charset="0"/>
                        <a:ea typeface="Noto Sans JP" charset="0"/>
                        <a:cs typeface="Noto Sans JP" charset="0"/>
                      </a:endParaRPr>
                    </a:p>
                  </a:txBody>
                  <a:tcPr marL="50562" marR="50562" marT="50562" marB="50562">
                    <a:lnL w="12700" cap="flat" cmpd="sng" algn="ctr">
                      <a:solidFill>
                        <a:srgbClr val="C4C5C3"/>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自動シフト作成、エラーチェック、調整、DRAFT／FINAL作成</a:t>
                      </a:r>
                      <a:endParaRPr lang="en-US" sz="1100" dirty="0">
                        <a:latin typeface="Noto Sans JP" charset="0"/>
                        <a:ea typeface="Noto Sans JP" charset="0"/>
                        <a:cs typeface="Noto Sans JP" charset="0"/>
                      </a:endParaRPr>
                    </a:p>
                  </a:txBody>
                  <a:tcPr marL="50562" marR="50562" marT="50562" marB="50562">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extLst>
                  <a:ext uri="{0D108BD9-81ED-4DB2-BD59-A6C34878D82A}">
                    <a16:rowId xmlns:a16="http://schemas.microsoft.com/office/drawing/2014/main" val="10005"/>
                  </a:ext>
                </a:extLst>
              </a:tr>
              <a:tr h="326073">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拠点責任者</a:t>
                      </a:r>
                      <a:endParaRPr lang="en-US" sz="1100" dirty="0">
                        <a:latin typeface="Noto Sans JP" charset="0"/>
                        <a:ea typeface="Noto Sans JP" charset="0"/>
                        <a:cs typeface="Noto Sans JP" charset="0"/>
                      </a:endParaRPr>
                    </a:p>
                  </a:txBody>
                  <a:tcPr marL="50562" marR="50562" marT="50562" marB="50562">
                    <a:lnL w="12700" cap="flat" cmpd="sng" algn="ctr">
                      <a:solidFill>
                        <a:srgbClr val="C4C5C3"/>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marL="0" indent="0">
                        <a:lnSpc>
                          <a:spcPts val="1960"/>
                        </a:lnSpc>
                        <a:buNone/>
                      </a:pPr>
                      <a:r>
                        <a:rPr lang="en-US" sz="1100" dirty="0">
                          <a:solidFill>
                            <a:srgbClr val="14213D"/>
                          </a:solidFill>
                          <a:latin typeface="Noto Sans JP" pitchFamily="34" charset="0"/>
                          <a:ea typeface="Noto Sans JP" pitchFamily="34" charset="-122"/>
                          <a:cs typeface="Noto Sans JP" pitchFamily="34" charset="-120"/>
                        </a:rPr>
                        <a:t>最終確認・承認</a:t>
                      </a:r>
                      <a:endParaRPr lang="en-US" sz="1100" dirty="0">
                        <a:latin typeface="Noto Sans JP" charset="0"/>
                        <a:ea typeface="Noto Sans JP" charset="0"/>
                        <a:cs typeface="Noto Sans JP" charset="0"/>
                      </a:endParaRPr>
                    </a:p>
                  </a:txBody>
                  <a:tcPr marL="50562" marR="50562" marT="50562" marB="50562">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extLst>
                  <a:ext uri="{0D108BD9-81ED-4DB2-BD59-A6C34878D82A}">
                    <a16:rowId xmlns:a16="http://schemas.microsoft.com/office/drawing/2014/main" val="10006"/>
                  </a:ext>
                </a:extLst>
              </a:tr>
            </a:tbl>
          </a:graphicData>
        </a:graphic>
      </p:graphicFrame>
      <p:sp>
        <p:nvSpPr>
          <p:cNvPr id="7" name="Text 4"/>
          <p:cNvSpPr/>
          <p:nvPr/>
        </p:nvSpPr>
        <p:spPr>
          <a:xfrm>
            <a:off x="660400" y="5711509"/>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8" name="Text 5"/>
          <p:cNvSpPr/>
          <p:nvPr/>
        </p:nvSpPr>
        <p:spPr>
          <a:xfrm>
            <a:off x="8172450" y="5711509"/>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11</a:t>
            </a:r>
            <a:endParaRPr lang="en-US" sz="975"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10　試行運用（実験）</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試行：2026年12月16日～2027年1月15日勤務分</a:t>
            </a:r>
            <a:endParaRPr lang="en-US"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12</a:t>
            </a:r>
            <a:endParaRPr lang="en-US" sz="975" dirty="0"/>
          </a:p>
        </p:txBody>
      </p:sp>
      <p:graphicFrame>
        <p:nvGraphicFramePr>
          <p:cNvPr id="18" name="Pilot table"/>
          <p:cNvGraphicFramePr>
            <a:graphicFrameLocks noGrp="1"/>
          </p:cNvGraphicFramePr>
          <p:nvPr/>
        </p:nvGraphicFramePr>
        <p:xfrm>
          <a:off x="660400" y="2165986"/>
          <a:ext cx="5850000" cy="2610000"/>
        </p:xfrm>
        <a:graphic>
          <a:graphicData uri="http://schemas.openxmlformats.org/drawingml/2006/table">
            <a:tbl>
              <a:tblPr/>
              <a:tblGrid>
                <a:gridCol w="1000000"/>
                <a:gridCol w="3350000"/>
                <a:gridCol w="1500000"/>
              </a:tblGrid>
              <a:tr h="290000">
                <a:tc>
                  <a:txBody>
                    <a:bodyPr wrap="square"/>
                    <a:lstStyle/>
                    <a:p>
                      <a:r>
                        <a:rPr sz="1050" b="1">
                          <a:solidFill>
                            <a:srgbClr val="F6F7F4"/>
                          </a:solidFill>
                          <a:latin typeface="Noto Sans JP"/>
                          <a:ea typeface="Noto Sans JP"/>
                          <a:cs typeface="Noto Sans JP"/>
                        </a:rPr>
                        <a:t>期限</a:t>
                      </a:r>
                    </a:p>
                  </a:txBody>
                  <a:tcPr marL="70000" marR="70000" marT="36000" marB="36000" anchor="ctr">
                    <a:lnL w="6350">
                      <a:solidFill>
                        <a:srgbClr val="14213D"/>
                      </a:solidFill>
                    </a:lnL>
                    <a:lnR w="6350">
                      <a:solidFill>
                        <a:srgbClr val="14213D"/>
                      </a:solidFill>
                    </a:lnR>
                    <a:lnT w="6350">
                      <a:solidFill>
                        <a:srgbClr val="14213D"/>
                      </a:solidFill>
                    </a:lnT>
                    <a:lnB w="6350">
                      <a:solidFill>
                        <a:srgbClr val="14213D"/>
                      </a:solidFill>
                    </a:lnB>
                    <a:solidFill>
                      <a:srgbClr val="14213D"/>
                    </a:solidFill>
                  </a:tcPr>
                </a:tc>
                <a:tc>
                  <a:txBody>
                    <a:bodyPr wrap="square"/>
                    <a:lstStyle/>
                    <a:p>
                      <a:r>
                        <a:rPr sz="1050" b="1">
                          <a:solidFill>
                            <a:srgbClr val="F6F7F4"/>
                          </a:solidFill>
                          <a:latin typeface="Noto Sans JP"/>
                          <a:ea typeface="Noto Sans JP"/>
                          <a:cs typeface="Noto Sans JP"/>
                        </a:rPr>
                        <a:t>内容</a:t>
                      </a:r>
                    </a:p>
                  </a:txBody>
                  <a:tcPr marL="70000" marR="70000" marT="36000" marB="36000" anchor="ctr">
                    <a:lnL w="6350">
                      <a:solidFill>
                        <a:srgbClr val="14213D"/>
                      </a:solidFill>
                    </a:lnL>
                    <a:lnR w="6350">
                      <a:solidFill>
                        <a:srgbClr val="14213D"/>
                      </a:solidFill>
                    </a:lnR>
                    <a:lnT w="6350">
                      <a:solidFill>
                        <a:srgbClr val="14213D"/>
                      </a:solidFill>
                    </a:lnT>
                    <a:lnB w="6350">
                      <a:solidFill>
                        <a:srgbClr val="14213D"/>
                      </a:solidFill>
                    </a:lnB>
                    <a:solidFill>
                      <a:srgbClr val="14213D"/>
                    </a:solidFill>
                  </a:tcPr>
                </a:tc>
                <a:tc>
                  <a:txBody>
                    <a:bodyPr wrap="square"/>
                    <a:lstStyle/>
                    <a:p>
                      <a:r>
                        <a:rPr sz="1050" b="1">
                          <a:solidFill>
                            <a:srgbClr val="F6F7F4"/>
                          </a:solidFill>
                          <a:latin typeface="Noto Sans JP"/>
                          <a:ea typeface="Noto Sans JP"/>
                          <a:cs typeface="Noto Sans JP"/>
                        </a:rPr>
                        <a:t>担当</a:t>
                      </a:r>
                    </a:p>
                  </a:txBody>
                  <a:tcPr marL="70000" marR="70000" marT="36000" marB="36000" anchor="ctr">
                    <a:lnL w="6350">
                      <a:solidFill>
                        <a:srgbClr val="14213D"/>
                      </a:solidFill>
                    </a:lnL>
                    <a:lnR w="6350">
                      <a:solidFill>
                        <a:srgbClr val="14213D"/>
                      </a:solidFill>
                    </a:lnR>
                    <a:lnT w="6350">
                      <a:solidFill>
                        <a:srgbClr val="14213D"/>
                      </a:solidFill>
                    </a:lnT>
                    <a:lnB w="6350">
                      <a:solidFill>
                        <a:srgbClr val="14213D"/>
                      </a:solidFill>
                    </a:lnB>
                    <a:solidFill>
                      <a:srgbClr val="14213D"/>
                    </a:solidFill>
                  </a:tcPr>
                </a:tc>
              </a:tr>
              <a:tr h="290000">
                <a:tc>
                  <a:txBody>
                    <a:bodyPr wrap="square"/>
                    <a:lstStyle/>
                    <a:p>
                      <a:r>
                        <a:rPr sz="1050" b="1">
                          <a:solidFill>
                            <a:srgbClr val="14213D"/>
                          </a:solidFill>
                          <a:latin typeface="Noto Sans JP"/>
                          <a:ea typeface="Noto Sans JP"/>
                          <a:cs typeface="Noto Sans JP"/>
                        </a:rPr>
                        <a:t>11/15</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有給・例外公休申請締切／SKILL情報更新締切</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本人／所属長</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11/20</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休暇承認・マスタ確認完了</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11/21</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シフト作成条件LOCK</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シフト担当</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11/21～</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自動シフト作成・エラーチェック・調整</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シフト担当</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12/1</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c>
                  <a:txBody>
                    <a:bodyPr wrap="square"/>
                    <a:lstStyle/>
                    <a:p>
                      <a:r>
                        <a:rPr sz="1050" b="1">
                          <a:solidFill>
                            <a:srgbClr val="14213D"/>
                          </a:solidFill>
                          <a:latin typeface="Noto Sans JP"/>
                          <a:ea typeface="Noto Sans JP"/>
                          <a:cs typeface="Noto Sans JP"/>
                        </a:rPr>
                        <a:t>DRAFT RELEASE（試行）</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c>
                  <a:txBody>
                    <a:bodyPr wrap="square"/>
                    <a:lstStyle/>
                    <a:p>
                      <a:r>
                        <a:rPr sz="1050" b="1">
                          <a:solidFill>
                            <a:srgbClr val="14213D"/>
                          </a:solidFill>
                          <a:latin typeface="Noto Sans JP"/>
                          <a:ea typeface="Noto Sans JP"/>
                          <a:cs typeface="Noto Sans JP"/>
                        </a:rPr>
                        <a:t>シフト担当</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r>
              <a:tr h="290000">
                <a:tc>
                  <a:txBody>
                    <a:bodyPr wrap="square"/>
                    <a:lstStyle/>
                    <a:p>
                      <a:r>
                        <a:rPr sz="1050" b="1">
                          <a:solidFill>
                            <a:srgbClr val="14213D"/>
                          </a:solidFill>
                          <a:latin typeface="Noto Sans JP"/>
                          <a:ea typeface="Noto Sans JP"/>
                          <a:cs typeface="Noto Sans JP"/>
                        </a:rPr>
                        <a:t>12/1～12/7</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SKILL・配置CHECK</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12/8</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c>
                  <a:txBody>
                    <a:bodyPr wrap="square"/>
                    <a:lstStyle/>
                    <a:p>
                      <a:r>
                        <a:rPr sz="1050" b="1">
                          <a:solidFill>
                            <a:srgbClr val="14213D"/>
                          </a:solidFill>
                          <a:latin typeface="Noto Sans JP"/>
                          <a:ea typeface="Noto Sans JP"/>
                          <a:cs typeface="Noto Sans JP"/>
                        </a:rPr>
                        <a:t>FINAL RELEASE（試行）</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c>
                  <a:txBody>
                    <a:bodyPr wrap="square"/>
                    <a:lstStyle/>
                    <a:p>
                      <a:r>
                        <a:rPr sz="1050" b="1">
                          <a:solidFill>
                            <a:srgbClr val="14213D"/>
                          </a:solidFill>
                          <a:latin typeface="Noto Sans JP"/>
                          <a:ea typeface="Noto Sans JP"/>
                          <a:cs typeface="Noto Sans JP"/>
                        </a:rPr>
                        <a:t>シフト担当／責任者</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r>
              <a:tr h="290000">
                <a:tc>
                  <a:txBody>
                    <a:bodyPr wrap="square"/>
                    <a:lstStyle/>
                    <a:p>
                      <a:r>
                        <a:rPr sz="1050" b="1">
                          <a:solidFill>
                            <a:srgbClr val="14213D"/>
                          </a:solidFill>
                          <a:latin typeface="Noto Sans JP"/>
                          <a:ea typeface="Noto Sans JP"/>
                          <a:cs typeface="Noto Sans JP"/>
                        </a:rPr>
                        <a:t>12/16</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c>
                  <a:txBody>
                    <a:bodyPr wrap="square"/>
                    <a:lstStyle/>
                    <a:p>
                      <a:r>
                        <a:rPr sz="1050" b="1">
                          <a:solidFill>
                            <a:srgbClr val="14213D"/>
                          </a:solidFill>
                          <a:latin typeface="Noto Sans JP"/>
                          <a:ea typeface="Noto Sans JP"/>
                          <a:cs typeface="Noto Sans JP"/>
                        </a:rPr>
                        <a:t>試行運用開始（～1/15）</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c>
                  <a:txBody>
                    <a:bodyPr wrap="square"/>
                    <a:lstStyle/>
                    <a:p>
                      <a:r>
                        <a:rPr sz="1050" b="1">
                          <a:solidFill>
                            <a:srgbClr val="14213D"/>
                          </a:solidFill>
                          <a:latin typeface="Noto Sans JP"/>
                          <a:ea typeface="Noto Sans JP"/>
                          <a:cs typeface="Noto Sans JP"/>
                        </a:rPr>
                        <a:t>全体</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BE9D8"/>
                    </a:solidFill>
                  </a:tcPr>
                </a:tc>
              </a:tr>
            </a:tbl>
          </a:graphicData>
        </a:graphic>
      </p:graphicFrame>
      <p:sp>
        <p:nvSpPr>
          <p:cNvPr id="19" name="Purpose panel"/>
          <p:cNvSpPr/>
          <p:nvPr/>
        </p:nvSpPr>
        <p:spPr>
          <a:xfrm>
            <a:off x="6770400" y="2165986"/>
            <a:ext cx="2475200" cy="2610000"/>
          </a:xfrm>
          <a:prstGeom prst="roundRect">
            <a:avLst>
              <a:gd name="adj" fmla="val 2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70400" y="2355986"/>
            <a:ext cx="2075200"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99" b="1">
                <a:solidFill>
                  <a:srgbClr val="F2A65A"/>
                </a:solidFill>
                <a:latin typeface="Noto Sans JP"/>
                <a:ea typeface="Noto Sans JP"/>
                <a:cs typeface="Noto Sans JP"/>
              </a:rPr>
              <a:t>試行の目的</a:t>
            </a:r>
          </a:p>
        </p:txBody>
      </p:sp>
      <p:sp>
        <p:nvSpPr>
          <p:cNvPr id="21" name="Rectangle 20"/>
          <p:cNvSpPr/>
          <p:nvPr/>
        </p:nvSpPr>
        <p:spPr>
          <a:xfrm>
            <a:off x="6970400" y="2685986"/>
            <a:ext cx="300000" cy="3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00" b="1">
                <a:solidFill>
                  <a:srgbClr val="F2A65A"/>
                </a:solidFill>
                <a:latin typeface="Noto Sans JP"/>
                <a:ea typeface="Noto Sans JP"/>
                <a:cs typeface="Noto Sans JP"/>
              </a:rPr>
              <a:t>01</a:t>
            </a:r>
          </a:p>
        </p:txBody>
      </p:sp>
      <p:sp>
        <p:nvSpPr>
          <p:cNvPr id="22" name="Rectangle 21"/>
          <p:cNvSpPr/>
          <p:nvPr/>
        </p:nvSpPr>
        <p:spPr>
          <a:xfrm>
            <a:off x="7330400" y="2695986"/>
            <a:ext cx="1715200" cy="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500"/>
              </a:lnSpc>
            </a:pPr>
            <a:r>
              <a:rPr sz="1050" b="0">
                <a:solidFill>
                  <a:srgbClr val="F6F7F4"/>
                </a:solidFill>
                <a:latin typeface="Noto Sans JP"/>
                <a:ea typeface="Noto Sans JP"/>
                <a:cs typeface="Noto Sans JP"/>
              </a:rPr>
              <a:t>作成手順と各期限が回るかを検証</a:t>
            </a:r>
          </a:p>
        </p:txBody>
      </p:sp>
      <p:sp>
        <p:nvSpPr>
          <p:cNvPr id="23" name="Rectangle 22"/>
          <p:cNvSpPr/>
          <p:nvPr/>
        </p:nvSpPr>
        <p:spPr>
          <a:xfrm>
            <a:off x="6970400" y="3185986"/>
            <a:ext cx="300000" cy="3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00" b="1">
                <a:solidFill>
                  <a:srgbClr val="F2A65A"/>
                </a:solidFill>
                <a:latin typeface="Noto Sans JP"/>
                <a:ea typeface="Noto Sans JP"/>
                <a:cs typeface="Noto Sans JP"/>
              </a:rPr>
              <a:t>02</a:t>
            </a:r>
          </a:p>
        </p:txBody>
      </p:sp>
      <p:sp>
        <p:nvSpPr>
          <p:cNvPr id="24" name="Rectangle 23"/>
          <p:cNvSpPr/>
          <p:nvPr/>
        </p:nvSpPr>
        <p:spPr>
          <a:xfrm>
            <a:off x="7330400" y="3195986"/>
            <a:ext cx="1715200" cy="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500"/>
              </a:lnSpc>
            </a:pPr>
            <a:r>
              <a:rPr sz="1050" b="0">
                <a:solidFill>
                  <a:srgbClr val="F6F7F4"/>
                </a:solidFill>
                <a:latin typeface="Noto Sans JP"/>
                <a:ea typeface="Noto Sans JP"/>
                <a:cs typeface="Noto Sans JP"/>
              </a:rPr>
              <a:t>自動作成の精度確認（SKILL不足・エラー）</a:t>
            </a:r>
          </a:p>
        </p:txBody>
      </p:sp>
      <p:sp>
        <p:nvSpPr>
          <p:cNvPr id="25" name="Rectangle 24"/>
          <p:cNvSpPr/>
          <p:nvPr/>
        </p:nvSpPr>
        <p:spPr>
          <a:xfrm>
            <a:off x="6970400" y="3685986"/>
            <a:ext cx="300000" cy="3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00" b="1">
                <a:solidFill>
                  <a:srgbClr val="F2A65A"/>
                </a:solidFill>
                <a:latin typeface="Noto Sans JP"/>
                <a:ea typeface="Noto Sans JP"/>
                <a:cs typeface="Noto Sans JP"/>
              </a:rPr>
              <a:t>03</a:t>
            </a:r>
          </a:p>
        </p:txBody>
      </p:sp>
      <p:sp>
        <p:nvSpPr>
          <p:cNvPr id="26" name="Rectangle 25"/>
          <p:cNvSpPr/>
          <p:nvPr/>
        </p:nvSpPr>
        <p:spPr>
          <a:xfrm>
            <a:off x="7330400" y="3695986"/>
            <a:ext cx="1715200" cy="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500"/>
              </a:lnSpc>
            </a:pPr>
            <a:r>
              <a:rPr sz="1050" b="0">
                <a:solidFill>
                  <a:srgbClr val="F6F7F4"/>
                </a:solidFill>
                <a:latin typeface="Noto Sans JP"/>
                <a:ea typeface="Noto Sans JP"/>
                <a:cs typeface="Noto Sans JP"/>
              </a:rPr>
              <a:t>線表・SKILL等の不足情報の洗い出し</a:t>
            </a:r>
          </a:p>
        </p:txBody>
      </p:sp>
      <p:sp>
        <p:nvSpPr>
          <p:cNvPr id="27" name="Rectangle 26"/>
          <p:cNvSpPr/>
          <p:nvPr/>
        </p:nvSpPr>
        <p:spPr>
          <a:xfrm>
            <a:off x="6970400" y="4185986"/>
            <a:ext cx="300000" cy="3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00" b="1">
                <a:solidFill>
                  <a:srgbClr val="F2A65A"/>
                </a:solidFill>
                <a:latin typeface="Noto Sans JP"/>
                <a:ea typeface="Noto Sans JP"/>
                <a:cs typeface="Noto Sans JP"/>
              </a:rPr>
              <a:t>04</a:t>
            </a:r>
          </a:p>
        </p:txBody>
      </p:sp>
      <p:sp>
        <p:nvSpPr>
          <p:cNvPr id="28" name="Rectangle 27"/>
          <p:cNvSpPr/>
          <p:nvPr/>
        </p:nvSpPr>
        <p:spPr>
          <a:xfrm>
            <a:off x="7330400" y="4195986"/>
            <a:ext cx="1715200" cy="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500"/>
              </a:lnSpc>
            </a:pPr>
            <a:r>
              <a:rPr sz="1050" b="0">
                <a:solidFill>
                  <a:srgbClr val="F6F7F4"/>
                </a:solidFill>
                <a:latin typeface="Noto Sans JP"/>
                <a:ea typeface="Noto Sans JP"/>
                <a:cs typeface="Noto Sans JP"/>
              </a:rPr>
              <a:t>1/16本格運用までに課題を修正</a:t>
            </a:r>
          </a:p>
        </p:txBody>
      </p:sp>
      <p:sp>
        <p:nvSpPr>
          <p:cNvPr id="29" name="Pilot note"/>
          <p:cNvSpPr/>
          <p:nvPr/>
        </p:nvSpPr>
        <p:spPr>
          <a:xfrm>
            <a:off x="660400" y="4935538"/>
            <a:ext cx="8585200" cy="454025"/>
          </a:xfrm>
          <a:prstGeom prst="rect">
            <a:avLst/>
          </a:prstGeom>
          <a:solidFill>
            <a:srgbClr val="FBE9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3"/>
          <a:stretch>
            <a:fillRect/>
          </a:stretch>
        </p:blipFill>
        <p:spPr>
          <a:xfrm>
            <a:off x="866775" y="5059363"/>
            <a:ext cx="206375" cy="206375"/>
          </a:xfrm>
          <a:prstGeom prst="rect">
            <a:avLst/>
          </a:prstGeom>
        </p:spPr>
      </p:pic>
      <p:sp>
        <p:nvSpPr>
          <p:cNvPr id="31" name="Rectangle 30"/>
          <p:cNvSpPr/>
          <p:nvPr/>
        </p:nvSpPr>
        <p:spPr>
          <a:xfrm>
            <a:off x="1176338" y="4935538"/>
            <a:ext cx="7985200" cy="45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1">
                <a:solidFill>
                  <a:srgbClr val="14213D"/>
                </a:solidFill>
                <a:latin typeface="Noto Sans JP"/>
                <a:ea typeface="Noto Sans JP"/>
                <a:cs typeface="Noto Sans JP"/>
              </a:rPr>
              <a:t>試行シフトを実勤務として使うか、現行シフトと並行で検証するかは別途決定する（要決定）</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10　試行運用（実験）― 本格運用との関係</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試行と本格初回の準備は12月に重なる</a:t>
            </a:r>
            <a:endParaRPr lang="en-US"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13</a:t>
            </a:r>
            <a:endParaRPr lang="en-US" sz="975" dirty="0"/>
          </a:p>
        </p:txBody>
      </p:sp>
      <p:sp>
        <p:nvSpPr>
          <p:cNvPr id="18" name="Rectangle 17"/>
          <p:cNvSpPr/>
          <p:nvPr/>
        </p:nvSpPr>
        <p:spPr>
          <a:xfrm>
            <a:off x="2150400" y="2185986"/>
            <a:ext cx="888156"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14213D"/>
                </a:solidFill>
                <a:latin typeface="Noto Sans JP"/>
                <a:ea typeface="Noto Sans JP"/>
                <a:cs typeface="Noto Sans JP"/>
              </a:rPr>
              <a:t>2026年10月</a:t>
            </a:r>
          </a:p>
        </p:txBody>
      </p:sp>
      <p:sp>
        <p:nvSpPr>
          <p:cNvPr id="19" name="Rectangle 18"/>
          <p:cNvSpPr/>
          <p:nvPr/>
        </p:nvSpPr>
        <p:spPr>
          <a:xfrm>
            <a:off x="3078556" y="2185986"/>
            <a:ext cx="1700292"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14213D"/>
                </a:solidFill>
                <a:latin typeface="Noto Sans JP"/>
                <a:ea typeface="Noto Sans JP"/>
                <a:cs typeface="Noto Sans JP"/>
              </a:rPr>
              <a:t>11月</a:t>
            </a:r>
          </a:p>
        </p:txBody>
      </p:sp>
      <p:cxnSp>
        <p:nvCxnSpPr>
          <p:cNvPr id="20" name="Connector 19"/>
          <p:cNvCxnSpPr/>
          <p:nvPr/>
        </p:nvCxnSpPr>
        <p:spPr>
          <a:xfrm>
            <a:off x="3038556" y="2185986"/>
            <a:ext cx="0" cy="2050000"/>
          </a:xfrm>
          <a:prstGeom prst="line">
            <a:avLst/>
          </a:prstGeom>
          <a:ln w="6350">
            <a:solidFill>
              <a:srgbClr val="D9DDD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818848" y="2185986"/>
            <a:ext cx="1758303"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14213D"/>
                </a:solidFill>
                <a:latin typeface="Noto Sans JP"/>
                <a:ea typeface="Noto Sans JP"/>
                <a:cs typeface="Noto Sans JP"/>
              </a:rPr>
              <a:t>12月</a:t>
            </a:r>
          </a:p>
        </p:txBody>
      </p:sp>
      <p:cxnSp>
        <p:nvCxnSpPr>
          <p:cNvPr id="22" name="Connector 21"/>
          <p:cNvCxnSpPr/>
          <p:nvPr/>
        </p:nvCxnSpPr>
        <p:spPr>
          <a:xfrm>
            <a:off x="4778848" y="2185986"/>
            <a:ext cx="0" cy="2050000"/>
          </a:xfrm>
          <a:prstGeom prst="line">
            <a:avLst/>
          </a:prstGeom>
          <a:ln w="6350">
            <a:solidFill>
              <a:srgbClr val="D9DDD3"/>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617151" y="2185986"/>
            <a:ext cx="1758302"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14213D"/>
                </a:solidFill>
                <a:latin typeface="Noto Sans JP"/>
                <a:ea typeface="Noto Sans JP"/>
                <a:cs typeface="Noto Sans JP"/>
              </a:rPr>
              <a:t>2027年1月</a:t>
            </a:r>
          </a:p>
        </p:txBody>
      </p:sp>
      <p:cxnSp>
        <p:nvCxnSpPr>
          <p:cNvPr id="24" name="Connector 23"/>
          <p:cNvCxnSpPr/>
          <p:nvPr/>
        </p:nvCxnSpPr>
        <p:spPr>
          <a:xfrm>
            <a:off x="6577151" y="2185986"/>
            <a:ext cx="0" cy="2050000"/>
          </a:xfrm>
          <a:prstGeom prst="line">
            <a:avLst/>
          </a:prstGeom>
          <a:ln w="6350">
            <a:solidFill>
              <a:srgbClr val="D9DDD3"/>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415453" y="2185986"/>
            <a:ext cx="830147"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14213D"/>
                </a:solidFill>
                <a:latin typeface="Noto Sans JP"/>
                <a:ea typeface="Noto Sans JP"/>
                <a:cs typeface="Noto Sans JP"/>
              </a:rPr>
              <a:t>2月</a:t>
            </a:r>
          </a:p>
        </p:txBody>
      </p:sp>
      <p:cxnSp>
        <p:nvCxnSpPr>
          <p:cNvPr id="26" name="Connector 25"/>
          <p:cNvCxnSpPr/>
          <p:nvPr/>
        </p:nvCxnSpPr>
        <p:spPr>
          <a:xfrm>
            <a:off x="8375453" y="2185986"/>
            <a:ext cx="0" cy="2050000"/>
          </a:xfrm>
          <a:prstGeom prst="line">
            <a:avLst/>
          </a:prstGeom>
          <a:ln w="6350">
            <a:solidFill>
              <a:srgbClr val="D9DDD3"/>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60400" y="2515986"/>
            <a:ext cx="1350000" cy="4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138" b="1">
                <a:solidFill>
                  <a:srgbClr val="14213D"/>
                </a:solidFill>
                <a:latin typeface="Noto Sans JP"/>
                <a:ea typeface="Noto Sans JP"/>
                <a:cs typeface="Noto Sans JP"/>
              </a:rPr>
              <a:t>試行</a:t>
            </a:r>
          </a:p>
          <a:p>
            <a:pPr algn="l"/>
            <a:r>
              <a:rPr sz="975" b="0">
                <a:solidFill>
                  <a:srgbClr val="4A5568"/>
                </a:solidFill>
                <a:latin typeface="Noto Sans JP"/>
                <a:ea typeface="Noto Sans JP"/>
                <a:cs typeface="Noto Sans JP"/>
              </a:rPr>
              <a:t>12/16～1/15勤務分</a:t>
            </a:r>
          </a:p>
        </p:txBody>
      </p:sp>
      <p:sp>
        <p:nvSpPr>
          <p:cNvPr id="28" name="Rectangle 27"/>
          <p:cNvSpPr/>
          <p:nvPr/>
        </p:nvSpPr>
        <p:spPr>
          <a:xfrm>
            <a:off x="660400" y="3115986"/>
            <a:ext cx="1350000" cy="4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138" b="1">
                <a:solidFill>
                  <a:srgbClr val="14213D"/>
                </a:solidFill>
                <a:latin typeface="Noto Sans JP"/>
                <a:ea typeface="Noto Sans JP"/>
                <a:cs typeface="Noto Sans JP"/>
              </a:rPr>
              <a:t>本格初回</a:t>
            </a:r>
          </a:p>
          <a:p>
            <a:pPr algn="l"/>
            <a:r>
              <a:rPr sz="975" b="0">
                <a:solidFill>
                  <a:srgbClr val="4A5568"/>
                </a:solidFill>
                <a:latin typeface="Noto Sans JP"/>
                <a:ea typeface="Noto Sans JP"/>
                <a:cs typeface="Noto Sans JP"/>
              </a:rPr>
              <a:t>1/16～2/15勤務分</a:t>
            </a:r>
          </a:p>
        </p:txBody>
      </p:sp>
      <p:sp>
        <p:nvSpPr>
          <p:cNvPr id="29" name="Rectangle 28"/>
          <p:cNvSpPr/>
          <p:nvPr/>
        </p:nvSpPr>
        <p:spPr>
          <a:xfrm>
            <a:off x="660400" y="3715986"/>
            <a:ext cx="1350000" cy="4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138" b="1">
                <a:solidFill>
                  <a:srgbClr val="14213D"/>
                </a:solidFill>
                <a:latin typeface="Noto Sans JP"/>
                <a:ea typeface="Noto Sans JP"/>
                <a:cs typeface="Noto Sans JP"/>
              </a:rPr>
              <a:t>未確定事項</a:t>
            </a:r>
          </a:p>
          <a:p>
            <a:pPr algn="l"/>
            <a:r>
              <a:rPr sz="975" b="0">
                <a:solidFill>
                  <a:srgbClr val="4A5568"/>
                </a:solidFill>
                <a:latin typeface="Noto Sans JP"/>
                <a:ea typeface="Noto Sans JP"/>
                <a:cs typeface="Noto Sans JP"/>
              </a:rPr>
              <a:t>情報収集・決定</a:t>
            </a:r>
          </a:p>
        </p:txBody>
      </p:sp>
      <p:sp>
        <p:nvSpPr>
          <p:cNvPr id="30" name="Rectangle 29"/>
          <p:cNvSpPr/>
          <p:nvPr/>
        </p:nvSpPr>
        <p:spPr>
          <a:xfrm>
            <a:off x="2110400" y="2515986"/>
            <a:ext cx="1798302" cy="300000"/>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申請・情報更新</a:t>
            </a:r>
          </a:p>
        </p:txBody>
      </p:sp>
      <p:sp>
        <p:nvSpPr>
          <p:cNvPr id="31" name="Rectangle 30"/>
          <p:cNvSpPr/>
          <p:nvPr/>
        </p:nvSpPr>
        <p:spPr>
          <a:xfrm>
            <a:off x="3908702" y="2515986"/>
            <a:ext cx="870146" cy="300000"/>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承認・作成</a:t>
            </a:r>
          </a:p>
        </p:txBody>
      </p:sp>
      <p:sp>
        <p:nvSpPr>
          <p:cNvPr id="32" name="Rectangle 31"/>
          <p:cNvSpPr/>
          <p:nvPr/>
        </p:nvSpPr>
        <p:spPr>
          <a:xfrm>
            <a:off x="4778848" y="2515986"/>
            <a:ext cx="406069" cy="300000"/>
          </a:xfrm>
          <a:prstGeom prst="rect">
            <a:avLst/>
          </a:prstGeom>
          <a:solidFill>
            <a:srgbClr val="FBE9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確認</a:t>
            </a:r>
          </a:p>
        </p:txBody>
      </p:sp>
      <p:sp>
        <p:nvSpPr>
          <p:cNvPr id="33" name="Rectangle 32"/>
          <p:cNvSpPr/>
          <p:nvPr/>
        </p:nvSpPr>
        <p:spPr>
          <a:xfrm>
            <a:off x="5648995" y="2515986"/>
            <a:ext cx="1798302" cy="300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6F7F4"/>
                </a:solidFill>
                <a:latin typeface="Noto Sans JP"/>
                <a:ea typeface="Noto Sans JP"/>
                <a:cs typeface="Noto Sans JP"/>
              </a:rPr>
              <a:t>試行運用</a:t>
            </a:r>
          </a:p>
        </p:txBody>
      </p:sp>
      <p:sp>
        <p:nvSpPr>
          <p:cNvPr id="34" name="Diamond 33"/>
          <p:cNvSpPr/>
          <p:nvPr/>
        </p:nvSpPr>
        <p:spPr>
          <a:xfrm>
            <a:off x="5114917" y="2595986"/>
            <a:ext cx="140000" cy="140000"/>
          </a:xfrm>
          <a:prstGeom prst="diamond">
            <a:avLst/>
          </a:prstGeom>
          <a:solidFill>
            <a:srgbClr val="B45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84917" y="2835986"/>
            <a:ext cx="600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r>
              <a:rPr sz="850" b="1">
                <a:solidFill>
                  <a:srgbClr val="B4530F"/>
                </a:solidFill>
                <a:latin typeface="Noto Sans JP"/>
                <a:ea typeface="Noto Sans JP"/>
                <a:cs typeface="Noto Sans JP"/>
              </a:rPr>
              <a:t>12/8 FINAL</a:t>
            </a:r>
          </a:p>
        </p:txBody>
      </p:sp>
      <p:sp>
        <p:nvSpPr>
          <p:cNvPr id="36" name="Rectangle 35"/>
          <p:cNvSpPr/>
          <p:nvPr/>
        </p:nvSpPr>
        <p:spPr>
          <a:xfrm>
            <a:off x="3908702" y="3115986"/>
            <a:ext cx="1740293" cy="300000"/>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申請・情報更新</a:t>
            </a:r>
          </a:p>
        </p:txBody>
      </p:sp>
      <p:sp>
        <p:nvSpPr>
          <p:cNvPr id="37" name="Rectangle 36"/>
          <p:cNvSpPr/>
          <p:nvPr/>
        </p:nvSpPr>
        <p:spPr>
          <a:xfrm>
            <a:off x="5648995" y="3115986"/>
            <a:ext cx="928156" cy="300000"/>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承認・作成</a:t>
            </a:r>
          </a:p>
        </p:txBody>
      </p:sp>
      <p:sp>
        <p:nvSpPr>
          <p:cNvPr id="38" name="Rectangle 37"/>
          <p:cNvSpPr/>
          <p:nvPr/>
        </p:nvSpPr>
        <p:spPr>
          <a:xfrm>
            <a:off x="6577151" y="3115986"/>
            <a:ext cx="406068" cy="300000"/>
          </a:xfrm>
          <a:prstGeom prst="rect">
            <a:avLst/>
          </a:prstGeom>
          <a:solidFill>
            <a:srgbClr val="FBE9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確認</a:t>
            </a:r>
          </a:p>
        </p:txBody>
      </p:sp>
      <p:sp>
        <p:nvSpPr>
          <p:cNvPr id="39" name="Rectangle 38"/>
          <p:cNvSpPr/>
          <p:nvPr/>
        </p:nvSpPr>
        <p:spPr>
          <a:xfrm>
            <a:off x="7447297" y="3115986"/>
            <a:ext cx="1798303" cy="300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F6F7F4"/>
                </a:solidFill>
                <a:latin typeface="Noto Sans JP"/>
                <a:ea typeface="Noto Sans JP"/>
                <a:cs typeface="Noto Sans JP"/>
              </a:rPr>
              <a:t>本格運用</a:t>
            </a:r>
          </a:p>
        </p:txBody>
      </p:sp>
      <p:sp>
        <p:nvSpPr>
          <p:cNvPr id="40" name="Diamond 39"/>
          <p:cNvSpPr/>
          <p:nvPr/>
        </p:nvSpPr>
        <p:spPr>
          <a:xfrm>
            <a:off x="6913219" y="3195986"/>
            <a:ext cx="140000" cy="140000"/>
          </a:xfrm>
          <a:prstGeom prst="diamond">
            <a:avLst/>
          </a:prstGeom>
          <a:solidFill>
            <a:srgbClr val="B45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683219" y="3435986"/>
            <a:ext cx="600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r>
              <a:rPr sz="850" b="1">
                <a:solidFill>
                  <a:srgbClr val="B4530F"/>
                </a:solidFill>
                <a:latin typeface="Noto Sans JP"/>
                <a:ea typeface="Noto Sans JP"/>
                <a:cs typeface="Noto Sans JP"/>
              </a:rPr>
              <a:t>1/8 FINAL</a:t>
            </a:r>
          </a:p>
        </p:txBody>
      </p:sp>
      <p:sp>
        <p:nvSpPr>
          <p:cNvPr id="42" name="Rectangle 41"/>
          <p:cNvSpPr/>
          <p:nvPr/>
        </p:nvSpPr>
        <p:spPr>
          <a:xfrm>
            <a:off x="2110400" y="3715986"/>
            <a:ext cx="1798302" cy="300000"/>
          </a:xfrm>
          <a:prstGeom prst="rect">
            <a:avLst/>
          </a:prstGeom>
          <a:noFill/>
          <a:ln w="6350">
            <a:solidFill>
              <a:srgbClr val="B4530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試行分は暫定値で収集</a:t>
            </a:r>
          </a:p>
        </p:txBody>
      </p:sp>
      <p:sp>
        <p:nvSpPr>
          <p:cNvPr id="43" name="Rectangle 42"/>
          <p:cNvSpPr/>
          <p:nvPr/>
        </p:nvSpPr>
        <p:spPr>
          <a:xfrm>
            <a:off x="3908702" y="3715986"/>
            <a:ext cx="1740293" cy="300000"/>
          </a:xfrm>
          <a:prstGeom prst="rect">
            <a:avLst/>
          </a:prstGeom>
          <a:solidFill>
            <a:srgbClr val="FBE9D8"/>
          </a:solidFill>
          <a:ln w="6350">
            <a:solidFill>
              <a:srgbClr val="B4530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本格分を確定</a:t>
            </a:r>
          </a:p>
        </p:txBody>
      </p:sp>
      <p:sp>
        <p:nvSpPr>
          <p:cNvPr id="44" name="Diamond 43"/>
          <p:cNvSpPr/>
          <p:nvPr/>
        </p:nvSpPr>
        <p:spPr>
          <a:xfrm>
            <a:off x="5520985" y="3795986"/>
            <a:ext cx="140000" cy="140000"/>
          </a:xfrm>
          <a:prstGeom prst="diamond">
            <a:avLst/>
          </a:prstGeom>
          <a:solidFill>
            <a:srgbClr val="B45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290985" y="4035986"/>
            <a:ext cx="600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r>
              <a:rPr sz="850" b="1">
                <a:solidFill>
                  <a:srgbClr val="B4530F"/>
                </a:solidFill>
                <a:latin typeface="Noto Sans JP"/>
                <a:ea typeface="Noto Sans JP"/>
                <a:cs typeface="Noto Sans JP"/>
              </a:rPr>
              <a:t>12/15 確定</a:t>
            </a:r>
          </a:p>
        </p:txBody>
      </p:sp>
      <p:sp>
        <p:nvSpPr>
          <p:cNvPr id="46" name="Overlap frame"/>
          <p:cNvSpPr/>
          <p:nvPr/>
        </p:nvSpPr>
        <p:spPr>
          <a:xfrm>
            <a:off x="4778848" y="2435986"/>
            <a:ext cx="870147" cy="1300000"/>
          </a:xfrm>
          <a:prstGeom prst="rect">
            <a:avLst/>
          </a:prstGeom>
          <a:noFill/>
          <a:ln w="9525">
            <a:solidFill>
              <a:srgbClr val="B4530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akeaway 1"/>
          <p:cNvSpPr/>
          <p:nvPr/>
        </p:nvSpPr>
        <p:spPr>
          <a:xfrm>
            <a:off x="660400" y="4600000"/>
            <a:ext cx="4142600" cy="790000"/>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50400" y="4710000"/>
            <a:ext cx="3762600" cy="2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138" b="1">
                <a:solidFill>
                  <a:srgbClr val="14213D"/>
                </a:solidFill>
                <a:latin typeface="Noto Sans JP"/>
                <a:ea typeface="Noto Sans JP"/>
                <a:cs typeface="Noto Sans JP"/>
              </a:rPr>
              <a:t>12月前半に作業が集中</a:t>
            </a:r>
          </a:p>
        </p:txBody>
      </p:sp>
      <p:sp>
        <p:nvSpPr>
          <p:cNvPr id="49" name="Rectangle 48"/>
          <p:cNvSpPr/>
          <p:nvPr/>
        </p:nvSpPr>
        <p:spPr>
          <a:xfrm>
            <a:off x="850400" y="4970000"/>
            <a:ext cx="3762600" cy="4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400"/>
              </a:lnSpc>
            </a:pPr>
            <a:r>
              <a:rPr sz="975" b="0">
                <a:solidFill>
                  <a:srgbClr val="4A5568"/>
                </a:solidFill>
                <a:latin typeface="Noto Sans JP"/>
                <a:ea typeface="Noto Sans JP"/>
                <a:cs typeface="Noto Sans JP"/>
              </a:rPr>
              <a:t>試行のCHECK・FINALと、本格初回の申請・SKILL更新締切（12/15）が同時期に重なる</a:t>
            </a:r>
          </a:p>
        </p:txBody>
      </p:sp>
      <p:sp>
        <p:nvSpPr>
          <p:cNvPr id="50" name="Takeaway 2"/>
          <p:cNvSpPr/>
          <p:nvPr/>
        </p:nvSpPr>
        <p:spPr>
          <a:xfrm>
            <a:off x="5103000" y="4600000"/>
            <a:ext cx="4142600" cy="790000"/>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293000" y="4710000"/>
            <a:ext cx="3762600" cy="2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138" b="1">
                <a:solidFill>
                  <a:srgbClr val="14213D"/>
                </a:solidFill>
                <a:latin typeface="Noto Sans JP"/>
                <a:ea typeface="Noto Sans JP"/>
                <a:cs typeface="Noto Sans JP"/>
              </a:rPr>
              <a:t>初回に活かせるのは“作成プロセス”</a:t>
            </a:r>
          </a:p>
        </p:txBody>
      </p:sp>
      <p:sp>
        <p:nvSpPr>
          <p:cNvPr id="52" name="Rectangle 51"/>
          <p:cNvSpPr/>
          <p:nvPr/>
        </p:nvSpPr>
        <p:spPr>
          <a:xfrm>
            <a:off x="5293000" y="4970000"/>
            <a:ext cx="3762600" cy="4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400"/>
              </a:lnSpc>
            </a:pPr>
            <a:r>
              <a:rPr sz="975" b="0">
                <a:solidFill>
                  <a:srgbClr val="4A5568"/>
                </a:solidFill>
                <a:latin typeface="Noto Sans JP"/>
                <a:ea typeface="Noto Sans JP"/>
                <a:cs typeface="Noto Sans JP"/>
              </a:rPr>
              <a:t>試行の運用開始（12/16）は本格初回のLOCK（12/21）直前。運用面の学びは2回目以降に反映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11　本格リリース初回スケジュール</a:t>
            </a:r>
            <a:endParaRPr lang="en-US" sz="975" dirty="0"/>
          </a:p>
        </p:txBody>
      </p:sp>
      <p:sp>
        <p:nvSpPr>
          <p:cNvPr id="3" name="Text 1"/>
          <p:cNvSpPr>
            <a:spLocks noGrp="1"/>
          </p:cNvSpPr>
          <p:nvPr>
            <p:ph type="title"/>
          </p:nvPr>
        </p:nvSpPr>
        <p:spPr>
          <a:xfrm>
            <a:off x="660400" y="1538608"/>
            <a:ext cx="8842756" cy="400368"/>
          </a:xfrm>
          <a:prstGeom prst="rect">
            <a:avLst/>
          </a:prstGeom>
          <a:noFill/>
          <a:ln/>
        </p:spPr>
        <p:txBody>
          <a:bodyPr wrap="square" lIns="0" tIns="0" rIns="0" bIns="0" rtlCol="0" anchor="t">
            <a:normAutofit/>
          </a:bodyPr>
          <a:lstStyle/>
          <a:p>
            <a:pPr>
              <a:lnSpc>
                <a:spcPts val="2990"/>
              </a:lnSpc>
            </a:pPr>
            <a:r>
              <a:rPr lang="en-US" b="1" dirty="0"/>
              <a:t>初回：2027年1月16日～2月15日勤務分</a:t>
            </a:r>
            <a:endParaRPr lang="en-US" dirty="0"/>
          </a:p>
        </p:txBody>
      </p:sp>
      <p:sp>
        <p:nvSpPr>
          <p:cNvPr id="4" name="Shape 2"/>
          <p:cNvSpPr/>
          <p:nvPr/>
        </p:nvSpPr>
        <p:spPr>
          <a:xfrm>
            <a:off x="9243020" y="2083436"/>
            <a:ext cx="0" cy="2777808"/>
          </a:xfrm>
          <a:prstGeom prst="line">
            <a:avLst/>
          </a:prstGeom>
          <a:noFill/>
          <a:ln w="6350">
            <a:solidFill>
              <a:srgbClr val="D9DDD3"/>
            </a:solidFill>
            <a:prstDash val="solid"/>
          </a:ln>
        </p:spPr>
        <p:txBody>
          <a:bodyPr/>
          <a:lstStyle/>
          <a:p>
            <a:endParaRPr lang="ja-JP" altLang="en-US" sz="1463"/>
          </a:p>
        </p:txBody>
      </p:sp>
      <p:sp>
        <p:nvSpPr>
          <p:cNvPr id="5" name="Shape 3"/>
          <p:cNvSpPr/>
          <p:nvPr/>
        </p:nvSpPr>
        <p:spPr>
          <a:xfrm>
            <a:off x="660400" y="4858664"/>
            <a:ext cx="8585200" cy="0"/>
          </a:xfrm>
          <a:prstGeom prst="line">
            <a:avLst/>
          </a:prstGeom>
          <a:noFill/>
          <a:ln w="6350">
            <a:solidFill>
              <a:srgbClr val="D9DDD3"/>
            </a:solidFill>
            <a:prstDash val="solid"/>
          </a:ln>
        </p:spPr>
        <p:txBody>
          <a:bodyPr/>
          <a:lstStyle/>
          <a:p>
            <a:endParaRPr lang="ja-JP" altLang="en-US" sz="1463"/>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8656" y="2091691"/>
          <a:ext cx="8572818" cy="2986880"/>
        </p:xfrm>
        <a:graphic>
          <a:graphicData uri="http://schemas.openxmlformats.org/drawingml/2006/table">
            <a:tbl>
              <a:tblPr/>
              <a:tblGrid>
                <a:gridCol w="1543107">
                  <a:extLst>
                    <a:ext uri="{9D8B030D-6E8A-4147-A177-3AD203B41FA5}">
                      <a16:colId xmlns:a16="http://schemas.microsoft.com/office/drawing/2014/main" val="20000"/>
                    </a:ext>
                  </a:extLst>
                </a:gridCol>
                <a:gridCol w="4800778">
                  <a:extLst>
                    <a:ext uri="{9D8B030D-6E8A-4147-A177-3AD203B41FA5}">
                      <a16:colId xmlns:a16="http://schemas.microsoft.com/office/drawing/2014/main" val="20001"/>
                    </a:ext>
                  </a:extLst>
                </a:gridCol>
                <a:gridCol w="2228933">
                  <a:extLst>
                    <a:ext uri="{9D8B030D-6E8A-4147-A177-3AD203B41FA5}">
                      <a16:colId xmlns:a16="http://schemas.microsoft.com/office/drawing/2014/main" val="20002"/>
                    </a:ext>
                  </a:extLst>
                </a:gridCol>
              </a:tblGrid>
              <a:tr h="276543">
                <a:tc>
                  <a:txBody>
                    <a:bodyPr/>
                    <a:lstStyle/>
                    <a:p>
                      <a:pPr marL="0" indent="0">
                        <a:lnSpc>
                          <a:spcPts val="1820"/>
                        </a:lnSpc>
                        <a:buNone/>
                      </a:pPr>
                      <a:r>
                        <a:rPr lang="en-US" sz="1100" b="1" dirty="0">
                          <a:solidFill>
                            <a:srgbClr val="F6F7F4"/>
                          </a:solidFill>
                          <a:latin typeface="Noto Sans JP" pitchFamily="34" charset="0"/>
                          <a:ea typeface="Noto Sans JP" pitchFamily="34" charset="-122"/>
                          <a:cs typeface="Noto Sans JP" pitchFamily="34" charset="-120"/>
                        </a:rPr>
                        <a:t>期限</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100" b="1" dirty="0">
                          <a:solidFill>
                            <a:srgbClr val="F6F7F4"/>
                          </a:solidFill>
                          <a:latin typeface="Noto Sans JP" pitchFamily="34" charset="0"/>
                          <a:ea typeface="Noto Sans JP" pitchFamily="34" charset="-122"/>
                          <a:cs typeface="Noto Sans JP" pitchFamily="34" charset="-120"/>
                        </a:rPr>
                        <a:t>内容</a:t>
                      </a:r>
                      <a:endParaRPr lang="en-US" sz="1100" dirty="0">
                        <a:latin typeface="Noto Sans JP" charset="0"/>
                        <a:ea typeface="Noto Sans JP" charset="0"/>
                        <a:cs typeface="Noto Sans JP" charset="0"/>
                      </a:endParaRPr>
                    </a:p>
                  </a:txBody>
                  <a:tcPr marL="46950" marR="46950" marT="46950" marB="4695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100" b="1" dirty="0">
                          <a:solidFill>
                            <a:srgbClr val="F6F7F4"/>
                          </a:solidFill>
                          <a:latin typeface="Noto Sans JP" pitchFamily="34" charset="0"/>
                          <a:ea typeface="Noto Sans JP" pitchFamily="34" charset="-122"/>
                          <a:cs typeface="Noto Sans JP" pitchFamily="34" charset="-120"/>
                        </a:rPr>
                        <a:t>担当</a:t>
                      </a:r>
                      <a:endParaRPr lang="en-US" sz="1100" dirty="0">
                        <a:latin typeface="Noto Sans JP" charset="0"/>
                        <a:ea typeface="Noto Sans JP" charset="0"/>
                        <a:cs typeface="Noto Sans JP" charset="0"/>
                      </a:endParaRPr>
                    </a:p>
                  </a:txBody>
                  <a:tcPr marL="46950" marR="46950" marT="46950" marB="4695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12/15</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有給・例外公休申請締切</a:t>
                      </a:r>
                      <a:endParaRPr lang="en-US" sz="1100" dirty="0">
                        <a:latin typeface="Noto Sans JP" charset="0"/>
                        <a:ea typeface="Noto Sans JP" charset="0"/>
                        <a:cs typeface="Noto Sans JP" charset="0"/>
                      </a:endParaRPr>
                    </a:p>
                  </a:txBody>
                  <a:tcPr marL="46950" marR="46950" marT="46950" marB="4695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本人</a:t>
                      </a:r>
                      <a:endParaRPr lang="en-US" sz="1100" dirty="0">
                        <a:latin typeface="Noto Sans JP" charset="0"/>
                        <a:ea typeface="Noto Sans JP" charset="0"/>
                        <a:cs typeface="Noto Sans JP" charset="0"/>
                      </a:endParaRPr>
                    </a:p>
                  </a:txBody>
                  <a:tcPr marL="46950" marR="46950" marT="46950" marB="4695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extLst>
                  <a:ext uri="{0D108BD9-81ED-4DB2-BD59-A6C34878D82A}">
                    <a16:rowId xmlns:a16="http://schemas.microsoft.com/office/drawing/2014/main" val="10001"/>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12/15</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SKILL情報更新締切</a:t>
                      </a:r>
                      <a:endParaRPr lang="en-US" sz="1100" dirty="0">
                        <a:latin typeface="Noto Sans JP" charset="0"/>
                        <a:ea typeface="Noto Sans JP" charset="0"/>
                        <a:cs typeface="Noto Sans JP" charset="0"/>
                      </a:endParaRPr>
                    </a:p>
                  </a:txBody>
                  <a:tcPr marL="46950" marR="46950" marT="46950" marB="46950">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所属長</a:t>
                      </a:r>
                      <a:endParaRPr lang="en-US" sz="1100" dirty="0">
                        <a:latin typeface="Noto Sans JP" charset="0"/>
                        <a:ea typeface="Noto Sans JP" charset="0"/>
                        <a:cs typeface="Noto Sans JP" charset="0"/>
                      </a:endParaRPr>
                    </a:p>
                  </a:txBody>
                  <a:tcPr marL="46950" marR="46950" marT="46950" marB="46950">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extLst>
                  <a:ext uri="{0D108BD9-81ED-4DB2-BD59-A6C34878D82A}">
                    <a16:rowId xmlns:a16="http://schemas.microsoft.com/office/drawing/2014/main" val="10002"/>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12/20</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休暇承認・マスタ確認完了</a:t>
                      </a:r>
                      <a:endParaRPr lang="en-US" sz="1100" dirty="0">
                        <a:latin typeface="Noto Sans JP" charset="0"/>
                        <a:ea typeface="Noto Sans JP" charset="0"/>
                        <a:cs typeface="Noto Sans JP" charset="0"/>
                      </a:endParaRPr>
                    </a:p>
                  </a:txBody>
                  <a:tcPr marL="46950" marR="46950" marT="46950" marB="4695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所属長</a:t>
                      </a:r>
                      <a:endParaRPr lang="en-US" sz="1100" dirty="0">
                        <a:latin typeface="Noto Sans JP" charset="0"/>
                        <a:ea typeface="Noto Sans JP" charset="0"/>
                        <a:cs typeface="Noto Sans JP" charset="0"/>
                      </a:endParaRPr>
                    </a:p>
                  </a:txBody>
                  <a:tcPr marL="46950" marR="46950" marT="46950" marB="4695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extLst>
                  <a:ext uri="{0D108BD9-81ED-4DB2-BD59-A6C34878D82A}">
                    <a16:rowId xmlns:a16="http://schemas.microsoft.com/office/drawing/2014/main" val="10003"/>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12/21</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シフト作成条件LOCK</a:t>
                      </a:r>
                      <a:endParaRPr lang="en-US" sz="1100" dirty="0">
                        <a:latin typeface="Noto Sans JP" charset="0"/>
                        <a:ea typeface="Noto Sans JP" charset="0"/>
                        <a:cs typeface="Noto Sans JP" charset="0"/>
                      </a:endParaRPr>
                    </a:p>
                  </a:txBody>
                  <a:tcPr marL="46950" marR="46950" marT="46950" marB="46950">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シフト担当</a:t>
                      </a:r>
                      <a:endParaRPr lang="en-US" sz="1100" dirty="0">
                        <a:latin typeface="Noto Sans JP" charset="0"/>
                        <a:ea typeface="Noto Sans JP" charset="0"/>
                        <a:cs typeface="Noto Sans JP" charset="0"/>
                      </a:endParaRPr>
                    </a:p>
                  </a:txBody>
                  <a:tcPr marL="46950" marR="46950" marT="46950" marB="46950">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extLst>
                  <a:ext uri="{0D108BD9-81ED-4DB2-BD59-A6C34878D82A}">
                    <a16:rowId xmlns:a16="http://schemas.microsoft.com/office/drawing/2014/main" val="10004"/>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12/21～</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自動シフト作成・エラーチェック・調整</a:t>
                      </a:r>
                      <a:endParaRPr lang="en-US" sz="1100" dirty="0">
                        <a:latin typeface="Noto Sans JP" charset="0"/>
                        <a:ea typeface="Noto Sans JP" charset="0"/>
                        <a:cs typeface="Noto Sans JP" charset="0"/>
                      </a:endParaRPr>
                    </a:p>
                  </a:txBody>
                  <a:tcPr marL="46950" marR="46950" marT="46950" marB="4695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シフト担当</a:t>
                      </a:r>
                      <a:endParaRPr lang="en-US" sz="1100" dirty="0">
                        <a:latin typeface="Noto Sans JP" charset="0"/>
                        <a:ea typeface="Noto Sans JP" charset="0"/>
                        <a:cs typeface="Noto Sans JP" charset="0"/>
                      </a:endParaRPr>
                    </a:p>
                  </a:txBody>
                  <a:tcPr marL="46950" marR="46950" marT="46950" marB="46950">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ACAC8"/>
                      </a:solidFill>
                      <a:prstDash val="solid"/>
                      <a:round/>
                      <a:headEnd type="none" w="med" len="med"/>
                      <a:tailEnd type="none" w="med" len="med"/>
                    </a:lnB>
                    <a:solidFill>
                      <a:srgbClr val="FDFDFB"/>
                    </a:solidFill>
                  </a:tcPr>
                </a:tc>
                <a:extLst>
                  <a:ext uri="{0D108BD9-81ED-4DB2-BD59-A6C34878D82A}">
                    <a16:rowId xmlns:a16="http://schemas.microsoft.com/office/drawing/2014/main" val="10005"/>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1/1</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DRAFT RELEASE</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シフト担当</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extLst>
                  <a:ext uri="{0D108BD9-81ED-4DB2-BD59-A6C34878D82A}">
                    <a16:rowId xmlns:a16="http://schemas.microsoft.com/office/drawing/2014/main" val="10006"/>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1/1～1/7</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SKILL・配置CHECK</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所属長</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extLst>
                  <a:ext uri="{0D108BD9-81ED-4DB2-BD59-A6C34878D82A}">
                    <a16:rowId xmlns:a16="http://schemas.microsoft.com/office/drawing/2014/main" val="10007"/>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1/8</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FINAL RELEASE</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シフト担当／責任者</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extLst>
                  <a:ext uri="{0D108BD9-81ED-4DB2-BD59-A6C34878D82A}">
                    <a16:rowId xmlns:a16="http://schemas.microsoft.com/office/drawing/2014/main" val="10008"/>
                  </a:ext>
                </a:extLst>
              </a:tr>
              <a:tr h="276543">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1/16</a:t>
                      </a:r>
                      <a:endParaRPr lang="en-US" sz="1100" dirty="0">
                        <a:latin typeface="Noto Sans JP" charset="0"/>
                        <a:ea typeface="Noto Sans JP" charset="0"/>
                        <a:cs typeface="Noto Sans JP" charset="0"/>
                      </a:endParaRPr>
                    </a:p>
                  </a:txBody>
                  <a:tcPr marL="46950" marR="46950" marT="46950" marB="46950">
                    <a:lnL w="12700" cap="flat" cmpd="sng" algn="ctr">
                      <a:solidFill>
                        <a:srgbClr val="C4C5C3"/>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本格運用開始</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tc>
                  <a:txBody>
                    <a:bodyPr/>
                    <a:lstStyle/>
                    <a:p>
                      <a:pPr marL="0" indent="0">
                        <a:lnSpc>
                          <a:spcPts val="1820"/>
                        </a:lnSpc>
                        <a:buNone/>
                      </a:pPr>
                      <a:r>
                        <a:rPr lang="en-US" sz="1100" dirty="0">
                          <a:solidFill>
                            <a:srgbClr val="14213D"/>
                          </a:solidFill>
                          <a:latin typeface="Noto Sans JP" pitchFamily="34" charset="0"/>
                          <a:ea typeface="Noto Sans JP" pitchFamily="34" charset="-122"/>
                          <a:cs typeface="Noto Sans JP" pitchFamily="34" charset="-120"/>
                        </a:rPr>
                        <a:t>全体</a:t>
                      </a:r>
                      <a:endParaRPr lang="en-US" sz="1100" dirty="0">
                        <a:latin typeface="Noto Sans JP" charset="0"/>
                        <a:ea typeface="Noto Sans JP" charset="0"/>
                        <a:cs typeface="Noto Sans JP" charset="0"/>
                      </a:endParaRPr>
                    </a:p>
                  </a:txBody>
                  <a:tcPr marL="46950" marR="46950" marT="46950" marB="46950">
                    <a:lnL w="12700" cap="flat" cmpd="sng" algn="ctr">
                      <a:solidFill>
                        <a:srgbClr val="C8BAAD"/>
                      </a:solidFill>
                      <a:prstDash val="solid"/>
                      <a:round/>
                      <a:headEnd type="none" w="med" len="med"/>
                      <a:tailEnd type="none" w="med" len="med"/>
                    </a:lnL>
                    <a:lnR w="12700" cap="flat" cmpd="sng" algn="ctr">
                      <a:solidFill>
                        <a:srgbClr val="C8BAAD"/>
                      </a:solidFill>
                      <a:prstDash val="solid"/>
                      <a:round/>
                      <a:headEnd type="none" w="med" len="med"/>
                      <a:tailEnd type="none" w="med" len="med"/>
                    </a:lnR>
                    <a:lnT w="12700" cap="flat" cmpd="sng" algn="ctr">
                      <a:solidFill>
                        <a:srgbClr val="C8BAAD"/>
                      </a:solidFill>
                      <a:prstDash val="solid"/>
                      <a:round/>
                      <a:headEnd type="none" w="med" len="med"/>
                      <a:tailEnd type="none" w="med" len="med"/>
                    </a:lnT>
                    <a:lnB w="12700" cap="flat" cmpd="sng" algn="ctr">
                      <a:solidFill>
                        <a:srgbClr val="C8BAAD"/>
                      </a:solidFill>
                      <a:prstDash val="solid"/>
                      <a:round/>
                      <a:headEnd type="none" w="med" len="med"/>
                      <a:tailEnd type="none" w="med" len="med"/>
                    </a:lnB>
                    <a:solidFill>
                      <a:srgbClr val="FBE9D8"/>
                    </a:solidFill>
                  </a:tcPr>
                </a:tc>
                <a:extLst>
                  <a:ext uri="{0D108BD9-81ED-4DB2-BD59-A6C34878D82A}">
                    <a16:rowId xmlns:a16="http://schemas.microsoft.com/office/drawing/2014/main" val="10009"/>
                  </a:ext>
                </a:extLst>
              </a:tr>
            </a:tbl>
          </a:graphicData>
        </a:graphic>
      </p:graphicFrame>
      <p:sp>
        <p:nvSpPr>
          <p:cNvPr id="7" name="Text 4"/>
          <p:cNvSpPr/>
          <p:nvPr/>
        </p:nvSpPr>
        <p:spPr>
          <a:xfrm>
            <a:off x="660400" y="5430000"/>
            <a:ext cx="8842756"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 初回は年末年始と重なるため、DRAFTリリースおよび所属長確認期間については別途調整する。</a:t>
            </a:r>
            <a:endParaRPr lang="en-US" sz="975" dirty="0"/>
          </a:p>
        </p:txBody>
      </p:sp>
      <p:sp>
        <p:nvSpPr>
          <p:cNvPr id="8" name="Text 5"/>
          <p:cNvSpPr/>
          <p:nvPr/>
        </p:nvSpPr>
        <p:spPr>
          <a:xfrm>
            <a:off x="660400" y="5711509"/>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9" name="Text 6"/>
          <p:cNvSpPr/>
          <p:nvPr/>
        </p:nvSpPr>
        <p:spPr>
          <a:xfrm>
            <a:off x="8172450" y="5711509"/>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14</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12　標準月次スケジュール</a:t>
            </a:r>
            <a:endParaRPr lang="en-US" sz="975" dirty="0"/>
          </a:p>
        </p:txBody>
      </p:sp>
      <p:sp>
        <p:nvSpPr>
          <p:cNvPr id="3" name="Text 1"/>
          <p:cNvSpPr>
            <a:spLocks noGrp="1"/>
          </p:cNvSpPr>
          <p:nvPr>
            <p:ph type="title"/>
          </p:nvPr>
        </p:nvSpPr>
        <p:spPr>
          <a:xfrm>
            <a:off x="660400" y="1538608"/>
            <a:ext cx="8842756" cy="780098"/>
          </a:xfrm>
          <a:prstGeom prst="rect">
            <a:avLst/>
          </a:prstGeom>
          <a:noFill/>
          <a:ln/>
        </p:spPr>
        <p:txBody>
          <a:bodyPr wrap="square" lIns="0" tIns="0" rIns="0" bIns="0" rtlCol="0" anchor="t">
            <a:normAutofit/>
          </a:bodyPr>
          <a:lstStyle/>
          <a:p>
            <a:pPr>
              <a:lnSpc>
                <a:spcPts val="2990"/>
              </a:lnSpc>
            </a:pPr>
            <a:r>
              <a:rPr lang="en-US" b="1" dirty="0"/>
              <a:t>毎月のサイクル：15日締切 → 1日DRAFT → 8日FINAL → 16日運用開始</a:t>
            </a:r>
            <a:endParaRPr lang="en-US" dirty="0"/>
          </a:p>
        </p:txBody>
      </p:sp>
      <p:sp>
        <p:nvSpPr>
          <p:cNvPr id="4" name="Text 2"/>
          <p:cNvSpPr/>
          <p:nvPr/>
        </p:nvSpPr>
        <p:spPr>
          <a:xfrm>
            <a:off x="660400" y="2545714"/>
            <a:ext cx="4251325" cy="326073"/>
          </a:xfrm>
          <a:prstGeom prst="roundRect">
            <a:avLst>
              <a:gd name="adj" fmla="val 12658"/>
            </a:avLst>
          </a:prstGeom>
          <a:solidFill>
            <a:srgbClr val="ECEEE8"/>
          </a:solidFill>
          <a:ln/>
        </p:spPr>
        <p:txBody>
          <a:bodyPr wrap="square" lIns="91098" tIns="49823" rIns="0" bIns="29186" rtlCol="0" anchor="t">
            <a:normAutofit/>
          </a:bodyPr>
          <a:lstStyle/>
          <a:p>
            <a:pPr>
              <a:lnSpc>
                <a:spcPts val="1593"/>
              </a:lnSpc>
            </a:pPr>
            <a:r>
              <a:rPr lang="en-US" sz="1138" b="1" dirty="0">
                <a:solidFill>
                  <a:srgbClr val="14213D"/>
                </a:solidFill>
                <a:latin typeface="Noto Sans JP" pitchFamily="34" charset="0"/>
                <a:ea typeface="Noto Sans JP" pitchFamily="34" charset="-122"/>
                <a:cs typeface="Noto Sans JP" pitchFamily="34" charset="-120"/>
              </a:rPr>
              <a:t>前月：申請・確認・作成</a:t>
            </a:r>
            <a:endParaRPr lang="en-US" sz="1138" dirty="0"/>
          </a:p>
        </p:txBody>
      </p:sp>
      <p:sp>
        <p:nvSpPr>
          <p:cNvPr id="5" name="Text 3"/>
          <p:cNvSpPr/>
          <p:nvPr/>
        </p:nvSpPr>
        <p:spPr>
          <a:xfrm>
            <a:off x="4994275" y="2545714"/>
            <a:ext cx="4251325" cy="326073"/>
          </a:xfrm>
          <a:prstGeom prst="roundRect">
            <a:avLst>
              <a:gd name="adj" fmla="val 12658"/>
            </a:avLst>
          </a:prstGeom>
          <a:solidFill>
            <a:srgbClr val="14213D"/>
          </a:solidFill>
          <a:ln/>
        </p:spPr>
        <p:txBody>
          <a:bodyPr wrap="square" lIns="91098" tIns="49823" rIns="0" bIns="29186" rtlCol="0" anchor="t">
            <a:normAutofit/>
          </a:bodyPr>
          <a:lstStyle/>
          <a:p>
            <a:pPr>
              <a:lnSpc>
                <a:spcPts val="1593"/>
              </a:lnSpc>
            </a:pPr>
            <a:r>
              <a:rPr lang="en-US" sz="1138" b="1" dirty="0">
                <a:solidFill>
                  <a:srgbClr val="F6F7F4"/>
                </a:solidFill>
                <a:latin typeface="Noto Sans JP" pitchFamily="34" charset="0"/>
                <a:ea typeface="Noto Sans JP" pitchFamily="34" charset="-122"/>
                <a:cs typeface="Noto Sans JP" pitchFamily="34" charset="-120"/>
              </a:rPr>
              <a:t>当月：確認・確定・運用開始</a:t>
            </a:r>
            <a:endParaRPr lang="en-US" sz="1138" dirty="0"/>
          </a:p>
        </p:txBody>
      </p:sp>
      <p:sp>
        <p:nvSpPr>
          <p:cNvPr id="6" name="Shape 4"/>
          <p:cNvSpPr/>
          <p:nvPr/>
        </p:nvSpPr>
        <p:spPr>
          <a:xfrm>
            <a:off x="660400" y="3016250"/>
            <a:ext cx="1000919" cy="0"/>
          </a:xfrm>
          <a:prstGeom prst="line">
            <a:avLst/>
          </a:prstGeom>
          <a:noFill/>
          <a:ln w="50800">
            <a:solidFill>
              <a:srgbClr val="14213D"/>
            </a:solidFill>
            <a:prstDash val="solid"/>
          </a:ln>
        </p:spPr>
        <p:txBody>
          <a:bodyPr/>
          <a:lstStyle/>
          <a:p>
            <a:endParaRPr lang="ja-JP" altLang="en-US" sz="1463"/>
          </a:p>
        </p:txBody>
      </p:sp>
      <p:sp>
        <p:nvSpPr>
          <p:cNvPr id="7" name="Text 5"/>
          <p:cNvSpPr/>
          <p:nvPr/>
        </p:nvSpPr>
        <p:spPr>
          <a:xfrm>
            <a:off x="660400"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15日</a:t>
            </a:r>
            <a:endParaRPr lang="en-US" sz="1463" dirty="0"/>
          </a:p>
        </p:txBody>
      </p:sp>
      <p:sp>
        <p:nvSpPr>
          <p:cNvPr id="8" name="Text 6"/>
          <p:cNvSpPr/>
          <p:nvPr/>
        </p:nvSpPr>
        <p:spPr>
          <a:xfrm>
            <a:off x="660400" y="3466148"/>
            <a:ext cx="1042194" cy="392113"/>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各種申請・情報更新締切</a:t>
            </a:r>
            <a:endParaRPr lang="en-US" sz="975" dirty="0"/>
          </a:p>
        </p:txBody>
      </p:sp>
      <p:sp>
        <p:nvSpPr>
          <p:cNvPr id="9" name="Shape 7"/>
          <p:cNvSpPr/>
          <p:nvPr/>
        </p:nvSpPr>
        <p:spPr>
          <a:xfrm>
            <a:off x="1743869" y="3016250"/>
            <a:ext cx="1000919" cy="0"/>
          </a:xfrm>
          <a:prstGeom prst="line">
            <a:avLst/>
          </a:prstGeom>
          <a:noFill/>
          <a:ln w="50800">
            <a:solidFill>
              <a:srgbClr val="14213D"/>
            </a:solidFill>
            <a:prstDash val="solid"/>
          </a:ln>
        </p:spPr>
        <p:txBody>
          <a:bodyPr/>
          <a:lstStyle/>
          <a:p>
            <a:endParaRPr lang="ja-JP" altLang="en-US" sz="1463"/>
          </a:p>
        </p:txBody>
      </p:sp>
      <p:sp>
        <p:nvSpPr>
          <p:cNvPr id="10" name="Text 8"/>
          <p:cNvSpPr/>
          <p:nvPr/>
        </p:nvSpPr>
        <p:spPr>
          <a:xfrm>
            <a:off x="1743869"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20日</a:t>
            </a:r>
            <a:endParaRPr lang="en-US" sz="1463" dirty="0"/>
          </a:p>
        </p:txBody>
      </p:sp>
      <p:sp>
        <p:nvSpPr>
          <p:cNvPr id="11" name="Text 9"/>
          <p:cNvSpPr/>
          <p:nvPr/>
        </p:nvSpPr>
        <p:spPr>
          <a:xfrm>
            <a:off x="1743869" y="3466148"/>
            <a:ext cx="1042194" cy="392113"/>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所属長承認・確認完了</a:t>
            </a:r>
            <a:endParaRPr lang="en-US" sz="975" dirty="0"/>
          </a:p>
        </p:txBody>
      </p:sp>
      <p:sp>
        <p:nvSpPr>
          <p:cNvPr id="12" name="Shape 10"/>
          <p:cNvSpPr/>
          <p:nvPr/>
        </p:nvSpPr>
        <p:spPr>
          <a:xfrm>
            <a:off x="2827337" y="3016250"/>
            <a:ext cx="1000919" cy="0"/>
          </a:xfrm>
          <a:prstGeom prst="line">
            <a:avLst/>
          </a:prstGeom>
          <a:noFill/>
          <a:ln w="50800">
            <a:solidFill>
              <a:srgbClr val="14213D"/>
            </a:solidFill>
            <a:prstDash val="solid"/>
          </a:ln>
        </p:spPr>
        <p:txBody>
          <a:bodyPr/>
          <a:lstStyle/>
          <a:p>
            <a:endParaRPr lang="ja-JP" altLang="en-US" sz="1463"/>
          </a:p>
        </p:txBody>
      </p:sp>
      <p:sp>
        <p:nvSpPr>
          <p:cNvPr id="13" name="Text 11"/>
          <p:cNvSpPr/>
          <p:nvPr/>
        </p:nvSpPr>
        <p:spPr>
          <a:xfrm>
            <a:off x="2827337"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21日</a:t>
            </a:r>
            <a:endParaRPr lang="en-US" sz="1463" dirty="0"/>
          </a:p>
        </p:txBody>
      </p:sp>
      <p:sp>
        <p:nvSpPr>
          <p:cNvPr id="14" name="Text 12"/>
          <p:cNvSpPr/>
          <p:nvPr/>
        </p:nvSpPr>
        <p:spPr>
          <a:xfrm>
            <a:off x="2827337" y="3466148"/>
            <a:ext cx="1042194" cy="392113"/>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シフト作成条件LOCK</a:t>
            </a:r>
            <a:endParaRPr lang="en-US" sz="975" dirty="0"/>
          </a:p>
        </p:txBody>
      </p:sp>
      <p:sp>
        <p:nvSpPr>
          <p:cNvPr id="15" name="Shape 13"/>
          <p:cNvSpPr/>
          <p:nvPr/>
        </p:nvSpPr>
        <p:spPr>
          <a:xfrm>
            <a:off x="3910806" y="3016250"/>
            <a:ext cx="1000919" cy="0"/>
          </a:xfrm>
          <a:prstGeom prst="line">
            <a:avLst/>
          </a:prstGeom>
          <a:noFill/>
          <a:ln w="50800">
            <a:solidFill>
              <a:srgbClr val="14213D"/>
            </a:solidFill>
            <a:prstDash val="solid"/>
          </a:ln>
        </p:spPr>
        <p:txBody>
          <a:bodyPr/>
          <a:lstStyle/>
          <a:p>
            <a:endParaRPr lang="ja-JP" altLang="en-US" sz="1463"/>
          </a:p>
        </p:txBody>
      </p:sp>
      <p:sp>
        <p:nvSpPr>
          <p:cNvPr id="16" name="Text 14"/>
          <p:cNvSpPr/>
          <p:nvPr/>
        </p:nvSpPr>
        <p:spPr>
          <a:xfrm>
            <a:off x="3910806"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21日～月末</a:t>
            </a:r>
            <a:endParaRPr lang="en-US" sz="1463" dirty="0"/>
          </a:p>
        </p:txBody>
      </p:sp>
      <p:sp>
        <p:nvSpPr>
          <p:cNvPr id="17" name="Text 15"/>
          <p:cNvSpPr/>
          <p:nvPr/>
        </p:nvSpPr>
        <p:spPr>
          <a:xfrm>
            <a:off x="3910806" y="3466148"/>
            <a:ext cx="1042194" cy="392113"/>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自動シフト作成・調整</a:t>
            </a:r>
            <a:endParaRPr lang="en-US" sz="975" dirty="0"/>
          </a:p>
        </p:txBody>
      </p:sp>
      <p:sp>
        <p:nvSpPr>
          <p:cNvPr id="18" name="Shape 16"/>
          <p:cNvSpPr/>
          <p:nvPr/>
        </p:nvSpPr>
        <p:spPr>
          <a:xfrm>
            <a:off x="4994275" y="3016250"/>
            <a:ext cx="1000919" cy="0"/>
          </a:xfrm>
          <a:prstGeom prst="line">
            <a:avLst/>
          </a:prstGeom>
          <a:noFill/>
          <a:ln w="50800">
            <a:solidFill>
              <a:srgbClr val="B4530F"/>
            </a:solidFill>
            <a:prstDash val="solid"/>
          </a:ln>
        </p:spPr>
        <p:txBody>
          <a:bodyPr/>
          <a:lstStyle/>
          <a:p>
            <a:endParaRPr lang="ja-JP" altLang="en-US" sz="1463"/>
          </a:p>
        </p:txBody>
      </p:sp>
      <p:sp>
        <p:nvSpPr>
          <p:cNvPr id="19" name="Text 17"/>
          <p:cNvSpPr/>
          <p:nvPr/>
        </p:nvSpPr>
        <p:spPr>
          <a:xfrm>
            <a:off x="4994275"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B4530F"/>
                </a:solidFill>
                <a:latin typeface="Noto Sans JP" pitchFamily="34" charset="0"/>
                <a:ea typeface="Noto Sans JP" pitchFamily="34" charset="-122"/>
                <a:cs typeface="Noto Sans JP" pitchFamily="34" charset="-120"/>
              </a:rPr>
              <a:t>1日</a:t>
            </a:r>
            <a:endParaRPr lang="en-US" sz="1463" dirty="0"/>
          </a:p>
        </p:txBody>
      </p:sp>
      <p:sp>
        <p:nvSpPr>
          <p:cNvPr id="20" name="Text 18"/>
          <p:cNvSpPr/>
          <p:nvPr/>
        </p:nvSpPr>
        <p:spPr>
          <a:xfrm>
            <a:off x="4994275" y="3466148"/>
            <a:ext cx="1042194" cy="206375"/>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DRAFT RELEASE</a:t>
            </a:r>
            <a:endParaRPr lang="en-US" sz="975" dirty="0"/>
          </a:p>
        </p:txBody>
      </p:sp>
      <p:sp>
        <p:nvSpPr>
          <p:cNvPr id="21" name="Shape 19"/>
          <p:cNvSpPr/>
          <p:nvPr/>
        </p:nvSpPr>
        <p:spPr>
          <a:xfrm>
            <a:off x="6077744" y="3016250"/>
            <a:ext cx="1000919" cy="0"/>
          </a:xfrm>
          <a:prstGeom prst="line">
            <a:avLst/>
          </a:prstGeom>
          <a:noFill/>
          <a:ln w="50800">
            <a:solidFill>
              <a:srgbClr val="14213D"/>
            </a:solidFill>
            <a:prstDash val="solid"/>
          </a:ln>
        </p:spPr>
        <p:txBody>
          <a:bodyPr/>
          <a:lstStyle/>
          <a:p>
            <a:endParaRPr lang="ja-JP" altLang="en-US" sz="1463"/>
          </a:p>
        </p:txBody>
      </p:sp>
      <p:sp>
        <p:nvSpPr>
          <p:cNvPr id="22" name="Text 20"/>
          <p:cNvSpPr/>
          <p:nvPr/>
        </p:nvSpPr>
        <p:spPr>
          <a:xfrm>
            <a:off x="6077744"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14213D"/>
                </a:solidFill>
                <a:latin typeface="Noto Sans JP" pitchFamily="34" charset="0"/>
                <a:ea typeface="Noto Sans JP" pitchFamily="34" charset="-122"/>
                <a:cs typeface="Noto Sans JP" pitchFamily="34" charset="-120"/>
              </a:rPr>
              <a:t>1日～7日</a:t>
            </a:r>
            <a:endParaRPr lang="en-US" sz="1463" dirty="0"/>
          </a:p>
        </p:txBody>
      </p:sp>
      <p:sp>
        <p:nvSpPr>
          <p:cNvPr id="23" name="Text 21"/>
          <p:cNvSpPr/>
          <p:nvPr/>
        </p:nvSpPr>
        <p:spPr>
          <a:xfrm>
            <a:off x="6077744" y="3466148"/>
            <a:ext cx="1042194" cy="206375"/>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所属長CHECK</a:t>
            </a:r>
            <a:endParaRPr lang="en-US" sz="975" dirty="0"/>
          </a:p>
        </p:txBody>
      </p:sp>
      <p:sp>
        <p:nvSpPr>
          <p:cNvPr id="24" name="Shape 22"/>
          <p:cNvSpPr/>
          <p:nvPr/>
        </p:nvSpPr>
        <p:spPr>
          <a:xfrm>
            <a:off x="7161212" y="3016250"/>
            <a:ext cx="1000919" cy="0"/>
          </a:xfrm>
          <a:prstGeom prst="line">
            <a:avLst/>
          </a:prstGeom>
          <a:noFill/>
          <a:ln w="50800">
            <a:solidFill>
              <a:srgbClr val="B4530F"/>
            </a:solidFill>
            <a:prstDash val="solid"/>
          </a:ln>
        </p:spPr>
        <p:txBody>
          <a:bodyPr/>
          <a:lstStyle/>
          <a:p>
            <a:endParaRPr lang="ja-JP" altLang="en-US" sz="1463"/>
          </a:p>
        </p:txBody>
      </p:sp>
      <p:sp>
        <p:nvSpPr>
          <p:cNvPr id="25" name="Text 23"/>
          <p:cNvSpPr/>
          <p:nvPr/>
        </p:nvSpPr>
        <p:spPr>
          <a:xfrm>
            <a:off x="7161212"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B4530F"/>
                </a:solidFill>
                <a:latin typeface="Noto Sans JP" pitchFamily="34" charset="0"/>
                <a:ea typeface="Noto Sans JP" pitchFamily="34" charset="-122"/>
                <a:cs typeface="Noto Sans JP" pitchFamily="34" charset="-120"/>
              </a:rPr>
              <a:t>8日</a:t>
            </a:r>
            <a:endParaRPr lang="en-US" sz="1463" dirty="0"/>
          </a:p>
        </p:txBody>
      </p:sp>
      <p:sp>
        <p:nvSpPr>
          <p:cNvPr id="26" name="Text 24"/>
          <p:cNvSpPr/>
          <p:nvPr/>
        </p:nvSpPr>
        <p:spPr>
          <a:xfrm>
            <a:off x="7161212" y="3466148"/>
            <a:ext cx="1042194" cy="206375"/>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FINAL RELEASE</a:t>
            </a:r>
            <a:endParaRPr lang="en-US" sz="975" dirty="0"/>
          </a:p>
        </p:txBody>
      </p:sp>
      <p:sp>
        <p:nvSpPr>
          <p:cNvPr id="27" name="Shape 25"/>
          <p:cNvSpPr/>
          <p:nvPr/>
        </p:nvSpPr>
        <p:spPr>
          <a:xfrm>
            <a:off x="8244681" y="3016250"/>
            <a:ext cx="1000919" cy="0"/>
          </a:xfrm>
          <a:prstGeom prst="line">
            <a:avLst/>
          </a:prstGeom>
          <a:noFill/>
          <a:ln w="50800">
            <a:solidFill>
              <a:srgbClr val="B4530F"/>
            </a:solidFill>
            <a:prstDash val="solid"/>
          </a:ln>
        </p:spPr>
        <p:txBody>
          <a:bodyPr/>
          <a:lstStyle/>
          <a:p>
            <a:endParaRPr lang="ja-JP" altLang="en-US" sz="1463"/>
          </a:p>
        </p:txBody>
      </p:sp>
      <p:sp>
        <p:nvSpPr>
          <p:cNvPr id="28" name="Text 26"/>
          <p:cNvSpPr/>
          <p:nvPr/>
        </p:nvSpPr>
        <p:spPr>
          <a:xfrm>
            <a:off x="8244681" y="3160712"/>
            <a:ext cx="1042194" cy="243523"/>
          </a:xfrm>
          <a:prstGeom prst="rect">
            <a:avLst/>
          </a:prstGeom>
          <a:noFill/>
          <a:ln/>
        </p:spPr>
        <p:txBody>
          <a:bodyPr wrap="square" lIns="0" tIns="0" rIns="0" bIns="0" rtlCol="0" anchor="t">
            <a:normAutofit/>
          </a:bodyPr>
          <a:lstStyle/>
          <a:p>
            <a:pPr>
              <a:lnSpc>
                <a:spcPts val="1755"/>
              </a:lnSpc>
            </a:pPr>
            <a:r>
              <a:rPr lang="en-US" sz="1463" b="1" dirty="0">
                <a:solidFill>
                  <a:srgbClr val="B4530F"/>
                </a:solidFill>
                <a:latin typeface="Noto Sans JP" pitchFamily="34" charset="0"/>
                <a:ea typeface="Noto Sans JP" pitchFamily="34" charset="-122"/>
                <a:cs typeface="Noto Sans JP" pitchFamily="34" charset="-120"/>
              </a:rPr>
              <a:t>16日</a:t>
            </a:r>
            <a:endParaRPr lang="en-US" sz="1463" dirty="0"/>
          </a:p>
        </p:txBody>
      </p:sp>
      <p:sp>
        <p:nvSpPr>
          <p:cNvPr id="29" name="Text 27"/>
          <p:cNvSpPr/>
          <p:nvPr/>
        </p:nvSpPr>
        <p:spPr>
          <a:xfrm>
            <a:off x="8244681" y="3466148"/>
            <a:ext cx="1042194" cy="206375"/>
          </a:xfrm>
          <a:prstGeom prst="rect">
            <a:avLst/>
          </a:prstGeom>
          <a:noFill/>
          <a:ln/>
        </p:spPr>
        <p:txBody>
          <a:bodyPr wrap="square" lIns="0" tIns="0" rIns="0" bIns="0" rtlCol="0" anchor="t">
            <a:normAutofit/>
          </a:bodyPr>
          <a:lstStyle/>
          <a:p>
            <a:pPr>
              <a:lnSpc>
                <a:spcPts val="1463"/>
              </a:lnSpc>
            </a:pPr>
            <a:r>
              <a:rPr lang="en-US" sz="975" dirty="0">
                <a:solidFill>
                  <a:srgbClr val="14213D"/>
                </a:solidFill>
                <a:latin typeface="Noto Sans JP" pitchFamily="34" charset="0"/>
                <a:ea typeface="Noto Sans JP" pitchFamily="34" charset="-122"/>
                <a:cs typeface="Noto Sans JP" pitchFamily="34" charset="-120"/>
              </a:rPr>
              <a:t>新シフト運用開始</a:t>
            </a:r>
            <a:endParaRPr lang="en-US" sz="975" dirty="0"/>
          </a:p>
        </p:txBody>
      </p:sp>
      <p:sp>
        <p:nvSpPr>
          <p:cNvPr id="30" name="Text 28"/>
          <p:cNvSpPr/>
          <p:nvPr/>
        </p:nvSpPr>
        <p:spPr>
          <a:xfrm>
            <a:off x="660400" y="5711509"/>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31" name="Text 29"/>
          <p:cNvSpPr/>
          <p:nvPr/>
        </p:nvSpPr>
        <p:spPr>
          <a:xfrm>
            <a:off x="8172450" y="5711509"/>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15</a:t>
            </a:r>
            <a:endParaRPr lang="en-US" sz="975"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13　本格運用までに確定が必要な事項</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完全な動きとシフトには、3つの未確定事項を固める</a:t>
            </a:r>
            <a:endParaRPr lang="en-US"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16</a:t>
            </a:r>
            <a:endParaRPr lang="en-US" sz="975" dirty="0"/>
          </a:p>
        </p:txBody>
      </p:sp>
      <p:sp>
        <p:nvSpPr>
          <p:cNvPr id="18" name="Rounded Rectangle 17"/>
          <p:cNvSpPr/>
          <p:nvPr/>
        </p:nvSpPr>
        <p:spPr>
          <a:xfrm>
            <a:off x="662980" y="2168565"/>
            <a:ext cx="2774003" cy="3218418"/>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0265" y="2376487"/>
            <a:ext cx="2399433" cy="2435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300" b="1">
                <a:solidFill>
                  <a:srgbClr val="14213D"/>
                </a:solidFill>
                <a:latin typeface="Noto Sans JP"/>
                <a:ea typeface="Noto Sans JP"/>
                <a:cs typeface="Noto Sans JP"/>
              </a:rPr>
              <a:t>（1）PAX以外の線表・SKILL</a:t>
            </a:r>
          </a:p>
        </p:txBody>
      </p:sp>
      <p:sp>
        <p:nvSpPr>
          <p:cNvPr id="20" name="Rectangle 19"/>
          <p:cNvSpPr/>
          <p:nvPr/>
        </p:nvSpPr>
        <p:spPr>
          <a:xfrm>
            <a:off x="850265" y="2702560"/>
            <a:ext cx="2399433" cy="326073"/>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90000" bIns="90000"/>
          <a:lstStyle/>
          <a:p>
            <a:pPr algn="l"/>
            <a:r>
              <a:rPr sz="1138" b="1">
                <a:solidFill>
                  <a:srgbClr val="14213D"/>
                </a:solidFill>
                <a:latin typeface="Noto Sans JP"/>
                <a:ea typeface="Noto Sans JP"/>
                <a:cs typeface="Noto Sans JP"/>
              </a:rPr>
              <a:t>線表はエアラインPAX業務のみ</a:t>
            </a:r>
          </a:p>
        </p:txBody>
      </p:sp>
      <p:sp>
        <p:nvSpPr>
          <p:cNvPr id="21" name="Rectangle 20"/>
          <p:cNvSpPr/>
          <p:nvPr/>
        </p:nvSpPr>
        <p:spPr>
          <a:xfrm>
            <a:off x="850265" y="3131821"/>
            <a:ext cx="2399433"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820"/>
              </a:lnSpc>
            </a:pPr>
            <a:r>
              <a:rPr sz="1138" b="0">
                <a:solidFill>
                  <a:srgbClr val="4A5568"/>
                </a:solidFill>
                <a:latin typeface="Noto Sans JP"/>
                <a:ea typeface="Noto Sans JP"/>
                <a:cs typeface="Noto Sans JP"/>
              </a:rPr>
              <a:t>アルキア航空（新規）、KIOSK業務、ADD（UVS業務）等の線表・必要要員・SKILLが未反映。旅客業務終了後の動きが組めない。</a:t>
            </a:r>
          </a:p>
        </p:txBody>
      </p:sp>
      <p:sp>
        <p:nvSpPr>
          <p:cNvPr id="22" name="Rectangle 21"/>
          <p:cNvSpPr/>
          <p:nvPr/>
        </p:nvSpPr>
        <p:spPr>
          <a:xfrm>
            <a:off x="850265" y="4950000"/>
            <a:ext cx="2399433" cy="2435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B4530F"/>
                </a:solidFill>
                <a:latin typeface="Noto Sans JP"/>
                <a:ea typeface="Noto Sans JP"/>
                <a:cs typeface="Noto Sans JP"/>
              </a:rPr>
              <a:t>→ 詳細 P.17</a:t>
            </a:r>
          </a:p>
        </p:txBody>
      </p:sp>
      <p:sp>
        <p:nvSpPr>
          <p:cNvPr id="23" name="Rounded Rectangle 22"/>
          <p:cNvSpPr/>
          <p:nvPr/>
        </p:nvSpPr>
        <p:spPr>
          <a:xfrm>
            <a:off x="3568483" y="2168565"/>
            <a:ext cx="2774003" cy="3218418"/>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755768" y="2376487"/>
            <a:ext cx="2399433" cy="2435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300" b="1">
                <a:solidFill>
                  <a:srgbClr val="14213D"/>
                </a:solidFill>
                <a:latin typeface="Noto Sans JP"/>
                <a:ea typeface="Noto Sans JP"/>
                <a:cs typeface="Noto Sans JP"/>
              </a:rPr>
              <a:t>（2）休暇・休みリクエスト</a:t>
            </a:r>
          </a:p>
        </p:txBody>
      </p:sp>
      <p:sp>
        <p:nvSpPr>
          <p:cNvPr id="25" name="Rectangle 24"/>
          <p:cNvSpPr/>
          <p:nvPr/>
        </p:nvSpPr>
        <p:spPr>
          <a:xfrm>
            <a:off x="3755768" y="2702560"/>
            <a:ext cx="2399433" cy="326073"/>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90000" bIns="90000"/>
          <a:lstStyle/>
          <a:p>
            <a:pPr algn="l"/>
            <a:r>
              <a:rPr sz="1138" b="1">
                <a:solidFill>
                  <a:srgbClr val="F6F7F4"/>
                </a:solidFill>
                <a:latin typeface="Noto Sans JP"/>
                <a:ea typeface="Noto Sans JP"/>
                <a:cs typeface="Noto Sans JP"/>
              </a:rPr>
              <a:t>受付方法が未決定</a:t>
            </a:r>
          </a:p>
        </p:txBody>
      </p:sp>
      <p:sp>
        <p:nvSpPr>
          <p:cNvPr id="26" name="Rectangle 25"/>
          <p:cNvSpPr/>
          <p:nvPr/>
        </p:nvSpPr>
        <p:spPr>
          <a:xfrm>
            <a:off x="3755768" y="3131821"/>
            <a:ext cx="2399433"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820"/>
              </a:lnSpc>
            </a:pPr>
            <a:r>
              <a:rPr sz="1138" b="0">
                <a:solidFill>
                  <a:srgbClr val="4A5568"/>
                </a:solidFill>
                <a:latin typeface="Noto Sans JP"/>
                <a:ea typeface="Noto Sans JP"/>
                <a:cs typeface="Noto Sans JP"/>
              </a:rPr>
              <a:t>休暇の区分は定義済みだが、申請の手段・窓口・様式・通知方法など、受付の運用方法がまだ決まっていない。</a:t>
            </a:r>
          </a:p>
        </p:txBody>
      </p:sp>
      <p:sp>
        <p:nvSpPr>
          <p:cNvPr id="27" name="Rectangle 26"/>
          <p:cNvSpPr/>
          <p:nvPr/>
        </p:nvSpPr>
        <p:spPr>
          <a:xfrm>
            <a:off x="3755768" y="4950000"/>
            <a:ext cx="2399433" cy="2435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B4530F"/>
                </a:solidFill>
                <a:latin typeface="Noto Sans JP"/>
                <a:ea typeface="Noto Sans JP"/>
                <a:cs typeface="Noto Sans JP"/>
              </a:rPr>
              <a:t>→ 詳細 P.18</a:t>
            </a:r>
          </a:p>
        </p:txBody>
      </p:sp>
      <p:sp>
        <p:nvSpPr>
          <p:cNvPr id="28" name="Rounded Rectangle 27"/>
          <p:cNvSpPr/>
          <p:nvPr/>
        </p:nvSpPr>
        <p:spPr>
          <a:xfrm>
            <a:off x="6473986" y="2168565"/>
            <a:ext cx="2774003" cy="3218418"/>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61271" y="2376487"/>
            <a:ext cx="2399433" cy="2435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300" b="1">
                <a:solidFill>
                  <a:srgbClr val="14213D"/>
                </a:solidFill>
                <a:latin typeface="Noto Sans JP"/>
                <a:ea typeface="Noto Sans JP"/>
                <a:cs typeface="Noto Sans JP"/>
              </a:rPr>
              <a:t>（3）OJT・トレーナー資格</a:t>
            </a:r>
          </a:p>
        </p:txBody>
      </p:sp>
      <p:sp>
        <p:nvSpPr>
          <p:cNvPr id="30" name="Rectangle 29"/>
          <p:cNvSpPr/>
          <p:nvPr/>
        </p:nvSpPr>
        <p:spPr>
          <a:xfrm>
            <a:off x="6661271" y="2702560"/>
            <a:ext cx="2399433" cy="326073"/>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90000" bIns="90000"/>
          <a:lstStyle/>
          <a:p>
            <a:pPr algn="l"/>
            <a:r>
              <a:rPr sz="1138" b="1">
                <a:solidFill>
                  <a:srgbClr val="14213D"/>
                </a:solidFill>
                <a:latin typeface="Noto Sans JP"/>
                <a:ea typeface="Noto Sans JP"/>
                <a:cs typeface="Noto Sans JP"/>
              </a:rPr>
              <a:t>トレーナー・回数が未定義</a:t>
            </a:r>
          </a:p>
        </p:txBody>
      </p:sp>
      <p:sp>
        <p:nvSpPr>
          <p:cNvPr id="31" name="Rectangle 30"/>
          <p:cNvSpPr/>
          <p:nvPr/>
        </p:nvSpPr>
        <p:spPr>
          <a:xfrm>
            <a:off x="6661271" y="3131821"/>
            <a:ext cx="2399433" cy="1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820"/>
              </a:lnSpc>
            </a:pPr>
            <a:r>
              <a:rPr sz="1138" b="0">
                <a:solidFill>
                  <a:srgbClr val="4A5568"/>
                </a:solidFill>
                <a:latin typeface="Noto Sans JP"/>
                <a:ea typeface="Noto Sans JP"/>
                <a:cs typeface="Noto Sans JP"/>
              </a:rPr>
              <a:t>誰がトレーナーか、各ポジションのOJTが何回必要か、次タームで誰に何をOJTするかが決まっていない。</a:t>
            </a:r>
          </a:p>
        </p:txBody>
      </p:sp>
      <p:sp>
        <p:nvSpPr>
          <p:cNvPr id="32" name="Rectangle 31"/>
          <p:cNvSpPr/>
          <p:nvPr/>
        </p:nvSpPr>
        <p:spPr>
          <a:xfrm>
            <a:off x="6661271" y="4950000"/>
            <a:ext cx="2399433" cy="2435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75" b="1">
                <a:solidFill>
                  <a:srgbClr val="B4530F"/>
                </a:solidFill>
                <a:latin typeface="Noto Sans JP"/>
                <a:ea typeface="Noto Sans JP"/>
                <a:cs typeface="Noto Sans JP"/>
              </a:rPr>
              <a:t>→ 詳細 P.19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13　本格運用までに確定が必要な事項 ―（1）線表・SKILL</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旅客業務後の動きまで線表に組み込む必要がある</a:t>
            </a:r>
            <a:endParaRPr lang="en-US"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17</a:t>
            </a:r>
            <a:endParaRPr lang="en-US" sz="975" dirty="0"/>
          </a:p>
        </p:txBody>
      </p:sp>
      <p:sp>
        <p:nvSpPr>
          <p:cNvPr id="18" name="Rounded Rectangle 17"/>
          <p:cNvSpPr/>
          <p:nvPr/>
        </p:nvSpPr>
        <p:spPr>
          <a:xfrm>
            <a:off x="660400" y="2165986"/>
            <a:ext cx="2500000" cy="2450000"/>
          </a:xfrm>
          <a:prstGeom prst="roundRect">
            <a:avLst>
              <a:gd name="adj" fmla="val 2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0400" y="2355986"/>
            <a:ext cx="2100000"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99" b="1">
                <a:solidFill>
                  <a:srgbClr val="F2A65A"/>
                </a:solidFill>
                <a:latin typeface="Noto Sans JP"/>
                <a:ea typeface="Noto Sans JP"/>
                <a:cs typeface="Noto Sans JP"/>
              </a:rPr>
              <a:t>線表に組込済</a:t>
            </a:r>
          </a:p>
        </p:txBody>
      </p:sp>
      <p:sp>
        <p:nvSpPr>
          <p:cNvPr id="20" name="Rectangle 19"/>
          <p:cNvSpPr/>
          <p:nvPr/>
        </p:nvSpPr>
        <p:spPr>
          <a:xfrm>
            <a:off x="860400" y="2645986"/>
            <a:ext cx="21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2800"/>
              </a:lnSpc>
            </a:pPr>
            <a:r>
              <a:rPr sz="2000" b="1">
                <a:solidFill>
                  <a:srgbClr val="F6F7F4"/>
                </a:solidFill>
                <a:latin typeface="Noto Sans JP"/>
                <a:ea typeface="Noto Sans JP"/>
                <a:cs typeface="Noto Sans JP"/>
              </a:rPr>
              <a:t>エアライン
PAX業務</a:t>
            </a:r>
          </a:p>
        </p:txBody>
      </p:sp>
      <p:sp>
        <p:nvSpPr>
          <p:cNvPr id="21" name="Rectangle 20"/>
          <p:cNvSpPr/>
          <p:nvPr/>
        </p:nvSpPr>
        <p:spPr>
          <a:xfrm>
            <a:off x="860400" y="3515986"/>
            <a:ext cx="2100000" cy="9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500"/>
              </a:lnSpc>
            </a:pPr>
            <a:r>
              <a:rPr sz="1050" b="0">
                <a:solidFill>
                  <a:srgbClr val="B8C4D6"/>
                </a:solidFill>
                <a:latin typeface="Noto Sans JP"/>
                <a:ea typeface="Noto Sans JP"/>
                <a:cs typeface="Noto Sans JP"/>
              </a:rPr>
              <a:t>FLIGHTスケジュールと業務別必要要員に基づき作成</a:t>
            </a:r>
          </a:p>
        </p:txBody>
      </p:sp>
      <p:sp>
        <p:nvSpPr>
          <p:cNvPr id="22" name="Right Arrow 21"/>
          <p:cNvSpPr/>
          <p:nvPr/>
        </p:nvSpPr>
        <p:spPr>
          <a:xfrm>
            <a:off x="3250400" y="3215986"/>
            <a:ext cx="330000" cy="330000"/>
          </a:xfrm>
          <a:prstGeom prst="rightArrow">
            <a:avLst/>
          </a:prstGeom>
          <a:solidFill>
            <a:srgbClr val="B45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90400" y="3585986"/>
            <a:ext cx="450000" cy="4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lnSpc>
                <a:spcPts val="1100"/>
              </a:lnSpc>
            </a:pPr>
            <a:r>
              <a:rPr sz="850" b="1">
                <a:solidFill>
                  <a:srgbClr val="B4530F"/>
                </a:solidFill>
                <a:latin typeface="Noto Sans JP"/>
                <a:ea typeface="Noto Sans JP"/>
                <a:cs typeface="Noto Sans JP"/>
              </a:rPr>
              <a:t>旅客業務
終了後</a:t>
            </a:r>
          </a:p>
        </p:txBody>
      </p:sp>
      <p:sp>
        <p:nvSpPr>
          <p:cNvPr id="24" name="Rectangle 23"/>
          <p:cNvSpPr/>
          <p:nvPr/>
        </p:nvSpPr>
        <p:spPr>
          <a:xfrm>
            <a:off x="3670400" y="2165986"/>
            <a:ext cx="5575200"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99" b="1">
                <a:solidFill>
                  <a:srgbClr val="B4530F"/>
                </a:solidFill>
                <a:latin typeface="Noto Sans JP"/>
                <a:ea typeface="Noto Sans JP"/>
                <a:cs typeface="Noto Sans JP"/>
              </a:rPr>
              <a:t>未組込 ― 線表・必要要員・SKILLの把握が必要</a:t>
            </a:r>
          </a:p>
        </p:txBody>
      </p:sp>
      <p:sp>
        <p:nvSpPr>
          <p:cNvPr id="25" name="Rounded Rectangle 24"/>
          <p:cNvSpPr/>
          <p:nvPr/>
        </p:nvSpPr>
        <p:spPr>
          <a:xfrm>
            <a:off x="3670400" y="2455986"/>
            <a:ext cx="5575200" cy="640000"/>
          </a:xfrm>
          <a:prstGeom prst="roundRect">
            <a:avLst>
              <a:gd name="adj" fmla="val 2500"/>
            </a:avLst>
          </a:prstGeom>
          <a:solidFill>
            <a:srgbClr val="FDFDFB"/>
          </a:solidFill>
          <a:ln w="9525">
            <a:solidFill>
              <a:srgbClr val="B4530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50400" y="2545986"/>
            <a:ext cx="21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50" b="1">
                <a:solidFill>
                  <a:srgbClr val="14213D"/>
                </a:solidFill>
                <a:latin typeface="Noto Sans JP"/>
                <a:ea typeface="Noto Sans JP"/>
                <a:cs typeface="Noto Sans JP"/>
              </a:rPr>
              <a:t>アルキア航空</a:t>
            </a:r>
          </a:p>
        </p:txBody>
      </p:sp>
      <p:sp>
        <p:nvSpPr>
          <p:cNvPr id="27" name="Rectangle 26"/>
          <p:cNvSpPr/>
          <p:nvPr/>
        </p:nvSpPr>
        <p:spPr>
          <a:xfrm>
            <a:off x="3850400" y="2815986"/>
            <a:ext cx="5215200" cy="2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050" b="0">
                <a:solidFill>
                  <a:srgbClr val="4A5568"/>
                </a:solidFill>
                <a:latin typeface="Noto Sans JP"/>
                <a:ea typeface="Noto Sans JP"/>
                <a:cs typeface="Noto Sans JP"/>
              </a:rPr>
              <a:t>業務内容・運航スケジュールの確定待ち</a:t>
            </a:r>
          </a:p>
        </p:txBody>
      </p:sp>
      <p:sp>
        <p:nvSpPr>
          <p:cNvPr id="28" name="Rectangle 27"/>
          <p:cNvSpPr/>
          <p:nvPr/>
        </p:nvSpPr>
        <p:spPr>
          <a:xfrm>
            <a:off x="7745600" y="2555986"/>
            <a:ext cx="1320000" cy="230000"/>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これから開始</a:t>
            </a:r>
          </a:p>
        </p:txBody>
      </p:sp>
      <p:sp>
        <p:nvSpPr>
          <p:cNvPr id="29" name="Rounded Rectangle 28"/>
          <p:cNvSpPr/>
          <p:nvPr/>
        </p:nvSpPr>
        <p:spPr>
          <a:xfrm>
            <a:off x="3670400" y="3205986"/>
            <a:ext cx="5575200" cy="640000"/>
          </a:xfrm>
          <a:prstGeom prst="roundRect">
            <a:avLst>
              <a:gd name="adj" fmla="val 2500"/>
            </a:avLst>
          </a:prstGeom>
          <a:solidFill>
            <a:srgbClr val="FDFDFB"/>
          </a:solidFill>
          <a:ln w="9525">
            <a:solidFill>
              <a:srgbClr val="B4530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50400" y="3295986"/>
            <a:ext cx="21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50" b="1">
                <a:solidFill>
                  <a:srgbClr val="14213D"/>
                </a:solidFill>
                <a:latin typeface="Noto Sans JP"/>
                <a:ea typeface="Noto Sans JP"/>
                <a:cs typeface="Noto Sans JP"/>
              </a:rPr>
              <a:t>KIOSK業務</a:t>
            </a:r>
          </a:p>
        </p:txBody>
      </p:sp>
      <p:sp>
        <p:nvSpPr>
          <p:cNvPr id="31" name="Rectangle 30"/>
          <p:cNvSpPr/>
          <p:nvPr/>
        </p:nvSpPr>
        <p:spPr>
          <a:xfrm>
            <a:off x="3850400" y="3565986"/>
            <a:ext cx="5215200" cy="2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050" b="0">
                <a:solidFill>
                  <a:srgbClr val="4A5568"/>
                </a:solidFill>
                <a:latin typeface="Noto Sans JP"/>
                <a:ea typeface="Noto Sans JP"/>
                <a:cs typeface="Noto Sans JP"/>
              </a:rPr>
              <a:t>時間帯・必要要員・対応可能者が未登録</a:t>
            </a:r>
          </a:p>
        </p:txBody>
      </p:sp>
      <p:sp>
        <p:nvSpPr>
          <p:cNvPr id="32" name="Rectangle 31"/>
          <p:cNvSpPr/>
          <p:nvPr/>
        </p:nvSpPr>
        <p:spPr>
          <a:xfrm>
            <a:off x="7745600" y="3305986"/>
            <a:ext cx="1320000" cy="230000"/>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現在稼働中</a:t>
            </a:r>
          </a:p>
        </p:txBody>
      </p:sp>
      <p:sp>
        <p:nvSpPr>
          <p:cNvPr id="33" name="Rounded Rectangle 32"/>
          <p:cNvSpPr/>
          <p:nvPr/>
        </p:nvSpPr>
        <p:spPr>
          <a:xfrm>
            <a:off x="3670400" y="3955986"/>
            <a:ext cx="5575200" cy="640000"/>
          </a:xfrm>
          <a:prstGeom prst="roundRect">
            <a:avLst>
              <a:gd name="adj" fmla="val 2500"/>
            </a:avLst>
          </a:prstGeom>
          <a:solidFill>
            <a:srgbClr val="FDFDFB"/>
          </a:solidFill>
          <a:ln w="9525">
            <a:solidFill>
              <a:srgbClr val="B4530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50400" y="4045986"/>
            <a:ext cx="21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50" b="1">
                <a:solidFill>
                  <a:srgbClr val="14213D"/>
                </a:solidFill>
                <a:latin typeface="Noto Sans JP"/>
                <a:ea typeface="Noto Sans JP"/>
                <a:cs typeface="Noto Sans JP"/>
              </a:rPr>
              <a:t>ADD（UVS業務）</a:t>
            </a:r>
          </a:p>
        </p:txBody>
      </p:sp>
      <p:sp>
        <p:nvSpPr>
          <p:cNvPr id="35" name="Rectangle 34"/>
          <p:cNvSpPr/>
          <p:nvPr/>
        </p:nvSpPr>
        <p:spPr>
          <a:xfrm>
            <a:off x="3850400" y="4315986"/>
            <a:ext cx="5215200" cy="2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050" b="0">
                <a:solidFill>
                  <a:srgbClr val="4A5568"/>
                </a:solidFill>
                <a:latin typeface="Noto Sans JP"/>
                <a:ea typeface="Noto Sans JP"/>
                <a:cs typeface="Noto Sans JP"/>
              </a:rPr>
              <a:t>HA VIPアシスト、ラウンジ業務 等</a:t>
            </a:r>
          </a:p>
        </p:txBody>
      </p:sp>
      <p:sp>
        <p:nvSpPr>
          <p:cNvPr id="36" name="Rectangle 35"/>
          <p:cNvSpPr/>
          <p:nvPr/>
        </p:nvSpPr>
        <p:spPr>
          <a:xfrm>
            <a:off x="7745600" y="4055986"/>
            <a:ext cx="1320000" cy="230000"/>
          </a:xfrm>
          <a:prstGeom prst="rect">
            <a:avLst/>
          </a:prstGeom>
          <a:solidFill>
            <a:srgbClr val="ECE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a:solidFill>
                  <a:srgbClr val="14213D"/>
                </a:solidFill>
                <a:latin typeface="Noto Sans JP"/>
                <a:ea typeface="Noto Sans JP"/>
                <a:cs typeface="Noto Sans JP"/>
              </a:rPr>
              <a:t>PAX業務と別系統</a:t>
            </a:r>
          </a:p>
        </p:txBody>
      </p:sp>
      <p:sp>
        <p:nvSpPr>
          <p:cNvPr id="37" name="Rectangle 36"/>
          <p:cNvSpPr/>
          <p:nvPr/>
        </p:nvSpPr>
        <p:spPr>
          <a:xfrm>
            <a:off x="660400" y="4725986"/>
            <a:ext cx="3000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877" b="1">
                <a:solidFill>
                  <a:srgbClr val="14213D"/>
                </a:solidFill>
                <a:latin typeface="Noto Sans JP"/>
                <a:ea typeface="Noto Sans JP"/>
                <a:cs typeface="Noto Sans JP"/>
              </a:rPr>
              <a:t>業務ごとに収集する情報</a:t>
            </a:r>
          </a:p>
        </p:txBody>
      </p:sp>
      <p:sp>
        <p:nvSpPr>
          <p:cNvPr id="38" name="Rounded Rectangle 37"/>
          <p:cNvSpPr/>
          <p:nvPr/>
        </p:nvSpPr>
        <p:spPr>
          <a:xfrm>
            <a:off x="660400" y="4945986"/>
            <a:ext cx="2063800"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3"/>
          <a:stretch>
            <a:fillRect/>
          </a:stretch>
        </p:blipFill>
        <p:spPr>
          <a:xfrm>
            <a:off x="785400" y="5019986"/>
            <a:ext cx="165100" cy="165100"/>
          </a:xfrm>
          <a:prstGeom prst="rect">
            <a:avLst/>
          </a:prstGeom>
        </p:spPr>
      </p:pic>
      <p:sp>
        <p:nvSpPr>
          <p:cNvPr id="40" name="Rectangle 39"/>
          <p:cNvSpPr/>
          <p:nvPr/>
        </p:nvSpPr>
        <p:spPr>
          <a:xfrm>
            <a:off x="1020400" y="4945986"/>
            <a:ext cx="16638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14213D"/>
                </a:solidFill>
                <a:latin typeface="Noto Sans JP"/>
                <a:ea typeface="Noto Sans JP"/>
                <a:cs typeface="Noto Sans JP"/>
              </a:rPr>
              <a:t>業務時間帯（線表）</a:t>
            </a:r>
          </a:p>
        </p:txBody>
      </p:sp>
      <p:sp>
        <p:nvSpPr>
          <p:cNvPr id="41" name="Rounded Rectangle 40"/>
          <p:cNvSpPr/>
          <p:nvPr/>
        </p:nvSpPr>
        <p:spPr>
          <a:xfrm>
            <a:off x="2834200" y="4945986"/>
            <a:ext cx="2063800"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3"/>
          <a:stretch>
            <a:fillRect/>
          </a:stretch>
        </p:blipFill>
        <p:spPr>
          <a:xfrm>
            <a:off x="2959200" y="5019986"/>
            <a:ext cx="165100" cy="165100"/>
          </a:xfrm>
          <a:prstGeom prst="rect">
            <a:avLst/>
          </a:prstGeom>
        </p:spPr>
      </p:pic>
      <p:sp>
        <p:nvSpPr>
          <p:cNvPr id="43" name="Rectangle 42"/>
          <p:cNvSpPr/>
          <p:nvPr/>
        </p:nvSpPr>
        <p:spPr>
          <a:xfrm>
            <a:off x="3194200" y="4945986"/>
            <a:ext cx="16638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14213D"/>
                </a:solidFill>
                <a:latin typeface="Noto Sans JP"/>
                <a:ea typeface="Noto Sans JP"/>
                <a:cs typeface="Noto Sans JP"/>
              </a:rPr>
              <a:t>必要要員数</a:t>
            </a:r>
          </a:p>
        </p:txBody>
      </p:sp>
      <p:sp>
        <p:nvSpPr>
          <p:cNvPr id="44" name="Rounded Rectangle 43"/>
          <p:cNvSpPr/>
          <p:nvPr/>
        </p:nvSpPr>
        <p:spPr>
          <a:xfrm>
            <a:off x="5008000" y="4945986"/>
            <a:ext cx="2063800"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mage.png"/>
          <p:cNvPicPr>
            <a:picLocks noChangeAspect="1"/>
          </p:cNvPicPr>
          <p:nvPr/>
        </p:nvPicPr>
        <p:blipFill>
          <a:blip r:embed="rId3"/>
          <a:stretch>
            <a:fillRect/>
          </a:stretch>
        </p:blipFill>
        <p:spPr>
          <a:xfrm>
            <a:off x="5133000" y="5019986"/>
            <a:ext cx="165100" cy="165100"/>
          </a:xfrm>
          <a:prstGeom prst="rect">
            <a:avLst/>
          </a:prstGeom>
        </p:spPr>
      </p:pic>
      <p:sp>
        <p:nvSpPr>
          <p:cNvPr id="46" name="Rectangle 45"/>
          <p:cNvSpPr/>
          <p:nvPr/>
        </p:nvSpPr>
        <p:spPr>
          <a:xfrm>
            <a:off x="5368000" y="4945986"/>
            <a:ext cx="16638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14213D"/>
                </a:solidFill>
                <a:latin typeface="Noto Sans JP"/>
                <a:ea typeface="Noto Sans JP"/>
                <a:cs typeface="Noto Sans JP"/>
              </a:rPr>
              <a:t>必要SKILL・対応可能者</a:t>
            </a:r>
          </a:p>
        </p:txBody>
      </p:sp>
      <p:sp>
        <p:nvSpPr>
          <p:cNvPr id="47" name="Rounded Rectangle 46"/>
          <p:cNvSpPr/>
          <p:nvPr/>
        </p:nvSpPr>
        <p:spPr>
          <a:xfrm>
            <a:off x="7181800" y="4945986"/>
            <a:ext cx="2063800"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mage.png"/>
          <p:cNvPicPr>
            <a:picLocks noChangeAspect="1"/>
          </p:cNvPicPr>
          <p:nvPr/>
        </p:nvPicPr>
        <p:blipFill>
          <a:blip r:embed="rId3"/>
          <a:stretch>
            <a:fillRect/>
          </a:stretch>
        </p:blipFill>
        <p:spPr>
          <a:xfrm>
            <a:off x="7306800" y="5019986"/>
            <a:ext cx="165100" cy="165100"/>
          </a:xfrm>
          <a:prstGeom prst="rect">
            <a:avLst/>
          </a:prstGeom>
        </p:spPr>
      </p:pic>
      <p:sp>
        <p:nvSpPr>
          <p:cNvPr id="49" name="Rectangle 48"/>
          <p:cNvSpPr/>
          <p:nvPr/>
        </p:nvSpPr>
        <p:spPr>
          <a:xfrm>
            <a:off x="7541800" y="4945986"/>
            <a:ext cx="16638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14213D"/>
                </a:solidFill>
                <a:latin typeface="Noto Sans JP"/>
                <a:ea typeface="Noto Sans JP"/>
                <a:cs typeface="Noto Sans JP"/>
              </a:rPr>
              <a:t>PAX業務との兼務・移動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13　本格運用までに確定が必要な事項 ―（2）休暇・休み</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休暇・休みリクエストの「受付方法」を決める</a:t>
            </a:r>
            <a:endParaRPr lang="en-US"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18</a:t>
            </a:r>
            <a:endParaRPr lang="en-US" sz="975" dirty="0"/>
          </a:p>
        </p:txBody>
      </p:sp>
      <p:sp>
        <p:nvSpPr>
          <p:cNvPr id="18" name="Rounded Rectangle 17"/>
          <p:cNvSpPr/>
          <p:nvPr/>
        </p:nvSpPr>
        <p:spPr>
          <a:xfrm>
            <a:off x="660400" y="2165986"/>
            <a:ext cx="3665220" cy="2521903"/>
          </a:xfrm>
          <a:prstGeom prst="roundRect">
            <a:avLst>
              <a:gd name="adj" fmla="val 2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8051" y="2413636"/>
            <a:ext cx="3170220" cy="1959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99" b="1">
                <a:solidFill>
                  <a:srgbClr val="F2A65A"/>
                </a:solidFill>
                <a:latin typeface="Noto Sans JP"/>
                <a:ea typeface="Noto Sans JP"/>
                <a:cs typeface="Noto Sans JP"/>
              </a:rPr>
              <a:t>現状</a:t>
            </a:r>
          </a:p>
        </p:txBody>
      </p:sp>
      <p:sp>
        <p:nvSpPr>
          <p:cNvPr id="20" name="Rectangle 19"/>
          <p:cNvSpPr/>
          <p:nvPr/>
        </p:nvSpPr>
        <p:spPr>
          <a:xfrm>
            <a:off x="908051" y="2725986"/>
            <a:ext cx="3170220" cy="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2200" b="1">
                <a:solidFill>
                  <a:srgbClr val="F6F7F4"/>
                </a:solidFill>
                <a:latin typeface="Noto Sans JP"/>
                <a:ea typeface="Noto Sans JP"/>
                <a:cs typeface="Noto Sans JP"/>
              </a:rPr>
              <a:t>区分は定義済み</a:t>
            </a:r>
          </a:p>
        </p:txBody>
      </p:sp>
      <p:sp>
        <p:nvSpPr>
          <p:cNvPr id="21" name="Rectangle 20"/>
          <p:cNvSpPr/>
          <p:nvPr/>
        </p:nvSpPr>
        <p:spPr>
          <a:xfrm>
            <a:off x="908051" y="3285986"/>
            <a:ext cx="3170220" cy="4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050" b="0">
                <a:solidFill>
                  <a:srgbClr val="B8C4D6"/>
                </a:solidFill>
                <a:latin typeface="Noto Sans JP"/>
                <a:ea typeface="Noto Sans JP"/>
                <a:cs typeface="Noto Sans JP"/>
              </a:rPr>
              <a:t>有給休暇／公休希望（RQ）／例外公休申請</a:t>
            </a:r>
          </a:p>
        </p:txBody>
      </p:sp>
      <p:sp>
        <p:nvSpPr>
          <p:cNvPr id="22" name="Rounded Rectangle 21"/>
          <p:cNvSpPr/>
          <p:nvPr/>
        </p:nvSpPr>
        <p:spPr>
          <a:xfrm>
            <a:off x="908050" y="3874512"/>
            <a:ext cx="3169920" cy="565726"/>
          </a:xfrm>
          <a:prstGeom prst="roundRect">
            <a:avLst>
              <a:gd name="adj" fmla="val 6000"/>
            </a:avLst>
          </a:prstGeom>
          <a:solidFill>
            <a:srgbClr val="2232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1238" y="3874512"/>
            <a:ext cx="3052451" cy="5657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1">
                <a:solidFill>
                  <a:srgbClr val="F6F7F4"/>
                </a:solidFill>
                <a:latin typeface="Noto Sans JP"/>
                <a:ea typeface="Noto Sans JP"/>
                <a:cs typeface="Noto Sans JP"/>
              </a:rPr>
              <a:t>受付の手段・窓口・流れは未決定</a:t>
            </a:r>
          </a:p>
        </p:txBody>
      </p:sp>
      <p:sp>
        <p:nvSpPr>
          <p:cNvPr id="24" name="Rectangle 23"/>
          <p:cNvSpPr/>
          <p:nvPr/>
        </p:nvSpPr>
        <p:spPr>
          <a:xfrm>
            <a:off x="4490720" y="2165986"/>
            <a:ext cx="4897527" cy="1353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877" b="1">
                <a:solidFill>
                  <a:srgbClr val="14213D"/>
                </a:solidFill>
                <a:latin typeface="Noto Sans JP"/>
                <a:ea typeface="Noto Sans JP"/>
                <a:cs typeface="Noto Sans JP"/>
              </a:rPr>
              <a:t>決める事項</a:t>
            </a:r>
          </a:p>
        </p:txBody>
      </p:sp>
      <p:sp>
        <p:nvSpPr>
          <p:cNvPr id="25" name="Rounded Rectangle 24"/>
          <p:cNvSpPr/>
          <p:nvPr/>
        </p:nvSpPr>
        <p:spPr>
          <a:xfrm>
            <a:off x="4493300" y="2365783"/>
            <a:ext cx="4749721"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3"/>
          <a:stretch>
            <a:fillRect/>
          </a:stretch>
        </p:blipFill>
        <p:spPr>
          <a:xfrm>
            <a:off x="4618673" y="2440012"/>
            <a:ext cx="165100" cy="165100"/>
          </a:xfrm>
          <a:prstGeom prst="rect">
            <a:avLst/>
          </a:prstGeom>
        </p:spPr>
      </p:pic>
      <p:sp>
        <p:nvSpPr>
          <p:cNvPr id="27" name="Rectangle 26"/>
          <p:cNvSpPr/>
          <p:nvPr/>
        </p:nvSpPr>
        <p:spPr>
          <a:xfrm>
            <a:off x="4866323" y="2365783"/>
            <a:ext cx="43000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0">
                <a:solidFill>
                  <a:srgbClr val="14213D"/>
                </a:solidFill>
                <a:latin typeface="Noto Sans JP"/>
                <a:ea typeface="Noto Sans JP"/>
                <a:cs typeface="Noto Sans JP"/>
              </a:rPr>
              <a:t>申請手段（システム入力／フォーム／紙）</a:t>
            </a:r>
          </a:p>
        </p:txBody>
      </p:sp>
      <p:sp>
        <p:nvSpPr>
          <p:cNvPr id="28" name="Rounded Rectangle 27"/>
          <p:cNvSpPr/>
          <p:nvPr/>
        </p:nvSpPr>
        <p:spPr>
          <a:xfrm>
            <a:off x="4493300" y="2766990"/>
            <a:ext cx="4749721"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3"/>
          <a:stretch>
            <a:fillRect/>
          </a:stretch>
        </p:blipFill>
        <p:spPr>
          <a:xfrm>
            <a:off x="4618673" y="2841219"/>
            <a:ext cx="165100" cy="165100"/>
          </a:xfrm>
          <a:prstGeom prst="rect">
            <a:avLst/>
          </a:prstGeom>
        </p:spPr>
      </p:pic>
      <p:sp>
        <p:nvSpPr>
          <p:cNvPr id="30" name="Rectangle 29"/>
          <p:cNvSpPr/>
          <p:nvPr/>
        </p:nvSpPr>
        <p:spPr>
          <a:xfrm>
            <a:off x="4866323" y="2766990"/>
            <a:ext cx="43000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0">
                <a:solidFill>
                  <a:srgbClr val="14213D"/>
                </a:solidFill>
                <a:latin typeface="Noto Sans JP"/>
                <a:ea typeface="Noto Sans JP"/>
                <a:cs typeface="Noto Sans JP"/>
              </a:rPr>
              <a:t>受付窓口（所属長／シフト担当）</a:t>
            </a:r>
          </a:p>
        </p:txBody>
      </p:sp>
      <p:sp>
        <p:nvSpPr>
          <p:cNvPr id="31" name="Rounded Rectangle 30"/>
          <p:cNvSpPr/>
          <p:nvPr/>
        </p:nvSpPr>
        <p:spPr>
          <a:xfrm>
            <a:off x="4493300" y="3168197"/>
            <a:ext cx="4749721"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3"/>
          <a:stretch>
            <a:fillRect/>
          </a:stretch>
        </p:blipFill>
        <p:spPr>
          <a:xfrm>
            <a:off x="4618673" y="3242426"/>
            <a:ext cx="165100" cy="165100"/>
          </a:xfrm>
          <a:prstGeom prst="rect">
            <a:avLst/>
          </a:prstGeom>
        </p:spPr>
      </p:pic>
      <p:sp>
        <p:nvSpPr>
          <p:cNvPr id="33" name="Rectangle 32"/>
          <p:cNvSpPr/>
          <p:nvPr/>
        </p:nvSpPr>
        <p:spPr>
          <a:xfrm>
            <a:off x="4866323" y="3168197"/>
            <a:ext cx="43000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0">
                <a:solidFill>
                  <a:srgbClr val="14213D"/>
                </a:solidFill>
                <a:latin typeface="Noto Sans JP"/>
                <a:ea typeface="Noto Sans JP"/>
                <a:cs typeface="Noto Sans JP"/>
              </a:rPr>
              <a:t>申請様式・理由区分（例外公休）</a:t>
            </a:r>
          </a:p>
        </p:txBody>
      </p:sp>
      <p:sp>
        <p:nvSpPr>
          <p:cNvPr id="34" name="Rounded Rectangle 33"/>
          <p:cNvSpPr/>
          <p:nvPr/>
        </p:nvSpPr>
        <p:spPr>
          <a:xfrm>
            <a:off x="4493300" y="3569404"/>
            <a:ext cx="4749721"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3"/>
          <a:stretch>
            <a:fillRect/>
          </a:stretch>
        </p:blipFill>
        <p:spPr>
          <a:xfrm>
            <a:off x="4618673" y="3643633"/>
            <a:ext cx="165100" cy="165100"/>
          </a:xfrm>
          <a:prstGeom prst="rect">
            <a:avLst/>
          </a:prstGeom>
        </p:spPr>
      </p:pic>
      <p:sp>
        <p:nvSpPr>
          <p:cNvPr id="36" name="Rectangle 35"/>
          <p:cNvSpPr/>
          <p:nvPr/>
        </p:nvSpPr>
        <p:spPr>
          <a:xfrm>
            <a:off x="4866323" y="3569404"/>
            <a:ext cx="43000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0">
                <a:solidFill>
                  <a:srgbClr val="14213D"/>
                </a:solidFill>
                <a:latin typeface="Noto Sans JP"/>
                <a:ea typeface="Noto Sans JP"/>
                <a:cs typeface="Noto Sans JP"/>
              </a:rPr>
              <a:t>締切後・FINAL後の申請の扱い</a:t>
            </a:r>
          </a:p>
        </p:txBody>
      </p:sp>
      <p:sp>
        <p:nvSpPr>
          <p:cNvPr id="37" name="Rounded Rectangle 36"/>
          <p:cNvSpPr/>
          <p:nvPr/>
        </p:nvSpPr>
        <p:spPr>
          <a:xfrm>
            <a:off x="4493300" y="3970611"/>
            <a:ext cx="4749721"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3"/>
          <a:stretch>
            <a:fillRect/>
          </a:stretch>
        </p:blipFill>
        <p:spPr>
          <a:xfrm>
            <a:off x="4618673" y="4044840"/>
            <a:ext cx="165100" cy="165100"/>
          </a:xfrm>
          <a:prstGeom prst="rect">
            <a:avLst/>
          </a:prstGeom>
        </p:spPr>
      </p:pic>
      <p:sp>
        <p:nvSpPr>
          <p:cNvPr id="39" name="Rectangle 38"/>
          <p:cNvSpPr/>
          <p:nvPr/>
        </p:nvSpPr>
        <p:spPr>
          <a:xfrm>
            <a:off x="4866323" y="3970611"/>
            <a:ext cx="43000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0">
                <a:solidFill>
                  <a:srgbClr val="14213D"/>
                </a:solidFill>
                <a:latin typeface="Noto Sans JP"/>
                <a:ea typeface="Noto Sans JP"/>
                <a:cs typeface="Noto Sans JP"/>
              </a:rPr>
              <a:t>承認結果の本人への通知方法</a:t>
            </a:r>
          </a:p>
        </p:txBody>
      </p:sp>
      <p:sp>
        <p:nvSpPr>
          <p:cNvPr id="40" name="Rounded Rectangle 39"/>
          <p:cNvSpPr/>
          <p:nvPr/>
        </p:nvSpPr>
        <p:spPr>
          <a:xfrm>
            <a:off x="4493300" y="4371818"/>
            <a:ext cx="4749721" cy="313497"/>
          </a:xfrm>
          <a:prstGeom prst="roundRect">
            <a:avLst>
              <a:gd name="adj" fmla="val 60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3"/>
          <a:stretch>
            <a:fillRect/>
          </a:stretch>
        </p:blipFill>
        <p:spPr>
          <a:xfrm>
            <a:off x="4618673" y="4446047"/>
            <a:ext cx="165100" cy="165100"/>
          </a:xfrm>
          <a:prstGeom prst="rect">
            <a:avLst/>
          </a:prstGeom>
        </p:spPr>
      </p:pic>
      <p:sp>
        <p:nvSpPr>
          <p:cNvPr id="42" name="Rectangle 41"/>
          <p:cNvSpPr/>
          <p:nvPr/>
        </p:nvSpPr>
        <p:spPr>
          <a:xfrm>
            <a:off x="4866323" y="4371818"/>
            <a:ext cx="4300000" cy="313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0">
                <a:solidFill>
                  <a:srgbClr val="14213D"/>
                </a:solidFill>
                <a:latin typeface="Noto Sans JP"/>
                <a:ea typeface="Noto Sans JP"/>
                <a:cs typeface="Noto Sans JP"/>
              </a:rPr>
              <a:t>試行（11/15締切）での暫定ルール</a:t>
            </a:r>
          </a:p>
        </p:txBody>
      </p:sp>
      <p:sp>
        <p:nvSpPr>
          <p:cNvPr id="43" name="Rectangle 42"/>
          <p:cNvSpPr/>
          <p:nvPr/>
        </p:nvSpPr>
        <p:spPr>
          <a:xfrm>
            <a:off x="660400" y="4935538"/>
            <a:ext cx="8585200" cy="454025"/>
          </a:xfrm>
          <a:prstGeom prst="rect">
            <a:avLst/>
          </a:prstGeom>
          <a:solidFill>
            <a:srgbClr val="FBE9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4"/>
          <a:stretch>
            <a:fillRect/>
          </a:stretch>
        </p:blipFill>
        <p:spPr>
          <a:xfrm>
            <a:off x="866775" y="5059363"/>
            <a:ext cx="206375" cy="206375"/>
          </a:xfrm>
          <a:prstGeom prst="rect">
            <a:avLst/>
          </a:prstGeom>
        </p:spPr>
      </p:pic>
      <p:sp>
        <p:nvSpPr>
          <p:cNvPr id="45" name="Rectangle 44"/>
          <p:cNvSpPr/>
          <p:nvPr/>
        </p:nvSpPr>
        <p:spPr>
          <a:xfrm>
            <a:off x="1176338" y="4935538"/>
            <a:ext cx="7985200" cy="45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1">
                <a:solidFill>
                  <a:srgbClr val="14213D"/>
                </a:solidFill>
                <a:latin typeface="Noto Sans JP"/>
                <a:ea typeface="Noto Sans JP"/>
                <a:cs typeface="Noto Sans JP"/>
              </a:rPr>
              <a:t>試行の申請締切（11/15）までに、少なくとも暫定の受付方法を周知する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13　本格運用までに確定が必要な事項 ―（3）OJT</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OJTを組むには、トレーナーと必要回数の定義が前提</a:t>
            </a:r>
            <a:endParaRPr lang="en-US"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19</a:t>
            </a:r>
            <a:endParaRPr lang="en-US" sz="975" dirty="0"/>
          </a:p>
        </p:txBody>
      </p:sp>
      <p:sp>
        <p:nvSpPr>
          <p:cNvPr id="18" name="Rectangle 17"/>
          <p:cNvSpPr/>
          <p:nvPr/>
        </p:nvSpPr>
        <p:spPr>
          <a:xfrm>
            <a:off x="660400" y="2165986"/>
            <a:ext cx="4600000"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877" b="1">
                <a:solidFill>
                  <a:srgbClr val="14213D"/>
                </a:solidFill>
                <a:latin typeface="Noto Sans JP"/>
                <a:ea typeface="Noto Sans JP"/>
                <a:cs typeface="Noto Sans JP"/>
              </a:rPr>
              <a:t>事前に定義・収集すること</a:t>
            </a:r>
          </a:p>
        </p:txBody>
      </p:sp>
      <p:sp>
        <p:nvSpPr>
          <p:cNvPr id="19" name="Rounded Rectangle 18"/>
          <p:cNvSpPr/>
          <p:nvPr/>
        </p:nvSpPr>
        <p:spPr>
          <a:xfrm>
            <a:off x="660400" y="2395986"/>
            <a:ext cx="4600000" cy="740000"/>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0400" y="2545986"/>
            <a:ext cx="450000" cy="4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800" b="1">
                <a:solidFill>
                  <a:srgbClr val="B4530F"/>
                </a:solidFill>
                <a:latin typeface="Noto Sans JP"/>
                <a:ea typeface="Noto Sans JP"/>
                <a:cs typeface="Noto Sans JP"/>
              </a:rPr>
              <a:t>01</a:t>
            </a:r>
          </a:p>
        </p:txBody>
      </p:sp>
      <p:sp>
        <p:nvSpPr>
          <p:cNvPr id="21" name="Rectangle 20"/>
          <p:cNvSpPr/>
          <p:nvPr/>
        </p:nvSpPr>
        <p:spPr>
          <a:xfrm>
            <a:off x="1410400" y="2525986"/>
            <a:ext cx="37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50" b="1">
                <a:solidFill>
                  <a:srgbClr val="14213D"/>
                </a:solidFill>
                <a:latin typeface="Noto Sans JP"/>
                <a:ea typeface="Noto Sans JP"/>
                <a:cs typeface="Noto Sans JP"/>
              </a:rPr>
              <a:t>トレーナー資格者の明確化</a:t>
            </a:r>
          </a:p>
        </p:txBody>
      </p:sp>
      <p:sp>
        <p:nvSpPr>
          <p:cNvPr id="22" name="Rectangle 21"/>
          <p:cNvSpPr/>
          <p:nvPr/>
        </p:nvSpPr>
        <p:spPr>
          <a:xfrm>
            <a:off x="1410400" y="2815986"/>
            <a:ext cx="37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050" b="0">
                <a:solidFill>
                  <a:srgbClr val="4A5568"/>
                </a:solidFill>
                <a:latin typeface="Noto Sans JP"/>
                <a:ea typeface="Noto Sans JP"/>
                <a:cs typeface="Noto Sans JP"/>
              </a:rPr>
              <a:t>ポジションごとに、誰が先生として立てるか</a:t>
            </a:r>
          </a:p>
        </p:txBody>
      </p:sp>
      <p:sp>
        <p:nvSpPr>
          <p:cNvPr id="23" name="Rounded Rectangle 22"/>
          <p:cNvSpPr/>
          <p:nvPr/>
        </p:nvSpPr>
        <p:spPr>
          <a:xfrm>
            <a:off x="660400" y="3235986"/>
            <a:ext cx="4600000" cy="740000"/>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0400" y="3385986"/>
            <a:ext cx="450000" cy="4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800" b="1">
                <a:solidFill>
                  <a:srgbClr val="B4530F"/>
                </a:solidFill>
                <a:latin typeface="Noto Sans JP"/>
                <a:ea typeface="Noto Sans JP"/>
                <a:cs typeface="Noto Sans JP"/>
              </a:rPr>
              <a:t>02</a:t>
            </a:r>
          </a:p>
        </p:txBody>
      </p:sp>
      <p:sp>
        <p:nvSpPr>
          <p:cNvPr id="25" name="Rectangle 24"/>
          <p:cNvSpPr/>
          <p:nvPr/>
        </p:nvSpPr>
        <p:spPr>
          <a:xfrm>
            <a:off x="1410400" y="3365986"/>
            <a:ext cx="37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50" b="1">
                <a:solidFill>
                  <a:srgbClr val="14213D"/>
                </a:solidFill>
                <a:latin typeface="Noto Sans JP"/>
                <a:ea typeface="Noto Sans JP"/>
                <a:cs typeface="Noto Sans JP"/>
              </a:rPr>
              <a:t>ポジション別のOJT必要回数</a:t>
            </a:r>
          </a:p>
        </p:txBody>
      </p:sp>
      <p:sp>
        <p:nvSpPr>
          <p:cNvPr id="26" name="Rectangle 25"/>
          <p:cNvSpPr/>
          <p:nvPr/>
        </p:nvSpPr>
        <p:spPr>
          <a:xfrm>
            <a:off x="1410400" y="3655986"/>
            <a:ext cx="37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050" b="0">
                <a:solidFill>
                  <a:srgbClr val="4A5568"/>
                </a:solidFill>
                <a:latin typeface="Noto Sans JP"/>
                <a:ea typeface="Noto Sans JP"/>
                <a:cs typeface="Noto Sans JP"/>
              </a:rPr>
              <a:t>回数と修了（独り立ち）の基準</a:t>
            </a:r>
          </a:p>
        </p:txBody>
      </p:sp>
      <p:sp>
        <p:nvSpPr>
          <p:cNvPr id="27" name="Rounded Rectangle 26"/>
          <p:cNvSpPr/>
          <p:nvPr/>
        </p:nvSpPr>
        <p:spPr>
          <a:xfrm>
            <a:off x="660400" y="4075986"/>
            <a:ext cx="4600000" cy="740000"/>
          </a:xfrm>
          <a:prstGeom prst="roundRect">
            <a:avLst>
              <a:gd name="adj" fmla="val 2500"/>
            </a:avLst>
          </a:prstGeom>
          <a:solidFill>
            <a:srgbClr val="FDFDFB"/>
          </a:solidFill>
          <a:ln w="6350">
            <a:solidFill>
              <a:srgbClr val="D9D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0400" y="4225986"/>
            <a:ext cx="450000" cy="4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800" b="1">
                <a:solidFill>
                  <a:srgbClr val="B4530F"/>
                </a:solidFill>
                <a:latin typeface="Noto Sans JP"/>
                <a:ea typeface="Noto Sans JP"/>
                <a:cs typeface="Noto Sans JP"/>
              </a:rPr>
              <a:t>03</a:t>
            </a:r>
          </a:p>
        </p:txBody>
      </p:sp>
      <p:sp>
        <p:nvSpPr>
          <p:cNvPr id="29" name="Rectangle 28"/>
          <p:cNvSpPr/>
          <p:nvPr/>
        </p:nvSpPr>
        <p:spPr>
          <a:xfrm>
            <a:off x="1410400" y="4205986"/>
            <a:ext cx="37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50" b="1">
                <a:solidFill>
                  <a:srgbClr val="14213D"/>
                </a:solidFill>
                <a:latin typeface="Noto Sans JP"/>
                <a:ea typeface="Noto Sans JP"/>
                <a:cs typeface="Noto Sans JP"/>
              </a:rPr>
              <a:t>次タームのOJT計画</a:t>
            </a:r>
          </a:p>
        </p:txBody>
      </p:sp>
      <p:sp>
        <p:nvSpPr>
          <p:cNvPr id="30" name="Rectangle 29"/>
          <p:cNvSpPr/>
          <p:nvPr/>
        </p:nvSpPr>
        <p:spPr>
          <a:xfrm>
            <a:off x="1410400" y="4495986"/>
            <a:ext cx="3700000" cy="2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050" b="0">
                <a:solidFill>
                  <a:srgbClr val="4A5568"/>
                </a:solidFill>
                <a:latin typeface="Noto Sans JP"/>
                <a:ea typeface="Noto Sans JP"/>
                <a:cs typeface="Noto Sans JP"/>
              </a:rPr>
              <a:t>誰に・どのアサインのOJTを行いたいか</a:t>
            </a:r>
          </a:p>
        </p:txBody>
      </p:sp>
      <p:sp>
        <p:nvSpPr>
          <p:cNvPr id="31" name="Rounded Rectangle 30"/>
          <p:cNvSpPr/>
          <p:nvPr/>
        </p:nvSpPr>
        <p:spPr>
          <a:xfrm>
            <a:off x="5510400" y="2395986"/>
            <a:ext cx="3735200" cy="2420000"/>
          </a:xfrm>
          <a:prstGeom prst="roundRect">
            <a:avLst>
              <a:gd name="adj" fmla="val 2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730400" y="2595986"/>
            <a:ext cx="3295200" cy="2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999" b="1">
                <a:solidFill>
                  <a:srgbClr val="F2A65A"/>
                </a:solidFill>
                <a:latin typeface="Noto Sans JP"/>
                <a:ea typeface="Noto Sans JP"/>
                <a:cs typeface="Noto Sans JP"/>
              </a:rPr>
              <a:t>リスク</a:t>
            </a:r>
          </a:p>
        </p:txBody>
      </p:sp>
      <p:sp>
        <p:nvSpPr>
          <p:cNvPr id="33" name="Rectangle 32"/>
          <p:cNvSpPr/>
          <p:nvPr/>
        </p:nvSpPr>
        <p:spPr>
          <a:xfrm>
            <a:off x="5730400" y="2865986"/>
            <a:ext cx="3295200" cy="8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2100"/>
              </a:lnSpc>
            </a:pPr>
            <a:r>
              <a:rPr sz="1400" b="1">
                <a:solidFill>
                  <a:srgbClr val="F6F7F4"/>
                </a:solidFill>
                <a:latin typeface="Noto Sans JP"/>
                <a:ea typeface="Noto Sans JP"/>
                <a:cs typeface="Noto Sans JP"/>
              </a:rPr>
              <a:t>CKINの資格があれば、誰でもトレーナーとしてアサインされうる</a:t>
            </a:r>
          </a:p>
        </p:txBody>
      </p:sp>
      <p:sp>
        <p:nvSpPr>
          <p:cNvPr id="34" name="Rectangle 33"/>
          <p:cNvSpPr/>
          <p:nvPr/>
        </p:nvSpPr>
        <p:spPr>
          <a:xfrm>
            <a:off x="5730400" y="3725986"/>
            <a:ext cx="3295200" cy="4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ts val="1500"/>
              </a:lnSpc>
            </a:pPr>
            <a:r>
              <a:rPr sz="1050" b="0">
                <a:solidFill>
                  <a:srgbClr val="B8C4D6"/>
                </a:solidFill>
                <a:latin typeface="Noto Sans JP"/>
                <a:ea typeface="Noto Sans JP"/>
                <a:cs typeface="Noto Sans JP"/>
              </a:rPr>
              <a:t>システムは「SKILLあり」と「教えられる」を区別できない</a:t>
            </a:r>
          </a:p>
        </p:txBody>
      </p:sp>
      <p:sp>
        <p:nvSpPr>
          <p:cNvPr id="35" name="Rounded Rectangle 34"/>
          <p:cNvSpPr/>
          <p:nvPr/>
        </p:nvSpPr>
        <p:spPr>
          <a:xfrm>
            <a:off x="5730400" y="4195986"/>
            <a:ext cx="3295200" cy="450000"/>
          </a:xfrm>
          <a:prstGeom prst="roundRect">
            <a:avLst>
              <a:gd name="adj" fmla="val 6000"/>
            </a:avLst>
          </a:prstGeom>
          <a:solidFill>
            <a:srgbClr val="2232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30400" y="4195986"/>
            <a:ext cx="3095200" cy="4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ts val="1300"/>
              </a:lnSpc>
            </a:pPr>
            <a:r>
              <a:rPr sz="975" b="0">
                <a:solidFill>
                  <a:srgbClr val="F6F7F4"/>
                </a:solidFill>
                <a:latin typeface="Noto Sans JP"/>
                <a:ea typeface="Noto Sans JP"/>
                <a:cs typeface="Noto Sans JP"/>
              </a:rPr>
              <a:t>例外：CA／ZHの資格表のようにTrainerが明記されている場合</a:t>
            </a:r>
          </a:p>
        </p:txBody>
      </p:sp>
      <p:sp>
        <p:nvSpPr>
          <p:cNvPr id="37" name="Rectangle 36"/>
          <p:cNvSpPr/>
          <p:nvPr/>
        </p:nvSpPr>
        <p:spPr>
          <a:xfrm>
            <a:off x="660400" y="4935538"/>
            <a:ext cx="8585200" cy="454025"/>
          </a:xfrm>
          <a:prstGeom prst="rect">
            <a:avLst/>
          </a:prstGeom>
          <a:solidFill>
            <a:srgbClr val="FBE9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3"/>
          <a:stretch>
            <a:fillRect/>
          </a:stretch>
        </p:blipFill>
        <p:spPr>
          <a:xfrm>
            <a:off x="866775" y="5059363"/>
            <a:ext cx="206375" cy="206375"/>
          </a:xfrm>
          <a:prstGeom prst="rect">
            <a:avLst/>
          </a:prstGeom>
        </p:spPr>
      </p:pic>
      <p:sp>
        <p:nvSpPr>
          <p:cNvPr id="39" name="Rectangle 38"/>
          <p:cNvSpPr/>
          <p:nvPr/>
        </p:nvSpPr>
        <p:spPr>
          <a:xfrm>
            <a:off x="1176338" y="4935538"/>
            <a:ext cx="7985200" cy="45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1">
                <a:solidFill>
                  <a:srgbClr val="14213D"/>
                </a:solidFill>
                <a:latin typeface="Noto Sans JP"/>
                <a:ea typeface="Noto Sans JP"/>
                <a:cs typeface="Noto Sans JP"/>
              </a:rPr>
              <a:t>全ポジションの資格表に「Trainer」区分を設け、SKILL情報としてシステムに登録する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7F4"/>
        </a:solidFill>
        <a:effectLst/>
      </p:bgPr>
    </p:bg>
    <p:spTree>
      <p:nvGrpSpPr>
        <p:cNvPr id="1" name=""/>
        <p:cNvGrpSpPr/>
        <p:nvPr/>
      </p:nvGrpSpPr>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B4530F"/>
                </a:solidFill>
                <a:latin typeface="Noto Sans JP" pitchFamily="34" charset="0"/>
                <a:ea typeface="Noto Sans JP" pitchFamily="34" charset="-122"/>
                <a:cs typeface="Noto Sans JP" pitchFamily="34" charset="-120"/>
              </a:rPr>
              <a:t>13　本格運用までに確定が必要な事項 ― 情報収集リスト</a:t>
            </a:r>
            <a:endParaRPr lang="en-US" sz="975" dirty="0"/>
          </a:p>
        </p:txBody>
      </p:sp>
      <p:sp>
        <p:nvSpPr>
          <p:cNvPr id="3" name="Text 1"/>
          <p:cNvSpPr>
            <a:spLocks noGrp="1"/>
          </p:cNvSpPr>
          <p:nvPr>
            <p:ph type="title"/>
          </p:nvPr>
        </p:nvSpPr>
        <p:spPr>
          <a:xfrm>
            <a:off x="660400" y="1538606"/>
            <a:ext cx="8842756" cy="400368"/>
          </a:xfrm>
          <a:prstGeom prst="rect">
            <a:avLst/>
          </a:prstGeom>
          <a:noFill/>
          <a:ln/>
        </p:spPr>
        <p:txBody>
          <a:bodyPr wrap="square" lIns="0" tIns="0" rIns="0" bIns="0" rtlCol="0" anchor="t">
            <a:normAutofit/>
          </a:bodyPr>
          <a:lstStyle/>
          <a:p>
            <a:pPr>
              <a:lnSpc>
                <a:spcPts val="2990"/>
              </a:lnSpc>
            </a:pPr>
            <a:r>
              <a:rPr lang="en-US" b="1" dirty="0"/>
              <a:t>試行・本格運用に向けて収集する情報</a:t>
            </a:r>
            <a:endParaRPr lang="en-US" dirty="0"/>
          </a:p>
        </p:txBody>
      </p:sp>
      <p:sp>
        <p:nvSpPr>
          <p:cNvPr id="16" name="Text 14"/>
          <p:cNvSpPr/>
          <p:nvPr/>
        </p:nvSpPr>
        <p:spPr>
          <a:xfrm>
            <a:off x="660400" y="5711506"/>
            <a:ext cx="6376988" cy="193993"/>
          </a:xfrm>
          <a:prstGeom prst="rect">
            <a:avLst/>
          </a:prstGeom>
          <a:noFill/>
          <a:ln/>
        </p:spPr>
        <p:txBody>
          <a:bodyPr wrap="square" lIns="0" tIns="0" rIns="0" bIns="0" rtlCol="0" anchor="t">
            <a:normAutofit/>
          </a:bodyPr>
          <a:lstStyle/>
          <a:p>
            <a:pPr>
              <a:lnSpc>
                <a:spcPts val="1365"/>
              </a:lnSpc>
            </a:pPr>
            <a:r>
              <a:rPr lang="en-US" sz="975" dirty="0">
                <a:solidFill>
                  <a:srgbClr val="4A5568"/>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7" name="Text 15"/>
          <p:cNvSpPr/>
          <p:nvPr/>
        </p:nvSpPr>
        <p:spPr>
          <a:xfrm>
            <a:off x="8172450" y="5711506"/>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4A5568"/>
                </a:solidFill>
                <a:latin typeface="Noto Sans JP" pitchFamily="34" charset="0"/>
                <a:ea typeface="Noto Sans JP" pitchFamily="34" charset="-122"/>
                <a:cs typeface="Noto Sans JP" pitchFamily="34" charset="-120"/>
              </a:rPr>
              <a:t>20</a:t>
            </a:r>
            <a:endParaRPr lang="en-US" sz="975" dirty="0"/>
          </a:p>
        </p:txBody>
      </p:sp>
      <p:graphicFrame>
        <p:nvGraphicFramePr>
          <p:cNvPr id="18" name="Info table"/>
          <p:cNvGraphicFramePr>
            <a:graphicFrameLocks noGrp="1"/>
          </p:cNvGraphicFramePr>
          <p:nvPr/>
        </p:nvGraphicFramePr>
        <p:xfrm>
          <a:off x="668656" y="2165986"/>
          <a:ext cx="8570000" cy="2610000"/>
        </p:xfrm>
        <a:graphic>
          <a:graphicData uri="http://schemas.openxmlformats.org/drawingml/2006/table">
            <a:tbl>
              <a:tblPr/>
              <a:tblGrid>
                <a:gridCol w="780000"/>
                <a:gridCol w="1650000"/>
                <a:gridCol w="4150000"/>
                <a:gridCol w="1990000"/>
              </a:tblGrid>
              <a:tr h="290000">
                <a:tc>
                  <a:txBody>
                    <a:bodyPr wrap="square"/>
                    <a:lstStyle/>
                    <a:p>
                      <a:r>
                        <a:rPr sz="1050" b="1">
                          <a:solidFill>
                            <a:srgbClr val="F6F7F4"/>
                          </a:solidFill>
                          <a:latin typeface="Noto Sans JP"/>
                          <a:ea typeface="Noto Sans JP"/>
                          <a:cs typeface="Noto Sans JP"/>
                        </a:rPr>
                        <a:t>区分</a:t>
                      </a:r>
                    </a:p>
                  </a:txBody>
                  <a:tcPr marL="70000" marR="70000" marT="36000" marB="36000" anchor="ctr">
                    <a:lnL w="6350">
                      <a:solidFill>
                        <a:srgbClr val="14213D"/>
                      </a:solidFill>
                    </a:lnL>
                    <a:lnR w="6350">
                      <a:solidFill>
                        <a:srgbClr val="14213D"/>
                      </a:solidFill>
                    </a:lnR>
                    <a:lnT w="6350">
                      <a:solidFill>
                        <a:srgbClr val="14213D"/>
                      </a:solidFill>
                    </a:lnT>
                    <a:lnB w="6350">
                      <a:solidFill>
                        <a:srgbClr val="14213D"/>
                      </a:solidFill>
                    </a:lnB>
                    <a:solidFill>
                      <a:srgbClr val="14213D"/>
                    </a:solidFill>
                  </a:tcPr>
                </a:tc>
                <a:tc>
                  <a:txBody>
                    <a:bodyPr wrap="square"/>
                    <a:lstStyle/>
                    <a:p>
                      <a:r>
                        <a:rPr sz="1050" b="1">
                          <a:solidFill>
                            <a:srgbClr val="F6F7F4"/>
                          </a:solidFill>
                          <a:latin typeface="Noto Sans JP"/>
                          <a:ea typeface="Noto Sans JP"/>
                          <a:cs typeface="Noto Sans JP"/>
                        </a:rPr>
                        <a:t>項目</a:t>
                      </a:r>
                    </a:p>
                  </a:txBody>
                  <a:tcPr marL="70000" marR="70000" marT="36000" marB="36000" anchor="ctr">
                    <a:lnL w="6350">
                      <a:solidFill>
                        <a:srgbClr val="14213D"/>
                      </a:solidFill>
                    </a:lnL>
                    <a:lnR w="6350">
                      <a:solidFill>
                        <a:srgbClr val="14213D"/>
                      </a:solidFill>
                    </a:lnR>
                    <a:lnT w="6350">
                      <a:solidFill>
                        <a:srgbClr val="14213D"/>
                      </a:solidFill>
                    </a:lnT>
                    <a:lnB w="6350">
                      <a:solidFill>
                        <a:srgbClr val="14213D"/>
                      </a:solidFill>
                    </a:lnB>
                    <a:solidFill>
                      <a:srgbClr val="14213D"/>
                    </a:solidFill>
                  </a:tcPr>
                </a:tc>
                <a:tc>
                  <a:txBody>
                    <a:bodyPr wrap="square"/>
                    <a:lstStyle/>
                    <a:p>
                      <a:r>
                        <a:rPr sz="1050" b="1">
                          <a:solidFill>
                            <a:srgbClr val="F6F7F4"/>
                          </a:solidFill>
                          <a:latin typeface="Noto Sans JP"/>
                          <a:ea typeface="Noto Sans JP"/>
                          <a:cs typeface="Noto Sans JP"/>
                        </a:rPr>
                        <a:t>収集する内容</a:t>
                      </a:r>
                    </a:p>
                  </a:txBody>
                  <a:tcPr marL="70000" marR="70000" marT="36000" marB="36000" anchor="ctr">
                    <a:lnL w="6350">
                      <a:solidFill>
                        <a:srgbClr val="14213D"/>
                      </a:solidFill>
                    </a:lnL>
                    <a:lnR w="6350">
                      <a:solidFill>
                        <a:srgbClr val="14213D"/>
                      </a:solidFill>
                    </a:lnR>
                    <a:lnT w="6350">
                      <a:solidFill>
                        <a:srgbClr val="14213D"/>
                      </a:solidFill>
                    </a:lnT>
                    <a:lnB w="6350">
                      <a:solidFill>
                        <a:srgbClr val="14213D"/>
                      </a:solidFill>
                    </a:lnB>
                    <a:solidFill>
                      <a:srgbClr val="14213D"/>
                    </a:solidFill>
                  </a:tcPr>
                </a:tc>
                <a:tc>
                  <a:txBody>
                    <a:bodyPr wrap="square"/>
                    <a:lstStyle/>
                    <a:p>
                      <a:r>
                        <a:rPr sz="1050" b="1">
                          <a:solidFill>
                            <a:srgbClr val="F6F7F4"/>
                          </a:solidFill>
                          <a:latin typeface="Noto Sans JP"/>
                          <a:ea typeface="Noto Sans JP"/>
                          <a:cs typeface="Noto Sans JP"/>
                        </a:rPr>
                        <a:t>担当（案）</a:t>
                      </a:r>
                    </a:p>
                  </a:txBody>
                  <a:tcPr marL="70000" marR="70000" marT="36000" marB="36000" anchor="ctr">
                    <a:lnL w="6350">
                      <a:solidFill>
                        <a:srgbClr val="14213D"/>
                      </a:solidFill>
                    </a:lnL>
                    <a:lnR w="6350">
                      <a:solidFill>
                        <a:srgbClr val="14213D"/>
                      </a:solidFill>
                    </a:lnR>
                    <a:lnT w="6350">
                      <a:solidFill>
                        <a:srgbClr val="14213D"/>
                      </a:solidFill>
                    </a:lnT>
                    <a:lnB w="6350">
                      <a:solidFill>
                        <a:srgbClr val="14213D"/>
                      </a:solidFill>
                    </a:lnB>
                    <a:solidFill>
                      <a:srgbClr val="14213D"/>
                    </a:solidFill>
                  </a:tcPr>
                </a:tc>
              </a:tr>
              <a:tr h="290000">
                <a:tc>
                  <a:txBody>
                    <a:bodyPr wrap="square"/>
                    <a:lstStyle/>
                    <a:p>
                      <a:r>
                        <a:rPr sz="1050" b="1">
                          <a:solidFill>
                            <a:srgbClr val="14213D"/>
                          </a:solidFill>
                          <a:latin typeface="Noto Sans JP"/>
                          <a:ea typeface="Noto Sans JP"/>
                          <a:cs typeface="Noto Sans JP"/>
                        </a:rPr>
                        <a:t>線表</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アルキア航空</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運航スケジュール・業務内容・必要要員・必要SKILL</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所属長／各拠点</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線表</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KIOSK業務</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業務時間帯・必要要員・対応可能者</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所属長／各拠点</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線表</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ADD（UVS業務）</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HA VIPアシスト・ラウンジ業務等の時間帯・要員・SKILL</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所属長／各拠点</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線表</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PAX業務後の動き</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旅客業務終了後の移動・兼務の可否</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各拠点</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休暇</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受付方法</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申請手段・窓口・様式・通知方法</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所属長／シフト担当／人事</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OJT</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トレーナー資格</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ポジション別のトレーナー一覧（CA/ZH以外も）</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OJT</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必要回数</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ポジション別のOJT回数・修了基準</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r h="290000">
                <a:tc>
                  <a:txBody>
                    <a:bodyPr wrap="square"/>
                    <a:lstStyle/>
                    <a:p>
                      <a:r>
                        <a:rPr sz="1050" b="1">
                          <a:solidFill>
                            <a:srgbClr val="14213D"/>
                          </a:solidFill>
                          <a:latin typeface="Noto Sans JP"/>
                          <a:ea typeface="Noto Sans JP"/>
                          <a:cs typeface="Noto Sans JP"/>
                        </a:rPr>
                        <a:t>OJT</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次ターム計画</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誰に・どのアサインのOJTを行うか</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c>
                  <a:txBody>
                    <a:bodyPr wrap="square"/>
                    <a:lstStyle/>
                    <a:p>
                      <a:r>
                        <a:rPr sz="1050" b="0">
                          <a:solidFill>
                            <a:srgbClr val="4A5568"/>
                          </a:solidFill>
                          <a:latin typeface="Noto Sans JP"/>
                          <a:ea typeface="Noto Sans JP"/>
                          <a:cs typeface="Noto Sans JP"/>
                        </a:rPr>
                        <a:t>所属長</a:t>
                      </a:r>
                    </a:p>
                  </a:txBody>
                  <a:tcPr marL="70000" marR="70000" marT="36000" marB="36000" anchor="ctr">
                    <a:lnL w="6350">
                      <a:solidFill>
                        <a:srgbClr val="D9DDD3"/>
                      </a:solidFill>
                    </a:lnL>
                    <a:lnR w="6350">
                      <a:solidFill>
                        <a:srgbClr val="D9DDD3"/>
                      </a:solidFill>
                    </a:lnR>
                    <a:lnT w="6350">
                      <a:solidFill>
                        <a:srgbClr val="D9DDD3"/>
                      </a:solidFill>
                    </a:lnT>
                    <a:lnB w="6350">
                      <a:solidFill>
                        <a:srgbClr val="D9DDD3"/>
                      </a:solidFill>
                    </a:lnB>
                    <a:solidFill>
                      <a:srgbClr val="FDFDFB"/>
                    </a:solidFill>
                  </a:tcPr>
                </a:tc>
              </a:tr>
            </a:tbl>
          </a:graphicData>
        </a:graphic>
      </p:graphicFrame>
      <p:sp>
        <p:nvSpPr>
          <p:cNvPr id="19" name="Rectangle 18"/>
          <p:cNvSpPr/>
          <p:nvPr/>
        </p:nvSpPr>
        <p:spPr>
          <a:xfrm>
            <a:off x="660400" y="4935538"/>
            <a:ext cx="8585200" cy="454025"/>
          </a:xfrm>
          <a:prstGeom prst="rect">
            <a:avLst/>
          </a:prstGeom>
          <a:solidFill>
            <a:srgbClr val="FBE9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3"/>
          <a:stretch>
            <a:fillRect/>
          </a:stretch>
        </p:blipFill>
        <p:spPr>
          <a:xfrm>
            <a:off x="866775" y="5059363"/>
            <a:ext cx="206375" cy="206375"/>
          </a:xfrm>
          <a:prstGeom prst="rect">
            <a:avLst/>
          </a:prstGeom>
        </p:spPr>
      </p:pic>
      <p:sp>
        <p:nvSpPr>
          <p:cNvPr id="21" name="Rectangle 20"/>
          <p:cNvSpPr/>
          <p:nvPr/>
        </p:nvSpPr>
        <p:spPr>
          <a:xfrm>
            <a:off x="1176338" y="4935538"/>
            <a:ext cx="7985200" cy="45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38" b="1">
                <a:solidFill>
                  <a:srgbClr val="14213D"/>
                </a:solidFill>
                <a:latin typeface="Noto Sans JP"/>
                <a:ea typeface="Noto Sans JP"/>
                <a:cs typeface="Noto Sans JP"/>
              </a:rPr>
              <a:t>期限（案）：試行分は11/15までに暫定値で、本格初回分は12/15までに確定</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660400" y="1303337"/>
            <a:ext cx="8842756" cy="193993"/>
          </a:xfrm>
          <a:prstGeom prst="rect">
            <a:avLst/>
          </a:prstGeom>
          <a:noFill/>
          <a:ln/>
        </p:spPr>
        <p:txBody>
          <a:bodyPr wrap="square" lIns="0" tIns="0" rIns="0" bIns="0" rtlCol="0" anchor="t">
            <a:normAutofit/>
          </a:bodyPr>
          <a:lstStyle/>
          <a:p>
            <a:pPr>
              <a:lnSpc>
                <a:spcPts val="1365"/>
              </a:lnSpc>
            </a:pPr>
            <a:r>
              <a:rPr lang="en-US" sz="975" b="1" kern="0" spc="81" dirty="0">
                <a:solidFill>
                  <a:srgbClr val="F2A65A"/>
                </a:solidFill>
                <a:latin typeface="Noto Sans JP" pitchFamily="34" charset="0"/>
                <a:ea typeface="Noto Sans JP" pitchFamily="34" charset="-122"/>
                <a:cs typeface="Noto Sans JP" pitchFamily="34" charset="-120"/>
              </a:rPr>
              <a:t>14　運用上の基本原則</a:t>
            </a:r>
            <a:endParaRPr lang="en-US" sz="975" dirty="0"/>
          </a:p>
        </p:txBody>
      </p:sp>
      <p:sp>
        <p:nvSpPr>
          <p:cNvPr id="3" name="Text 1"/>
          <p:cNvSpPr>
            <a:spLocks noGrp="1"/>
          </p:cNvSpPr>
          <p:nvPr>
            <p:ph type="title"/>
          </p:nvPr>
        </p:nvSpPr>
        <p:spPr>
          <a:xfrm>
            <a:off x="660400" y="1538608"/>
            <a:ext cx="8842756" cy="879158"/>
          </a:xfrm>
          <a:prstGeom prst="rect">
            <a:avLst/>
          </a:prstGeom>
          <a:noFill/>
          <a:ln/>
        </p:spPr>
        <p:txBody>
          <a:bodyPr wrap="square" lIns="0" tIns="0" rIns="0" bIns="0" rtlCol="0" anchor="t">
            <a:normAutofit/>
          </a:bodyPr>
          <a:lstStyle/>
          <a:p>
            <a:pPr>
              <a:lnSpc>
                <a:spcPts val="3380"/>
              </a:lnSpc>
            </a:pPr>
            <a:r>
              <a:rPr lang="en-US" b="1" dirty="0">
                <a:solidFill>
                  <a:srgbClr val="F6F7F4"/>
                </a:solidFill>
              </a:rPr>
              <a:t>「誰が・いつ・何を確定するか」を明確にした上で、</a:t>
            </a:r>
            <a:endParaRPr lang="en-US" dirty="0"/>
          </a:p>
          <a:p>
            <a:pPr>
              <a:lnSpc>
                <a:spcPts val="3380"/>
              </a:lnSpc>
            </a:pPr>
            <a:r>
              <a:rPr lang="en-US" b="1" dirty="0">
                <a:solidFill>
                  <a:srgbClr val="F6F7F4"/>
                </a:solidFill>
              </a:rPr>
              <a:t>システムによるシフト作成を行う</a:t>
            </a:r>
            <a:endParaRPr lang="en-US" dirty="0"/>
          </a:p>
        </p:txBody>
      </p:sp>
      <p:sp>
        <p:nvSpPr>
          <p:cNvPr id="4" name="Shape 2"/>
          <p:cNvSpPr/>
          <p:nvPr/>
        </p:nvSpPr>
        <p:spPr>
          <a:xfrm>
            <a:off x="660400" y="2644775"/>
            <a:ext cx="4230688" cy="858520"/>
          </a:xfrm>
          <a:prstGeom prst="roundRect">
            <a:avLst>
              <a:gd name="adj" fmla="val 7212"/>
            </a:avLst>
          </a:prstGeom>
          <a:solidFill>
            <a:srgbClr val="F2A65A"/>
          </a:solidFill>
          <a:ln/>
        </p:spPr>
        <p:txBody>
          <a:bodyPr/>
          <a:lstStyle/>
          <a:p>
            <a:endParaRPr lang="ja-JP" altLang="en-US" sz="1463"/>
          </a:p>
        </p:txBody>
      </p:sp>
      <p:sp>
        <p:nvSpPr>
          <p:cNvPr id="5" name="Text 3"/>
          <p:cNvSpPr/>
          <p:nvPr/>
        </p:nvSpPr>
        <p:spPr>
          <a:xfrm>
            <a:off x="866775" y="2830512"/>
            <a:ext cx="3932476" cy="193993"/>
          </a:xfrm>
          <a:prstGeom prst="rect">
            <a:avLst/>
          </a:prstGeom>
          <a:noFill/>
          <a:ln/>
        </p:spPr>
        <p:txBody>
          <a:bodyPr wrap="square" lIns="0" tIns="0" rIns="0" bIns="0" rtlCol="0" anchor="t">
            <a:normAutofit/>
          </a:bodyPr>
          <a:lstStyle/>
          <a:p>
            <a:pPr>
              <a:lnSpc>
                <a:spcPts val="1365"/>
              </a:lnSpc>
            </a:pPr>
            <a:r>
              <a:rPr lang="en-US" sz="975" b="1" dirty="0">
                <a:solidFill>
                  <a:srgbClr val="14213D"/>
                </a:solidFill>
                <a:latin typeface="Noto Sans JP" pitchFamily="34" charset="0"/>
                <a:ea typeface="Noto Sans JP" pitchFamily="34" charset="-122"/>
                <a:cs typeface="Noto Sans JP" pitchFamily="34" charset="-120"/>
              </a:rPr>
              <a:t>各担当者</a:t>
            </a:r>
            <a:endParaRPr lang="en-US" sz="975" dirty="0"/>
          </a:p>
        </p:txBody>
      </p:sp>
      <p:sp>
        <p:nvSpPr>
          <p:cNvPr id="6" name="Text 4"/>
          <p:cNvSpPr/>
          <p:nvPr/>
        </p:nvSpPr>
        <p:spPr>
          <a:xfrm>
            <a:off x="866775" y="3086421"/>
            <a:ext cx="3932476" cy="251778"/>
          </a:xfrm>
          <a:prstGeom prst="rect">
            <a:avLst/>
          </a:prstGeom>
          <a:noFill/>
          <a:ln/>
        </p:spPr>
        <p:txBody>
          <a:bodyPr wrap="square" lIns="0" tIns="0" rIns="0" bIns="0" rtlCol="0" anchor="t">
            <a:normAutofit/>
          </a:bodyPr>
          <a:lstStyle/>
          <a:p>
            <a:pPr>
              <a:lnSpc>
                <a:spcPts val="1820"/>
              </a:lnSpc>
            </a:pPr>
            <a:r>
              <a:rPr lang="en-US" sz="1138" b="1" dirty="0">
                <a:solidFill>
                  <a:srgbClr val="14213D"/>
                </a:solidFill>
                <a:latin typeface="Noto Sans JP" pitchFamily="34" charset="0"/>
                <a:ea typeface="Noto Sans JP" pitchFamily="34" charset="-122"/>
                <a:cs typeface="Noto Sans JP" pitchFamily="34" charset="-120"/>
              </a:rPr>
              <a:t>所定の期限までに</a:t>
            </a:r>
            <a:r>
              <a:rPr lang="en-US" sz="1138" dirty="0">
                <a:solidFill>
                  <a:srgbClr val="14213D"/>
                </a:solidFill>
                <a:latin typeface="Noto Sans JP" pitchFamily="34" charset="0"/>
                <a:ea typeface="Noto Sans JP" pitchFamily="34" charset="-122"/>
                <a:cs typeface="Noto Sans JP" pitchFamily="34" charset="-120"/>
              </a:rPr>
              <a:t>必要情報を正確に更新・確認する</a:t>
            </a:r>
            <a:endParaRPr lang="en-US" sz="1138" dirty="0"/>
          </a:p>
        </p:txBody>
      </p:sp>
      <p:sp>
        <p:nvSpPr>
          <p:cNvPr id="7" name="Shape 5"/>
          <p:cNvSpPr/>
          <p:nvPr/>
        </p:nvSpPr>
        <p:spPr>
          <a:xfrm>
            <a:off x="5014912" y="2644775"/>
            <a:ext cx="4230688" cy="858520"/>
          </a:xfrm>
          <a:prstGeom prst="roundRect">
            <a:avLst>
              <a:gd name="adj" fmla="val 7212"/>
            </a:avLst>
          </a:prstGeom>
          <a:solidFill>
            <a:srgbClr val="22325A"/>
          </a:solidFill>
          <a:ln/>
        </p:spPr>
        <p:txBody>
          <a:bodyPr/>
          <a:lstStyle/>
          <a:p>
            <a:endParaRPr lang="ja-JP" altLang="en-US" sz="1463"/>
          </a:p>
        </p:txBody>
      </p:sp>
      <p:sp>
        <p:nvSpPr>
          <p:cNvPr id="8" name="Text 6"/>
          <p:cNvSpPr/>
          <p:nvPr/>
        </p:nvSpPr>
        <p:spPr>
          <a:xfrm>
            <a:off x="5221287" y="2830512"/>
            <a:ext cx="3932476" cy="193993"/>
          </a:xfrm>
          <a:prstGeom prst="rect">
            <a:avLst/>
          </a:prstGeom>
          <a:noFill/>
          <a:ln/>
        </p:spPr>
        <p:txBody>
          <a:bodyPr wrap="square" lIns="0" tIns="0" rIns="0" bIns="0" rtlCol="0" anchor="t">
            <a:normAutofit/>
          </a:bodyPr>
          <a:lstStyle/>
          <a:p>
            <a:pPr>
              <a:lnSpc>
                <a:spcPts val="1365"/>
              </a:lnSpc>
            </a:pPr>
            <a:r>
              <a:rPr lang="en-US" sz="975" b="1" dirty="0">
                <a:solidFill>
                  <a:srgbClr val="B8C4D6"/>
                </a:solidFill>
                <a:latin typeface="Noto Sans JP" pitchFamily="34" charset="0"/>
                <a:ea typeface="Noto Sans JP" pitchFamily="34" charset="-122"/>
                <a:cs typeface="Noto Sans JP" pitchFamily="34" charset="-120"/>
              </a:rPr>
              <a:t>システム</a:t>
            </a:r>
            <a:endParaRPr lang="en-US" sz="975" dirty="0"/>
          </a:p>
        </p:txBody>
      </p:sp>
      <p:sp>
        <p:nvSpPr>
          <p:cNvPr id="9" name="Text 7"/>
          <p:cNvSpPr/>
          <p:nvPr/>
        </p:nvSpPr>
        <p:spPr>
          <a:xfrm>
            <a:off x="5221287" y="3086421"/>
            <a:ext cx="3932476" cy="251778"/>
          </a:xfrm>
          <a:prstGeom prst="rect">
            <a:avLst/>
          </a:prstGeom>
          <a:noFill/>
          <a:ln/>
        </p:spPr>
        <p:txBody>
          <a:bodyPr wrap="square" lIns="0" tIns="0" rIns="0" bIns="0" rtlCol="0" anchor="t">
            <a:normAutofit/>
          </a:bodyPr>
          <a:lstStyle/>
          <a:p>
            <a:pPr>
              <a:lnSpc>
                <a:spcPts val="1820"/>
              </a:lnSpc>
            </a:pPr>
            <a:r>
              <a:rPr lang="en-US" sz="1138" dirty="0">
                <a:solidFill>
                  <a:srgbClr val="F6F7F4"/>
                </a:solidFill>
                <a:latin typeface="Noto Sans JP" pitchFamily="34" charset="0"/>
                <a:ea typeface="Noto Sans JP" pitchFamily="34" charset="-122"/>
                <a:cs typeface="Noto Sans JP" pitchFamily="34" charset="-120"/>
              </a:rPr>
              <a:t>その情報を基に、</a:t>
            </a:r>
            <a:r>
              <a:rPr lang="en-US" sz="1138" b="1" dirty="0">
                <a:solidFill>
                  <a:srgbClr val="F6F7F4"/>
                </a:solidFill>
                <a:latin typeface="Noto Sans JP" pitchFamily="34" charset="0"/>
                <a:ea typeface="Noto Sans JP" pitchFamily="34" charset="-122"/>
                <a:cs typeface="Noto Sans JP" pitchFamily="34" charset="-120"/>
              </a:rPr>
              <a:t>シフト作成を自動化する</a:t>
            </a:r>
            <a:endParaRPr lang="en-US" sz="1138" dirty="0"/>
          </a:p>
        </p:txBody>
      </p:sp>
      <p:sp>
        <p:nvSpPr>
          <p:cNvPr id="10" name="Text 8"/>
          <p:cNvSpPr/>
          <p:nvPr/>
        </p:nvSpPr>
        <p:spPr>
          <a:xfrm>
            <a:off x="660400" y="3750947"/>
            <a:ext cx="8842756" cy="511810"/>
          </a:xfrm>
          <a:prstGeom prst="rect">
            <a:avLst/>
          </a:prstGeom>
          <a:noFill/>
          <a:ln/>
        </p:spPr>
        <p:txBody>
          <a:bodyPr wrap="square" lIns="0" tIns="0" rIns="0" bIns="0" rtlCol="0" anchor="t">
            <a:normAutofit/>
          </a:bodyPr>
          <a:lstStyle/>
          <a:p>
            <a:pPr>
              <a:lnSpc>
                <a:spcPts val="1934"/>
              </a:lnSpc>
            </a:pPr>
            <a:r>
              <a:rPr lang="en-US" sz="1138" dirty="0">
                <a:solidFill>
                  <a:srgbClr val="B8C4D6"/>
                </a:solidFill>
                <a:latin typeface="Noto Sans JP" pitchFamily="34" charset="0"/>
                <a:ea typeface="Noto Sans JP" pitchFamily="34" charset="-122"/>
                <a:cs typeface="Noto Sans JP" pitchFamily="34" charset="-120"/>
              </a:rPr>
              <a:t>シフト管理システムは、確定された条件に基づきシフト作成を自動化するものであり、</a:t>
            </a:r>
            <a:r>
              <a:rPr lang="en-US" sz="1138" b="1" dirty="0">
                <a:solidFill>
                  <a:srgbClr val="F6F7F4"/>
                </a:solidFill>
                <a:latin typeface="Noto Sans JP" pitchFamily="34" charset="0"/>
                <a:ea typeface="Noto Sans JP" pitchFamily="34" charset="-122"/>
                <a:cs typeface="Noto Sans JP" pitchFamily="34" charset="-120"/>
              </a:rPr>
              <a:t>必要要員やSKILL等の業務上の判断そのものをシステムに委ねるものではない。</a:t>
            </a:r>
            <a:endParaRPr lang="en-US" sz="1138" dirty="0"/>
          </a:p>
        </p:txBody>
      </p:sp>
      <p:sp>
        <p:nvSpPr>
          <p:cNvPr id="11" name="Text 9"/>
          <p:cNvSpPr/>
          <p:nvPr/>
        </p:nvSpPr>
        <p:spPr>
          <a:xfrm>
            <a:off x="660400" y="5711509"/>
            <a:ext cx="6376988" cy="193993"/>
          </a:xfrm>
          <a:prstGeom prst="rect">
            <a:avLst/>
          </a:prstGeom>
          <a:noFill/>
          <a:ln/>
        </p:spPr>
        <p:txBody>
          <a:bodyPr wrap="square" lIns="0" tIns="0" rIns="0" bIns="0" rtlCol="0" anchor="t">
            <a:normAutofit/>
          </a:bodyPr>
          <a:lstStyle/>
          <a:p>
            <a:pPr>
              <a:lnSpc>
                <a:spcPts val="1365"/>
              </a:lnSpc>
            </a:pPr>
            <a:r>
              <a:rPr lang="en-US" sz="975" dirty="0">
                <a:solidFill>
                  <a:srgbClr val="B8C4D6"/>
                </a:solidFill>
                <a:latin typeface="Noto Sans JP" pitchFamily="34" charset="0"/>
                <a:ea typeface="Noto Sans JP" pitchFamily="34" charset="-122"/>
                <a:cs typeface="Noto Sans JP" pitchFamily="34" charset="-120"/>
              </a:rPr>
              <a:t>シフト管理システム 運用要項（案）</a:t>
            </a:r>
            <a:endParaRPr lang="en-US" sz="975" dirty="0"/>
          </a:p>
        </p:txBody>
      </p:sp>
      <p:sp>
        <p:nvSpPr>
          <p:cNvPr id="12" name="Text 10"/>
          <p:cNvSpPr/>
          <p:nvPr/>
        </p:nvSpPr>
        <p:spPr>
          <a:xfrm>
            <a:off x="8172450" y="5711509"/>
            <a:ext cx="1073150" cy="193993"/>
          </a:xfrm>
          <a:prstGeom prst="rect">
            <a:avLst/>
          </a:prstGeom>
          <a:noFill/>
          <a:ln/>
        </p:spPr>
        <p:txBody>
          <a:bodyPr wrap="square" lIns="0" tIns="0" rIns="0" bIns="0" rtlCol="0" anchor="t">
            <a:normAutofit/>
          </a:bodyPr>
          <a:lstStyle/>
          <a:p>
            <a:pPr algn="r">
              <a:lnSpc>
                <a:spcPts val="1365"/>
              </a:lnSpc>
            </a:pPr>
            <a:r>
              <a:rPr lang="en-US" sz="975" dirty="0">
                <a:solidFill>
                  <a:srgbClr val="B8C4D6"/>
                </a:solidFill>
                <a:latin typeface="Noto Sans JP" pitchFamily="34" charset="0"/>
                <a:ea typeface="Noto Sans JP" pitchFamily="34" charset="-122"/>
                <a:cs typeface="Noto Sans JP" pitchFamily="34" charset="-120"/>
              </a:rPr>
              <a:t>21</a:t>
            </a:r>
            <a:endParaRPr lang="en-US" sz="975" dirty="0"/>
          </a:p>
        </p:txBody>
      </p:sp>
    </p:spTree>
  </p:cSld>
  <p:clrMapOvr>
    <a:masterClrMapping/>
  </p:clrMapOvr>
</p:sld>
</file>

<file path=ppt/theme/theme1.xml><?xml version="1.0" encoding="utf-8"?>
<a:theme xmlns:a="http://schemas.openxmlformats.org/drawingml/2006/main" name="シフト管理システム 運用要項（案）">
  <a:themeElements>
    <a:clrScheme name="シフト管理システム 運用要項（案）">
      <a:dk1>
        <a:srgbClr val="14213D"/>
      </a:dk1>
      <a:lt1>
        <a:srgbClr val="F6F7F4"/>
      </a:lt1>
      <a:dk2>
        <a:srgbClr val="4D576B"/>
      </a:dk2>
      <a:lt2>
        <a:srgbClr val="DFE2E2"/>
      </a:lt2>
      <a:accent1>
        <a:srgbClr val="B4530F"/>
      </a:accent1>
      <a:accent2>
        <a:srgbClr val="F2A65A"/>
      </a:accent2>
      <a:accent3>
        <a:srgbClr val="22325A"/>
      </a:accent3>
      <a:accent4>
        <a:srgbClr val="4A5568"/>
      </a:accent4>
      <a:accent5>
        <a:srgbClr val="B8C4D6"/>
      </a:accent5>
      <a:accent6>
        <a:srgbClr val="FBE9D8"/>
      </a:accent6>
      <a:hlink>
        <a:srgbClr val="0563C1"/>
      </a:hlink>
      <a:folHlink>
        <a:srgbClr val="954F72"/>
      </a:folHlink>
    </a:clrScheme>
    <a:fontScheme name="シフト管理システム 運用要項（案）">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698</Words>
  <Application>Microsoft Office PowerPoint</Application>
  <PresentationFormat>A4 210 x 297 mm</PresentationFormat>
  <Paragraphs>248</Paragraphs>
  <Slides>14</Slides>
  <Notes>14</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14</vt:i4>
      </vt:variant>
    </vt:vector>
  </HeadingPairs>
  <TitlesOfParts>
    <vt:vector size="17" baseType="lpstr">
      <vt:lpstr>Noto Sans JP</vt:lpstr>
      <vt:lpstr>Arial</vt:lpstr>
      <vt:lpstr>シフト管理システム 運用要項（案）</vt:lpstr>
      <vt:lpstr>シフト管理システム 運用要項（案）</vt:lpstr>
      <vt:lpstr>本格運用は2027年1月16日勤務分から</vt:lpstr>
      <vt:lpstr>情報更新からシフト運用開始までの9ステップ</vt:lpstr>
      <vt:lpstr>休暇は3つの区分で取り扱う</vt:lpstr>
      <vt:lpstr>例外公休は所属長の承認を経て反映する</vt:lpstr>
      <vt:lpstr>作成前に、以下の情報を最新の状態にする</vt:lpstr>
      <vt:lpstr>条件をLOCKして自動作成し、確認・調整してDRAFTへ</vt:lpstr>
      <vt:lpstr>DRAFTは所属長によるSKILL・配置の確認用</vt:lpstr>
      <vt:lpstr>指摘事項を反映し、正式な勤務シフトを確定する</vt:lpstr>
      <vt:lpstr>FINAL後の変更は、やむを得ない事由に限定する</vt:lpstr>
      <vt:lpstr>6つの担当と主な役割</vt:lpstr>
      <vt:lpstr>初回：2027年1月16日～2月15日勤務分</vt:lpstr>
      <vt:lpstr>毎月のサイクル：15日締切 → 1日DRAFT → 8日FINAL → 16日運用開始</vt:lpstr>
      <vt:lpstr>「誰が・いつ・何を確定するか」を明確にした上で、 システムによるシフト作成を行う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シフト管理システム 運用要項（案）</dc:title>
  <dc:subject/>
  <dc:creator/>
  <cp:lastModifiedBy>ASAMI ENDO</cp:lastModifiedBy>
  <cp:revision>2</cp:revision>
  <cp:lastPrinted>2026-10-01T04:35:21Z</cp:lastPrinted>
  <dcterms:created xsi:type="dcterms:W3CDTF">2026-10-01T04:28:31Z</dcterms:created>
  <dcterms:modified xsi:type="dcterms:W3CDTF">2026-10-01T04:39:29Z</dcterms:modified>
</cp:coreProperties>
</file>