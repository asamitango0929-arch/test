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会社の原価改善施策として位置付ける重点プロジェクト。短時間勤務者を採用し、ピーク時間帯の人員を最適化することで人件費原価の改善を図る。対象は成田・新千歳の2空港、採用目標は合計20名。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目的は人件費原価の改善。短時間勤務者の採用でピーク帯人員を最適化する。全社の原価改善における重点プロジェクトとして推進する。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採用目標は成田空港10名、新千歳空港10名の合計20名。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統括：遠藤、プロジェクトリーダー：内山、実務担当：野澤、制度・労務担当：髙田部長、現場調整窓口：坂本。坂本は入社〜入社後のフォローとトラブル対応・現場調整の窓口を担う。実務は野澤を中心に運営し、内山が運営を管理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成田はバイトル（7/24〜8/30）。新千歳はバイトル（7/24〜8/30）とマイナビバイト（7/30〜9/2）の2媒体を併用する。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遠藤は全体統括・経営報告。内山は運営・調整・進捗管理。野澤はネオキャリア窓口や媒体・応募者・面接の実務全般。髙田部長は制度設計・労務・雇用条件・社会保険の確認。坂本は入社〜入社後のフォロー、現場調整の窓口、トラブル・相談対応、定着支援を担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面接は人事（内山・野澤）に現場管理職1名が必ず同席。成田はロシャン・古永MGR・佐藤いずみ・村上MGRのいずれか。新千歳は佐藤部長・山下さんのいずれか。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KPIは応募数・面接設定数・面接実施数・採用数・入社数のファネルで管理。加えて媒体別応募数と空港別進捗（成田・千歳）を集計する。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基本方針：実務は野澤が中心、運営管理は内山、全体統括・経営報告・課題解決は遠藤、制度・労務は髙田部長と連携。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ln w="19050">
            <a:solidFill>
              <a:srgbClr val="2240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4023360" cy="4023360"/>
          </a:xfrm>
          <a:prstGeom prst="ellipse">
            <a:avLst/>
          </a:prstGeom>
          <a:ln w="19050">
            <a:solidFill>
              <a:srgbClr val="2A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182880"/>
            <a:ext cx="2011680" cy="201168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 原価改善 重点プロジェクト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短時間勤務者採用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7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ピーク時間帯の人員最適化による人件費原価の改善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4754880" cy="0"/>
          </a:xfrm>
          <a:prstGeom prst="line">
            <a:avLst/>
          </a:prstGeom>
          <a:noFill/>
          <a:ln w="12700">
            <a:solidFill>
              <a:srgbClr val="3A5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対象拠点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成田空港 / 新千歳空港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715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採用目標 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 20名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A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PURPOSE  ─  目的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ピーク人員の最適化で人件費原価を改善する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4343400"/>
          </a:xfrm>
          <a:prstGeom prst="roundRect">
            <a:avLst>
              <a:gd name="adj" fmla="val 1684"/>
            </a:avLst>
          </a:prstGeom>
          <a:solidFill>
            <a:srgbClr val="1E3A66"/>
          </a:solidFill>
          <a:ln/>
          <a:effectLst>
            <a:outerShdw sx="100000" sy="100000" kx="0" ky="0" algn="bl" rotWithShape="0" blurRad="127000" dist="38100" dir="5400000">
              <a:srgbClr val="9AA7BC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プロジェクトの狙い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短時間勤務者を採用し、繁忙時間帯に人員を集中配置。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過剰・固定的な人件費を見直し、原価構造そのものを改善する。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3977640"/>
            <a:ext cx="5577840" cy="0"/>
          </a:xfrm>
          <a:prstGeom prst="line">
            <a:avLst/>
          </a:prstGeom>
          <a:noFill/>
          <a:ln w="12700">
            <a:solidFill>
              <a:srgbClr val="3A5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2062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DCE7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本プロジェクトは、会社の原価改善施策として位置付ける重点プロジェクトとする。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69480" y="1783080"/>
            <a:ext cx="4251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2075688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20756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66760" y="20025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人件費原価の改善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238658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固定的な人員配置を見直し、コスト構造を最適化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69480" y="3246120"/>
            <a:ext cx="4251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3538728"/>
            <a:ext cx="685800" cy="685800"/>
          </a:xfrm>
          <a:prstGeom prst="ellipse">
            <a:avLst/>
          </a:prstGeom>
          <a:solidFill>
            <a:srgbClr val="1FA67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3538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66760" y="34655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ピーク時間帯の最適化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8496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繁忙帯に合わせた柔軟な短時間シフトを構築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69480" y="4709160"/>
            <a:ext cx="4251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5001768"/>
            <a:ext cx="685800" cy="685800"/>
          </a:xfrm>
          <a:prstGeom prst="ellipse">
            <a:avLst/>
          </a:prstGeom>
          <a:solidFill>
            <a:srgbClr val="2E5A9C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50017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66760" y="49286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重点プロジェクト化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66760" y="531266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経営層報告のもと全社施策として推進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短時間勤務者採用プロジェクト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6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TARGET  ─  採用目標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2空港で合計20名を採用する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1E3A66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377440"/>
            <a:ext cx="50292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成田空港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</a:t>
            </a:r>
            <a:endParaRPr lang="en-US" sz="8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1E3A66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2377440"/>
            <a:ext cx="502920" cy="128016"/>
          </a:xfrm>
          <a:prstGeom prst="rect">
            <a:avLst/>
          </a:prstGeom>
          <a:solidFill>
            <a:srgbClr val="1FA67A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新千歳空港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29200" y="320040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0" b="1" dirty="0">
                <a:solidFill>
                  <a:srgbClr val="1FA6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</a:t>
            </a:r>
            <a:endParaRPr lang="en-US" sz="8600" dirty="0"/>
          </a:p>
        </p:txBody>
      </p:sp>
      <p:sp>
        <p:nvSpPr>
          <p:cNvPr id="12" name="Shape 10"/>
          <p:cNvSpPr/>
          <p:nvPr/>
        </p:nvSpPr>
        <p:spPr>
          <a:xfrm>
            <a:off x="8686800" y="196596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2396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採用目標 合計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0" y="32004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pPr algn="ctr"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繁忙時間帯の人員を短時間勤務で補完し、拠点ごとに10名ずつ採用する。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短時間勤務者採用プロジェクト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A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TEAM  ─  プロジェクト体制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5つの役割で推進体制を構築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6344" y="1828800"/>
            <a:ext cx="2112264" cy="397764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" y="1828800"/>
            <a:ext cx="2112264" cy="868680"/>
          </a:xfrm>
          <a:prstGeom prst="roundRect">
            <a:avLst>
              <a:gd name="adj" fmla="val 8421"/>
            </a:avLst>
          </a:prstGeom>
          <a:solidFill>
            <a:srgbClr val="1E3A66"/>
          </a:solidFill>
          <a:ln/>
        </p:spPr>
      </p:sp>
      <p:sp>
        <p:nvSpPr>
          <p:cNvPr id="6" name="Shape 4"/>
          <p:cNvSpPr/>
          <p:nvPr/>
        </p:nvSpPr>
        <p:spPr>
          <a:xfrm>
            <a:off x="466344" y="2331720"/>
            <a:ext cx="2112264" cy="365760"/>
          </a:xfrm>
          <a:prstGeom prst="rect">
            <a:avLst/>
          </a:prstGeom>
          <a:solidFill>
            <a:srgbClr val="1E3A66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8745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73836" y="2926080"/>
            <a:ext cx="1097280" cy="1097280"/>
          </a:xfrm>
          <a:prstGeom prst="ellipse">
            <a:avLst/>
          </a:prstGeom>
          <a:solidFill>
            <a:srgbClr val="F4F7FB"/>
          </a:solidFill>
          <a:ln w="25400">
            <a:solidFill>
              <a:srgbClr val="1E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3836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遠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57784" y="416052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遠藤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4984" y="4709160"/>
            <a:ext cx="1014984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484632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全体統括・経営報告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52344" y="1828800"/>
            <a:ext cx="2112264" cy="397764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C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52344" y="1828800"/>
            <a:ext cx="2112264" cy="868680"/>
          </a:xfrm>
          <a:prstGeom prst="roundRect">
            <a:avLst>
              <a:gd name="adj" fmla="val 8421"/>
            </a:avLst>
          </a:prstGeom>
          <a:solidFill>
            <a:srgbClr val="2E5A9C"/>
          </a:solidFill>
          <a:ln/>
        </p:spPr>
      </p:sp>
      <p:sp>
        <p:nvSpPr>
          <p:cNvPr id="15" name="Shape 13"/>
          <p:cNvSpPr/>
          <p:nvPr/>
        </p:nvSpPr>
        <p:spPr>
          <a:xfrm>
            <a:off x="2752344" y="2331720"/>
            <a:ext cx="2112264" cy="365760"/>
          </a:xfrm>
          <a:prstGeom prst="rect">
            <a:avLst/>
          </a:prstGeom>
          <a:solidFill>
            <a:srgbClr val="2E5A9C"/>
          </a:solidFill>
          <a:ln/>
        </p:spPr>
      </p:sp>
      <p:sp>
        <p:nvSpPr>
          <p:cNvPr id="16" name="Text 14"/>
          <p:cNvSpPr/>
          <p:nvPr/>
        </p:nvSpPr>
        <p:spPr>
          <a:xfrm>
            <a:off x="2889504" y="18745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PMリーダー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59836" y="2926080"/>
            <a:ext cx="1097280" cy="1097280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E5A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9836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5A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843784" y="416052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内山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300984" y="4709160"/>
            <a:ext cx="1014984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9504" y="484632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プロジェクト運営管理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38344" y="1828800"/>
            <a:ext cx="2112264" cy="397764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C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38344" y="1828800"/>
            <a:ext cx="2112264" cy="868680"/>
          </a:xfrm>
          <a:prstGeom prst="roundRect">
            <a:avLst>
              <a:gd name="adj" fmla="val 8421"/>
            </a:avLst>
          </a:prstGeom>
          <a:solidFill>
            <a:srgbClr val="1FA67A"/>
          </a:solidFill>
          <a:ln/>
        </p:spPr>
      </p:sp>
      <p:sp>
        <p:nvSpPr>
          <p:cNvPr id="24" name="Shape 22"/>
          <p:cNvSpPr/>
          <p:nvPr/>
        </p:nvSpPr>
        <p:spPr>
          <a:xfrm>
            <a:off x="5038344" y="2331720"/>
            <a:ext cx="2112264" cy="365760"/>
          </a:xfrm>
          <a:prstGeom prst="rect">
            <a:avLst/>
          </a:prstGeom>
          <a:solidFill>
            <a:srgbClr val="1FA67A"/>
          </a:solidFill>
          <a:ln/>
        </p:spPr>
      </p:sp>
      <p:sp>
        <p:nvSpPr>
          <p:cNvPr id="25" name="Text 23"/>
          <p:cNvSpPr/>
          <p:nvPr/>
        </p:nvSpPr>
        <p:spPr>
          <a:xfrm>
            <a:off x="5175504" y="18745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実務担当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45836" y="2926080"/>
            <a:ext cx="1097280" cy="1097280"/>
          </a:xfrm>
          <a:prstGeom prst="ellipse">
            <a:avLst/>
          </a:prstGeom>
          <a:solidFill>
            <a:srgbClr val="F4F7FB"/>
          </a:solidFill>
          <a:ln w="25400">
            <a:solidFill>
              <a:srgbClr val="1FA6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5836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A6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129784" y="416052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野澤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586984" y="4709160"/>
            <a:ext cx="1014984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5504" y="484632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採用実務の中心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324344" y="1828800"/>
            <a:ext cx="2112264" cy="397764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C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24344" y="1828800"/>
            <a:ext cx="2112264" cy="868680"/>
          </a:xfrm>
          <a:prstGeom prst="roundRect">
            <a:avLst>
              <a:gd name="adj" fmla="val 8421"/>
            </a:avLst>
          </a:prstGeom>
          <a:solidFill>
            <a:srgbClr val="E8A33D"/>
          </a:solidFill>
          <a:ln/>
        </p:spPr>
      </p:sp>
      <p:sp>
        <p:nvSpPr>
          <p:cNvPr id="33" name="Shape 31"/>
          <p:cNvSpPr/>
          <p:nvPr/>
        </p:nvSpPr>
        <p:spPr>
          <a:xfrm>
            <a:off x="7324344" y="2331720"/>
            <a:ext cx="2112264" cy="3657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7461504" y="18745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制度・労務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831836" y="2926080"/>
            <a:ext cx="1097280" cy="1097280"/>
          </a:xfrm>
          <a:prstGeom prst="ellipse">
            <a:avLst/>
          </a:prstGeom>
          <a:solidFill>
            <a:srgbClr val="F4F7FB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31836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髙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7415784" y="416052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髙田 部長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872984" y="4709160"/>
            <a:ext cx="1014984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61504" y="484632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制度設計・労務確認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610344" y="1828800"/>
            <a:ext cx="2112264" cy="397764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C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610344" y="1828800"/>
            <a:ext cx="2112264" cy="868680"/>
          </a:xfrm>
          <a:prstGeom prst="roundRect">
            <a:avLst>
              <a:gd name="adj" fmla="val 8421"/>
            </a:avLst>
          </a:prstGeom>
          <a:solidFill>
            <a:srgbClr val="6D5B9C"/>
          </a:solidFill>
          <a:ln/>
        </p:spPr>
      </p:sp>
      <p:sp>
        <p:nvSpPr>
          <p:cNvPr id="42" name="Shape 40"/>
          <p:cNvSpPr/>
          <p:nvPr/>
        </p:nvSpPr>
        <p:spPr>
          <a:xfrm>
            <a:off x="9610344" y="2331720"/>
            <a:ext cx="2112264" cy="365760"/>
          </a:xfrm>
          <a:prstGeom prst="rect">
            <a:avLst/>
          </a:prstGeom>
          <a:solidFill>
            <a:srgbClr val="6D5B9C"/>
          </a:solidFill>
          <a:ln/>
        </p:spPr>
      </p:sp>
      <p:sp>
        <p:nvSpPr>
          <p:cNvPr id="43" name="Text 41"/>
          <p:cNvSpPr/>
          <p:nvPr/>
        </p:nvSpPr>
        <p:spPr>
          <a:xfrm>
            <a:off x="9747504" y="18745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現場調整窓口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117836" y="2926080"/>
            <a:ext cx="1097280" cy="1097280"/>
          </a:xfrm>
          <a:prstGeom prst="ellipse">
            <a:avLst/>
          </a:prstGeom>
          <a:solidFill>
            <a:srgbClr val="F4F7FB"/>
          </a:solidFill>
          <a:ln w="25400">
            <a:solidFill>
              <a:srgbClr val="6D5B9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17836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5B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坂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9701784" y="416052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坂本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0158984" y="4709160"/>
            <a:ext cx="1014984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47504" y="484632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入社後フォロー・調整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短時間勤務者採用プロジェクト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A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MEDIA  ─  募集媒体・掲載期間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空港・媒体別の掲載スケジュール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12275" y="2011680"/>
            <a:ext cx="0" cy="2926080"/>
          </a:xfrm>
          <a:prstGeom prst="line">
            <a:avLst/>
          </a:prstGeom>
          <a:noFill/>
          <a:ln w="12700">
            <a:solidFill>
              <a:srgbClr val="D5DEE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46515" y="1645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22789" y="2011680"/>
            <a:ext cx="0" cy="2926080"/>
          </a:xfrm>
          <a:prstGeom prst="line">
            <a:avLst/>
          </a:prstGeom>
          <a:noFill/>
          <a:ln w="12700">
            <a:solidFill>
              <a:srgbClr val="D5DEE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57029" y="1645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8/15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49842" y="2011680"/>
            <a:ext cx="0" cy="2926080"/>
          </a:xfrm>
          <a:prstGeom prst="line">
            <a:avLst/>
          </a:prstGeom>
          <a:noFill/>
          <a:ln w="12700">
            <a:solidFill>
              <a:srgbClr val="D5DEE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284082" y="1645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9/1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成田空港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バイトル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194560"/>
            <a:ext cx="8092440" cy="457200"/>
          </a:xfrm>
          <a:prstGeom prst="roundRect">
            <a:avLst>
              <a:gd name="adj" fmla="val 10000"/>
            </a:avLst>
          </a:prstGeom>
          <a:solidFill>
            <a:srgbClr val="E7ED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4838" y="2194560"/>
            <a:ext cx="6370644" cy="45720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3934838" y="2194560"/>
            <a:ext cx="6370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7/24〜8/30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2999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新千歳空港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273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バイトル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3063240"/>
            <a:ext cx="8092440" cy="457200"/>
          </a:xfrm>
          <a:prstGeom prst="roundRect">
            <a:avLst>
              <a:gd name="adj" fmla="val 10000"/>
            </a:avLst>
          </a:prstGeom>
          <a:solidFill>
            <a:srgbClr val="E7EDF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4838" y="3063240"/>
            <a:ext cx="6370644" cy="457200"/>
          </a:xfrm>
          <a:prstGeom prst="roundRect">
            <a:avLst>
              <a:gd name="adj" fmla="val 10000"/>
            </a:avLst>
          </a:prstGeom>
          <a:solidFill>
            <a:srgbClr val="1FA67A"/>
          </a:solidFill>
          <a:ln/>
        </p:spPr>
      </p:sp>
      <p:sp>
        <p:nvSpPr>
          <p:cNvPr id="19" name="Text 17"/>
          <p:cNvSpPr/>
          <p:nvPr/>
        </p:nvSpPr>
        <p:spPr>
          <a:xfrm>
            <a:off x="3934838" y="3063240"/>
            <a:ext cx="6370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7/24〜8/30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8679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新千歳空港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142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マイナビバイト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931920"/>
            <a:ext cx="8092440" cy="457200"/>
          </a:xfrm>
          <a:prstGeom prst="roundRect">
            <a:avLst>
              <a:gd name="adj" fmla="val 10000"/>
            </a:avLst>
          </a:prstGeom>
          <a:solidFill>
            <a:srgbClr val="E7ED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967916" y="3931920"/>
            <a:ext cx="5854106" cy="457200"/>
          </a:xfrm>
          <a:prstGeom prst="roundRect">
            <a:avLst>
              <a:gd name="adj" fmla="val 10000"/>
            </a:avLst>
          </a:prstGeom>
          <a:solidFill>
            <a:srgbClr val="2E5A9C"/>
          </a:solidFill>
          <a:ln/>
        </p:spPr>
      </p:sp>
      <p:sp>
        <p:nvSpPr>
          <p:cNvPr id="24" name="Text 22"/>
          <p:cNvSpPr/>
          <p:nvPr/>
        </p:nvSpPr>
        <p:spPr>
          <a:xfrm>
            <a:off x="4967916" y="3931920"/>
            <a:ext cx="5854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7/30〜9/2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257800"/>
            <a:ext cx="1088136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4864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E3A6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486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成田：1媒体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54680" y="54864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E3A66"/>
          </a:solidFill>
          <a:ln/>
        </p:spPr>
      </p:sp>
      <p:sp>
        <p:nvSpPr>
          <p:cNvPr id="29" name="Text 27"/>
          <p:cNvSpPr/>
          <p:nvPr/>
        </p:nvSpPr>
        <p:spPr>
          <a:xfrm>
            <a:off x="3154680" y="5486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新千歳：2媒体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60720" y="54864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マイナビバイト（新千歳）は 9/2 まで掲載し、後半の応募獲得を強化。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短時間勤務者採用プロジェクト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A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ROLES  ─  担当業務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メンバー別の主な担当業務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6344" y="1783080"/>
            <a:ext cx="2112264" cy="416052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2011680"/>
            <a:ext cx="457200" cy="45720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6" name="Text 4"/>
          <p:cNvSpPr/>
          <p:nvPr/>
        </p:nvSpPr>
        <p:spPr>
          <a:xfrm>
            <a:off x="1289304" y="1993392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遠藤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9304" y="2304288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" y="2743200"/>
            <a:ext cx="160020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880360"/>
            <a:ext cx="1691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プロジェクト全体統括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採用目標管理・進捗確認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課題抽出、改善指示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経営層への報告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52344" y="1783080"/>
            <a:ext cx="2112264" cy="416052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08376" y="2011680"/>
            <a:ext cx="457200" cy="457200"/>
          </a:xfrm>
          <a:prstGeom prst="ellipse">
            <a:avLst/>
          </a:prstGeom>
          <a:solidFill>
            <a:srgbClr val="2E5A9C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1993392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75304" y="2304288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A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PMリーダー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08376" y="2743200"/>
            <a:ext cx="160020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0088" y="2880360"/>
            <a:ext cx="1691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プロジェクト運営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現場との調整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面接対応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進捗管理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38344" y="1783080"/>
            <a:ext cx="2112264" cy="416052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C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94376" y="2011680"/>
            <a:ext cx="457200" cy="457200"/>
          </a:xfrm>
          <a:prstGeom prst="ellipse">
            <a:avLst/>
          </a:prstGeom>
          <a:solidFill>
            <a:srgbClr val="1FA67A"/>
          </a:solidFill>
          <a:ln/>
        </p:spPr>
      </p:sp>
      <p:sp>
        <p:nvSpPr>
          <p:cNvPr id="18" name="Text 16"/>
          <p:cNvSpPr/>
          <p:nvPr/>
        </p:nvSpPr>
        <p:spPr>
          <a:xfrm>
            <a:off x="5861304" y="1993392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61304" y="2304288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6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実務担当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94376" y="2743200"/>
            <a:ext cx="160020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6088" y="2880360"/>
            <a:ext cx="1691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ネオキャリアとの窓口・調整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求人媒体管理・原稿修正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応募者管理・面接日程調整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面接対応・採用進捗管理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24344" y="1783080"/>
            <a:ext cx="2112264" cy="416052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C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0376" y="20116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8147304" y="1993392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髙田 部長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47304" y="2304288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制度・労務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0376" y="2743200"/>
            <a:ext cx="160020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2880360"/>
            <a:ext cx="1691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制度設計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労務確認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雇用条件確認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社会保険等の制度確認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10344" y="1783080"/>
            <a:ext cx="2112264" cy="416052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66376" y="2011680"/>
            <a:ext cx="457200" cy="457200"/>
          </a:xfrm>
          <a:prstGeom prst="ellipse">
            <a:avLst/>
          </a:prstGeom>
          <a:solidFill>
            <a:srgbClr val="6D5B9C"/>
          </a:solidFill>
          <a:ln/>
        </p:spPr>
      </p:sp>
      <p:sp>
        <p:nvSpPr>
          <p:cNvPr id="30" name="Text 28"/>
          <p:cNvSpPr/>
          <p:nvPr/>
        </p:nvSpPr>
        <p:spPr>
          <a:xfrm>
            <a:off x="10433304" y="1993392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坂本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433304" y="2304288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5B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現場調整窓口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66376" y="2743200"/>
            <a:ext cx="160020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48088" y="2880360"/>
            <a:ext cx="1691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入社〜入社後のフォロー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現場調整の窓口対応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トラブル・相談対応</a:t>
            </a:r>
            <a:endParaRPr lang="en-US" sz="1100" dirty="0"/>
          </a:p>
          <a:p>
            <a:pPr marL="139700" indent="-1397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定着支援・早期離職の防止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短時間勤務者採用プロジェクト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A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INTERVIEW  ─  面接体制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人事2名＋現場管理職1名で面接を実施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E3A6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面接官の基本構成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人事（内山・野澤） ＋ 現場管理職 1名（各拠点の候補者から必ず1名が同席）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8892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108960"/>
            <a:ext cx="5349240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成田空港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現場管理職 候補（いずれか1名が同席）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4069080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ロシャン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29000" y="393192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38728" y="4069080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3813048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古永 MGR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498848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" y="4636008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1298448" y="4498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 いずみ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29000" y="4498848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38728" y="4636008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3813048" y="4498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村上 MGR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278892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278892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1FA67A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2200" y="3108960"/>
            <a:ext cx="5349240" cy="320040"/>
          </a:xfrm>
          <a:prstGeom prst="rect">
            <a:avLst/>
          </a:prstGeom>
          <a:solidFill>
            <a:srgbClr val="1FA67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新千歳空港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現場管理職 候補（いずれか1名が同席）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46520" y="393192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56248" y="4069080"/>
            <a:ext cx="182880" cy="182880"/>
          </a:xfrm>
          <a:prstGeom prst="ellipse">
            <a:avLst/>
          </a:prstGeom>
          <a:solidFill>
            <a:srgbClr val="1FA67A"/>
          </a:solidFill>
          <a:ln/>
        </p:spPr>
      </p:sp>
      <p:sp>
        <p:nvSpPr>
          <p:cNvPr id="30" name="Text 28"/>
          <p:cNvSpPr/>
          <p:nvPr/>
        </p:nvSpPr>
        <p:spPr>
          <a:xfrm>
            <a:off x="6830568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 部長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961120" y="393192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70848" y="4069080"/>
            <a:ext cx="182880" cy="182880"/>
          </a:xfrm>
          <a:prstGeom prst="ellipse">
            <a:avLst/>
          </a:prstGeom>
          <a:solidFill>
            <a:srgbClr val="1FA67A"/>
          </a:solidFill>
          <a:ln/>
        </p:spPr>
      </p:sp>
      <p:sp>
        <p:nvSpPr>
          <p:cNvPr id="33" name="Text 31"/>
          <p:cNvSpPr/>
          <p:nvPr/>
        </p:nvSpPr>
        <p:spPr>
          <a:xfrm>
            <a:off x="9345168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山下 さん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短時間勤務者採用プロジェクト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  ─  進捗管理項目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採用ファネルで進捗を可視化・管理する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492240" cy="658368"/>
          </a:xfrm>
          <a:prstGeom prst="roundRect">
            <a:avLst>
              <a:gd name="adj" fmla="val 6944"/>
            </a:avLst>
          </a:prstGeom>
          <a:solidFill>
            <a:srgbClr val="2E5A9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60720" y="196596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エントリー獲得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798064"/>
            <a:ext cx="5669280" cy="658368"/>
          </a:xfrm>
          <a:prstGeom prst="roundRect">
            <a:avLst>
              <a:gd name="adj" fmla="val 6944"/>
            </a:avLst>
          </a:prstGeom>
          <a:solidFill>
            <a:srgbClr val="2F6FA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79806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79806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面接設定数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79806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日程確定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630168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1FA67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63016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3016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面接実施数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363016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面接完了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462272"/>
            <a:ext cx="4023360" cy="658368"/>
          </a:xfrm>
          <a:prstGeom prst="roundRect">
            <a:avLst>
              <a:gd name="adj" fmla="val 6944"/>
            </a:avLst>
          </a:prstGeom>
          <a:solidFill>
            <a:srgbClr val="1FA67A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4622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46227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1840" y="44622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内定・採用決定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294376"/>
            <a:ext cx="3200400" cy="658368"/>
          </a:xfrm>
          <a:prstGeom prst="roundRect">
            <a:avLst>
              <a:gd name="adj" fmla="val 6944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29437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29437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入社数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68880" y="529437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勤務開始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0" y="196596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1E3A66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集計の切り口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92440" y="28620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27706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媒体別応募数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21040" y="3081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バイトル / マイナビバイト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92440" y="37764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空港別進捗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3995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成田 / 新千歳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46720" y="4709160"/>
            <a:ext cx="3108960" cy="0"/>
          </a:xfrm>
          <a:prstGeom prst="line">
            <a:avLst/>
          </a:prstGeom>
          <a:noFill/>
          <a:ln w="12700">
            <a:solidFill>
              <a:srgbClr val="3A5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4892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7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各段階の歩留まりを追い、応募〜入社の転換率を改善する。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短時間勤務者採用プロジェクト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6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ln w="19050">
            <a:solidFill>
              <a:srgbClr val="224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PRINCIPLES  ─  基本方針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役割分担を徹底し、連携して推進する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868680"/>
          </a:xfrm>
          <a:prstGeom prst="roundRect">
            <a:avLst>
              <a:gd name="adj" fmla="val 7368"/>
            </a:avLst>
          </a:prstGeom>
          <a:solidFill>
            <a:srgbClr val="1E3A66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350008"/>
            <a:ext cx="457200" cy="457200"/>
          </a:xfrm>
          <a:prstGeom prst="ellipse">
            <a:avLst/>
          </a:prstGeom>
          <a:solidFill>
            <a:srgbClr val="1FA67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1488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6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実務の中心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21488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実務は野澤を中心に運営する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136392"/>
            <a:ext cx="10515600" cy="868680"/>
          </a:xfrm>
          <a:prstGeom prst="roundRect">
            <a:avLst>
              <a:gd name="adj" fmla="val 7368"/>
            </a:avLst>
          </a:prstGeom>
          <a:solidFill>
            <a:srgbClr val="1E3A66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337560"/>
            <a:ext cx="457200" cy="457200"/>
          </a:xfrm>
          <a:prstGeom prst="ellipse">
            <a:avLst/>
          </a:prstGeom>
          <a:solidFill>
            <a:srgbClr val="2E5A9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1363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A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313639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プロジェクト運営は内山が管理する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868680"/>
          </a:xfrm>
          <a:prstGeom prst="roundRect">
            <a:avLst>
              <a:gd name="adj" fmla="val 7368"/>
            </a:avLst>
          </a:prstGeom>
          <a:solidFill>
            <a:srgbClr val="1E3A66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32511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12394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全体統括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4123944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遠藤は全体統括・進捗管理・経営報告および課題解決に注力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5111496"/>
            <a:ext cx="10515600" cy="868680"/>
          </a:xfrm>
          <a:prstGeom prst="roundRect">
            <a:avLst>
              <a:gd name="adj" fmla="val 7368"/>
            </a:avLst>
          </a:prstGeom>
          <a:solidFill>
            <a:srgbClr val="1E3A66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5312664"/>
            <a:ext cx="457200" cy="457200"/>
          </a:xfrm>
          <a:prstGeom prst="ellipse">
            <a:avLst/>
          </a:prstGeom>
          <a:solidFill>
            <a:srgbClr val="DCE7F5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83080" y="511149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7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制度・労務連携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97680" y="5111496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制度・労務面は髙田部長と連携しながら進める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短時間勤務者採用プロジェクト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2026-07-31T04:05:52Z</dcterms:created>
  <dcterms:modified xsi:type="dcterms:W3CDTF">2026-07-31T04:05:52Z</dcterms:modified>
</cp:coreProperties>
</file>