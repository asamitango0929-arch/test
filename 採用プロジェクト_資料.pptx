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会社の原価改善施策として位置付ける重点プロジェクト。短時間勤務者を採用し、ピーク時間帯の人員を最適化することで人件費原価の改善を図る。対象は成田・新千歳の2空港、採用目標は合計20名。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目的は人件費原価の改善。短時間勤務者の採用でピーク帯人員を最適化する。全社の原価改善における重点プロジェクトとして推進する。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採用目標は成田空港10名、新千歳空港10名の合計20名。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統括：遠藤、プロジェクトリーダー：内山、実務担当：野澤、制度・労務担当：髙田部長。実務は野澤を中心に運営し、内山が運営を管理する。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成田はバイトル（7/24〜8/30）。新千歳はバイトル（7/24〜8/30）とマイナビバイト（7/30〜9/2）の2媒体を併用する。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遠藤は全体統括・経営報告。内山は運営・調整・進捗管理。野澤はネオキャリア窓口や媒体・応募者・面接の実務全般。髙田部長は制度設計・労務・雇用条件・社会保険の確認。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面接は人事（内山・野澤）に現場管理職1名が必ず同席。成田はロシャン・古永MGR・佐藤いずみ・村上MGRのいずれか。新千歳は佐藤部長・山下さんのいずれか。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KPIは応募数・面接設定数・面接実施数・採用数・入社数のファネルで管理。加えて媒体別応募数と空港別進捗（成田・千歳）を集計する。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基本方針：実務は野澤が中心、運営管理は内山、全体統括・経営報告・課題解決は遠藤、制度・労務は髙田部長と連携。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669280" cy="5669280"/>
          </a:xfrm>
          <a:prstGeom prst="ellipse">
            <a:avLst/>
          </a:prstGeom>
          <a:ln w="19050">
            <a:solidFill>
              <a:srgbClr val="2240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-914400"/>
            <a:ext cx="4023360" cy="4023360"/>
          </a:xfrm>
          <a:prstGeom prst="ellipse">
            <a:avLst/>
          </a:prstGeom>
          <a:ln w="19050">
            <a:solidFill>
              <a:srgbClr val="2A4C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0" y="182880"/>
            <a:ext cx="2011680" cy="2011680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48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 原価改善 重点プロジェクト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51460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短時間勤務者採用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7F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ピーク時間帯の人員最適化による人件費原価の改善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5212080"/>
            <a:ext cx="4754880" cy="0"/>
          </a:xfrm>
          <a:prstGeom prst="line">
            <a:avLst/>
          </a:prstGeom>
          <a:noFill/>
          <a:ln w="12700">
            <a:solidFill>
              <a:srgbClr val="3A5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対象拠点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成田空港 / 新千歳空港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715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採用目標   </a:t>
            </a:r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20名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A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PURPOSE  ─  目的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ピーク人員の最適化で人件費原価を改善する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309360" cy="4343400"/>
          </a:xfrm>
          <a:prstGeom prst="roundRect">
            <a:avLst>
              <a:gd name="adj" fmla="val 1684"/>
            </a:avLst>
          </a:prstGeom>
          <a:solidFill>
            <a:srgbClr val="1E3A66"/>
          </a:solidFill>
          <a:ln/>
          <a:effectLst>
            <a:outerShdw sx="100000" sy="100000" kx="0" ky="0" algn="bl" rotWithShape="0" blurRad="127000" dist="38100" dir="5400000">
              <a:srgbClr val="9AA7BC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0312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011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プロジェクトの狙い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51460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短時間勤務者を採用し、繁忙時間帯に人員を集中配置。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過剰・固定的な人件費を見直し、原価構造そのものを改善する。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" y="3977640"/>
            <a:ext cx="5577840" cy="0"/>
          </a:xfrm>
          <a:prstGeom prst="line">
            <a:avLst/>
          </a:prstGeom>
          <a:noFill/>
          <a:ln w="12700">
            <a:solidFill>
              <a:srgbClr val="3A5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420624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DCE7F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本プロジェクトは、会社の原価改善施策として位置付ける重点プロジェクトとする。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69480" y="1783080"/>
            <a:ext cx="425196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0" y="2075688"/>
            <a:ext cx="685800" cy="6858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0" y="20756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366760" y="200253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人件費原価の改善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66760" y="238658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固定的な人員配置を見直し、コスト構造を最適化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269480" y="3246120"/>
            <a:ext cx="425196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0" y="3538728"/>
            <a:ext cx="685800" cy="685800"/>
          </a:xfrm>
          <a:prstGeom prst="ellipse">
            <a:avLst/>
          </a:prstGeom>
          <a:solidFill>
            <a:srgbClr val="1FA67A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0" y="353872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66760" y="346557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ピーク時間帯の最適化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6760" y="38496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繁忙帯に合わせた柔軟な短時間シフトを構築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269480" y="4709160"/>
            <a:ext cx="425196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5001768"/>
            <a:ext cx="685800" cy="685800"/>
          </a:xfrm>
          <a:prstGeom prst="ellipse">
            <a:avLst/>
          </a:prstGeom>
          <a:solidFill>
            <a:srgbClr val="2E5A9C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0" y="500176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366760" y="492861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重点プロジェクト化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66760" y="531266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経営層報告のもと全社施策として推進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短時間勤務者採用プロジェクト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6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TARGET  ─  採用目標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2空港で合計20名を採用する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3703320" cy="3383280"/>
          </a:xfrm>
          <a:prstGeom prst="roundRect">
            <a:avLst>
              <a:gd name="adj" fmla="val 2162"/>
            </a:avLst>
          </a:prstGeom>
          <a:solidFill>
            <a:srgbClr val="1E3A66"/>
          </a:solidFill>
          <a:ln w="12700">
            <a:solidFill>
              <a:srgbClr val="2E4A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2377440"/>
            <a:ext cx="50292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成田空港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97280" y="320040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</a:t>
            </a:r>
            <a:endParaRPr lang="en-US" sz="8600" dirty="0"/>
          </a:p>
        </p:txBody>
      </p:sp>
      <p:sp>
        <p:nvSpPr>
          <p:cNvPr id="8" name="Shape 6"/>
          <p:cNvSpPr/>
          <p:nvPr/>
        </p:nvSpPr>
        <p:spPr>
          <a:xfrm>
            <a:off x="4754880" y="1965960"/>
            <a:ext cx="3703320" cy="3383280"/>
          </a:xfrm>
          <a:prstGeom prst="roundRect">
            <a:avLst>
              <a:gd name="adj" fmla="val 2162"/>
            </a:avLst>
          </a:prstGeom>
          <a:solidFill>
            <a:srgbClr val="1E3A66"/>
          </a:solidFill>
          <a:ln w="12700">
            <a:solidFill>
              <a:srgbClr val="2E4A7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74920" y="2377440"/>
            <a:ext cx="502920" cy="128016"/>
          </a:xfrm>
          <a:prstGeom prst="rect">
            <a:avLst/>
          </a:prstGeom>
          <a:solidFill>
            <a:srgbClr val="1FA67A"/>
          </a:solidFill>
          <a:ln/>
        </p:spPr>
      </p:sp>
      <p:sp>
        <p:nvSpPr>
          <p:cNvPr id="10" name="Text 8"/>
          <p:cNvSpPr/>
          <p:nvPr/>
        </p:nvSpPr>
        <p:spPr>
          <a:xfrm>
            <a:off x="507492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新千歳空港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029200" y="320040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0" b="1" dirty="0">
                <a:solidFill>
                  <a:srgbClr val="1FA6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</a:t>
            </a:r>
            <a:endParaRPr lang="en-US" sz="8600" dirty="0"/>
          </a:p>
        </p:txBody>
      </p:sp>
      <p:sp>
        <p:nvSpPr>
          <p:cNvPr id="12" name="Shape 10"/>
          <p:cNvSpPr/>
          <p:nvPr/>
        </p:nvSpPr>
        <p:spPr>
          <a:xfrm>
            <a:off x="8686800" y="1965960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E8A33D"/>
          </a:solidFill>
          <a:ln/>
          <a:effectLst>
            <a:outerShdw sx="100000" sy="100000" kx="0" ky="0" algn="bl" rotWithShape="0" blurRad="152400" dist="50800" dir="54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823960" y="2606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3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採用目標 合計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0" y="320040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pPr algn="ctr"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</a:t>
            </a:r>
            <a:endParaRPr lang="en-US" sz="9000" dirty="0"/>
          </a:p>
        </p:txBody>
      </p:sp>
      <p:sp>
        <p:nvSpPr>
          <p:cNvPr id="15" name="Text 13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CE7F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繁忙時間帯の人員を短時間勤務で補完し、拠点ごとに10名ずつ採用する。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短時間勤務者採用プロジェクト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A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TEAM  ─  プロジェクト体制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4つの役割で推進体制を構築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724912" cy="3977640"/>
          </a:xfrm>
          <a:prstGeom prst="roundRect">
            <a:avLst>
              <a:gd name="adj" fmla="val 2685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7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28800"/>
            <a:ext cx="2724912" cy="868680"/>
          </a:xfrm>
          <a:prstGeom prst="roundRect">
            <a:avLst>
              <a:gd name="adj" fmla="val 8421"/>
            </a:avLst>
          </a:prstGeom>
          <a:solidFill>
            <a:srgbClr val="1E3A66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331720"/>
            <a:ext cx="2724912" cy="365760"/>
          </a:xfrm>
          <a:prstGeom prst="rect">
            <a:avLst/>
          </a:prstGeom>
          <a:solidFill>
            <a:srgbClr val="1E3A6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74520"/>
            <a:ext cx="2450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統括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453896" y="2926080"/>
            <a:ext cx="1097280" cy="1097280"/>
          </a:xfrm>
          <a:prstGeom prst="ellipse">
            <a:avLst/>
          </a:prstGeom>
          <a:solidFill>
            <a:srgbClr val="F4F7FB"/>
          </a:solidFill>
          <a:ln w="25400">
            <a:solidFill>
              <a:srgbClr val="1E3A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53896" y="2926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3A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31520" y="416052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遠藤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188720" y="4709160"/>
            <a:ext cx="1627632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846320"/>
            <a:ext cx="2450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全体統括・経営報告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538728" y="1828800"/>
            <a:ext cx="2724912" cy="3977640"/>
          </a:xfrm>
          <a:prstGeom prst="roundRect">
            <a:avLst>
              <a:gd name="adj" fmla="val 2685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7BC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38728" y="1828800"/>
            <a:ext cx="2724912" cy="868680"/>
          </a:xfrm>
          <a:prstGeom prst="roundRect">
            <a:avLst>
              <a:gd name="adj" fmla="val 8421"/>
            </a:avLst>
          </a:prstGeom>
          <a:solidFill>
            <a:srgbClr val="2E5A9C"/>
          </a:solidFill>
          <a:ln/>
        </p:spPr>
      </p:sp>
      <p:sp>
        <p:nvSpPr>
          <p:cNvPr id="15" name="Shape 13"/>
          <p:cNvSpPr/>
          <p:nvPr/>
        </p:nvSpPr>
        <p:spPr>
          <a:xfrm>
            <a:off x="3538728" y="2331720"/>
            <a:ext cx="2724912" cy="365760"/>
          </a:xfrm>
          <a:prstGeom prst="rect">
            <a:avLst/>
          </a:prstGeom>
          <a:solidFill>
            <a:srgbClr val="2E5A9C"/>
          </a:solidFill>
          <a:ln/>
        </p:spPr>
      </p:sp>
      <p:sp>
        <p:nvSpPr>
          <p:cNvPr id="16" name="Text 14"/>
          <p:cNvSpPr/>
          <p:nvPr/>
        </p:nvSpPr>
        <p:spPr>
          <a:xfrm>
            <a:off x="3675888" y="1874520"/>
            <a:ext cx="2450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プロジェクトリーダー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2926080"/>
            <a:ext cx="1097280" cy="1097280"/>
          </a:xfrm>
          <a:prstGeom prst="ellipse">
            <a:avLst/>
          </a:prstGeom>
          <a:solidFill>
            <a:srgbClr val="F4F7FB"/>
          </a:solidFill>
          <a:ln w="25400">
            <a:solidFill>
              <a:srgbClr val="2E5A9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52544" y="2926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5A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3630168" y="416052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内山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087368" y="4709160"/>
            <a:ext cx="1627632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75888" y="4846320"/>
            <a:ext cx="2450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プロジェクト運営管理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37376" y="1828800"/>
            <a:ext cx="2724912" cy="3977640"/>
          </a:xfrm>
          <a:prstGeom prst="roundRect">
            <a:avLst>
              <a:gd name="adj" fmla="val 2685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7BC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37376" y="1828800"/>
            <a:ext cx="2724912" cy="868680"/>
          </a:xfrm>
          <a:prstGeom prst="roundRect">
            <a:avLst>
              <a:gd name="adj" fmla="val 8421"/>
            </a:avLst>
          </a:prstGeom>
          <a:solidFill>
            <a:srgbClr val="1FA67A"/>
          </a:solidFill>
          <a:ln/>
        </p:spPr>
      </p:sp>
      <p:sp>
        <p:nvSpPr>
          <p:cNvPr id="24" name="Shape 22"/>
          <p:cNvSpPr/>
          <p:nvPr/>
        </p:nvSpPr>
        <p:spPr>
          <a:xfrm>
            <a:off x="6437376" y="2331720"/>
            <a:ext cx="2724912" cy="365760"/>
          </a:xfrm>
          <a:prstGeom prst="rect">
            <a:avLst/>
          </a:prstGeom>
          <a:solidFill>
            <a:srgbClr val="1FA67A"/>
          </a:solidFill>
          <a:ln/>
        </p:spPr>
      </p:sp>
      <p:sp>
        <p:nvSpPr>
          <p:cNvPr id="25" name="Text 23"/>
          <p:cNvSpPr/>
          <p:nvPr/>
        </p:nvSpPr>
        <p:spPr>
          <a:xfrm>
            <a:off x="6574536" y="1874520"/>
            <a:ext cx="2450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実務担当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251192" y="2926080"/>
            <a:ext cx="1097280" cy="1097280"/>
          </a:xfrm>
          <a:prstGeom prst="ellipse">
            <a:avLst/>
          </a:prstGeom>
          <a:solidFill>
            <a:srgbClr val="F4F7FB"/>
          </a:solidFill>
          <a:ln w="25400">
            <a:solidFill>
              <a:srgbClr val="1FA6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51192" y="2926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FA6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6528816" y="416052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野澤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986016" y="4709160"/>
            <a:ext cx="1627632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74536" y="4846320"/>
            <a:ext cx="2450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採用実務の中心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336024" y="1828800"/>
            <a:ext cx="2724912" cy="3977640"/>
          </a:xfrm>
          <a:prstGeom prst="roundRect">
            <a:avLst>
              <a:gd name="adj" fmla="val 2685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7BC">
                <a:alpha val="3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336024" y="1828800"/>
            <a:ext cx="2724912" cy="868680"/>
          </a:xfrm>
          <a:prstGeom prst="roundRect">
            <a:avLst>
              <a:gd name="adj" fmla="val 8421"/>
            </a:avLst>
          </a:prstGeom>
          <a:solidFill>
            <a:srgbClr val="E8A33D"/>
          </a:solidFill>
          <a:ln/>
        </p:spPr>
      </p:sp>
      <p:sp>
        <p:nvSpPr>
          <p:cNvPr id="33" name="Shape 31"/>
          <p:cNvSpPr/>
          <p:nvPr/>
        </p:nvSpPr>
        <p:spPr>
          <a:xfrm>
            <a:off x="9336024" y="2331720"/>
            <a:ext cx="2724912" cy="3657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4" name="Text 32"/>
          <p:cNvSpPr/>
          <p:nvPr/>
        </p:nvSpPr>
        <p:spPr>
          <a:xfrm>
            <a:off x="9473184" y="1874520"/>
            <a:ext cx="2450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制度・労務担当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10149840" y="2926080"/>
            <a:ext cx="1097280" cy="1097280"/>
          </a:xfrm>
          <a:prstGeom prst="ellipse">
            <a:avLst/>
          </a:prstGeom>
          <a:solidFill>
            <a:srgbClr val="F4F7FB"/>
          </a:solidFill>
          <a:ln w="25400">
            <a:solidFill>
              <a:srgbClr val="E8A3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149840" y="2926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髙</a:t>
            </a:r>
            <a:endParaRPr lang="en-US" sz="3400" dirty="0"/>
          </a:p>
        </p:txBody>
      </p:sp>
      <p:sp>
        <p:nvSpPr>
          <p:cNvPr id="37" name="Text 35"/>
          <p:cNvSpPr/>
          <p:nvPr/>
        </p:nvSpPr>
        <p:spPr>
          <a:xfrm>
            <a:off x="9427464" y="416052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髙田 部長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9884664" y="4709160"/>
            <a:ext cx="1627632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473184" y="4846320"/>
            <a:ext cx="2450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制度設計・労務確認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短時間勤務者採用プロジェクト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A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MEDIA  ─  募集媒体・掲載期間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空港・媒体別の掲載スケジュール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312275" y="2011680"/>
            <a:ext cx="0" cy="2926080"/>
          </a:xfrm>
          <a:prstGeom prst="line">
            <a:avLst/>
          </a:prstGeom>
          <a:noFill/>
          <a:ln w="12700">
            <a:solidFill>
              <a:srgbClr val="D5DEEC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946515" y="1645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22789" y="2011680"/>
            <a:ext cx="0" cy="2926080"/>
          </a:xfrm>
          <a:prstGeom prst="line">
            <a:avLst/>
          </a:prstGeom>
          <a:noFill/>
          <a:ln w="12700">
            <a:solidFill>
              <a:srgbClr val="D5DEEC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7357029" y="1645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649842" y="2011680"/>
            <a:ext cx="0" cy="2926080"/>
          </a:xfrm>
          <a:prstGeom prst="line">
            <a:avLst/>
          </a:prstGeom>
          <a:noFill/>
          <a:ln w="12700">
            <a:solidFill>
              <a:srgbClr val="D5DEEC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0284082" y="1645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9/1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130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成田空港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24048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バイトル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2194560"/>
            <a:ext cx="8092440" cy="457200"/>
          </a:xfrm>
          <a:prstGeom prst="roundRect">
            <a:avLst>
              <a:gd name="adj" fmla="val 10000"/>
            </a:avLst>
          </a:prstGeom>
          <a:solidFill>
            <a:srgbClr val="E7EDF6"/>
          </a:solidFill>
          <a:ln/>
        </p:spPr>
      </p:sp>
      <p:sp>
        <p:nvSpPr>
          <p:cNvPr id="13" name="Shape 11"/>
          <p:cNvSpPr/>
          <p:nvPr/>
        </p:nvSpPr>
        <p:spPr>
          <a:xfrm>
            <a:off x="3934838" y="2194560"/>
            <a:ext cx="6370644" cy="457200"/>
          </a:xfrm>
          <a:prstGeom prst="roundRect">
            <a:avLst>
              <a:gd name="adj" fmla="val 1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3934838" y="2194560"/>
            <a:ext cx="6370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7/24〜8/30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29992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新千歳空港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32735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バイトル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46120" y="3063240"/>
            <a:ext cx="8092440" cy="457200"/>
          </a:xfrm>
          <a:prstGeom prst="roundRect">
            <a:avLst>
              <a:gd name="adj" fmla="val 10000"/>
            </a:avLst>
          </a:prstGeom>
          <a:solidFill>
            <a:srgbClr val="E7ED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934838" y="3063240"/>
            <a:ext cx="6370644" cy="457200"/>
          </a:xfrm>
          <a:prstGeom prst="roundRect">
            <a:avLst>
              <a:gd name="adj" fmla="val 10000"/>
            </a:avLst>
          </a:prstGeom>
          <a:solidFill>
            <a:srgbClr val="1FA67A"/>
          </a:solidFill>
          <a:ln/>
        </p:spPr>
      </p:sp>
      <p:sp>
        <p:nvSpPr>
          <p:cNvPr id="19" name="Text 17"/>
          <p:cNvSpPr/>
          <p:nvPr/>
        </p:nvSpPr>
        <p:spPr>
          <a:xfrm>
            <a:off x="3934838" y="3063240"/>
            <a:ext cx="63706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7/24〜8/30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38679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新千歳空港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41422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マイナビバイト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46120" y="3931920"/>
            <a:ext cx="8092440" cy="457200"/>
          </a:xfrm>
          <a:prstGeom prst="roundRect">
            <a:avLst>
              <a:gd name="adj" fmla="val 10000"/>
            </a:avLst>
          </a:prstGeom>
          <a:solidFill>
            <a:srgbClr val="E7EDF6"/>
          </a:solidFill>
          <a:ln/>
        </p:spPr>
      </p:sp>
      <p:sp>
        <p:nvSpPr>
          <p:cNvPr id="23" name="Shape 21"/>
          <p:cNvSpPr/>
          <p:nvPr/>
        </p:nvSpPr>
        <p:spPr>
          <a:xfrm>
            <a:off x="4967916" y="3931920"/>
            <a:ext cx="5854106" cy="457200"/>
          </a:xfrm>
          <a:prstGeom prst="roundRect">
            <a:avLst>
              <a:gd name="adj" fmla="val 10000"/>
            </a:avLst>
          </a:prstGeom>
          <a:solidFill>
            <a:srgbClr val="2E5A9C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916" y="3931920"/>
            <a:ext cx="5854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7/30〜9/2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257800"/>
            <a:ext cx="10881360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54864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1E3A66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5486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成田：1媒体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154680" y="548640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1E3A66"/>
          </a:solidFill>
          <a:ln/>
        </p:spPr>
      </p:sp>
      <p:sp>
        <p:nvSpPr>
          <p:cNvPr id="29" name="Text 27"/>
          <p:cNvSpPr/>
          <p:nvPr/>
        </p:nvSpPr>
        <p:spPr>
          <a:xfrm>
            <a:off x="3154680" y="5486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新千歳：2媒体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760720" y="548640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マイナビバイト（新千歳）は 9/2 まで掲載し、後半の応募獲得を強化。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短時間勤務者採用プロジェクト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A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ROLES  ─  担当業務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メンバー別の主な担当業務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724912" cy="4160520"/>
          </a:xfrm>
          <a:prstGeom prst="roundRect">
            <a:avLst>
              <a:gd name="adj" fmla="val 2685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C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11680"/>
            <a:ext cx="457200" cy="457200"/>
          </a:xfrm>
          <a:prstGeom prst="ellipse">
            <a:avLst/>
          </a:prstGeom>
          <a:solidFill>
            <a:srgbClr val="1E3A66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1993392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遠藤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230428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統括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" y="2743200"/>
            <a:ext cx="2212848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2880360"/>
            <a:ext cx="2267712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プロジェクト全体統括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採用目標管理・進捗確認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課題抽出、改善指示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経営層への報告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1783080"/>
            <a:ext cx="2724912" cy="4160520"/>
          </a:xfrm>
          <a:prstGeom prst="roundRect">
            <a:avLst>
              <a:gd name="adj" fmla="val 2685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C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94760" y="2011680"/>
            <a:ext cx="457200" cy="457200"/>
          </a:xfrm>
          <a:prstGeom prst="ellipse">
            <a:avLst/>
          </a:prstGeom>
          <a:solidFill>
            <a:srgbClr val="2E5A9C"/>
          </a:solidFill>
          <a:ln/>
        </p:spPr>
      </p:sp>
      <p:sp>
        <p:nvSpPr>
          <p:cNvPr id="12" name="Text 10"/>
          <p:cNvSpPr/>
          <p:nvPr/>
        </p:nvSpPr>
        <p:spPr>
          <a:xfrm>
            <a:off x="4361688" y="1993392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内山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61688" y="230428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A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PMリーダー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794760" y="2743200"/>
            <a:ext cx="2212848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94760" y="2880360"/>
            <a:ext cx="2267712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プロジェクト運営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現場との調整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面接対応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進捗管理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37376" y="1783080"/>
            <a:ext cx="2724912" cy="4160520"/>
          </a:xfrm>
          <a:prstGeom prst="roundRect">
            <a:avLst>
              <a:gd name="adj" fmla="val 2685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C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93408" y="2011680"/>
            <a:ext cx="457200" cy="457200"/>
          </a:xfrm>
          <a:prstGeom prst="ellipse">
            <a:avLst/>
          </a:prstGeom>
          <a:solidFill>
            <a:srgbClr val="1FA67A"/>
          </a:solidFill>
          <a:ln/>
        </p:spPr>
      </p:sp>
      <p:sp>
        <p:nvSpPr>
          <p:cNvPr id="18" name="Text 16"/>
          <p:cNvSpPr/>
          <p:nvPr/>
        </p:nvSpPr>
        <p:spPr>
          <a:xfrm>
            <a:off x="7260336" y="1993392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60336" y="230428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実務担当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93408" y="2743200"/>
            <a:ext cx="2212848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93408" y="2880360"/>
            <a:ext cx="2267712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ネオキャリアとの窓口・調整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求人媒体管理・原稿修正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応募者管理・面接日程調整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面接対応・採用進捗管理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36024" y="1783080"/>
            <a:ext cx="2724912" cy="4160520"/>
          </a:xfrm>
          <a:prstGeom prst="roundRect">
            <a:avLst>
              <a:gd name="adj" fmla="val 2685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C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592056" y="20116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/>
          <p:nvPr/>
        </p:nvSpPr>
        <p:spPr>
          <a:xfrm>
            <a:off x="10158984" y="1993392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髙田 部長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158984" y="230428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制度・労務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592056" y="2743200"/>
            <a:ext cx="2212848" cy="0"/>
          </a:xfrm>
          <a:prstGeom prst="line">
            <a:avLst/>
          </a:prstGeom>
          <a:noFill/>
          <a:ln w="12700">
            <a:solidFill>
              <a:srgbClr val="D5DE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92056" y="2880360"/>
            <a:ext cx="2267712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制度設計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労務確認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雇用条件確認</a:t>
            </a:r>
            <a:endParaRPr lang="en-US" sz="1200" dirty="0"/>
          </a:p>
          <a:p>
            <a:pPr marL="152400" indent="-1524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社会保険等の制度確認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短時間勤務者採用プロジェクト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5A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INTERVIEW  ─  面接体制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人事2名＋現場管理職1名で面接を実施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1E3A66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830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面接官の基本構成 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人事（内山・野澤） ＋ 現場管理職 1名（各拠点の候補者から必ず1名が同席）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53492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C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788920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E8A33D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3108960"/>
            <a:ext cx="5349240" cy="3200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7889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成田空港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現場管理職 候補（いずれか1名が同席）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14400" y="3931920"/>
            <a:ext cx="2331720" cy="4572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24128" y="4069080"/>
            <a:ext cx="182880" cy="1828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1298448" y="39319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ロシャン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429000" y="3931920"/>
            <a:ext cx="2331720" cy="4572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38728" y="4069080"/>
            <a:ext cx="182880" cy="1828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3813048" y="39319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古永 MGR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14400" y="4498848"/>
            <a:ext cx="2331720" cy="4572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4128" y="4636008"/>
            <a:ext cx="182880" cy="1828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1298448" y="4498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 いずみ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429000" y="4498848"/>
            <a:ext cx="2331720" cy="4572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38728" y="4636008"/>
            <a:ext cx="182880" cy="1828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3813048" y="4498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村上 MGR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172200" y="2788920"/>
            <a:ext cx="53492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5DEEC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C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172200" y="2788920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1FA67A"/>
          </a:solidFill>
          <a:ln/>
        </p:spPr>
      </p:sp>
      <p:sp>
        <p:nvSpPr>
          <p:cNvPr id="25" name="Shape 23"/>
          <p:cNvSpPr/>
          <p:nvPr/>
        </p:nvSpPr>
        <p:spPr>
          <a:xfrm>
            <a:off x="6172200" y="3108960"/>
            <a:ext cx="5349240" cy="320040"/>
          </a:xfrm>
          <a:prstGeom prst="rect">
            <a:avLst/>
          </a:prstGeom>
          <a:solidFill>
            <a:srgbClr val="1FA67A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27889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新千歳空港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46520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現場管理職 候補（いずれか1名が同席）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46520" y="3931920"/>
            <a:ext cx="2331720" cy="4572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56248" y="4069080"/>
            <a:ext cx="182880" cy="182880"/>
          </a:xfrm>
          <a:prstGeom prst="ellipse">
            <a:avLst/>
          </a:prstGeom>
          <a:solidFill>
            <a:srgbClr val="1FA67A"/>
          </a:solidFill>
          <a:ln/>
        </p:spPr>
      </p:sp>
      <p:sp>
        <p:nvSpPr>
          <p:cNvPr id="30" name="Text 28"/>
          <p:cNvSpPr/>
          <p:nvPr/>
        </p:nvSpPr>
        <p:spPr>
          <a:xfrm>
            <a:off x="6830568" y="39319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 部長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961120" y="3931920"/>
            <a:ext cx="2331720" cy="45720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12700">
            <a:solidFill>
              <a:srgbClr val="D5DE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70848" y="4069080"/>
            <a:ext cx="182880" cy="182880"/>
          </a:xfrm>
          <a:prstGeom prst="ellipse">
            <a:avLst/>
          </a:prstGeom>
          <a:solidFill>
            <a:srgbClr val="1FA67A"/>
          </a:solidFill>
          <a:ln/>
        </p:spPr>
      </p:sp>
      <p:sp>
        <p:nvSpPr>
          <p:cNvPr id="33" name="Text 31"/>
          <p:cNvSpPr/>
          <p:nvPr/>
        </p:nvSpPr>
        <p:spPr>
          <a:xfrm>
            <a:off x="9345168" y="39319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山下 さん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短時間勤務者採用プロジェクト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KPI  ─  進捗管理項目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採用ファネルで進捗を可視化・管理する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6492240" cy="658368"/>
          </a:xfrm>
          <a:prstGeom prst="roundRect">
            <a:avLst>
              <a:gd name="adj" fmla="val 6944"/>
            </a:avLst>
          </a:prstGeom>
          <a:solidFill>
            <a:srgbClr val="2E5A9C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96596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1965960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応募数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760720" y="196596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エントリー獲得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798064"/>
            <a:ext cx="5669280" cy="658368"/>
          </a:xfrm>
          <a:prstGeom prst="roundRect">
            <a:avLst>
              <a:gd name="adj" fmla="val 6944"/>
            </a:avLst>
          </a:prstGeom>
          <a:solidFill>
            <a:srgbClr val="2F6FA8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279806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2798064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面接設定数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279806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日程確定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3630168"/>
            <a:ext cx="4846320" cy="658368"/>
          </a:xfrm>
          <a:prstGeom prst="roundRect">
            <a:avLst>
              <a:gd name="adj" fmla="val 6944"/>
            </a:avLst>
          </a:prstGeom>
          <a:solidFill>
            <a:srgbClr val="1FA67A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63016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630168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面接実施数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0" y="363016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面接完了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4462272"/>
            <a:ext cx="4023360" cy="658368"/>
          </a:xfrm>
          <a:prstGeom prst="roundRect">
            <a:avLst>
              <a:gd name="adj" fmla="val 6944"/>
            </a:avLst>
          </a:prstGeom>
          <a:solidFill>
            <a:srgbClr val="1FA67A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46227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462272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採用数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291840" y="446227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内定・採用決定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" y="5294376"/>
            <a:ext cx="3200400" cy="658368"/>
          </a:xfrm>
          <a:prstGeom prst="roundRect">
            <a:avLst>
              <a:gd name="adj" fmla="val 6944"/>
            </a:avLst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529437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94376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入社数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468880" y="52943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勤務開始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0" y="1965960"/>
            <a:ext cx="3657600" cy="3977640"/>
          </a:xfrm>
          <a:prstGeom prst="roundRect">
            <a:avLst>
              <a:gd name="adj" fmla="val 2000"/>
            </a:avLst>
          </a:prstGeom>
          <a:solidFill>
            <a:srgbClr val="1E3A66"/>
          </a:solidFill>
          <a:ln w="12700">
            <a:solidFill>
              <a:srgbClr val="2E4A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0" y="2194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集計の切り口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092440" y="2862072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7" name="Text 25"/>
          <p:cNvSpPr/>
          <p:nvPr/>
        </p:nvSpPr>
        <p:spPr>
          <a:xfrm>
            <a:off x="8321040" y="27706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媒体別応募数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321040" y="30815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7F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バイトル / マイナビバイト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92440" y="3776472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0" name="Text 28"/>
          <p:cNvSpPr/>
          <p:nvPr/>
        </p:nvSpPr>
        <p:spPr>
          <a:xfrm>
            <a:off x="8321040" y="3685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空港別進捗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321040" y="39959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7F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成田 / 新千歳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046720" y="4709160"/>
            <a:ext cx="3108960" cy="0"/>
          </a:xfrm>
          <a:prstGeom prst="line">
            <a:avLst/>
          </a:prstGeom>
          <a:noFill/>
          <a:ln w="12700">
            <a:solidFill>
              <a:srgbClr val="3A5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0" y="48920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CE7F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各段階の歩留まりを追い、応募〜入社の転換率を改善する。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短時間勤務者採用プロジェクト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6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ln w="19050">
            <a:solidFill>
              <a:srgbClr val="2240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PRINCIPLES  ─  基本方針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役割分担を徹底し、連携して推進する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515600" cy="868680"/>
          </a:xfrm>
          <a:prstGeom prst="roundRect">
            <a:avLst>
              <a:gd name="adj" fmla="val 7368"/>
            </a:avLst>
          </a:prstGeom>
          <a:solidFill>
            <a:srgbClr val="1E3A66"/>
          </a:solidFill>
          <a:ln w="12700">
            <a:solidFill>
              <a:srgbClr val="2E4A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350008"/>
            <a:ext cx="457200" cy="457200"/>
          </a:xfrm>
          <a:prstGeom prst="ellipse">
            <a:avLst/>
          </a:prstGeom>
          <a:solidFill>
            <a:srgbClr val="1FA67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83080" y="21488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6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実務の中心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97680" y="214884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実務は野澤を中心に運営する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136392"/>
            <a:ext cx="10515600" cy="868680"/>
          </a:xfrm>
          <a:prstGeom prst="roundRect">
            <a:avLst>
              <a:gd name="adj" fmla="val 7368"/>
            </a:avLst>
          </a:prstGeom>
          <a:solidFill>
            <a:srgbClr val="1E3A66"/>
          </a:solidFill>
          <a:ln w="12700">
            <a:solidFill>
              <a:srgbClr val="2E4A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3337560"/>
            <a:ext cx="457200" cy="457200"/>
          </a:xfrm>
          <a:prstGeom prst="ellipse">
            <a:avLst/>
          </a:prstGeom>
          <a:solidFill>
            <a:srgbClr val="2E5A9C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136392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9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運営管理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97680" y="3136392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プロジェクト運営は内山が管理する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123944"/>
            <a:ext cx="10515600" cy="868680"/>
          </a:xfrm>
          <a:prstGeom prst="roundRect">
            <a:avLst>
              <a:gd name="adj" fmla="val 7368"/>
            </a:avLst>
          </a:prstGeom>
          <a:solidFill>
            <a:srgbClr val="1E3A66"/>
          </a:solidFill>
          <a:ln w="12700">
            <a:solidFill>
              <a:srgbClr val="2E4A7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432511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783080" y="4123944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全体統括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297680" y="4123944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遠藤は全体統括・進捗管理・経営報告および課題解決に注力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" y="5111496"/>
            <a:ext cx="10515600" cy="868680"/>
          </a:xfrm>
          <a:prstGeom prst="roundRect">
            <a:avLst>
              <a:gd name="adj" fmla="val 7368"/>
            </a:avLst>
          </a:prstGeom>
          <a:solidFill>
            <a:srgbClr val="1E3A66"/>
          </a:solidFill>
          <a:ln w="12700">
            <a:solidFill>
              <a:srgbClr val="2E4A7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97280" y="5312664"/>
            <a:ext cx="457200" cy="457200"/>
          </a:xfrm>
          <a:prstGeom prst="ellipse">
            <a:avLst/>
          </a:prstGeom>
          <a:solidFill>
            <a:srgbClr val="DCE7F5"/>
          </a:solidFill>
          <a:ln/>
        </p:spPr>
      </p:sp>
      <p:sp>
        <p:nvSpPr>
          <p:cNvPr id="22" name="Text 20"/>
          <p:cNvSpPr/>
          <p:nvPr/>
        </p:nvSpPr>
        <p:spPr>
          <a:xfrm>
            <a:off x="1097280" y="5312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783080" y="5111496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E7F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制度・労務連携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297680" y="5111496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制度・労務面は髙田部長と連携しながら進める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14300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短時間勤務者採用プロジェクト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2026-07-31T03:47:42Z</dcterms:created>
  <dcterms:modified xsi:type="dcterms:W3CDTF">2026-07-31T03:47:42Z</dcterms:modified>
</cp:coreProperties>
</file>