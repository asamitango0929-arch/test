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8549640" y="0"/>
            <a:ext cx="3639312" cy="5074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8549640" y="868680"/>
            <a:ext cx="3639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10400" dirty="0"/>
          </a:p>
        </p:txBody>
      </p:sp>
      <p:sp>
        <p:nvSpPr>
          <p:cNvPr id="6" name="Text 4"/>
          <p:cNvSpPr/>
          <p:nvPr/>
        </p:nvSpPr>
        <p:spPr>
          <a:xfrm>
            <a:off x="8549640" y="224028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CA資格者は維持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281160" y="2971800"/>
            <a:ext cx="2176272" cy="0"/>
          </a:xfrm>
          <a:prstGeom prst="line">
            <a:avLst/>
          </a:prstGeom>
          <a:noFill/>
          <a:ln w="19050">
            <a:solidFill>
              <a:srgbClr val="9FC5E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549640" y="320040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持ち方を変える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49640" y="388620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減らす、ではない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005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100" kern="0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　基本方針（案）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" y="16002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CFE2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「60名を減らす」のではなく、</a:t>
            </a:r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
</a:t>
            </a:r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「60名の持ち方を変える」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FE2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CA資格者60名の維持と、要員効率化を両立する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3232" y="4160520"/>
            <a:ext cx="82296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343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FB8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本日の会議で、関係者で合意しておきたい基本方針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B8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作成：</a:t>
            </a:r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74175" y="5440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8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2026年8月12日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本日のゴール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本日の会議で決めたいこと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基本方針（案）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13243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727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まず、この基本方針に全員がYESと言えるかを確認する。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20299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2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その上で「誰を育成するか」「どのチームと兼務させるか」「資格維持条件は何か」をResponsibleに落とす。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99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3017520"/>
            <a:ext cx="822960" cy="384048"/>
          </a:xfrm>
          <a:prstGeom prst="roundRect">
            <a:avLst>
              <a:gd name="adj" fmla="val 9524"/>
            </a:avLst>
          </a:prstGeom>
          <a:solidFill>
            <a:srgbClr val="D6891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4290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基本方針に合意（YES／NO）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60120" y="40233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本日ここを固める。①〜④の考え方に全員が同意できるか。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25312" y="2788920"/>
            <a:ext cx="502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78892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9992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424160" y="3017520"/>
            <a:ext cx="822960" cy="384048"/>
          </a:xfrm>
          <a:prstGeom prst="roundRect">
            <a:avLst>
              <a:gd name="adj" fmla="val 9524"/>
            </a:avLst>
          </a:prstGeom>
          <a:solidFill>
            <a:srgbClr val="D6891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4290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Responsibleに落とす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92240" y="40233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誰を育成／どのチームと兼務／資格維持条件は何か、を担当へ割り当てる。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5029200"/>
            <a:ext cx="10789920" cy="822960"/>
          </a:xfrm>
          <a:prstGeom prst="roundRect">
            <a:avLst>
              <a:gd name="adj" fmla="val 6667"/>
            </a:avLst>
          </a:prstGeom>
          <a:solidFill>
            <a:srgbClr val="FEF5E7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0292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この順番なら、</a:t>
            </a:r>
            <a:pPr algn="l" indent="0" marL="0">
              <a:buNone/>
            </a:pPr>
            <a:r>
              <a:rPr lang="en-US" sz="1500" b="1" dirty="0">
                <a:solidFill>
                  <a:srgbClr val="7A4B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議論が「51名の是非」に引っ張られない。</a:t>
            </a:r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まず持ち方の方針に合意する。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中心メッセージ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18872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9FB8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「60名を減らす」のではなく、
</a:t>
            </a:r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「60名の持ち方を変える」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10789920" cy="822960"/>
          </a:xfrm>
          <a:prstGeom prst="roundRect">
            <a:avLst>
              <a:gd name="adj" fmla="val 6667"/>
            </a:avLst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0632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経営メッセージ：　</a:t>
            </a:r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CA資格者60名の維持と、要員効率化を両立する。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1E3A5F"/>
          </a:solidFill>
          <a:ln w="12700">
            <a:solidFill>
              <a:srgbClr val="3E56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3434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対外的には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7548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復便対応力の維持・強化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5532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FE2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「60名の資格者は確実に確保し、復便への対応力を維持する」と言える。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416052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1E3A5F"/>
          </a:solidFill>
          <a:ln w="12700">
            <a:solidFill>
              <a:srgbClr val="3E56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43434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社内的には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475488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兼務による生産性向上・人件費抑制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5532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FE2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60名を専任固定しないことで、成田全体283名を減らす。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8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同じ施策の、二つの側面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基本方針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CA資格者60名は維持する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基本方針（案）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6080760" cy="4663440"/>
          </a:xfrm>
          <a:prstGeom prst="roundRect">
            <a:avLst>
              <a:gd name="adj" fmla="val 1176"/>
            </a:avLst>
          </a:prstGeom>
          <a:solidFill>
            <a:srgbClr val="13243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91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" y="3008376"/>
            <a:ext cx="146304" cy="14630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28346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会社として、将来の復便時に対応できるよう、CA資格者60名体制は維持する。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3941064"/>
            <a:ext cx="146304" cy="14630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2" name="Text 10"/>
          <p:cNvSpPr/>
          <p:nvPr/>
        </p:nvSpPr>
        <p:spPr>
          <a:xfrm>
            <a:off x="1298448" y="376732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ここは対外的にも変えない。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95160" y="1463040"/>
            <a:ext cx="4480560" cy="4663440"/>
          </a:xfrm>
          <a:prstGeom prst="roundRect">
            <a:avLst>
              <a:gd name="adj" fmla="val 1224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この言い方で（メッセージング）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69480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80960" y="2240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「削減」「縮小」とは説明しない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69480" y="2807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80960" y="28072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「51名にする」とは言わない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269480" y="3511296"/>
            <a:ext cx="3931920" cy="1828800"/>
          </a:xfrm>
          <a:prstGeom prst="roundRect">
            <a:avLst>
              <a:gd name="adj" fmla="val 2500"/>
            </a:avLst>
          </a:prstGeom>
          <a:solidFill>
            <a:srgbClr val="13243B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36941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D9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09560" y="3666744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CA資格者60名は維持する。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基本方針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「資格者60名＝CA/ZH専任60名」とはしない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基本方針（案）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6080760" cy="4663440"/>
          </a:xfrm>
          <a:prstGeom prst="roundRect">
            <a:avLst>
              <a:gd name="adj" fmla="val 1176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91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" y="3008376"/>
            <a:ext cx="146304" cy="14630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0" name="Text 8"/>
          <p:cNvSpPr/>
          <p:nvPr/>
        </p:nvSpPr>
        <p:spPr>
          <a:xfrm>
            <a:off x="1298448" y="28346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60名は、FMGとしてCA業務に対応できる資格者を60名確保するという意味。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3941064"/>
            <a:ext cx="146304" cy="14630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2" name="Text 10"/>
          <p:cNvSpPr/>
          <p:nvPr/>
        </p:nvSpPr>
        <p:spPr>
          <a:xfrm>
            <a:off x="1298448" y="376732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その60名を、CA/ZH業務だけに専任させず、CA/ZH＋他チームとの兼務という形で保有する。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95160" y="1463040"/>
            <a:ext cx="4480560" cy="4663440"/>
          </a:xfrm>
          <a:prstGeom prst="roundRect">
            <a:avLst>
              <a:gd name="adj" fmla="val 1224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この言い方で（メッセージング）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69480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80960" y="2240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「人数を減らす」という説明はしない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3246120"/>
            <a:ext cx="3931920" cy="1828800"/>
          </a:xfrm>
          <a:prstGeom prst="roundRect">
            <a:avLst>
              <a:gd name="adj" fmla="val 2500"/>
            </a:avLst>
          </a:prstGeom>
          <a:solidFill>
            <a:srgbClr val="13243B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FD9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09560" y="340156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60名を維持しながら、柔軟な配置体制にする。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基本方針 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減便期間を「資格者育成期間」として使う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基本方針（案）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1E844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173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5F5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前向きに説明する：　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現在の減便期間を活用し、復便に備えてCA資格者を計画的に育成する。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 56名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56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474720" y="2560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＋4名を育成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5603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92040" y="256032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13243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 60名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971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</a:t>
            </a:r>
            <a:endParaRPr lang="en-US" sz="4600" dirty="0"/>
          </a:p>
        </p:txBody>
      </p:sp>
      <p:sp>
        <p:nvSpPr>
          <p:cNvPr id="17" name="Shape 15"/>
          <p:cNvSpPr/>
          <p:nvPr/>
        </p:nvSpPr>
        <p:spPr>
          <a:xfrm>
            <a:off x="7863840" y="25603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6974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補完の考え方
</a:t>
            </a:r>
            <a:pPr algn="l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新規採用ではなく、AM・VN等からの資格取得・兼務化で4名を補う。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160520"/>
            <a:ext cx="350215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370832"/>
            <a:ext cx="457200" cy="45720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43708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対象を選定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" y="4937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AM・VNなど、Angel Lite・Travel Skyを付けられる層が比較的多いチームから候補者を選定。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29684" y="4160520"/>
            <a:ext cx="350215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8284" y="4370832"/>
            <a:ext cx="457200" cy="45720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4558284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52644" y="43708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教育を受けてもらう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85716" y="4937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計画的に教育し、CA/ZH以外にもCA資格者を持つ状態をつくる。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973568" y="4160520"/>
            <a:ext cx="350215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02168" y="4370832"/>
            <a:ext cx="457200" cy="45720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1" name="Text 29"/>
          <p:cNvSpPr/>
          <p:nvPr/>
        </p:nvSpPr>
        <p:spPr>
          <a:xfrm>
            <a:off x="8202168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96528" y="43708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復便対応力を高める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0" y="4937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先方には『CAの体制を弱くする話』ではなく、復便対応力を高める話として説明できる。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基本方針 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51名は、現時点では先方との交渉材料にしない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基本方針（案）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D6891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173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4B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重要：　</a:t>
            </a:r>
            <a:pPr algn="l" indent="0" marL="0">
              <a:buNone/>
            </a:pPr>
            <a:r>
              <a:rPr lang="en-US" sz="1600" b="1" dirty="0">
                <a:solidFill>
                  <a:srgbClr val="3A26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51名は、FMG内部で現在のオペレーションに必要な実配置を検証するための数字として扱う。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5029200" cy="2743200"/>
          </a:xfrm>
          <a:prstGeom prst="roundRect">
            <a:avLst>
              <a:gd name="adj" fmla="val 2000"/>
            </a:avLst>
          </a:prstGeom>
          <a:solidFill>
            <a:srgbClr val="13243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788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対外的な約束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200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資格者保有数 ＝ 60名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0120" y="3840480"/>
            <a:ext cx="4480560" cy="0"/>
          </a:xfrm>
          <a:prstGeom prst="line">
            <a:avLst/>
          </a:prstGeom>
          <a:noFill/>
          <a:ln w="12700">
            <a:solidFill>
              <a:srgbClr val="3E56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7764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「FMGとしてCA資格者60名は維持します。ただし、現在の運航状況を踏まえ、資格者については他業務との兼務を含めた柔軟な配置を行います」まで。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73952" y="2560320"/>
            <a:ext cx="5029200" cy="2743200"/>
          </a:xfrm>
          <a:prstGeom prst="roundRect">
            <a:avLst>
              <a:gd name="adj" fmla="val 2000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48272" y="2788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FMGのオペレーション設計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48272" y="3200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毎日CA/ZHへ何名配置するか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748272" y="3840480"/>
            <a:ext cx="4480560" cy="0"/>
          </a:xfrm>
          <a:prstGeom prst="line">
            <a:avLst/>
          </a:prstGeom>
          <a:noFill/>
          <a:ln w="12700">
            <a:solidFill>
              <a:srgbClr val="3E56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397764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実際に毎日何名をCA/ZHへ配置するかはFMG側の内部設計。先方に『CA/ZHを51名にします』とは言わない。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15584" y="3611880"/>
            <a:ext cx="566928" cy="566928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20" name="Text 18"/>
          <p:cNvSpPr/>
          <p:nvPr/>
        </p:nvSpPr>
        <p:spPr>
          <a:xfrm>
            <a:off x="5815584" y="3611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≠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41264" y="420624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89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混ぜない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553212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EF5E7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4B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対外メッセージは「復便対応力の維持」まで。</a:t>
            </a:r>
            <a:pPr algn="l"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内部の実配置数（51名）とは切り分けて扱う。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全体の構造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方針を貫く一本のストーリー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基本方針（案）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389888"/>
            <a:ext cx="7772400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467612"/>
            <a:ext cx="420624" cy="420624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4676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71800" y="1389888"/>
            <a:ext cx="6812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CA資格者60名を確保する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394960" y="194767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2075688"/>
            <a:ext cx="7772400" cy="576072"/>
          </a:xfrm>
          <a:prstGeom prst="roundRect">
            <a:avLst>
              <a:gd name="adj" fmla="val 7937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153412"/>
            <a:ext cx="420624" cy="420624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21534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71800" y="2075688"/>
            <a:ext cx="6812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減便期間中にAM・VN等から資格者を育成する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94960" y="263347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94560" y="2761488"/>
            <a:ext cx="7772400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2839212"/>
            <a:ext cx="420624" cy="420624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0" y="28392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971800" y="2761488"/>
            <a:ext cx="6812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CA/ZH以外にもCA資格者を持つ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394960" y="331927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94560" y="3447288"/>
            <a:ext cx="7772400" cy="576072"/>
          </a:xfrm>
          <a:prstGeom prst="roundRect">
            <a:avLst>
              <a:gd name="adj" fmla="val 7937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3525012"/>
            <a:ext cx="420624" cy="42062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2377440" y="35250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971800" y="3447288"/>
            <a:ext cx="6812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60名全員をCA/ZH専任とはしない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394960" y="400507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94560" y="4133088"/>
            <a:ext cx="7772400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4210812"/>
            <a:ext cx="420624" cy="420624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9" name="Text 27"/>
          <p:cNvSpPr/>
          <p:nvPr/>
        </p:nvSpPr>
        <p:spPr>
          <a:xfrm>
            <a:off x="2377440" y="42108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971800" y="4133088"/>
            <a:ext cx="6812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資格を維持しながら他チーム業務を兼務する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394960" y="469087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94560" y="4818888"/>
            <a:ext cx="7772400" cy="576072"/>
          </a:xfrm>
          <a:prstGeom prst="roundRect">
            <a:avLst>
              <a:gd name="adj" fmla="val 7937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7440" y="4896612"/>
            <a:ext cx="420624" cy="42062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2377440" y="48966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971800" y="4818888"/>
            <a:ext cx="6812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復便時には必要な資格者をCA/ZHへ戻せる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394960" y="537667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94560" y="5504688"/>
            <a:ext cx="7772400" cy="576072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77440" y="5582412"/>
            <a:ext cx="420624" cy="420624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39" name="Text 37"/>
          <p:cNvSpPr/>
          <p:nvPr/>
        </p:nvSpPr>
        <p:spPr>
          <a:xfrm>
            <a:off x="2377440" y="55824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971800" y="5504688"/>
            <a:ext cx="6812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7A4B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平時の成田全体の人件費を抑制する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685800" y="1389888"/>
            <a:ext cx="1371600" cy="1947672"/>
          </a:xfrm>
          <a:prstGeom prst="roundRect">
            <a:avLst>
              <a:gd name="adj" fmla="val 3333"/>
            </a:avLst>
          </a:prstGeom>
          <a:solidFill>
            <a:srgbClr val="1E8449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1389888"/>
            <a:ext cx="137160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育成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85800" y="3447288"/>
            <a:ext cx="1371600" cy="2404872"/>
          </a:xfrm>
          <a:prstGeom prst="roundRect">
            <a:avLst>
              <a:gd name="adj" fmla="val 3333"/>
            </a:avLst>
          </a:prstGeom>
          <a:solidFill>
            <a:srgbClr val="2E86C1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3447288"/>
            <a:ext cx="137160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0104120" y="1389888"/>
            <a:ext cx="1371600" cy="4462272"/>
          </a:xfrm>
          <a:prstGeom prst="roundRect">
            <a:avLst>
              <a:gd name="adj" fmla="val 3333"/>
            </a:avLst>
          </a:prstGeom>
          <a:solidFill>
            <a:srgbClr val="13243B"/>
          </a:solidFill>
          <a:ln/>
        </p:spPr>
      </p:sp>
      <p:sp>
        <p:nvSpPr>
          <p:cNvPr id="46" name="Text 44"/>
          <p:cNvSpPr/>
          <p:nvPr/>
        </p:nvSpPr>
        <p:spPr>
          <a:xfrm>
            <a:off x="10104120" y="1389888"/>
            <a:ext cx="1371600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復便対応力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を維持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人件費を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抑制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二つの側面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同じ施策の、対外と社内の二つの顔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基本方針（案）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「人を減らす」ではなく「60名の資格者は確実に確保し、復便への対応力を維持する」。この一つの施策が、立場により二つの意味を持つ。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5257800" cy="3977640"/>
          </a:xfrm>
          <a:prstGeom prst="roundRect">
            <a:avLst>
              <a:gd name="adj" fmla="val 1379"/>
            </a:avLst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774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対外的には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復便対応力の</a:t>
            </a:r>
            <a:endParaRPr lang="en-US" sz="2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維持・強化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051560" y="4187952"/>
            <a:ext cx="146304" cy="146304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12" name="Text 10"/>
          <p:cNvSpPr/>
          <p:nvPr/>
        </p:nvSpPr>
        <p:spPr>
          <a:xfrm>
            <a:off x="1344168" y="4023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「60名の資格者は確実に確保する」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51560" y="4754880"/>
            <a:ext cx="146304" cy="146304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14" name="Text 12"/>
          <p:cNvSpPr/>
          <p:nvPr/>
        </p:nvSpPr>
        <p:spPr>
          <a:xfrm>
            <a:off x="1344168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減便期間に育成し、復便への対応力を高める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" y="5321808"/>
            <a:ext cx="146304" cy="146304"/>
          </a:xfrm>
          <a:prstGeom prst="ellipse">
            <a:avLst/>
          </a:prstGeom>
          <a:solidFill>
            <a:srgbClr val="13243B"/>
          </a:solidFill>
          <a:ln/>
        </p:spPr>
      </p:sp>
      <p:sp>
        <p:nvSpPr>
          <p:cNvPr id="16" name="Text 14"/>
          <p:cNvSpPr/>
          <p:nvPr/>
        </p:nvSpPr>
        <p:spPr>
          <a:xfrm>
            <a:off x="1344168" y="51572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CAの体制を弱くする話ではない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148840"/>
            <a:ext cx="5257800" cy="3977640"/>
          </a:xfrm>
          <a:prstGeom prst="roundRect">
            <a:avLst>
              <a:gd name="adj" fmla="val 1379"/>
            </a:avLst>
          </a:prstGeom>
          <a:solidFill>
            <a:srgbClr val="13243B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3774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社内的には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278892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兼務による生産性向上</a:t>
            </a:r>
            <a:endParaRPr lang="en-US" sz="2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・人件費抑制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583680" y="4187952"/>
            <a:ext cx="146304" cy="14630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21" name="Text 19"/>
          <p:cNvSpPr/>
          <p:nvPr/>
        </p:nvSpPr>
        <p:spPr>
          <a:xfrm>
            <a:off x="6876288" y="40233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60名を専任固定しない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4754880"/>
            <a:ext cx="146304" cy="14630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45902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資格を維持しつつ他チームと兼務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0" y="5321808"/>
            <a:ext cx="146304" cy="14630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25" name="Text 23"/>
          <p:cNvSpPr/>
          <p:nvPr/>
        </p:nvSpPr>
        <p:spPr>
          <a:xfrm>
            <a:off x="6876288" y="51572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成田全体283名の削減につなげる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0" y="3703320"/>
            <a:ext cx="868680" cy="868680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3703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本日の合意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80360" y="164592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本日、YESを確認したい基本方針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CA/ZH 26W 基本方針（案）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65615" y="6473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　／　</a:t>
            </a:r>
            <a:pPr algn="r" indent="0" marL="0">
              <a:buNone/>
            </a:pPr>
            <a:r>
              <a:rPr lang="en-US" sz="900" b="1" dirty="0">
                <a:solidFill>
                  <a:srgbClr val="2E86C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69494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73352"/>
            <a:ext cx="640080" cy="603504"/>
          </a:xfrm>
          <a:prstGeom prst="roundRect">
            <a:avLst>
              <a:gd name="adj" fmla="val 7576"/>
            </a:avLst>
          </a:prstGeom>
          <a:solidFill>
            <a:srgbClr val="2E86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1508760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CA資格者60名は維持する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37360" y="20574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YES / NO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578608"/>
            <a:ext cx="6949440" cy="932688"/>
          </a:xfrm>
          <a:prstGeom prst="roundRect">
            <a:avLst>
              <a:gd name="adj" fmla="val 4902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43200"/>
            <a:ext cx="640080" cy="603504"/>
          </a:xfrm>
          <a:prstGeom prst="roundRect">
            <a:avLst>
              <a:gd name="adj" fmla="val 7576"/>
            </a:avLst>
          </a:prstGeom>
          <a:solidFill>
            <a:srgbClr val="2E86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2578608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資格者60名＝CA/ZH専任60名とはしない（兼務で柔軟に保有）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37360" y="312724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YES / 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648456"/>
            <a:ext cx="69494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13048"/>
            <a:ext cx="640080" cy="603504"/>
          </a:xfrm>
          <a:prstGeom prst="roundRect">
            <a:avLst>
              <a:gd name="adj" fmla="val 7576"/>
            </a:avLst>
          </a:prstGeom>
          <a:solidFill>
            <a:srgbClr val="2E86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648456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減便期間を資格者育成期間として使う（AM・VN等から育成）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41970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YES / NO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718304"/>
            <a:ext cx="6949440" cy="932688"/>
          </a:xfrm>
          <a:prstGeom prst="roundRect">
            <a:avLst>
              <a:gd name="adj" fmla="val 4902"/>
            </a:avLst>
          </a:prstGeom>
          <a:solidFill>
            <a:srgbClr val="EA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82896"/>
            <a:ext cx="640080" cy="603504"/>
          </a:xfrm>
          <a:prstGeom prst="roundRect">
            <a:avLst>
              <a:gd name="adj" fmla="val 7576"/>
            </a:avLst>
          </a:prstGeom>
          <a:solidFill>
            <a:srgbClr val="2E86C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4718304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51名は現時点で先方との交渉材料にしない（内部の検証数値）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526694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YES / NO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18120" y="1508760"/>
            <a:ext cx="3657600" cy="4416552"/>
          </a:xfrm>
          <a:prstGeom prst="roundRect">
            <a:avLst>
              <a:gd name="adj" fmla="val 1500"/>
            </a:avLst>
          </a:prstGeom>
          <a:solidFill>
            <a:srgbClr val="13243B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DAD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合意できたら、次に落とす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2148840"/>
            <a:ext cx="384048" cy="384048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4964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誰を育成するか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49640" y="253288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2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R：岡崎部長（AM・VN等の候補選定）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383280"/>
            <a:ext cx="384048" cy="384048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4964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どのチームと兼務させるか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49640" y="37673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2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R：松石部長（成田全体プラン）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46720" y="4617720"/>
            <a:ext cx="384048" cy="384048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49640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資格維持条件は何か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49640" y="50017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2F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R：山田部長（CA/ZH・TR責任者）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046720" y="5532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8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承認：岩佐専務／事務局：遠藤麻美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" y="6053328"/>
            <a:ext cx="10789920" cy="914"/>
          </a:xfrm>
          <a:prstGeom prst="round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4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AF6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914400"/>
            <a:ext cx="7498080" cy="1234440"/>
          </a:xfrm>
          <a:prstGeom prst="roundRect">
            <a:avLst>
              <a:gd name="adj" fmla="val 4444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91440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B8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「60名を減らす」ではなく　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「60名の持ち方を変える」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06240" y="2587752"/>
            <a:ext cx="237744" cy="23774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404872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2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CA資格者60名は確実に確保し、復便への対応力を維持する（対外）。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06240" y="3483864"/>
            <a:ext cx="237744" cy="23774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300984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2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その60名を専任固定せず、兼務で柔軟に保有して成田全体283名を抑制する（社内）。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4379976"/>
            <a:ext cx="237744" cy="237744"/>
          </a:xfrm>
          <a:prstGeom prst="ellipse">
            <a:avLst/>
          </a:prstGeom>
          <a:solidFill>
            <a:srgbClr val="5DADE2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4197096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AF2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本日はまず、この基本方針に全員がYESと言えるかを確認する。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06240" y="5532120"/>
            <a:ext cx="7498080" cy="18288"/>
          </a:xfrm>
          <a:prstGeom prst="rect">
            <a:avLst/>
          </a:prstGeom>
          <a:solidFill>
            <a:srgbClr val="3E567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5669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FB8C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作成：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採用戦略部　遠藤麻美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2026-08-12T06:08:01Z</dcterms:created>
  <dcterms:modified xsi:type="dcterms:W3CDTF">2026-08-12T06:08:01Z</dcterms:modified>
</cp:coreProperties>
</file>